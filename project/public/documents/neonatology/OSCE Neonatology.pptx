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9"/>
  </p:notesMasterIdLst>
  <p:sldIdLst>
    <p:sldId id="256" r:id="rId2"/>
    <p:sldId id="257" r:id="rId3"/>
    <p:sldId id="386" r:id="rId4"/>
    <p:sldId id="463" r:id="rId5"/>
    <p:sldId id="382" r:id="rId6"/>
    <p:sldId id="380" r:id="rId7"/>
    <p:sldId id="387" r:id="rId8"/>
    <p:sldId id="389" r:id="rId9"/>
    <p:sldId id="390" r:id="rId10"/>
    <p:sldId id="391" r:id="rId11"/>
    <p:sldId id="392" r:id="rId12"/>
    <p:sldId id="393" r:id="rId13"/>
    <p:sldId id="394" r:id="rId14"/>
    <p:sldId id="395" r:id="rId15"/>
    <p:sldId id="396" r:id="rId16"/>
    <p:sldId id="397" r:id="rId17"/>
    <p:sldId id="398" r:id="rId18"/>
    <p:sldId id="399" r:id="rId19"/>
    <p:sldId id="400" r:id="rId20"/>
    <p:sldId id="401" r:id="rId21"/>
    <p:sldId id="402" r:id="rId22"/>
    <p:sldId id="403" r:id="rId23"/>
    <p:sldId id="405" r:id="rId24"/>
    <p:sldId id="407" r:id="rId25"/>
    <p:sldId id="409" r:id="rId26"/>
    <p:sldId id="414" r:id="rId27"/>
    <p:sldId id="415" r:id="rId28"/>
    <p:sldId id="425" r:id="rId29"/>
    <p:sldId id="418" r:id="rId30"/>
    <p:sldId id="421" r:id="rId31"/>
    <p:sldId id="427" r:id="rId32"/>
    <p:sldId id="428" r:id="rId33"/>
    <p:sldId id="429" r:id="rId34"/>
    <p:sldId id="441" r:id="rId35"/>
    <p:sldId id="444" r:id="rId36"/>
    <p:sldId id="446" r:id="rId37"/>
    <p:sldId id="454" r:id="rId38"/>
    <p:sldId id="456" r:id="rId39"/>
    <p:sldId id="458" r:id="rId40"/>
    <p:sldId id="466" r:id="rId41"/>
    <p:sldId id="468" r:id="rId42"/>
    <p:sldId id="475" r:id="rId43"/>
    <p:sldId id="477" r:id="rId44"/>
    <p:sldId id="482" r:id="rId45"/>
    <p:sldId id="496" r:id="rId46"/>
    <p:sldId id="505" r:id="rId47"/>
    <p:sldId id="518" r:id="rId48"/>
    <p:sldId id="508" r:id="rId49"/>
    <p:sldId id="519" r:id="rId50"/>
    <p:sldId id="520" r:id="rId51"/>
    <p:sldId id="521" r:id="rId52"/>
    <p:sldId id="493" r:id="rId53"/>
    <p:sldId id="516" r:id="rId54"/>
    <p:sldId id="517" r:id="rId55"/>
    <p:sldId id="522" r:id="rId56"/>
    <p:sldId id="524" r:id="rId57"/>
    <p:sldId id="526" r:id="rId58"/>
    <p:sldId id="530" r:id="rId59"/>
    <p:sldId id="532" r:id="rId60"/>
    <p:sldId id="533" r:id="rId61"/>
    <p:sldId id="538" r:id="rId62"/>
    <p:sldId id="535" r:id="rId63"/>
    <p:sldId id="264" r:id="rId64"/>
    <p:sldId id="279" r:id="rId65"/>
    <p:sldId id="298" r:id="rId66"/>
    <p:sldId id="283" r:id="rId67"/>
    <p:sldId id="287" r:id="rId68"/>
    <p:sldId id="290" r:id="rId69"/>
    <p:sldId id="259" r:id="rId70"/>
    <p:sldId id="268" r:id="rId71"/>
    <p:sldId id="291" r:id="rId72"/>
    <p:sldId id="292" r:id="rId73"/>
    <p:sldId id="541" r:id="rId74"/>
    <p:sldId id="572" r:id="rId75"/>
    <p:sldId id="542" r:id="rId76"/>
    <p:sldId id="536" r:id="rId77"/>
    <p:sldId id="276" r:id="rId78"/>
    <p:sldId id="543" r:id="rId79"/>
    <p:sldId id="271" r:id="rId80"/>
    <p:sldId id="273" r:id="rId81"/>
    <p:sldId id="545" r:id="rId82"/>
    <p:sldId id="547" r:id="rId83"/>
    <p:sldId id="548" r:id="rId84"/>
    <p:sldId id="540" r:id="rId85"/>
    <p:sldId id="550" r:id="rId86"/>
    <p:sldId id="551" r:id="rId87"/>
    <p:sldId id="262" r:id="rId88"/>
    <p:sldId id="285" r:id="rId89"/>
    <p:sldId id="261" r:id="rId90"/>
    <p:sldId id="553" r:id="rId91"/>
    <p:sldId id="554" r:id="rId92"/>
    <p:sldId id="555" r:id="rId93"/>
    <p:sldId id="557" r:id="rId94"/>
    <p:sldId id="559" r:id="rId95"/>
    <p:sldId id="560" r:id="rId96"/>
    <p:sldId id="565" r:id="rId97"/>
    <p:sldId id="566" r:id="rId98"/>
    <p:sldId id="569" r:id="rId99"/>
    <p:sldId id="567" r:id="rId100"/>
    <p:sldId id="574" r:id="rId101"/>
    <p:sldId id="576" r:id="rId102"/>
    <p:sldId id="282" r:id="rId103"/>
    <p:sldId id="577" r:id="rId104"/>
    <p:sldId id="580" r:id="rId105"/>
    <p:sldId id="581" r:id="rId106"/>
    <p:sldId id="311" r:id="rId107"/>
    <p:sldId id="582" r:id="rId108"/>
    <p:sldId id="583" r:id="rId109"/>
    <p:sldId id="585" r:id="rId110"/>
    <p:sldId id="301" r:id="rId111"/>
    <p:sldId id="302" r:id="rId112"/>
    <p:sldId id="303" r:id="rId113"/>
    <p:sldId id="308" r:id="rId114"/>
    <p:sldId id="586" r:id="rId115"/>
    <p:sldId id="309" r:id="rId116"/>
    <p:sldId id="296" r:id="rId117"/>
    <p:sldId id="575" r:id="rId118"/>
    <p:sldId id="588" r:id="rId119"/>
    <p:sldId id="578" r:id="rId120"/>
    <p:sldId id="589" r:id="rId121"/>
    <p:sldId id="590" r:id="rId122"/>
    <p:sldId id="591" r:id="rId123"/>
    <p:sldId id="378" r:id="rId124"/>
    <p:sldId id="592" r:id="rId125"/>
    <p:sldId id="595" r:id="rId126"/>
    <p:sldId id="295" r:id="rId127"/>
    <p:sldId id="584" r:id="rId1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660"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B50FF8-7267-428D-837C-5ADF3F871372}" type="datetimeFigureOut">
              <a:rPr lang="en-US" smtClean="0"/>
              <a:t>11/26/2020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132A5A-7E8F-4356-A557-08B6A6558EE1}" type="slidenum">
              <a:rPr lang="en-US" smtClean="0"/>
              <a:t>‹#›</a:t>
            </a:fld>
            <a:endParaRPr lang="en-US"/>
          </a:p>
        </p:txBody>
      </p:sp>
    </p:spTree>
    <p:extLst>
      <p:ext uri="{BB962C8B-B14F-4D97-AF65-F5344CB8AC3E}">
        <p14:creationId xmlns:p14="http://schemas.microsoft.com/office/powerpoint/2010/main" val="3998564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file:///C:\Users\Hatea%20Ahmedin\Desktop\uptodate20.3\contents\mobipreview.htm%3f39\92\mobipreview.htm%3f38\91\39645" TargetMode="External"/><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file:///D:\Desktop\UpToDate%2021.2\contents\mobipreview.htm%3f0\0\mobipreview.htm%3f28\63\29689%3fsource=see_link" TargetMode="External"/><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8179887-C891-43C2-9509-534E546FE1BE}" type="slidenum">
              <a:rPr lang="en-US" smtClean="0"/>
              <a:t>64</a:t>
            </a:fld>
            <a:endParaRPr lang="en-US"/>
          </a:p>
        </p:txBody>
      </p:sp>
    </p:spTree>
    <p:extLst>
      <p:ext uri="{BB962C8B-B14F-4D97-AF65-F5344CB8AC3E}">
        <p14:creationId xmlns:p14="http://schemas.microsoft.com/office/powerpoint/2010/main" val="27117816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xmlns="" id="{D42B27B9-18F0-47E3-923F-B2462596CCB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a:extLst>
              <a:ext uri="{FF2B5EF4-FFF2-40B4-BE49-F238E27FC236}">
                <a16:creationId xmlns:a16="http://schemas.microsoft.com/office/drawing/2014/main" xmlns="" id="{57A9CD37-352F-4729-9D7A-35C0B167ED2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GB" altLang="en-US">
                <a:solidFill>
                  <a:srgbClr val="000000"/>
                </a:solidFill>
                <a:latin typeface="Verdana" panose="020B0604030504040204" pitchFamily="34" charset="0"/>
              </a:rPr>
              <a:t>The most common causes of unconjugated hyperbilirubinemia are </a:t>
            </a:r>
            <a:r>
              <a:rPr lang="en-GB" altLang="en-US" b="1" u="sng">
                <a:solidFill>
                  <a:srgbClr val="000000"/>
                </a:solidFill>
                <a:latin typeface="Verdana" panose="020B0604030504040204" pitchFamily="34" charset="0"/>
              </a:rPr>
              <a:t>bilirubin overproduction, Gilbert's syndrome, and neonatal jaundice</a:t>
            </a:r>
            <a:r>
              <a:rPr lang="en-GB" altLang="en-US">
                <a:solidFill>
                  <a:srgbClr val="000000"/>
                </a:solidFill>
                <a:latin typeface="Verdana" panose="020B0604030504040204" pitchFamily="34" charset="0"/>
              </a:rPr>
              <a:t>. This topic review will discuss unconjugated hyperbilirubinemia due to the rare inherited Crigler-Najjar syndromes. The other disorders are presented separately as is an approach to the patient with jaundice. </a:t>
            </a:r>
          </a:p>
          <a:p>
            <a:pPr>
              <a:spcBef>
                <a:spcPct val="0"/>
              </a:spcBef>
            </a:pPr>
            <a:endParaRPr lang="en-GB" altLang="en-US">
              <a:solidFill>
                <a:srgbClr val="000000"/>
              </a:solidFill>
              <a:latin typeface="Verdana" panose="020B0604030504040204" pitchFamily="34" charset="0"/>
            </a:endParaRPr>
          </a:p>
          <a:p>
            <a:pPr>
              <a:spcBef>
                <a:spcPct val="0"/>
              </a:spcBef>
            </a:pPr>
            <a:r>
              <a:rPr lang="en-GB" altLang="en-US" b="1">
                <a:solidFill>
                  <a:srgbClr val="000000"/>
                </a:solidFill>
                <a:latin typeface="Verdana" panose="020B0604030504040204" pitchFamily="34" charset="0"/>
              </a:rPr>
              <a:t>CLASSIFICATION</a:t>
            </a:r>
            <a:r>
              <a:rPr lang="en-GB" altLang="en-US">
                <a:solidFill>
                  <a:srgbClr val="000000"/>
                </a:solidFill>
                <a:latin typeface="Verdana" panose="020B0604030504040204" pitchFamily="34" charset="0"/>
              </a:rPr>
              <a:t> — Crigler-Najjar syndrome, also referred to as </a:t>
            </a:r>
            <a:r>
              <a:rPr lang="en-GB" altLang="en-US" b="1" u="sng">
                <a:solidFill>
                  <a:srgbClr val="000000"/>
                </a:solidFill>
                <a:latin typeface="Verdana" panose="020B0604030504040204" pitchFamily="34" charset="0"/>
              </a:rPr>
              <a:t>congenital nonhemolytic jaundice with glucuronosyltransferase deficiency, is a rare, autosomal recessive </a:t>
            </a:r>
            <a:r>
              <a:rPr lang="en-GB" altLang="en-US">
                <a:solidFill>
                  <a:srgbClr val="000000"/>
                </a:solidFill>
                <a:latin typeface="Verdana" panose="020B0604030504040204" pitchFamily="34" charset="0"/>
              </a:rPr>
              <a:t>disorder of bilirubin metabolism. It has been divided into two distinct forms (types I and II) based upon the severity of the disease (</a:t>
            </a:r>
            <a:r>
              <a:rPr lang="en-GB" altLang="en-US">
                <a:solidFill>
                  <a:srgbClr val="336633"/>
                </a:solidFill>
                <a:latin typeface="Verdana" panose="020B0604030504040204" pitchFamily="34" charset="0"/>
                <a:hlinkClick r:id="rId3" action="ppaction://hlinkfile"/>
              </a:rPr>
              <a:t>table 1</a:t>
            </a:r>
            <a:r>
              <a:rPr lang="en-GB" altLang="en-US">
                <a:solidFill>
                  <a:srgbClr val="000000"/>
                </a:solidFill>
                <a:latin typeface="Verdana" panose="020B0604030504040204" pitchFamily="34" charset="0"/>
              </a:rPr>
              <a:t>).</a:t>
            </a:r>
          </a:p>
          <a:p>
            <a:pPr>
              <a:spcBef>
                <a:spcPct val="0"/>
              </a:spcBef>
              <a:buFontTx/>
              <a:buChar char="•"/>
            </a:pPr>
            <a:r>
              <a:rPr lang="en-GB" altLang="en-US">
                <a:solidFill>
                  <a:srgbClr val="000000"/>
                </a:solidFill>
                <a:latin typeface="Verdana" panose="020B0604030504040204" pitchFamily="34" charset="0"/>
              </a:rPr>
              <a:t>Type I disease is associated with severe jaundice and neurologic impairment due to bilirubin encephalopathy that can result in permanent neurologic sequelae (kernicterus).</a:t>
            </a:r>
          </a:p>
          <a:p>
            <a:pPr>
              <a:spcBef>
                <a:spcPct val="0"/>
              </a:spcBef>
              <a:buFontTx/>
              <a:buChar char="•"/>
            </a:pPr>
            <a:r>
              <a:rPr lang="en-GB" altLang="en-US">
                <a:solidFill>
                  <a:srgbClr val="000000"/>
                </a:solidFill>
                <a:latin typeface="Verdana" panose="020B0604030504040204" pitchFamily="34" charset="0"/>
              </a:rPr>
              <a:t>Type II disease is associated with a lower serum bilirubin concentration and affected patients survive into adulthood without neurologic impairment.</a:t>
            </a:r>
          </a:p>
          <a:p>
            <a:pPr>
              <a:spcBef>
                <a:spcPct val="0"/>
              </a:spcBef>
            </a:pPr>
            <a:endParaRPr lang="en-GB" altLang="en-US"/>
          </a:p>
        </p:txBody>
      </p:sp>
      <p:sp>
        <p:nvSpPr>
          <p:cNvPr id="38916" name="Slide Number Placeholder 3">
            <a:extLst>
              <a:ext uri="{FF2B5EF4-FFF2-40B4-BE49-F238E27FC236}">
                <a16:creationId xmlns:a16="http://schemas.microsoft.com/office/drawing/2014/main" xmlns="" id="{225D3660-B977-426D-A2FD-0050AF3CD94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895F13E-A056-41B8-8BAB-770A8F6BACBF}" type="slidenum">
              <a:rPr lang="en-GB" altLang="en-US"/>
              <a:pPr eaLnBrk="1" hangingPunct="1"/>
              <a:t>87</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a:t>If this dosage is not effective, then additional doses of 5-10 mg/kg can be given until a dose of 40 mg/kg is reached. </a:t>
            </a:r>
          </a:p>
          <a:p>
            <a:r>
              <a:rPr lang="en-US" sz="1200" dirty="0"/>
              <a:t>Respiratory support may be needed after phenobarbital loading</a:t>
            </a:r>
          </a:p>
          <a:p>
            <a:r>
              <a:rPr lang="en-US" sz="1200" b="0" i="0" kern="1200" dirty="0">
                <a:solidFill>
                  <a:schemeClr val="tx1"/>
                </a:solidFill>
                <a:latin typeface="+mn-lt"/>
                <a:ea typeface="+mn-ea"/>
                <a:cs typeface="+mn-cs"/>
              </a:rPr>
              <a:t>Thus, standard </a:t>
            </a:r>
            <a:r>
              <a:rPr lang="en-US" sz="1200" b="0" i="0" u="none" strike="noStrike" kern="1200" dirty="0">
                <a:solidFill>
                  <a:schemeClr val="tx1"/>
                </a:solidFill>
                <a:latin typeface="+mn-lt"/>
                <a:ea typeface="+mn-ea"/>
                <a:cs typeface="+mn-cs"/>
                <a:hlinkClick r:id="rId3" action="ppaction://hlinkfile"/>
              </a:rPr>
              <a:t>phenobarbital </a:t>
            </a:r>
            <a:r>
              <a:rPr lang="en-US" sz="1200" b="0" i="0" kern="1200" dirty="0">
                <a:solidFill>
                  <a:schemeClr val="tx1"/>
                </a:solidFill>
                <a:latin typeface="+mn-lt"/>
                <a:ea typeface="+mn-ea"/>
                <a:cs typeface="+mn-cs"/>
              </a:rPr>
              <a:t>dosing in premature infants has the potential for higher serum levels and resultant toxicity. As the infant becomes older, identical daily maintenance doses may result in lower serum levels and create the potential for breakthrough seizures with no other change in the infant's clinical condition. Overall, monitoring trends of serum levels rather than day-to-day fluctuations are more useful in management of </a:t>
            </a:r>
            <a:r>
              <a:rPr lang="en-US" sz="1200" b="0" i="0" kern="1200" dirty="0" err="1">
                <a:solidFill>
                  <a:schemeClr val="tx1"/>
                </a:solidFill>
                <a:latin typeface="+mn-lt"/>
                <a:ea typeface="+mn-ea"/>
                <a:cs typeface="+mn-cs"/>
              </a:rPr>
              <a:t>phenobarbital</a:t>
            </a:r>
            <a:r>
              <a:rPr lang="en-US" sz="1200" b="0" i="0" kern="1200" dirty="0">
                <a:solidFill>
                  <a:schemeClr val="tx1"/>
                </a:solidFill>
                <a:latin typeface="+mn-lt"/>
                <a:ea typeface="+mn-ea"/>
                <a:cs typeface="+mn-cs"/>
              </a:rPr>
              <a:t> therapy</a:t>
            </a:r>
            <a:endParaRPr lang="en-US" dirty="0"/>
          </a:p>
        </p:txBody>
      </p:sp>
      <p:sp>
        <p:nvSpPr>
          <p:cNvPr id="4" name="Slide Number Placeholder 3"/>
          <p:cNvSpPr>
            <a:spLocks noGrp="1"/>
          </p:cNvSpPr>
          <p:nvPr>
            <p:ph type="sldNum" sz="quarter" idx="10"/>
          </p:nvPr>
        </p:nvSpPr>
        <p:spPr/>
        <p:txBody>
          <a:bodyPr/>
          <a:lstStyle/>
          <a:p>
            <a:fld id="{02904E9A-9DC3-46CD-9D7E-0A92D36B4727}" type="slidenum">
              <a:rPr lang="en-US" smtClean="0"/>
              <a:pPr/>
              <a:t>104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a:extLst>
              <a:ext uri="{FF2B5EF4-FFF2-40B4-BE49-F238E27FC236}">
                <a16:creationId xmlns:a16="http://schemas.microsoft.com/office/drawing/2014/main" xmlns="" id="{95A990FF-D776-4D0E-926D-C88176A19EB6}"/>
              </a:ext>
            </a:extLst>
          </p:cNvPr>
          <p:cNvSpPr>
            <a:spLocks noGrp="1" noRot="1" noChangeAspect="1" noTextEdit="1"/>
          </p:cNvSpPr>
          <p:nvPr>
            <p:ph type="sldImg"/>
          </p:nvPr>
        </p:nvSpPr>
        <p:spPr>
          <a:ln/>
        </p:spPr>
      </p:sp>
      <p:sp>
        <p:nvSpPr>
          <p:cNvPr id="81923" name="Notes Placeholder 2">
            <a:extLst>
              <a:ext uri="{FF2B5EF4-FFF2-40B4-BE49-F238E27FC236}">
                <a16:creationId xmlns:a16="http://schemas.microsoft.com/office/drawing/2014/main" xmlns="" id="{A9AB2027-10D4-4D48-8C7F-E83D33B46B8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Clefts of the lip and palate are distinct entities closely related embryologically, functionally, and genetically. Although there are a variety of theories, it is commonly thought that cleft of the lip appears because of hypoplasia of the mesenchymal layer, resulting in a failure of the medial nasal and maxillary processes to join. Cleft of the palate appears to represent failure of the palatal shelves to approximate or fuse.</a:t>
            </a:r>
          </a:p>
        </p:txBody>
      </p:sp>
      <p:sp>
        <p:nvSpPr>
          <p:cNvPr id="81924" name="Slide Number Placeholder 3">
            <a:extLst>
              <a:ext uri="{FF2B5EF4-FFF2-40B4-BE49-F238E27FC236}">
                <a16:creationId xmlns:a16="http://schemas.microsoft.com/office/drawing/2014/main" xmlns="" id="{9E1B950A-4EEE-4046-8392-B239FD9575A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F1400C04-BCCE-4C25-917D-2EFE8BC7118A}" type="slidenum">
              <a:rPr lang="en-US" altLang="en-US">
                <a:latin typeface="Arial" panose="020B0604020202020204" pitchFamily="34" charset="0"/>
              </a:rPr>
              <a:pPr/>
              <a:t>110</a:t>
            </a:fld>
            <a:endParaRPr lang="en-US"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xmlns="" id="{B7DD82BA-1A17-483F-8D1C-A7F8EF2054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D40CC58B-D286-4A59-A990-F50369C583E8}" type="slidenum">
              <a:rPr lang="en-US" altLang="en-US">
                <a:latin typeface="Arial" panose="020B0604020202020204" pitchFamily="34" charset="0"/>
              </a:rPr>
              <a:pPr/>
              <a:t>119</a:t>
            </a:fld>
            <a:endParaRPr lang="en-US" altLang="en-US">
              <a:latin typeface="Arial" panose="020B0604020202020204" pitchFamily="34" charset="0"/>
            </a:endParaRPr>
          </a:p>
        </p:txBody>
      </p:sp>
      <p:sp>
        <p:nvSpPr>
          <p:cNvPr id="83971" name="Rectangle 2">
            <a:extLst>
              <a:ext uri="{FF2B5EF4-FFF2-40B4-BE49-F238E27FC236}">
                <a16:creationId xmlns:a16="http://schemas.microsoft.com/office/drawing/2014/main" xmlns="" id="{FEC6D0B7-B4C2-4E7F-9E91-6E1E4E31B955}"/>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xmlns="" id="{D87F0C5F-53C5-45C1-BF1D-89227AE3F5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a:extLst>
              <a:ext uri="{FF2B5EF4-FFF2-40B4-BE49-F238E27FC236}">
                <a16:creationId xmlns:a16="http://schemas.microsoft.com/office/drawing/2014/main" xmlns="" id="{C22946DC-3272-4B12-A0D4-B464762ABF2F}"/>
              </a:ext>
            </a:extLst>
          </p:cNvPr>
          <p:cNvSpPr>
            <a:spLocks noGrp="1" noRot="1" noChangeAspect="1" noTextEdit="1"/>
          </p:cNvSpPr>
          <p:nvPr>
            <p:ph type="sldImg"/>
          </p:nvPr>
        </p:nvSpPr>
        <p:spPr>
          <a:ln/>
        </p:spPr>
      </p:sp>
      <p:sp>
        <p:nvSpPr>
          <p:cNvPr id="84995" name="Notes Placeholder 2">
            <a:extLst>
              <a:ext uri="{FF2B5EF4-FFF2-40B4-BE49-F238E27FC236}">
                <a16:creationId xmlns:a16="http://schemas.microsoft.com/office/drawing/2014/main" xmlns="" id="{64D5CE4A-D818-4245-A71F-6BF21EE6AEF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84996" name="Slide Number Placeholder 3">
            <a:extLst>
              <a:ext uri="{FF2B5EF4-FFF2-40B4-BE49-F238E27FC236}">
                <a16:creationId xmlns:a16="http://schemas.microsoft.com/office/drawing/2014/main" xmlns="" id="{F1D342A4-EF7A-4B6F-B4E7-BB3A3BDF130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A162BB5-B16D-4C8F-8184-1815A9E6F081}" type="slidenum">
              <a:rPr lang="en-US" altLang="en-US">
                <a:latin typeface="Arial" panose="020B0604020202020204" pitchFamily="34" charset="0"/>
              </a:rPr>
              <a:pPr/>
              <a:t>120</a:t>
            </a:fld>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xmlns="" id="{A81F26BD-994C-4C81-81C3-4497C9395E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69F5623C-E0B6-42BF-B57E-A367E5D5FE53}" type="slidenum">
              <a:rPr lang="en-US" altLang="en-US">
                <a:latin typeface="Arial" panose="020B0604020202020204" pitchFamily="34" charset="0"/>
              </a:rPr>
              <a:pPr/>
              <a:t>122</a:t>
            </a:fld>
            <a:endParaRPr lang="en-US" altLang="en-US">
              <a:latin typeface="Arial" panose="020B0604020202020204" pitchFamily="34" charset="0"/>
            </a:endParaRPr>
          </a:p>
        </p:txBody>
      </p:sp>
      <p:sp>
        <p:nvSpPr>
          <p:cNvPr id="86019" name="Rectangle 2">
            <a:extLst>
              <a:ext uri="{FF2B5EF4-FFF2-40B4-BE49-F238E27FC236}">
                <a16:creationId xmlns:a16="http://schemas.microsoft.com/office/drawing/2014/main" xmlns="" id="{17F03DD9-C728-481A-B099-C1D072E9ADB2}"/>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xmlns="" id="{B093D9FB-590A-4410-818E-B31BFCBFB40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a:extLst>
              <a:ext uri="{FF2B5EF4-FFF2-40B4-BE49-F238E27FC236}">
                <a16:creationId xmlns:a16="http://schemas.microsoft.com/office/drawing/2014/main" xmlns="" id="{C38C7E2C-1DB0-4797-839B-7A1D0E6D9DC1}"/>
              </a:ext>
            </a:extLst>
          </p:cNvPr>
          <p:cNvSpPr>
            <a:spLocks noGrp="1" noRot="1" noChangeAspect="1" noTextEdit="1"/>
          </p:cNvSpPr>
          <p:nvPr>
            <p:ph type="sldImg"/>
          </p:nvPr>
        </p:nvSpPr>
        <p:spPr>
          <a:ln/>
        </p:spPr>
      </p:sp>
      <p:sp>
        <p:nvSpPr>
          <p:cNvPr id="87043" name="Notes Placeholder 2">
            <a:extLst>
              <a:ext uri="{FF2B5EF4-FFF2-40B4-BE49-F238E27FC236}">
                <a16:creationId xmlns:a16="http://schemas.microsoft.com/office/drawing/2014/main" xmlns="" id="{94852A27-7C81-4A46-AAAF-20810571DE5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Tracheoesophageal fistula. Lateral radiograph demonstrating a nasogastric tube coiled </a:t>
            </a:r>
            <a:r>
              <a:rPr lang="en-US" altLang="en-US" i="1">
                <a:latin typeface="Arial" panose="020B0604020202020204" pitchFamily="34" charset="0"/>
              </a:rPr>
              <a:t>(arrows)</a:t>
            </a:r>
            <a:r>
              <a:rPr lang="en-US" altLang="en-US">
                <a:latin typeface="Arial" panose="020B0604020202020204" pitchFamily="34" charset="0"/>
              </a:rPr>
              <a:t> in the proximal segment of an atretic esophagus. The distal fistula is suggested by gaseous dilatation of the stomach </a:t>
            </a:r>
            <a:r>
              <a:rPr lang="en-US" altLang="en-US" i="1">
                <a:latin typeface="Arial" panose="020B0604020202020204" pitchFamily="34" charset="0"/>
              </a:rPr>
              <a:t>(S)</a:t>
            </a:r>
            <a:r>
              <a:rPr lang="en-US" altLang="en-US">
                <a:latin typeface="Arial" panose="020B0604020202020204" pitchFamily="34" charset="0"/>
              </a:rPr>
              <a:t> and small intestine. The </a:t>
            </a:r>
            <a:r>
              <a:rPr lang="en-US" altLang="en-US" i="1">
                <a:latin typeface="Arial" panose="020B0604020202020204" pitchFamily="34" charset="0"/>
              </a:rPr>
              <a:t>arrowhead</a:t>
            </a:r>
            <a:r>
              <a:rPr lang="en-US" altLang="en-US">
                <a:latin typeface="Arial" panose="020B0604020202020204" pitchFamily="34" charset="0"/>
              </a:rPr>
              <a:t> depicts vertebral fusion, whereas a heart murmur and cardiomegaly suggest the presence of a ventricular septal defect. This patient demonstrated elements of the VATER (vertebral, anorectal, tracheal, esophageal, renal, radial) anomalad</a:t>
            </a:r>
          </a:p>
        </p:txBody>
      </p:sp>
      <p:sp>
        <p:nvSpPr>
          <p:cNvPr id="87044" name="Slide Number Placeholder 3">
            <a:extLst>
              <a:ext uri="{FF2B5EF4-FFF2-40B4-BE49-F238E27FC236}">
                <a16:creationId xmlns:a16="http://schemas.microsoft.com/office/drawing/2014/main" xmlns="" id="{0EF201AE-DD0C-4FA0-A047-30B797B5DB9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6690DA48-E44D-419B-8299-E8C952604484}" type="slidenum">
              <a:rPr lang="en-US" altLang="en-US">
                <a:latin typeface="Arial" panose="020B0604020202020204" pitchFamily="34" charset="0"/>
              </a:rPr>
              <a:pPr/>
              <a:t>123</a:t>
            </a:fld>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xmlns="" id="{FBA592D8-AE9F-4603-AF21-C68C6EB2F5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E5737A64-86B2-458A-8BDC-85D3C3263975}" type="slidenum">
              <a:rPr lang="en-US" altLang="en-US">
                <a:latin typeface="Arial" panose="020B0604020202020204" pitchFamily="34" charset="0"/>
              </a:rPr>
              <a:pPr/>
              <a:t>125</a:t>
            </a:fld>
            <a:endParaRPr lang="en-US" altLang="en-US">
              <a:latin typeface="Arial" panose="020B0604020202020204" pitchFamily="34" charset="0"/>
            </a:endParaRPr>
          </a:p>
        </p:txBody>
      </p:sp>
      <p:sp>
        <p:nvSpPr>
          <p:cNvPr id="89091" name="Rectangle 2">
            <a:extLst>
              <a:ext uri="{FF2B5EF4-FFF2-40B4-BE49-F238E27FC236}">
                <a16:creationId xmlns:a16="http://schemas.microsoft.com/office/drawing/2014/main" xmlns="" id="{770D05A8-954C-43DA-AD73-CEB07C6F68C6}"/>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xmlns="" id="{E3BCC2FD-03BE-4CE4-AA76-B0C3DA72AE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No reintubation</a:t>
            </a:r>
          </a:p>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4F9A4D0-C79C-4D2E-90C1-942A454DB8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D1409D36-22E1-4453-9E1F-3338F4AAFF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2EEF79CE-355F-4B75-B803-970098956E08}"/>
              </a:ext>
            </a:extLst>
          </p:cNvPr>
          <p:cNvSpPr>
            <a:spLocks noGrp="1"/>
          </p:cNvSpPr>
          <p:nvPr>
            <p:ph type="dt" sz="half" idx="10"/>
          </p:nvPr>
        </p:nvSpPr>
        <p:spPr/>
        <p:txBody>
          <a:bodyPr/>
          <a:lstStyle/>
          <a:p>
            <a:fld id="{C94ABA4F-36DC-43DD-8595-2DC07247C889}" type="datetime1">
              <a:rPr lang="en-US" smtClean="0"/>
              <a:t>11/26/2020</a:t>
            </a:fld>
            <a:endParaRPr lang="en-US"/>
          </a:p>
        </p:txBody>
      </p:sp>
      <p:sp>
        <p:nvSpPr>
          <p:cNvPr id="5" name="Footer Placeholder 4">
            <a:extLst>
              <a:ext uri="{FF2B5EF4-FFF2-40B4-BE49-F238E27FC236}">
                <a16:creationId xmlns:a16="http://schemas.microsoft.com/office/drawing/2014/main" xmlns="" id="{5B6A7ADD-BB0E-4D00-8C5A-9E4AF3DE94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53A80556-25FB-4F54-8AA2-343C9B8E34C1}"/>
              </a:ext>
            </a:extLst>
          </p:cNvPr>
          <p:cNvSpPr>
            <a:spLocks noGrp="1"/>
          </p:cNvSpPr>
          <p:nvPr>
            <p:ph type="sldNum" sz="quarter" idx="12"/>
          </p:nvPr>
        </p:nvSpPr>
        <p:spPr/>
        <p:txBody>
          <a:bodyPr/>
          <a:lstStyle/>
          <a:p>
            <a:fld id="{F010F31A-5B1D-4478-A180-CDC3128319F7}" type="slidenum">
              <a:rPr lang="en-US" smtClean="0"/>
              <a:t>‹#›</a:t>
            </a:fld>
            <a:endParaRPr lang="en-US"/>
          </a:p>
        </p:txBody>
      </p:sp>
    </p:spTree>
    <p:extLst>
      <p:ext uri="{BB962C8B-B14F-4D97-AF65-F5344CB8AC3E}">
        <p14:creationId xmlns:p14="http://schemas.microsoft.com/office/powerpoint/2010/main" val="1713409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8203DE-AD68-4DBF-A1C3-76805B8F73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C8E049EF-B2A9-4AE0-BD08-92ACC1E6BA8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57CB7ACA-B118-4D5F-9D83-CF7C9C51E6D8}"/>
              </a:ext>
            </a:extLst>
          </p:cNvPr>
          <p:cNvSpPr>
            <a:spLocks noGrp="1"/>
          </p:cNvSpPr>
          <p:nvPr>
            <p:ph type="dt" sz="half" idx="10"/>
          </p:nvPr>
        </p:nvSpPr>
        <p:spPr/>
        <p:txBody>
          <a:bodyPr/>
          <a:lstStyle/>
          <a:p>
            <a:fld id="{C557BCC8-099F-4610-A2AC-0AE055E2305C}" type="datetime1">
              <a:rPr lang="en-US" smtClean="0"/>
              <a:t>11/26/2020</a:t>
            </a:fld>
            <a:endParaRPr lang="en-US"/>
          </a:p>
        </p:txBody>
      </p:sp>
      <p:sp>
        <p:nvSpPr>
          <p:cNvPr id="5" name="Footer Placeholder 4">
            <a:extLst>
              <a:ext uri="{FF2B5EF4-FFF2-40B4-BE49-F238E27FC236}">
                <a16:creationId xmlns:a16="http://schemas.microsoft.com/office/drawing/2014/main" xmlns="" id="{D0E974B5-972A-4279-A829-2A815D8B5D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D76A26AC-C5D9-4568-B06E-DE9AD9D6D7CF}"/>
              </a:ext>
            </a:extLst>
          </p:cNvPr>
          <p:cNvSpPr>
            <a:spLocks noGrp="1"/>
          </p:cNvSpPr>
          <p:nvPr>
            <p:ph type="sldNum" sz="quarter" idx="12"/>
          </p:nvPr>
        </p:nvSpPr>
        <p:spPr/>
        <p:txBody>
          <a:bodyPr/>
          <a:lstStyle/>
          <a:p>
            <a:fld id="{F010F31A-5B1D-4478-A180-CDC3128319F7}" type="slidenum">
              <a:rPr lang="en-US" smtClean="0"/>
              <a:t>‹#›</a:t>
            </a:fld>
            <a:endParaRPr lang="en-US"/>
          </a:p>
        </p:txBody>
      </p:sp>
    </p:spTree>
    <p:extLst>
      <p:ext uri="{BB962C8B-B14F-4D97-AF65-F5344CB8AC3E}">
        <p14:creationId xmlns:p14="http://schemas.microsoft.com/office/powerpoint/2010/main" val="1312027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9023D55-85EA-4ED9-9A7E-498A7C3BA3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EDB4083E-CD7C-4949-8A4F-1524E3D7870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2B60A78B-9EDC-41B4-AE6C-0FE7571F75B4}"/>
              </a:ext>
            </a:extLst>
          </p:cNvPr>
          <p:cNvSpPr>
            <a:spLocks noGrp="1"/>
          </p:cNvSpPr>
          <p:nvPr>
            <p:ph type="dt" sz="half" idx="10"/>
          </p:nvPr>
        </p:nvSpPr>
        <p:spPr/>
        <p:txBody>
          <a:bodyPr/>
          <a:lstStyle/>
          <a:p>
            <a:fld id="{58B1D75C-FFA8-46BE-BD41-BCAF4B2A4228}" type="datetime1">
              <a:rPr lang="en-US" smtClean="0"/>
              <a:t>11/26/2020</a:t>
            </a:fld>
            <a:endParaRPr lang="en-US"/>
          </a:p>
        </p:txBody>
      </p:sp>
      <p:sp>
        <p:nvSpPr>
          <p:cNvPr id="5" name="Footer Placeholder 4">
            <a:extLst>
              <a:ext uri="{FF2B5EF4-FFF2-40B4-BE49-F238E27FC236}">
                <a16:creationId xmlns:a16="http://schemas.microsoft.com/office/drawing/2014/main" xmlns="" id="{9097A296-3E82-4259-9CEC-503D304CBD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BA972C7D-171C-4F51-BAEC-ABA1835D80EF}"/>
              </a:ext>
            </a:extLst>
          </p:cNvPr>
          <p:cNvSpPr>
            <a:spLocks noGrp="1"/>
          </p:cNvSpPr>
          <p:nvPr>
            <p:ph type="sldNum" sz="quarter" idx="12"/>
          </p:nvPr>
        </p:nvSpPr>
        <p:spPr/>
        <p:txBody>
          <a:bodyPr/>
          <a:lstStyle/>
          <a:p>
            <a:fld id="{F010F31A-5B1D-4478-A180-CDC3128319F7}" type="slidenum">
              <a:rPr lang="en-US" smtClean="0"/>
              <a:t>‹#›</a:t>
            </a:fld>
            <a:endParaRPr lang="en-US"/>
          </a:p>
        </p:txBody>
      </p:sp>
    </p:spTree>
    <p:extLst>
      <p:ext uri="{BB962C8B-B14F-4D97-AF65-F5344CB8AC3E}">
        <p14:creationId xmlns:p14="http://schemas.microsoft.com/office/powerpoint/2010/main" val="9953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FD26E61-36C1-42C6-96CD-57ECAA6300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2283F2BC-7891-4859-9B09-D792E21670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BE5439BE-F600-431A-AC75-8C2B32193E4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BBC4EE7E-190D-46BE-82D9-BCE3474DD338}"/>
              </a:ext>
            </a:extLst>
          </p:cNvPr>
          <p:cNvSpPr>
            <a:spLocks noGrp="1"/>
          </p:cNvSpPr>
          <p:nvPr>
            <p:ph type="dt" sz="half" idx="10"/>
          </p:nvPr>
        </p:nvSpPr>
        <p:spPr/>
        <p:txBody>
          <a:bodyPr/>
          <a:lstStyle/>
          <a:p>
            <a:fld id="{541F3E73-64DA-4AE2-82B6-26239509E255}" type="datetime1">
              <a:rPr lang="en-US" smtClean="0"/>
              <a:t>11/26/2020</a:t>
            </a:fld>
            <a:endParaRPr lang="en-US"/>
          </a:p>
        </p:txBody>
      </p:sp>
      <p:sp>
        <p:nvSpPr>
          <p:cNvPr id="6" name="Footer Placeholder 5">
            <a:extLst>
              <a:ext uri="{FF2B5EF4-FFF2-40B4-BE49-F238E27FC236}">
                <a16:creationId xmlns:a16="http://schemas.microsoft.com/office/drawing/2014/main" xmlns="" id="{BFB71AFF-41CA-424B-B77F-89E10A434E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E4C37D68-22EC-4CE5-AC79-238D3C7C97DC}"/>
              </a:ext>
            </a:extLst>
          </p:cNvPr>
          <p:cNvSpPr>
            <a:spLocks noGrp="1"/>
          </p:cNvSpPr>
          <p:nvPr>
            <p:ph type="sldNum" sz="quarter" idx="12"/>
          </p:nvPr>
        </p:nvSpPr>
        <p:spPr/>
        <p:txBody>
          <a:bodyPr/>
          <a:lstStyle/>
          <a:p>
            <a:fld id="{F010F31A-5B1D-4478-A180-CDC3128319F7}" type="slidenum">
              <a:rPr lang="en-US" smtClean="0"/>
              <a:t>‹#›</a:t>
            </a:fld>
            <a:endParaRPr lang="en-US"/>
          </a:p>
        </p:txBody>
      </p:sp>
    </p:spTree>
    <p:extLst>
      <p:ext uri="{BB962C8B-B14F-4D97-AF65-F5344CB8AC3E}">
        <p14:creationId xmlns:p14="http://schemas.microsoft.com/office/powerpoint/2010/main" val="35548967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8EC539-C88E-4B26-9C89-94CD3F1552A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B62CE11D-AE04-48A4-8F47-DD384B4F87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B1AFFC13-807A-4755-B16C-19916B4B71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9DE35003-7A1C-42F0-9426-1C6458E808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FD998C13-C630-4335-88FD-F410813A79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B25BAD2C-1280-45DE-869C-719A4B6FB32B}"/>
              </a:ext>
            </a:extLst>
          </p:cNvPr>
          <p:cNvSpPr>
            <a:spLocks noGrp="1"/>
          </p:cNvSpPr>
          <p:nvPr>
            <p:ph type="dt" sz="half" idx="10"/>
          </p:nvPr>
        </p:nvSpPr>
        <p:spPr/>
        <p:txBody>
          <a:bodyPr/>
          <a:lstStyle/>
          <a:p>
            <a:fld id="{38D06B74-A98E-4A77-A9F4-284BCD18C6CE}" type="datetime1">
              <a:rPr lang="en-US" smtClean="0"/>
              <a:t>11/26/2020</a:t>
            </a:fld>
            <a:endParaRPr lang="en-US"/>
          </a:p>
        </p:txBody>
      </p:sp>
      <p:sp>
        <p:nvSpPr>
          <p:cNvPr id="8" name="Footer Placeholder 7">
            <a:extLst>
              <a:ext uri="{FF2B5EF4-FFF2-40B4-BE49-F238E27FC236}">
                <a16:creationId xmlns:a16="http://schemas.microsoft.com/office/drawing/2014/main" xmlns="" id="{21760AF2-4BAF-40EB-9385-70D0937F4CE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6D2E253F-8F54-4AFE-8A98-5C0EB1DC9538}"/>
              </a:ext>
            </a:extLst>
          </p:cNvPr>
          <p:cNvSpPr>
            <a:spLocks noGrp="1"/>
          </p:cNvSpPr>
          <p:nvPr>
            <p:ph type="sldNum" sz="quarter" idx="12"/>
          </p:nvPr>
        </p:nvSpPr>
        <p:spPr/>
        <p:txBody>
          <a:bodyPr/>
          <a:lstStyle/>
          <a:p>
            <a:fld id="{F010F31A-5B1D-4478-A180-CDC3128319F7}" type="slidenum">
              <a:rPr lang="en-US" smtClean="0"/>
              <a:t>‹#›</a:t>
            </a:fld>
            <a:endParaRPr lang="en-US"/>
          </a:p>
        </p:txBody>
      </p:sp>
    </p:spTree>
    <p:extLst>
      <p:ext uri="{BB962C8B-B14F-4D97-AF65-F5344CB8AC3E}">
        <p14:creationId xmlns:p14="http://schemas.microsoft.com/office/powerpoint/2010/main" val="11654014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0ECE175-D3D7-40D9-83CE-F3DBDE16F8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8C18D4CC-D5E7-409F-95CA-547B1C30988B}"/>
              </a:ext>
            </a:extLst>
          </p:cNvPr>
          <p:cNvSpPr>
            <a:spLocks noGrp="1"/>
          </p:cNvSpPr>
          <p:nvPr>
            <p:ph type="dt" sz="half" idx="10"/>
          </p:nvPr>
        </p:nvSpPr>
        <p:spPr/>
        <p:txBody>
          <a:bodyPr/>
          <a:lstStyle/>
          <a:p>
            <a:fld id="{8099090F-B9B4-40FC-AE3B-DD9733426932}" type="datetime1">
              <a:rPr lang="en-US" smtClean="0"/>
              <a:t>11/26/2020</a:t>
            </a:fld>
            <a:endParaRPr lang="en-US"/>
          </a:p>
        </p:txBody>
      </p:sp>
      <p:sp>
        <p:nvSpPr>
          <p:cNvPr id="4" name="Footer Placeholder 3">
            <a:extLst>
              <a:ext uri="{FF2B5EF4-FFF2-40B4-BE49-F238E27FC236}">
                <a16:creationId xmlns:a16="http://schemas.microsoft.com/office/drawing/2014/main" xmlns="" id="{4B2AF366-9C51-402B-A055-D9283E1D50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0606AE54-F71F-40DC-A81A-95C61AF84BC6}"/>
              </a:ext>
            </a:extLst>
          </p:cNvPr>
          <p:cNvSpPr>
            <a:spLocks noGrp="1"/>
          </p:cNvSpPr>
          <p:nvPr>
            <p:ph type="sldNum" sz="quarter" idx="12"/>
          </p:nvPr>
        </p:nvSpPr>
        <p:spPr/>
        <p:txBody>
          <a:bodyPr/>
          <a:lstStyle/>
          <a:p>
            <a:fld id="{F010F31A-5B1D-4478-A180-CDC3128319F7}" type="slidenum">
              <a:rPr lang="en-US" smtClean="0"/>
              <a:t>‹#›</a:t>
            </a:fld>
            <a:endParaRPr lang="en-US"/>
          </a:p>
        </p:txBody>
      </p:sp>
    </p:spTree>
    <p:extLst>
      <p:ext uri="{BB962C8B-B14F-4D97-AF65-F5344CB8AC3E}">
        <p14:creationId xmlns:p14="http://schemas.microsoft.com/office/powerpoint/2010/main" val="117188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58AC2615-E654-450E-B664-FF0DCEC7563D}"/>
              </a:ext>
            </a:extLst>
          </p:cNvPr>
          <p:cNvSpPr>
            <a:spLocks noGrp="1"/>
          </p:cNvSpPr>
          <p:nvPr>
            <p:ph type="dt" sz="half" idx="10"/>
          </p:nvPr>
        </p:nvSpPr>
        <p:spPr/>
        <p:txBody>
          <a:bodyPr/>
          <a:lstStyle/>
          <a:p>
            <a:fld id="{8613AFE7-257A-4D26-AAF4-9588544F557D}" type="datetime1">
              <a:rPr lang="en-US" smtClean="0"/>
              <a:t>11/26/2020</a:t>
            </a:fld>
            <a:endParaRPr lang="en-US"/>
          </a:p>
        </p:txBody>
      </p:sp>
      <p:sp>
        <p:nvSpPr>
          <p:cNvPr id="3" name="Footer Placeholder 2">
            <a:extLst>
              <a:ext uri="{FF2B5EF4-FFF2-40B4-BE49-F238E27FC236}">
                <a16:creationId xmlns:a16="http://schemas.microsoft.com/office/drawing/2014/main" xmlns="" id="{4B6136CF-FBB9-4165-A7B0-841C4A78F0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5E21A653-E05A-429F-8F13-1806DA2D4125}"/>
              </a:ext>
            </a:extLst>
          </p:cNvPr>
          <p:cNvSpPr>
            <a:spLocks noGrp="1"/>
          </p:cNvSpPr>
          <p:nvPr>
            <p:ph type="sldNum" sz="quarter" idx="12"/>
          </p:nvPr>
        </p:nvSpPr>
        <p:spPr/>
        <p:txBody>
          <a:bodyPr/>
          <a:lstStyle/>
          <a:p>
            <a:fld id="{F010F31A-5B1D-4478-A180-CDC3128319F7}" type="slidenum">
              <a:rPr lang="en-US" smtClean="0"/>
              <a:t>‹#›</a:t>
            </a:fld>
            <a:endParaRPr lang="en-US"/>
          </a:p>
        </p:txBody>
      </p:sp>
    </p:spTree>
    <p:extLst>
      <p:ext uri="{BB962C8B-B14F-4D97-AF65-F5344CB8AC3E}">
        <p14:creationId xmlns:p14="http://schemas.microsoft.com/office/powerpoint/2010/main" val="1585625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CFFB22-2B11-41CF-8613-944892F2DB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7335E332-CA29-4EFE-B718-FA67232F57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FDBD0D38-A6E9-4F27-9175-6DF269881B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A15B11D-3555-4BCB-A46A-A6530923E056}"/>
              </a:ext>
            </a:extLst>
          </p:cNvPr>
          <p:cNvSpPr>
            <a:spLocks noGrp="1"/>
          </p:cNvSpPr>
          <p:nvPr>
            <p:ph type="dt" sz="half" idx="10"/>
          </p:nvPr>
        </p:nvSpPr>
        <p:spPr/>
        <p:txBody>
          <a:bodyPr/>
          <a:lstStyle/>
          <a:p>
            <a:fld id="{EDC759A2-666E-487C-A549-308B420119F2}" type="datetime1">
              <a:rPr lang="en-US" smtClean="0"/>
              <a:t>11/26/2020</a:t>
            </a:fld>
            <a:endParaRPr lang="en-US"/>
          </a:p>
        </p:txBody>
      </p:sp>
      <p:sp>
        <p:nvSpPr>
          <p:cNvPr id="6" name="Footer Placeholder 5">
            <a:extLst>
              <a:ext uri="{FF2B5EF4-FFF2-40B4-BE49-F238E27FC236}">
                <a16:creationId xmlns:a16="http://schemas.microsoft.com/office/drawing/2014/main" xmlns="" id="{2C9A2A4A-059E-4F9C-91F2-D928EB2BD3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4EC9AFA7-CFFD-409D-91ED-86DA146732EC}"/>
              </a:ext>
            </a:extLst>
          </p:cNvPr>
          <p:cNvSpPr>
            <a:spLocks noGrp="1"/>
          </p:cNvSpPr>
          <p:nvPr>
            <p:ph type="sldNum" sz="quarter" idx="12"/>
          </p:nvPr>
        </p:nvSpPr>
        <p:spPr/>
        <p:txBody>
          <a:bodyPr/>
          <a:lstStyle/>
          <a:p>
            <a:fld id="{F010F31A-5B1D-4478-A180-CDC3128319F7}" type="slidenum">
              <a:rPr lang="en-US" smtClean="0"/>
              <a:t>‹#›</a:t>
            </a:fld>
            <a:endParaRPr lang="en-US"/>
          </a:p>
        </p:txBody>
      </p:sp>
    </p:spTree>
    <p:extLst>
      <p:ext uri="{BB962C8B-B14F-4D97-AF65-F5344CB8AC3E}">
        <p14:creationId xmlns:p14="http://schemas.microsoft.com/office/powerpoint/2010/main" val="2336642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6A4C68F-2E01-4D2F-9B32-6C26DE9CBC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DAEF00A5-8486-4ACB-8B6F-5117530193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8B4CB995-F5CE-4CFC-AC58-3FEAF346CE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22B6839A-8B53-4D5E-9026-D830979915A0}"/>
              </a:ext>
            </a:extLst>
          </p:cNvPr>
          <p:cNvSpPr>
            <a:spLocks noGrp="1"/>
          </p:cNvSpPr>
          <p:nvPr>
            <p:ph type="dt" sz="half" idx="10"/>
          </p:nvPr>
        </p:nvSpPr>
        <p:spPr/>
        <p:txBody>
          <a:bodyPr/>
          <a:lstStyle/>
          <a:p>
            <a:fld id="{990192BA-2323-43ED-9C73-76CE72A04F84}" type="datetime1">
              <a:rPr lang="en-US" smtClean="0"/>
              <a:t>11/26/2020</a:t>
            </a:fld>
            <a:endParaRPr lang="en-US"/>
          </a:p>
        </p:txBody>
      </p:sp>
      <p:sp>
        <p:nvSpPr>
          <p:cNvPr id="6" name="Footer Placeholder 5">
            <a:extLst>
              <a:ext uri="{FF2B5EF4-FFF2-40B4-BE49-F238E27FC236}">
                <a16:creationId xmlns:a16="http://schemas.microsoft.com/office/drawing/2014/main" xmlns="" id="{2B6B1DF8-3AE7-48D5-A18E-1B9AE0C016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4489B012-BE48-400D-9EF5-AEFBB94F7A19}"/>
              </a:ext>
            </a:extLst>
          </p:cNvPr>
          <p:cNvSpPr>
            <a:spLocks noGrp="1"/>
          </p:cNvSpPr>
          <p:nvPr>
            <p:ph type="sldNum" sz="quarter" idx="12"/>
          </p:nvPr>
        </p:nvSpPr>
        <p:spPr/>
        <p:txBody>
          <a:bodyPr/>
          <a:lstStyle/>
          <a:p>
            <a:fld id="{F010F31A-5B1D-4478-A180-CDC3128319F7}" type="slidenum">
              <a:rPr lang="en-US" smtClean="0"/>
              <a:t>‹#›</a:t>
            </a:fld>
            <a:endParaRPr lang="en-US"/>
          </a:p>
        </p:txBody>
      </p:sp>
    </p:spTree>
    <p:extLst>
      <p:ext uri="{BB962C8B-B14F-4D97-AF65-F5344CB8AC3E}">
        <p14:creationId xmlns:p14="http://schemas.microsoft.com/office/powerpoint/2010/main" val="4084124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A36C9B-E98E-4734-B896-F1FC7F0DFE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49461F73-D242-4C76-815C-04919BBC18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43940768-9CF3-43B1-AEB6-E9EA71B67090}"/>
              </a:ext>
            </a:extLst>
          </p:cNvPr>
          <p:cNvSpPr>
            <a:spLocks noGrp="1"/>
          </p:cNvSpPr>
          <p:nvPr>
            <p:ph type="dt" sz="half" idx="10"/>
          </p:nvPr>
        </p:nvSpPr>
        <p:spPr/>
        <p:txBody>
          <a:bodyPr/>
          <a:lstStyle/>
          <a:p>
            <a:fld id="{EEED708A-7109-4D12-A18B-09F2A91230B5}" type="datetime1">
              <a:rPr lang="en-US" smtClean="0"/>
              <a:t>11/26/2020</a:t>
            </a:fld>
            <a:endParaRPr lang="en-US"/>
          </a:p>
        </p:txBody>
      </p:sp>
      <p:sp>
        <p:nvSpPr>
          <p:cNvPr id="5" name="Footer Placeholder 4">
            <a:extLst>
              <a:ext uri="{FF2B5EF4-FFF2-40B4-BE49-F238E27FC236}">
                <a16:creationId xmlns:a16="http://schemas.microsoft.com/office/drawing/2014/main" xmlns="" id="{6F5D077E-F6D3-49BD-AA79-65224155C9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39AEA538-E961-4FFE-A235-9201CF974BA3}"/>
              </a:ext>
            </a:extLst>
          </p:cNvPr>
          <p:cNvSpPr>
            <a:spLocks noGrp="1"/>
          </p:cNvSpPr>
          <p:nvPr>
            <p:ph type="sldNum" sz="quarter" idx="12"/>
          </p:nvPr>
        </p:nvSpPr>
        <p:spPr/>
        <p:txBody>
          <a:bodyPr/>
          <a:lstStyle/>
          <a:p>
            <a:fld id="{F010F31A-5B1D-4478-A180-CDC3128319F7}" type="slidenum">
              <a:rPr lang="en-US" smtClean="0"/>
              <a:t>‹#›</a:t>
            </a:fld>
            <a:endParaRPr lang="en-US"/>
          </a:p>
        </p:txBody>
      </p:sp>
    </p:spTree>
    <p:extLst>
      <p:ext uri="{BB962C8B-B14F-4D97-AF65-F5344CB8AC3E}">
        <p14:creationId xmlns:p14="http://schemas.microsoft.com/office/powerpoint/2010/main" val="2147626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E4939133-2B5F-457A-AA1F-A32371786CB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A981CF31-2567-4633-9663-DB47280F4D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5099E16B-6CED-45F5-A0AB-97EF9069F46F}"/>
              </a:ext>
            </a:extLst>
          </p:cNvPr>
          <p:cNvSpPr>
            <a:spLocks noGrp="1"/>
          </p:cNvSpPr>
          <p:nvPr>
            <p:ph type="dt" sz="half" idx="10"/>
          </p:nvPr>
        </p:nvSpPr>
        <p:spPr/>
        <p:txBody>
          <a:bodyPr/>
          <a:lstStyle/>
          <a:p>
            <a:fld id="{4341D80C-F042-48DD-8408-D2C368B02B4A}" type="datetime1">
              <a:rPr lang="en-US" smtClean="0"/>
              <a:t>11/26/2020</a:t>
            </a:fld>
            <a:endParaRPr lang="en-US"/>
          </a:p>
        </p:txBody>
      </p:sp>
      <p:sp>
        <p:nvSpPr>
          <p:cNvPr id="5" name="Footer Placeholder 4">
            <a:extLst>
              <a:ext uri="{FF2B5EF4-FFF2-40B4-BE49-F238E27FC236}">
                <a16:creationId xmlns:a16="http://schemas.microsoft.com/office/drawing/2014/main" xmlns="" id="{A07DB1C2-60BE-4EB2-859B-B5CBA7B33D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DF1B8B7F-BB34-4FBD-8D5D-75A01B1F0B4E}"/>
              </a:ext>
            </a:extLst>
          </p:cNvPr>
          <p:cNvSpPr>
            <a:spLocks noGrp="1"/>
          </p:cNvSpPr>
          <p:nvPr>
            <p:ph type="sldNum" sz="quarter" idx="12"/>
          </p:nvPr>
        </p:nvSpPr>
        <p:spPr/>
        <p:txBody>
          <a:bodyPr/>
          <a:lstStyle/>
          <a:p>
            <a:fld id="{F010F31A-5B1D-4478-A180-CDC3128319F7}" type="slidenum">
              <a:rPr lang="en-US" smtClean="0"/>
              <a:t>‹#›</a:t>
            </a:fld>
            <a:endParaRPr lang="en-US"/>
          </a:p>
        </p:txBody>
      </p:sp>
    </p:spTree>
    <p:extLst>
      <p:ext uri="{BB962C8B-B14F-4D97-AF65-F5344CB8AC3E}">
        <p14:creationId xmlns:p14="http://schemas.microsoft.com/office/powerpoint/2010/main" val="2227787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23E20A55-1D42-429A-88AB-2A8B68C655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C0F3346A-D04E-4D82-BF59-EA533520B5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774F0E83-C38C-42EE-9F13-50472EB25B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837771-A139-43E5-A09D-E5993E0D1CDB}" type="datetime1">
              <a:rPr lang="en-US" smtClean="0"/>
              <a:t>11/26/2020</a:t>
            </a:fld>
            <a:endParaRPr lang="en-US"/>
          </a:p>
        </p:txBody>
      </p:sp>
      <p:sp>
        <p:nvSpPr>
          <p:cNvPr id="5" name="Footer Placeholder 4">
            <a:extLst>
              <a:ext uri="{FF2B5EF4-FFF2-40B4-BE49-F238E27FC236}">
                <a16:creationId xmlns:a16="http://schemas.microsoft.com/office/drawing/2014/main" xmlns="" id="{A3CE4136-CF2B-4BEF-A81B-1E46781195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94F332AB-8D6E-4F83-AFFF-C42372261F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10F31A-5B1D-4478-A180-CDC3128319F7}" type="slidenum">
              <a:rPr lang="en-US" smtClean="0"/>
              <a:t>‹#›</a:t>
            </a:fld>
            <a:endParaRPr lang="en-US"/>
          </a:p>
        </p:txBody>
      </p:sp>
    </p:spTree>
    <p:extLst>
      <p:ext uri="{BB962C8B-B14F-4D97-AF65-F5344CB8AC3E}">
        <p14:creationId xmlns:p14="http://schemas.microsoft.com/office/powerpoint/2010/main" val="42303908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png"/><Relationship Id="rId1" Type="http://schemas.openxmlformats.org/officeDocument/2006/relationships/slideLayout" Target="../slideLayouts/slideLayout7.xml"/><Relationship Id="rId5" Type="http://schemas.openxmlformats.org/officeDocument/2006/relationships/image" Target="../media/image42.jpeg"/><Relationship Id="rId4" Type="http://schemas.openxmlformats.org/officeDocument/2006/relationships/image" Target="../media/image41.jpe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12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A11E58-7B55-4846-B437-9FED11252667}"/>
              </a:ext>
            </a:extLst>
          </p:cNvPr>
          <p:cNvSpPr>
            <a:spLocks noGrp="1"/>
          </p:cNvSpPr>
          <p:nvPr>
            <p:ph type="ctrTitle"/>
          </p:nvPr>
        </p:nvSpPr>
        <p:spPr/>
        <p:txBody>
          <a:bodyPr/>
          <a:lstStyle/>
          <a:p>
            <a:r>
              <a:rPr lang="en-US" dirty="0"/>
              <a:t>Pediatrics and child health</a:t>
            </a:r>
            <a:br>
              <a:rPr lang="en-US" dirty="0"/>
            </a:br>
            <a:r>
              <a:rPr lang="en-US" dirty="0"/>
              <a:t>OSCE file</a:t>
            </a:r>
          </a:p>
        </p:txBody>
      </p:sp>
      <p:sp>
        <p:nvSpPr>
          <p:cNvPr id="3" name="Subtitle 2">
            <a:extLst>
              <a:ext uri="{FF2B5EF4-FFF2-40B4-BE49-F238E27FC236}">
                <a16:creationId xmlns:a16="http://schemas.microsoft.com/office/drawing/2014/main" xmlns="" id="{7DED0113-8303-4796-AC06-5AC651FF5C91}"/>
              </a:ext>
            </a:extLst>
          </p:cNvPr>
          <p:cNvSpPr>
            <a:spLocks noGrp="1"/>
          </p:cNvSpPr>
          <p:nvPr>
            <p:ph type="subTitle" idx="1"/>
          </p:nvPr>
        </p:nvSpPr>
        <p:spPr/>
        <p:txBody>
          <a:bodyPr/>
          <a:lstStyle/>
          <a:p>
            <a:endParaRPr lang="en-US"/>
          </a:p>
        </p:txBody>
      </p:sp>
      <p:sp>
        <p:nvSpPr>
          <p:cNvPr id="4" name="Slide Number Placeholder 3">
            <a:extLst>
              <a:ext uri="{FF2B5EF4-FFF2-40B4-BE49-F238E27FC236}">
                <a16:creationId xmlns:a16="http://schemas.microsoft.com/office/drawing/2014/main" xmlns="" id="{7C3B2DE1-6282-4BC4-8410-7E56DB330992}"/>
              </a:ext>
            </a:extLst>
          </p:cNvPr>
          <p:cNvSpPr>
            <a:spLocks noGrp="1"/>
          </p:cNvSpPr>
          <p:nvPr>
            <p:ph type="sldNum" sz="quarter" idx="12"/>
          </p:nvPr>
        </p:nvSpPr>
        <p:spPr/>
        <p:txBody>
          <a:bodyPr/>
          <a:lstStyle/>
          <a:p>
            <a:fld id="{F010F31A-5B1D-4478-A180-CDC3128319F7}" type="slidenum">
              <a:rPr lang="en-US" smtClean="0"/>
              <a:t>1</a:t>
            </a:fld>
            <a:endParaRPr lang="en-US"/>
          </a:p>
        </p:txBody>
      </p:sp>
    </p:spTree>
    <p:extLst>
      <p:ext uri="{BB962C8B-B14F-4D97-AF65-F5344CB8AC3E}">
        <p14:creationId xmlns:p14="http://schemas.microsoft.com/office/powerpoint/2010/main" val="23418342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9D943C-E41C-4F64-A8B7-DB51B77CD4AC}"/>
              </a:ext>
            </a:extLst>
          </p:cNvPr>
          <p:cNvSpPr>
            <a:spLocks noGrp="1"/>
          </p:cNvSpPr>
          <p:nvPr>
            <p:ph type="ctrTitle"/>
          </p:nvPr>
        </p:nvSpPr>
        <p:spPr/>
        <p:txBody>
          <a:bodyPr/>
          <a:lstStyle/>
          <a:p>
            <a:r>
              <a:rPr lang="en-US" dirty="0"/>
              <a:t>Neonatology</a:t>
            </a:r>
          </a:p>
        </p:txBody>
      </p:sp>
      <p:sp>
        <p:nvSpPr>
          <p:cNvPr id="3" name="Subtitle 2">
            <a:extLst>
              <a:ext uri="{FF2B5EF4-FFF2-40B4-BE49-F238E27FC236}">
                <a16:creationId xmlns:a16="http://schemas.microsoft.com/office/drawing/2014/main" xmlns="" id="{1CA2D905-5B5A-4C01-B16E-8F2382C31A30}"/>
              </a:ext>
            </a:extLst>
          </p:cNvPr>
          <p:cNvSpPr>
            <a:spLocks noGrp="1"/>
          </p:cNvSpPr>
          <p:nvPr>
            <p:ph type="subTitle" idx="1"/>
          </p:nvPr>
        </p:nvSpPr>
        <p:spPr/>
        <p:txBody>
          <a:bodyPr/>
          <a:lstStyle/>
          <a:p>
            <a:endParaRPr lang="en-US"/>
          </a:p>
        </p:txBody>
      </p:sp>
      <p:sp>
        <p:nvSpPr>
          <p:cNvPr id="4" name="Slide Number Placeholder 3">
            <a:extLst>
              <a:ext uri="{FF2B5EF4-FFF2-40B4-BE49-F238E27FC236}">
                <a16:creationId xmlns:a16="http://schemas.microsoft.com/office/drawing/2014/main" xmlns="" id="{B1EEBFC0-3C71-40E1-8BA3-AB8DCCB10525}"/>
              </a:ext>
            </a:extLst>
          </p:cNvPr>
          <p:cNvSpPr>
            <a:spLocks noGrp="1"/>
          </p:cNvSpPr>
          <p:nvPr>
            <p:ph type="sldNum" sz="quarter" idx="12"/>
          </p:nvPr>
        </p:nvSpPr>
        <p:spPr/>
        <p:txBody>
          <a:bodyPr/>
          <a:lstStyle/>
          <a:p>
            <a:fld id="{F010F31A-5B1D-4478-A180-CDC3128319F7}" type="slidenum">
              <a:rPr lang="en-US" smtClean="0"/>
              <a:t>2</a:t>
            </a:fld>
            <a:endParaRPr lang="en-US"/>
          </a:p>
        </p:txBody>
      </p:sp>
    </p:spTree>
    <p:extLst>
      <p:ext uri="{BB962C8B-B14F-4D97-AF65-F5344CB8AC3E}">
        <p14:creationId xmlns:p14="http://schemas.microsoft.com/office/powerpoint/2010/main" val="89665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FF0000"/>
                </a:solidFill>
              </a:rPr>
              <a:t>Classification of Newborns </a:t>
            </a:r>
          </a:p>
        </p:txBody>
      </p:sp>
      <p:sp>
        <p:nvSpPr>
          <p:cNvPr id="3" name="Content Placeholder 2"/>
          <p:cNvSpPr>
            <a:spLocks noGrp="1"/>
          </p:cNvSpPr>
          <p:nvPr>
            <p:ph idx="1"/>
          </p:nvPr>
        </p:nvSpPr>
        <p:spPr>
          <a:xfrm>
            <a:off x="1981200" y="1371601"/>
            <a:ext cx="8229600" cy="4754563"/>
          </a:xfrm>
        </p:spPr>
        <p:txBody>
          <a:bodyPr>
            <a:normAutofit fontScale="92500" lnSpcReduction="20000"/>
          </a:bodyPr>
          <a:lstStyle/>
          <a:p>
            <a:pPr marL="0" indent="0">
              <a:buNone/>
            </a:pPr>
            <a:r>
              <a:rPr lang="en-US" dirty="0"/>
              <a:t>1. Gestational Age: </a:t>
            </a:r>
          </a:p>
          <a:p>
            <a:pPr lvl="1">
              <a:buFont typeface="Wingdings" pitchFamily="2" charset="2"/>
              <a:buChar char="Ø"/>
            </a:pPr>
            <a:r>
              <a:rPr lang="en-US" dirty="0"/>
              <a:t>Preterm (&lt;37wks) </a:t>
            </a:r>
          </a:p>
          <a:p>
            <a:pPr lvl="1">
              <a:buFont typeface="Wingdings" pitchFamily="2" charset="2"/>
              <a:buChar char="Ø"/>
            </a:pPr>
            <a:r>
              <a:rPr lang="en-US" dirty="0"/>
              <a:t>Term (37-42wks) </a:t>
            </a:r>
          </a:p>
          <a:p>
            <a:pPr lvl="1">
              <a:buFont typeface="Wingdings" pitchFamily="2" charset="2"/>
              <a:buChar char="Ø"/>
            </a:pPr>
            <a:r>
              <a:rPr lang="en-US" dirty="0" err="1"/>
              <a:t>Postterm</a:t>
            </a:r>
            <a:r>
              <a:rPr lang="en-US" dirty="0"/>
              <a:t> (&gt;42wks) </a:t>
            </a:r>
          </a:p>
          <a:p>
            <a:pPr marL="0" indent="0">
              <a:buNone/>
            </a:pPr>
            <a:r>
              <a:rPr lang="en-US" dirty="0"/>
              <a:t>2. Birth Weight:</a:t>
            </a:r>
          </a:p>
          <a:p>
            <a:pPr lvl="1">
              <a:buFont typeface="Wingdings" pitchFamily="2" charset="2"/>
              <a:buChar char="Ø"/>
            </a:pPr>
            <a:r>
              <a:rPr lang="en-US" dirty="0"/>
              <a:t>Extremely low birth weight : &lt; 1000 grams </a:t>
            </a:r>
          </a:p>
          <a:p>
            <a:pPr lvl="1">
              <a:buFont typeface="Wingdings" pitchFamily="2" charset="2"/>
              <a:buChar char="Ø"/>
            </a:pPr>
            <a:r>
              <a:rPr lang="en-US" dirty="0"/>
              <a:t>Very low birth weight: 1000gm-1499gms</a:t>
            </a:r>
          </a:p>
          <a:p>
            <a:pPr lvl="1">
              <a:buFont typeface="Wingdings" pitchFamily="2" charset="2"/>
              <a:buChar char="Ø"/>
            </a:pPr>
            <a:r>
              <a:rPr lang="en-US" dirty="0"/>
              <a:t>Low Birth weight: 1500gm-2499gm</a:t>
            </a:r>
          </a:p>
          <a:p>
            <a:pPr lvl="1">
              <a:buFont typeface="Wingdings" pitchFamily="2" charset="2"/>
              <a:buChar char="Ø"/>
            </a:pPr>
            <a:r>
              <a:rPr lang="en-US" dirty="0"/>
              <a:t>Normal BW: 2500-3999gm </a:t>
            </a:r>
          </a:p>
          <a:p>
            <a:pPr lvl="1">
              <a:buFont typeface="Wingdings" pitchFamily="2" charset="2"/>
              <a:buChar char="Ø"/>
            </a:pPr>
            <a:r>
              <a:rPr lang="en-US" dirty="0" err="1"/>
              <a:t>Macrosomia</a:t>
            </a:r>
            <a:r>
              <a:rPr lang="en-US" dirty="0"/>
              <a:t>: ≥4000gm </a:t>
            </a:r>
          </a:p>
          <a:p>
            <a:pPr marL="0" indent="0">
              <a:buNone/>
            </a:pPr>
            <a:r>
              <a:rPr lang="en-US" dirty="0"/>
              <a:t>3. BW/Length/HC VS GA: </a:t>
            </a:r>
          </a:p>
          <a:p>
            <a:pPr lvl="1">
              <a:buFont typeface="Wingdings" pitchFamily="2" charset="2"/>
              <a:buChar char="Ø"/>
            </a:pPr>
            <a:r>
              <a:rPr lang="en-US" dirty="0"/>
              <a:t>SGA: &lt;10th centile of </a:t>
            </a:r>
            <a:r>
              <a:rPr lang="en-US" dirty="0" err="1"/>
              <a:t>Lubchenco</a:t>
            </a:r>
            <a:r>
              <a:rPr lang="en-US" dirty="0"/>
              <a:t> </a:t>
            </a:r>
          </a:p>
          <a:p>
            <a:pPr lvl="1">
              <a:buFont typeface="Wingdings" pitchFamily="2" charset="2"/>
              <a:buChar char="Ø"/>
            </a:pPr>
            <a:r>
              <a:rPr lang="en-US" dirty="0" err="1"/>
              <a:t>AGA:b</a:t>
            </a:r>
            <a:r>
              <a:rPr lang="en-US" dirty="0"/>
              <a:t>/n 10th-90th centile </a:t>
            </a:r>
          </a:p>
          <a:p>
            <a:pPr lvl="1">
              <a:buFont typeface="Wingdings" pitchFamily="2" charset="2"/>
              <a:buChar char="Ø"/>
            </a:pPr>
            <a:r>
              <a:rPr lang="en-US" dirty="0"/>
              <a:t>LGA: above 90th centile </a:t>
            </a:r>
          </a:p>
          <a:p>
            <a:endParaRPr lang="en-US" dirty="0"/>
          </a:p>
        </p:txBody>
      </p:sp>
      <p:sp>
        <p:nvSpPr>
          <p:cNvPr id="4" name="Slide Number Placeholder 3">
            <a:extLst>
              <a:ext uri="{FF2B5EF4-FFF2-40B4-BE49-F238E27FC236}">
                <a16:creationId xmlns:a16="http://schemas.microsoft.com/office/drawing/2014/main" xmlns="" id="{599D8A4D-AA40-481A-8A6F-EA91900D9706}"/>
              </a:ext>
            </a:extLst>
          </p:cNvPr>
          <p:cNvSpPr>
            <a:spLocks noGrp="1"/>
          </p:cNvSpPr>
          <p:nvPr>
            <p:ph type="sldNum" sz="quarter" idx="12"/>
          </p:nvPr>
        </p:nvSpPr>
        <p:spPr/>
        <p:txBody>
          <a:bodyPr/>
          <a:lstStyle/>
          <a:p>
            <a:fld id="{F010F31A-5B1D-4478-A180-CDC3128319F7}" type="slidenum">
              <a:rPr lang="en-US" smtClean="0"/>
              <a:t>3</a:t>
            </a:fld>
            <a:endParaRPr lang="en-US"/>
          </a:p>
        </p:txBody>
      </p:sp>
    </p:spTree>
    <p:extLst>
      <p:ext uri="{BB962C8B-B14F-4D97-AF65-F5344CB8AC3E}">
        <p14:creationId xmlns:p14="http://schemas.microsoft.com/office/powerpoint/2010/main" val="9966734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524000"/>
            <a:ext cx="41148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3051032"/>
            <a:ext cx="4857750" cy="31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377408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APGAR Score</a:t>
            </a:r>
          </a:p>
        </p:txBody>
      </p:sp>
      <p:pic>
        <p:nvPicPr>
          <p:cNvPr id="4" name="Picture 2"/>
          <p:cNvPicPr>
            <a:picLocks noGrp="1" noChangeAspect="1" noChangeArrowheads="1"/>
          </p:cNvPicPr>
          <p:nvPr>
            <p:ph idx="1"/>
          </p:nvPr>
        </p:nvPicPr>
        <p:blipFill>
          <a:blip r:embed="rId2"/>
          <a:stretch>
            <a:fillRect/>
          </a:stretch>
        </p:blipFill>
        <p:spPr>
          <a:xfrm>
            <a:off x="2819400" y="1896270"/>
            <a:ext cx="6553200" cy="3933825"/>
          </a:xfrm>
          <a:noFill/>
        </p:spPr>
      </p:pic>
      <p:sp>
        <p:nvSpPr>
          <p:cNvPr id="3" name="Slide Number Placeholder 2">
            <a:extLst>
              <a:ext uri="{FF2B5EF4-FFF2-40B4-BE49-F238E27FC236}">
                <a16:creationId xmlns:a16="http://schemas.microsoft.com/office/drawing/2014/main" xmlns="" id="{5D2056AA-E088-474B-B461-B762E23E0FB5}"/>
              </a:ext>
            </a:extLst>
          </p:cNvPr>
          <p:cNvSpPr>
            <a:spLocks noGrp="1"/>
          </p:cNvSpPr>
          <p:nvPr>
            <p:ph type="sldNum" sz="quarter" idx="12"/>
          </p:nvPr>
        </p:nvSpPr>
        <p:spPr/>
        <p:txBody>
          <a:bodyPr/>
          <a:lstStyle/>
          <a:p>
            <a:fld id="{F010F31A-5B1D-4478-A180-CDC3128319F7}" type="slidenum">
              <a:rPr lang="en-US" smtClean="0"/>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1680631" y="457201"/>
            <a:ext cx="8292938" cy="5668963"/>
          </a:xfrm>
          <a:prstGeom prst="rect">
            <a:avLst/>
          </a:prstGeom>
          <a:noFill/>
          <a:ln w="9525">
            <a:noFill/>
            <a:miter lim="800000"/>
            <a:headEnd/>
            <a:tailEnd/>
          </a:ln>
          <a:effectLst/>
        </p:spPr>
      </p:pic>
      <p:sp>
        <p:nvSpPr>
          <p:cNvPr id="2" name="Slide Number Placeholder 1">
            <a:extLst>
              <a:ext uri="{FF2B5EF4-FFF2-40B4-BE49-F238E27FC236}">
                <a16:creationId xmlns:a16="http://schemas.microsoft.com/office/drawing/2014/main" xmlns="" id="{178648DE-0F0A-4466-91E9-3E6A1A69E2CC}"/>
              </a:ext>
            </a:extLst>
          </p:cNvPr>
          <p:cNvSpPr>
            <a:spLocks noGrp="1"/>
          </p:cNvSpPr>
          <p:nvPr>
            <p:ph type="sldNum" sz="quarter" idx="12"/>
          </p:nvPr>
        </p:nvSpPr>
        <p:spPr/>
        <p:txBody>
          <a:bodyPr/>
          <a:lstStyle/>
          <a:p>
            <a:fld id="{F010F31A-5B1D-4478-A180-CDC3128319F7}" type="slidenum">
              <a:rPr lang="en-US" smtClean="0"/>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A21B7C8-6513-494E-948D-740D0E093FDB}"/>
              </a:ext>
            </a:extLst>
          </p:cNvPr>
          <p:cNvSpPr>
            <a:spLocks noGrp="1"/>
          </p:cNvSpPr>
          <p:nvPr>
            <p:ph type="title"/>
          </p:nvPr>
        </p:nvSpPr>
        <p:spPr/>
        <p:txBody>
          <a:bodyPr/>
          <a:lstStyle/>
          <a:p>
            <a:r>
              <a:rPr lang="en-US" dirty="0"/>
              <a:t>Essential new born care</a:t>
            </a:r>
          </a:p>
        </p:txBody>
      </p:sp>
      <p:sp>
        <p:nvSpPr>
          <p:cNvPr id="3" name="Content Placeholder 2">
            <a:extLst>
              <a:ext uri="{FF2B5EF4-FFF2-40B4-BE49-F238E27FC236}">
                <a16:creationId xmlns:a16="http://schemas.microsoft.com/office/drawing/2014/main" xmlns="" id="{AB64FCC7-916C-42FA-BCB6-00C53884FFB4}"/>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xmlns="" id="{93D7C7C6-124F-4AE6-AC99-DD77051C33D2}"/>
              </a:ext>
            </a:extLst>
          </p:cNvPr>
          <p:cNvSpPr>
            <a:spLocks noGrp="1"/>
          </p:cNvSpPr>
          <p:nvPr>
            <p:ph type="sldNum" sz="quarter" idx="12"/>
          </p:nvPr>
        </p:nvSpPr>
        <p:spPr/>
        <p:txBody>
          <a:bodyPr/>
          <a:lstStyle/>
          <a:p>
            <a:fld id="{F010F31A-5B1D-4478-A180-CDC3128319F7}" type="slidenum">
              <a:rPr lang="en-US" smtClean="0"/>
              <a:t>7</a:t>
            </a:fld>
            <a:endParaRPr lang="en-US"/>
          </a:p>
        </p:txBody>
      </p:sp>
    </p:spTree>
    <p:extLst>
      <p:ext uri="{BB962C8B-B14F-4D97-AF65-F5344CB8AC3E}">
        <p14:creationId xmlns:p14="http://schemas.microsoft.com/office/powerpoint/2010/main" val="7014061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FF0000"/>
                </a:solidFill>
              </a:rPr>
              <a:t>Essential newborn Care</a:t>
            </a:r>
          </a:p>
        </p:txBody>
      </p:sp>
      <p:sp>
        <p:nvSpPr>
          <p:cNvPr id="3" name="Content Placeholder 2"/>
          <p:cNvSpPr>
            <a:spLocks noGrp="1"/>
          </p:cNvSpPr>
          <p:nvPr>
            <p:ph idx="1"/>
          </p:nvPr>
        </p:nvSpPr>
        <p:spPr>
          <a:xfrm>
            <a:off x="1981200" y="1295401"/>
            <a:ext cx="8229600" cy="4830763"/>
          </a:xfrm>
        </p:spPr>
        <p:txBody>
          <a:bodyPr/>
          <a:lstStyle/>
          <a:p>
            <a:pPr marL="0" indent="0">
              <a:buNone/>
            </a:pPr>
            <a:r>
              <a:rPr lang="en-US" sz="2400" dirty="0"/>
              <a:t>Essential newborn care is care given to all newborn infants at birth to optimize their chances of survival</a:t>
            </a:r>
          </a:p>
          <a:p>
            <a:pPr lvl="1" indent="-342900">
              <a:buFont typeface="Wingdings" pitchFamily="2" charset="2"/>
              <a:buChar char="Ø"/>
            </a:pPr>
            <a:r>
              <a:rPr lang="en-US" sz="2000" dirty="0"/>
              <a:t>Step 1: Dry and Stimulate</a:t>
            </a:r>
          </a:p>
          <a:p>
            <a:pPr lvl="1" indent="-342900">
              <a:buFont typeface="Wingdings" pitchFamily="2" charset="2"/>
              <a:buChar char="Ø"/>
            </a:pPr>
            <a:r>
              <a:rPr lang="en-US" sz="2000" dirty="0"/>
              <a:t>Step 2: Evaluate Breathing</a:t>
            </a:r>
          </a:p>
          <a:p>
            <a:pPr lvl="1" indent="-342900">
              <a:buFont typeface="Wingdings" pitchFamily="2" charset="2"/>
              <a:buChar char="Ø"/>
            </a:pPr>
            <a:r>
              <a:rPr lang="en-US" sz="2000" dirty="0"/>
              <a:t>Step 3: Cord care</a:t>
            </a:r>
          </a:p>
          <a:p>
            <a:pPr lvl="1" indent="-342900">
              <a:buFont typeface="Wingdings" pitchFamily="2" charset="2"/>
              <a:buChar char="Ø"/>
            </a:pPr>
            <a:r>
              <a:rPr lang="en-US" sz="2000" dirty="0"/>
              <a:t>Step 4: Keep the newborn warm (Prevent Hypothermia)</a:t>
            </a:r>
          </a:p>
          <a:p>
            <a:pPr lvl="1" indent="-342900">
              <a:buFont typeface="Wingdings" pitchFamily="2" charset="2"/>
              <a:buChar char="Ø"/>
            </a:pPr>
            <a:r>
              <a:rPr lang="en-US" sz="2000" dirty="0"/>
              <a:t>Step 5: Initiate breastfeeding in the first one hour </a:t>
            </a:r>
          </a:p>
          <a:p>
            <a:pPr lvl="1" indent="-342900">
              <a:buFont typeface="Wingdings" pitchFamily="2" charset="2"/>
              <a:buChar char="Ø"/>
            </a:pPr>
            <a:r>
              <a:rPr lang="en-US" sz="2000" dirty="0"/>
              <a:t>Step 6: Administer eye drops/eye ointment</a:t>
            </a:r>
          </a:p>
          <a:p>
            <a:pPr lvl="1" indent="-342900">
              <a:buFont typeface="Wingdings" pitchFamily="2" charset="2"/>
              <a:buChar char="Ø"/>
            </a:pPr>
            <a:r>
              <a:rPr lang="en-US" sz="2000" dirty="0"/>
              <a:t>Step 7: Administer vitamin K Intramuscularly (IM) </a:t>
            </a:r>
          </a:p>
          <a:p>
            <a:pPr lvl="1" indent="-342900">
              <a:buFont typeface="Wingdings" pitchFamily="2" charset="2"/>
              <a:buChar char="Ø"/>
            </a:pPr>
            <a:r>
              <a:rPr lang="en-US" sz="2000" dirty="0"/>
              <a:t>Step 8: Place the newborn’s identification bands on the wrist and ankle</a:t>
            </a:r>
          </a:p>
          <a:p>
            <a:pPr lvl="1" indent="-342900">
              <a:buFont typeface="Wingdings" pitchFamily="2" charset="2"/>
              <a:buChar char="Ø"/>
            </a:pPr>
            <a:r>
              <a:rPr lang="en-US" sz="2000" dirty="0"/>
              <a:t>Step 9: Weigh  </a:t>
            </a:r>
          </a:p>
          <a:p>
            <a:pPr lvl="1" indent="-342900">
              <a:buFont typeface="Wingdings" pitchFamily="2" charset="2"/>
              <a:buChar char="Ø"/>
            </a:pPr>
            <a:r>
              <a:rPr lang="en-US" sz="2000" dirty="0"/>
              <a:t>Step 10: Document </a:t>
            </a:r>
          </a:p>
          <a:p>
            <a:pPr marL="0" indent="0">
              <a:buNone/>
            </a:pPr>
            <a:endParaRPr lang="en-US" dirty="0"/>
          </a:p>
        </p:txBody>
      </p:sp>
      <p:sp>
        <p:nvSpPr>
          <p:cNvPr id="4" name="Slide Number Placeholder 3">
            <a:extLst>
              <a:ext uri="{FF2B5EF4-FFF2-40B4-BE49-F238E27FC236}">
                <a16:creationId xmlns:a16="http://schemas.microsoft.com/office/drawing/2014/main" xmlns="" id="{0E5C20FD-04D4-44A7-B0C5-869CD7AB47DA}"/>
              </a:ext>
            </a:extLst>
          </p:cNvPr>
          <p:cNvSpPr>
            <a:spLocks noGrp="1"/>
          </p:cNvSpPr>
          <p:nvPr>
            <p:ph type="sldNum" sz="quarter" idx="12"/>
          </p:nvPr>
        </p:nvSpPr>
        <p:spPr/>
        <p:txBody>
          <a:bodyPr/>
          <a:lstStyle/>
          <a:p>
            <a:fld id="{F010F31A-5B1D-4478-A180-CDC3128319F7}" type="slidenum">
              <a:rPr lang="en-US" smtClean="0"/>
              <a:t>8</a:t>
            </a:fld>
            <a:endParaRPr lang="en-US"/>
          </a:p>
        </p:txBody>
      </p:sp>
    </p:spTree>
    <p:extLst>
      <p:ext uri="{BB962C8B-B14F-4D97-AF65-F5344CB8AC3E}">
        <p14:creationId xmlns:p14="http://schemas.microsoft.com/office/powerpoint/2010/main" val="19473207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F7448C-0738-454F-9A92-C731486799A9}"/>
              </a:ext>
            </a:extLst>
          </p:cNvPr>
          <p:cNvSpPr>
            <a:spLocks noGrp="1"/>
          </p:cNvSpPr>
          <p:nvPr>
            <p:ph type="title"/>
          </p:nvPr>
        </p:nvSpPr>
        <p:spPr/>
        <p:txBody>
          <a:bodyPr/>
          <a:lstStyle/>
          <a:p>
            <a:endParaRPr lang="en-US" dirty="0"/>
          </a:p>
        </p:txBody>
      </p:sp>
      <p:sp>
        <p:nvSpPr>
          <p:cNvPr id="7" name="Content Placeholder 6">
            <a:extLst>
              <a:ext uri="{FF2B5EF4-FFF2-40B4-BE49-F238E27FC236}">
                <a16:creationId xmlns:a16="http://schemas.microsoft.com/office/drawing/2014/main" xmlns="" id="{A83758F2-B142-4466-975D-F05C72E03CC9}"/>
              </a:ext>
            </a:extLst>
          </p:cNvPr>
          <p:cNvSpPr>
            <a:spLocks noGrp="1"/>
          </p:cNvSpPr>
          <p:nvPr>
            <p:ph idx="1"/>
          </p:nvPr>
        </p:nvSpPr>
        <p:spPr/>
        <p:txBody>
          <a:bodyPr/>
          <a:lstStyle/>
          <a:p>
            <a:endParaRPr lang="en-US"/>
          </a:p>
        </p:txBody>
      </p:sp>
      <p:pic>
        <p:nvPicPr>
          <p:cNvPr id="9" name="Picture 8">
            <a:extLst>
              <a:ext uri="{FF2B5EF4-FFF2-40B4-BE49-F238E27FC236}">
                <a16:creationId xmlns:a16="http://schemas.microsoft.com/office/drawing/2014/main" xmlns="" id="{0E64C5B3-8A26-4779-9724-9048151FE775}"/>
              </a:ext>
            </a:extLst>
          </p:cNvPr>
          <p:cNvPicPr>
            <a:picLocks noChangeAspect="1"/>
          </p:cNvPicPr>
          <p:nvPr/>
        </p:nvPicPr>
        <p:blipFill>
          <a:blip r:embed="rId2"/>
          <a:stretch>
            <a:fillRect/>
          </a:stretch>
        </p:blipFill>
        <p:spPr>
          <a:xfrm>
            <a:off x="1066801" y="203871"/>
            <a:ext cx="9933708" cy="6289003"/>
          </a:xfrm>
          <a:prstGeom prst="rect">
            <a:avLst/>
          </a:prstGeom>
        </p:spPr>
      </p:pic>
      <p:sp>
        <p:nvSpPr>
          <p:cNvPr id="3" name="Slide Number Placeholder 2">
            <a:extLst>
              <a:ext uri="{FF2B5EF4-FFF2-40B4-BE49-F238E27FC236}">
                <a16:creationId xmlns:a16="http://schemas.microsoft.com/office/drawing/2014/main" xmlns="" id="{2E0626A0-A0FF-4DFB-A96E-7B9298B49B3E}"/>
              </a:ext>
            </a:extLst>
          </p:cNvPr>
          <p:cNvSpPr>
            <a:spLocks noGrp="1"/>
          </p:cNvSpPr>
          <p:nvPr>
            <p:ph type="sldNum" sz="quarter" idx="12"/>
          </p:nvPr>
        </p:nvSpPr>
        <p:spPr/>
        <p:txBody>
          <a:bodyPr/>
          <a:lstStyle/>
          <a:p>
            <a:fld id="{F010F31A-5B1D-4478-A180-CDC3128319F7}" type="slidenum">
              <a:rPr lang="en-US" smtClean="0"/>
              <a:t>9</a:t>
            </a:fld>
            <a:endParaRPr lang="en-US"/>
          </a:p>
        </p:txBody>
      </p:sp>
    </p:spTree>
    <p:extLst>
      <p:ext uri="{BB962C8B-B14F-4D97-AF65-F5344CB8AC3E}">
        <p14:creationId xmlns:p14="http://schemas.microsoft.com/office/powerpoint/2010/main" val="249716461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907128-605C-4C46-8900-FD6AB74850DE}"/>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xmlns="" id="{FAA79D33-4406-4E67-A170-3A832988E5F0}"/>
              </a:ext>
            </a:extLst>
          </p:cNvPr>
          <p:cNvPicPr>
            <a:picLocks noGrp="1" noChangeAspect="1"/>
          </p:cNvPicPr>
          <p:nvPr>
            <p:ph idx="1"/>
          </p:nvPr>
        </p:nvPicPr>
        <p:blipFill>
          <a:blip r:embed="rId2"/>
          <a:stretch>
            <a:fillRect/>
          </a:stretch>
        </p:blipFill>
        <p:spPr>
          <a:xfrm>
            <a:off x="1953490" y="156727"/>
            <a:ext cx="7980217" cy="6701273"/>
          </a:xfrm>
        </p:spPr>
      </p:pic>
      <p:sp>
        <p:nvSpPr>
          <p:cNvPr id="3" name="Slide Number Placeholder 2">
            <a:extLst>
              <a:ext uri="{FF2B5EF4-FFF2-40B4-BE49-F238E27FC236}">
                <a16:creationId xmlns:a16="http://schemas.microsoft.com/office/drawing/2014/main" xmlns="" id="{9EB6992A-DC4E-4FB2-B075-1D25F7259545}"/>
              </a:ext>
            </a:extLst>
          </p:cNvPr>
          <p:cNvSpPr>
            <a:spLocks noGrp="1"/>
          </p:cNvSpPr>
          <p:nvPr>
            <p:ph type="sldNum" sz="quarter" idx="12"/>
          </p:nvPr>
        </p:nvSpPr>
        <p:spPr/>
        <p:txBody>
          <a:bodyPr/>
          <a:lstStyle/>
          <a:p>
            <a:fld id="{F010F31A-5B1D-4478-A180-CDC3128319F7}" type="slidenum">
              <a:rPr lang="en-US" smtClean="0"/>
              <a:t>10</a:t>
            </a:fld>
            <a:endParaRPr lang="en-US"/>
          </a:p>
        </p:txBody>
      </p:sp>
    </p:spTree>
    <p:extLst>
      <p:ext uri="{BB962C8B-B14F-4D97-AF65-F5344CB8AC3E}">
        <p14:creationId xmlns:p14="http://schemas.microsoft.com/office/powerpoint/2010/main" val="22145295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BD0CF4B-734B-4CF2-8ED8-685D61961174}"/>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xmlns="" id="{388C9B5C-0C1A-4631-B986-FE6D14A1F9F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xmlns="" id="{34211B01-4991-4D17-8AAA-66AEE4809C75}"/>
              </a:ext>
            </a:extLst>
          </p:cNvPr>
          <p:cNvPicPr>
            <a:picLocks noChangeAspect="1"/>
          </p:cNvPicPr>
          <p:nvPr/>
        </p:nvPicPr>
        <p:blipFill>
          <a:blip r:embed="rId2"/>
          <a:stretch>
            <a:fillRect/>
          </a:stretch>
        </p:blipFill>
        <p:spPr>
          <a:xfrm>
            <a:off x="1814945" y="354496"/>
            <a:ext cx="7772400" cy="6112979"/>
          </a:xfrm>
          <a:prstGeom prst="rect">
            <a:avLst/>
          </a:prstGeom>
        </p:spPr>
      </p:pic>
      <p:sp>
        <p:nvSpPr>
          <p:cNvPr id="4" name="Slide Number Placeholder 3">
            <a:extLst>
              <a:ext uri="{FF2B5EF4-FFF2-40B4-BE49-F238E27FC236}">
                <a16:creationId xmlns:a16="http://schemas.microsoft.com/office/drawing/2014/main" xmlns="" id="{05E384CE-A6F0-4DAA-904B-1B151E5107FF}"/>
              </a:ext>
            </a:extLst>
          </p:cNvPr>
          <p:cNvSpPr>
            <a:spLocks noGrp="1"/>
          </p:cNvSpPr>
          <p:nvPr>
            <p:ph type="sldNum" sz="quarter" idx="12"/>
          </p:nvPr>
        </p:nvSpPr>
        <p:spPr/>
        <p:txBody>
          <a:bodyPr/>
          <a:lstStyle/>
          <a:p>
            <a:fld id="{F010F31A-5B1D-4478-A180-CDC3128319F7}" type="slidenum">
              <a:rPr lang="en-US" smtClean="0"/>
              <a:t>11</a:t>
            </a:fld>
            <a:endParaRPr lang="en-US"/>
          </a:p>
        </p:txBody>
      </p:sp>
    </p:spTree>
    <p:extLst>
      <p:ext uri="{BB962C8B-B14F-4D97-AF65-F5344CB8AC3E}">
        <p14:creationId xmlns:p14="http://schemas.microsoft.com/office/powerpoint/2010/main" val="57390400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E455319-83B6-4AAB-9092-EE55D7BD2C90}"/>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xmlns="" id="{0A2368EE-B0A5-4EA4-8B6F-135774BB4DD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xmlns="" id="{D99F258D-3931-42A4-AB4E-D05FDDDA6ADC}"/>
              </a:ext>
            </a:extLst>
          </p:cNvPr>
          <p:cNvPicPr>
            <a:picLocks noChangeAspect="1"/>
          </p:cNvPicPr>
          <p:nvPr/>
        </p:nvPicPr>
        <p:blipFill>
          <a:blip r:embed="rId2"/>
          <a:stretch>
            <a:fillRect/>
          </a:stretch>
        </p:blipFill>
        <p:spPr>
          <a:xfrm>
            <a:off x="1842656" y="166687"/>
            <a:ext cx="7564580" cy="6524625"/>
          </a:xfrm>
          <a:prstGeom prst="rect">
            <a:avLst/>
          </a:prstGeom>
        </p:spPr>
      </p:pic>
      <p:sp>
        <p:nvSpPr>
          <p:cNvPr id="4" name="Slide Number Placeholder 3">
            <a:extLst>
              <a:ext uri="{FF2B5EF4-FFF2-40B4-BE49-F238E27FC236}">
                <a16:creationId xmlns:a16="http://schemas.microsoft.com/office/drawing/2014/main" xmlns="" id="{62521BC4-7F53-4B49-BF8B-4F9D8F8CEE8F}"/>
              </a:ext>
            </a:extLst>
          </p:cNvPr>
          <p:cNvSpPr>
            <a:spLocks noGrp="1"/>
          </p:cNvSpPr>
          <p:nvPr>
            <p:ph type="sldNum" sz="quarter" idx="12"/>
          </p:nvPr>
        </p:nvSpPr>
        <p:spPr/>
        <p:txBody>
          <a:bodyPr/>
          <a:lstStyle/>
          <a:p>
            <a:fld id="{F010F31A-5B1D-4478-A180-CDC3128319F7}" type="slidenum">
              <a:rPr lang="en-US" smtClean="0"/>
              <a:t>12</a:t>
            </a:fld>
            <a:endParaRPr lang="en-US"/>
          </a:p>
        </p:txBody>
      </p:sp>
    </p:spTree>
    <p:extLst>
      <p:ext uri="{BB962C8B-B14F-4D97-AF65-F5344CB8AC3E}">
        <p14:creationId xmlns:p14="http://schemas.microsoft.com/office/powerpoint/2010/main" val="413571737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0B97659-7E03-415D-81B5-EE017F004A35}"/>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xmlns="" id="{1F103D14-86BC-440C-AD5E-5299AAA59B4D}"/>
              </a:ext>
            </a:extLst>
          </p:cNvPr>
          <p:cNvPicPr>
            <a:picLocks noGrp="1" noChangeAspect="1"/>
          </p:cNvPicPr>
          <p:nvPr>
            <p:ph idx="1"/>
          </p:nvPr>
        </p:nvPicPr>
        <p:blipFill>
          <a:blip r:embed="rId2"/>
          <a:stretch>
            <a:fillRect/>
          </a:stretch>
        </p:blipFill>
        <p:spPr>
          <a:xfrm>
            <a:off x="1963019" y="365125"/>
            <a:ext cx="7750693" cy="5786293"/>
          </a:xfrm>
        </p:spPr>
      </p:pic>
      <p:sp>
        <p:nvSpPr>
          <p:cNvPr id="3" name="Slide Number Placeholder 2">
            <a:extLst>
              <a:ext uri="{FF2B5EF4-FFF2-40B4-BE49-F238E27FC236}">
                <a16:creationId xmlns:a16="http://schemas.microsoft.com/office/drawing/2014/main" xmlns="" id="{928988DE-C6FA-4B1C-9671-D310AFF05F2C}"/>
              </a:ext>
            </a:extLst>
          </p:cNvPr>
          <p:cNvSpPr>
            <a:spLocks noGrp="1"/>
          </p:cNvSpPr>
          <p:nvPr>
            <p:ph type="sldNum" sz="quarter" idx="12"/>
          </p:nvPr>
        </p:nvSpPr>
        <p:spPr/>
        <p:txBody>
          <a:bodyPr/>
          <a:lstStyle/>
          <a:p>
            <a:fld id="{F010F31A-5B1D-4478-A180-CDC3128319F7}" type="slidenum">
              <a:rPr lang="en-US" smtClean="0"/>
              <a:t>13</a:t>
            </a:fld>
            <a:endParaRPr lang="en-US"/>
          </a:p>
        </p:txBody>
      </p:sp>
    </p:spTree>
    <p:extLst>
      <p:ext uri="{BB962C8B-B14F-4D97-AF65-F5344CB8AC3E}">
        <p14:creationId xmlns:p14="http://schemas.microsoft.com/office/powerpoint/2010/main" val="39926891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43AEDC-4B2C-4E8F-BA06-1CAFA98BC6D5}"/>
              </a:ext>
            </a:extLst>
          </p:cNvPr>
          <p:cNvSpPr>
            <a:spLocks noGrp="1"/>
          </p:cNvSpPr>
          <p:nvPr>
            <p:ph type="title"/>
          </p:nvPr>
        </p:nvSpPr>
        <p:spPr/>
        <p:txBody>
          <a:bodyPr/>
          <a:lstStyle/>
          <a:p>
            <a:r>
              <a:rPr lang="en-US" dirty="0"/>
              <a:t>Neonatal resuscitation</a:t>
            </a:r>
          </a:p>
        </p:txBody>
      </p:sp>
      <p:sp>
        <p:nvSpPr>
          <p:cNvPr id="3" name="Content Placeholder 2">
            <a:extLst>
              <a:ext uri="{FF2B5EF4-FFF2-40B4-BE49-F238E27FC236}">
                <a16:creationId xmlns:a16="http://schemas.microsoft.com/office/drawing/2014/main" xmlns="" id="{208EC529-0437-4CE5-8C25-D88044C15F5B}"/>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xmlns="" id="{520D102E-5429-42A1-A704-3DA67AE8ED00}"/>
              </a:ext>
            </a:extLst>
          </p:cNvPr>
          <p:cNvSpPr>
            <a:spLocks noGrp="1"/>
          </p:cNvSpPr>
          <p:nvPr>
            <p:ph type="sldNum" sz="quarter" idx="12"/>
          </p:nvPr>
        </p:nvSpPr>
        <p:spPr/>
        <p:txBody>
          <a:bodyPr/>
          <a:lstStyle/>
          <a:p>
            <a:fld id="{F010F31A-5B1D-4478-A180-CDC3128319F7}" type="slidenum">
              <a:rPr lang="en-US" smtClean="0"/>
              <a:t>14</a:t>
            </a:fld>
            <a:endParaRPr lang="en-US"/>
          </a:p>
        </p:txBody>
      </p:sp>
    </p:spTree>
    <p:extLst>
      <p:ext uri="{BB962C8B-B14F-4D97-AF65-F5344CB8AC3E}">
        <p14:creationId xmlns:p14="http://schemas.microsoft.com/office/powerpoint/2010/main" val="211347253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6D8ACC2-1CF4-4A11-991E-16270C11571E}"/>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xmlns="" id="{AEB1DE56-B974-4B27-A2BC-9E1C5246B1A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xmlns="" id="{FF91958B-5D97-4E25-94FC-E347DD83B3FE}"/>
              </a:ext>
            </a:extLst>
          </p:cNvPr>
          <p:cNvPicPr>
            <a:picLocks noChangeAspect="1"/>
          </p:cNvPicPr>
          <p:nvPr/>
        </p:nvPicPr>
        <p:blipFill>
          <a:blip r:embed="rId2"/>
          <a:stretch>
            <a:fillRect/>
          </a:stretch>
        </p:blipFill>
        <p:spPr>
          <a:xfrm>
            <a:off x="3001674" y="41997"/>
            <a:ext cx="6188652" cy="6210066"/>
          </a:xfrm>
          <a:prstGeom prst="rect">
            <a:avLst/>
          </a:prstGeom>
        </p:spPr>
      </p:pic>
      <p:sp>
        <p:nvSpPr>
          <p:cNvPr id="4" name="Slide Number Placeholder 3">
            <a:extLst>
              <a:ext uri="{FF2B5EF4-FFF2-40B4-BE49-F238E27FC236}">
                <a16:creationId xmlns:a16="http://schemas.microsoft.com/office/drawing/2014/main" xmlns="" id="{4D933098-A87B-429B-94B0-B8F67E281DC8}"/>
              </a:ext>
            </a:extLst>
          </p:cNvPr>
          <p:cNvSpPr>
            <a:spLocks noGrp="1"/>
          </p:cNvSpPr>
          <p:nvPr>
            <p:ph type="sldNum" sz="quarter" idx="12"/>
          </p:nvPr>
        </p:nvSpPr>
        <p:spPr/>
        <p:txBody>
          <a:bodyPr/>
          <a:lstStyle/>
          <a:p>
            <a:fld id="{F010F31A-5B1D-4478-A180-CDC3128319F7}" type="slidenum">
              <a:rPr lang="en-US" smtClean="0"/>
              <a:t>15</a:t>
            </a:fld>
            <a:endParaRPr lang="en-US"/>
          </a:p>
        </p:txBody>
      </p:sp>
    </p:spTree>
    <p:extLst>
      <p:ext uri="{BB962C8B-B14F-4D97-AF65-F5344CB8AC3E}">
        <p14:creationId xmlns:p14="http://schemas.microsoft.com/office/powerpoint/2010/main" val="406473010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278FE1-FFC4-43F4-A59B-4D5896FF075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xmlns="" id="{A2C4E45E-B051-45F2-BE33-8FDD36010CBA}"/>
              </a:ext>
            </a:extLst>
          </p:cNvPr>
          <p:cNvPicPr>
            <a:picLocks noGrp="1" noChangeAspect="1"/>
          </p:cNvPicPr>
          <p:nvPr>
            <p:ph idx="1"/>
          </p:nvPr>
        </p:nvPicPr>
        <p:blipFill>
          <a:blip r:embed="rId2"/>
          <a:stretch>
            <a:fillRect/>
          </a:stretch>
        </p:blipFill>
        <p:spPr>
          <a:xfrm>
            <a:off x="2204752" y="508685"/>
            <a:ext cx="7040260" cy="5840629"/>
          </a:xfrm>
        </p:spPr>
      </p:pic>
      <p:sp>
        <p:nvSpPr>
          <p:cNvPr id="3" name="Slide Number Placeholder 2">
            <a:extLst>
              <a:ext uri="{FF2B5EF4-FFF2-40B4-BE49-F238E27FC236}">
                <a16:creationId xmlns:a16="http://schemas.microsoft.com/office/drawing/2014/main" xmlns="" id="{28A34CEA-B09A-49D1-B7D4-1CD1EE1752C7}"/>
              </a:ext>
            </a:extLst>
          </p:cNvPr>
          <p:cNvSpPr>
            <a:spLocks noGrp="1"/>
          </p:cNvSpPr>
          <p:nvPr>
            <p:ph type="sldNum" sz="quarter" idx="12"/>
          </p:nvPr>
        </p:nvSpPr>
        <p:spPr/>
        <p:txBody>
          <a:bodyPr/>
          <a:lstStyle/>
          <a:p>
            <a:fld id="{F010F31A-5B1D-4478-A180-CDC3128319F7}" type="slidenum">
              <a:rPr lang="en-US" smtClean="0"/>
              <a:t>16</a:t>
            </a:fld>
            <a:endParaRPr lang="en-US"/>
          </a:p>
        </p:txBody>
      </p:sp>
    </p:spTree>
    <p:extLst>
      <p:ext uri="{BB962C8B-B14F-4D97-AF65-F5344CB8AC3E}">
        <p14:creationId xmlns:p14="http://schemas.microsoft.com/office/powerpoint/2010/main" val="81104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FA1A7C-4AAC-468F-A7A5-EB2804A5898E}"/>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xmlns="" id="{E77127C0-03CF-46CA-BDFA-F3186F57D9C4}"/>
              </a:ext>
            </a:extLst>
          </p:cNvPr>
          <p:cNvPicPr>
            <a:picLocks noGrp="1" noChangeAspect="1"/>
          </p:cNvPicPr>
          <p:nvPr>
            <p:ph idx="1"/>
          </p:nvPr>
        </p:nvPicPr>
        <p:blipFill>
          <a:blip r:embed="rId2"/>
          <a:stretch>
            <a:fillRect/>
          </a:stretch>
        </p:blipFill>
        <p:spPr>
          <a:xfrm>
            <a:off x="3233380" y="365124"/>
            <a:ext cx="5204038" cy="6610295"/>
          </a:xfrm>
        </p:spPr>
      </p:pic>
      <p:sp>
        <p:nvSpPr>
          <p:cNvPr id="3" name="Slide Number Placeholder 2">
            <a:extLst>
              <a:ext uri="{FF2B5EF4-FFF2-40B4-BE49-F238E27FC236}">
                <a16:creationId xmlns:a16="http://schemas.microsoft.com/office/drawing/2014/main" xmlns="" id="{0FFB1E38-D910-43E9-8FE2-9D17A5FF3005}"/>
              </a:ext>
            </a:extLst>
          </p:cNvPr>
          <p:cNvSpPr>
            <a:spLocks noGrp="1"/>
          </p:cNvSpPr>
          <p:nvPr>
            <p:ph type="sldNum" sz="quarter" idx="12"/>
          </p:nvPr>
        </p:nvSpPr>
        <p:spPr/>
        <p:txBody>
          <a:bodyPr/>
          <a:lstStyle/>
          <a:p>
            <a:fld id="{F010F31A-5B1D-4478-A180-CDC3128319F7}" type="slidenum">
              <a:rPr lang="en-US" smtClean="0"/>
              <a:t>17</a:t>
            </a:fld>
            <a:endParaRPr lang="en-US"/>
          </a:p>
        </p:txBody>
      </p:sp>
    </p:spTree>
    <p:extLst>
      <p:ext uri="{BB962C8B-B14F-4D97-AF65-F5344CB8AC3E}">
        <p14:creationId xmlns:p14="http://schemas.microsoft.com/office/powerpoint/2010/main" val="327176389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984493-577E-4C3F-B078-76D289D5B78E}"/>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xmlns="" id="{37389587-9E3C-410B-813F-B9457664753D}"/>
              </a:ext>
            </a:extLst>
          </p:cNvPr>
          <p:cNvPicPr>
            <a:picLocks noGrp="1" noChangeAspect="1"/>
          </p:cNvPicPr>
          <p:nvPr>
            <p:ph idx="1"/>
          </p:nvPr>
        </p:nvPicPr>
        <p:blipFill>
          <a:blip r:embed="rId2"/>
          <a:stretch>
            <a:fillRect/>
          </a:stretch>
        </p:blipFill>
        <p:spPr>
          <a:xfrm>
            <a:off x="3302035" y="365125"/>
            <a:ext cx="5052256" cy="5930533"/>
          </a:xfrm>
        </p:spPr>
      </p:pic>
      <p:sp>
        <p:nvSpPr>
          <p:cNvPr id="3" name="Slide Number Placeholder 2">
            <a:extLst>
              <a:ext uri="{FF2B5EF4-FFF2-40B4-BE49-F238E27FC236}">
                <a16:creationId xmlns:a16="http://schemas.microsoft.com/office/drawing/2014/main" xmlns="" id="{D6CA79F7-5956-43A1-8B53-69CA02437964}"/>
              </a:ext>
            </a:extLst>
          </p:cNvPr>
          <p:cNvSpPr>
            <a:spLocks noGrp="1"/>
          </p:cNvSpPr>
          <p:nvPr>
            <p:ph type="sldNum" sz="quarter" idx="12"/>
          </p:nvPr>
        </p:nvSpPr>
        <p:spPr/>
        <p:txBody>
          <a:bodyPr/>
          <a:lstStyle/>
          <a:p>
            <a:fld id="{F010F31A-5B1D-4478-A180-CDC3128319F7}" type="slidenum">
              <a:rPr lang="en-US" smtClean="0"/>
              <a:t>18</a:t>
            </a:fld>
            <a:endParaRPr lang="en-US"/>
          </a:p>
        </p:txBody>
      </p:sp>
    </p:spTree>
    <p:extLst>
      <p:ext uri="{BB962C8B-B14F-4D97-AF65-F5344CB8AC3E}">
        <p14:creationId xmlns:p14="http://schemas.microsoft.com/office/powerpoint/2010/main" val="222270203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4131FF7-30A2-4DB7-AD44-6BED6D9BB5B7}"/>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xmlns="" id="{2ED11C7D-C8D5-417D-B497-F6473BBA22E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xmlns="" id="{D6FD7841-5C68-4276-AEA5-221CC301177D}"/>
              </a:ext>
            </a:extLst>
          </p:cNvPr>
          <p:cNvPicPr>
            <a:picLocks noChangeAspect="1"/>
          </p:cNvPicPr>
          <p:nvPr/>
        </p:nvPicPr>
        <p:blipFill>
          <a:blip r:embed="rId2"/>
          <a:stretch>
            <a:fillRect/>
          </a:stretch>
        </p:blipFill>
        <p:spPr>
          <a:xfrm>
            <a:off x="3158619" y="350519"/>
            <a:ext cx="4960144" cy="5996720"/>
          </a:xfrm>
          <a:prstGeom prst="rect">
            <a:avLst/>
          </a:prstGeom>
        </p:spPr>
      </p:pic>
      <p:sp>
        <p:nvSpPr>
          <p:cNvPr id="4" name="Slide Number Placeholder 3">
            <a:extLst>
              <a:ext uri="{FF2B5EF4-FFF2-40B4-BE49-F238E27FC236}">
                <a16:creationId xmlns:a16="http://schemas.microsoft.com/office/drawing/2014/main" xmlns="" id="{C5EFB251-1B9E-4ABA-A977-D50B4E85A350}"/>
              </a:ext>
            </a:extLst>
          </p:cNvPr>
          <p:cNvSpPr>
            <a:spLocks noGrp="1"/>
          </p:cNvSpPr>
          <p:nvPr>
            <p:ph type="sldNum" sz="quarter" idx="12"/>
          </p:nvPr>
        </p:nvSpPr>
        <p:spPr/>
        <p:txBody>
          <a:bodyPr/>
          <a:lstStyle/>
          <a:p>
            <a:fld id="{F010F31A-5B1D-4478-A180-CDC3128319F7}" type="slidenum">
              <a:rPr lang="en-US" smtClean="0"/>
              <a:t>19</a:t>
            </a:fld>
            <a:endParaRPr lang="en-US"/>
          </a:p>
        </p:txBody>
      </p:sp>
    </p:spTree>
    <p:extLst>
      <p:ext uri="{BB962C8B-B14F-4D97-AF65-F5344CB8AC3E}">
        <p14:creationId xmlns:p14="http://schemas.microsoft.com/office/powerpoint/2010/main" val="232865244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7320A1B-4F79-4D69-91B7-88BEF54E1D47}"/>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xmlns="" id="{283C465F-E73A-4257-BF95-FAB454DB8C6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xmlns="" id="{9583ED72-B69A-46BB-AE95-9E4092542C3E}"/>
              </a:ext>
            </a:extLst>
          </p:cNvPr>
          <p:cNvPicPr>
            <a:picLocks noChangeAspect="1"/>
          </p:cNvPicPr>
          <p:nvPr/>
        </p:nvPicPr>
        <p:blipFill>
          <a:blip r:embed="rId2"/>
          <a:stretch>
            <a:fillRect/>
          </a:stretch>
        </p:blipFill>
        <p:spPr>
          <a:xfrm>
            <a:off x="2865451" y="681037"/>
            <a:ext cx="6177672" cy="5156921"/>
          </a:xfrm>
          <a:prstGeom prst="rect">
            <a:avLst/>
          </a:prstGeom>
        </p:spPr>
      </p:pic>
      <p:sp>
        <p:nvSpPr>
          <p:cNvPr id="4" name="Slide Number Placeholder 3">
            <a:extLst>
              <a:ext uri="{FF2B5EF4-FFF2-40B4-BE49-F238E27FC236}">
                <a16:creationId xmlns:a16="http://schemas.microsoft.com/office/drawing/2014/main" xmlns="" id="{A2EC408A-9CF2-464F-84A6-79133E6C6B71}"/>
              </a:ext>
            </a:extLst>
          </p:cNvPr>
          <p:cNvSpPr>
            <a:spLocks noGrp="1"/>
          </p:cNvSpPr>
          <p:nvPr>
            <p:ph type="sldNum" sz="quarter" idx="12"/>
          </p:nvPr>
        </p:nvSpPr>
        <p:spPr/>
        <p:txBody>
          <a:bodyPr/>
          <a:lstStyle/>
          <a:p>
            <a:fld id="{F010F31A-5B1D-4478-A180-CDC3128319F7}" type="slidenum">
              <a:rPr lang="en-US" smtClean="0"/>
              <a:t>20</a:t>
            </a:fld>
            <a:endParaRPr lang="en-US"/>
          </a:p>
        </p:txBody>
      </p:sp>
    </p:spTree>
    <p:extLst>
      <p:ext uri="{BB962C8B-B14F-4D97-AF65-F5344CB8AC3E}">
        <p14:creationId xmlns:p14="http://schemas.microsoft.com/office/powerpoint/2010/main" val="20502663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04A535D-2E96-4FB0-AAA3-8ED3ED29FC2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xmlns="" id="{7FA28E33-909C-4B0E-8942-0C2EEECF2E1E}"/>
              </a:ext>
            </a:extLst>
          </p:cNvPr>
          <p:cNvPicPr>
            <a:picLocks noGrp="1" noChangeAspect="1"/>
          </p:cNvPicPr>
          <p:nvPr>
            <p:ph idx="1"/>
          </p:nvPr>
        </p:nvPicPr>
        <p:blipFill>
          <a:blip r:embed="rId2"/>
          <a:stretch>
            <a:fillRect/>
          </a:stretch>
        </p:blipFill>
        <p:spPr>
          <a:xfrm>
            <a:off x="1939885" y="568038"/>
            <a:ext cx="8793492" cy="5070258"/>
          </a:xfrm>
        </p:spPr>
      </p:pic>
      <p:sp>
        <p:nvSpPr>
          <p:cNvPr id="3" name="Slide Number Placeholder 2">
            <a:extLst>
              <a:ext uri="{FF2B5EF4-FFF2-40B4-BE49-F238E27FC236}">
                <a16:creationId xmlns:a16="http://schemas.microsoft.com/office/drawing/2014/main" xmlns="" id="{100963B0-6EC9-4C50-BA2F-FBBB0CD61003}"/>
              </a:ext>
            </a:extLst>
          </p:cNvPr>
          <p:cNvSpPr>
            <a:spLocks noGrp="1"/>
          </p:cNvSpPr>
          <p:nvPr>
            <p:ph type="sldNum" sz="quarter" idx="12"/>
          </p:nvPr>
        </p:nvSpPr>
        <p:spPr/>
        <p:txBody>
          <a:bodyPr/>
          <a:lstStyle/>
          <a:p>
            <a:fld id="{F010F31A-5B1D-4478-A180-CDC3128319F7}" type="slidenum">
              <a:rPr lang="en-US" smtClean="0"/>
              <a:t>21</a:t>
            </a:fld>
            <a:endParaRPr lang="en-US"/>
          </a:p>
        </p:txBody>
      </p:sp>
    </p:spTree>
    <p:extLst>
      <p:ext uri="{BB962C8B-B14F-4D97-AF65-F5344CB8AC3E}">
        <p14:creationId xmlns:p14="http://schemas.microsoft.com/office/powerpoint/2010/main" val="305137038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C392D3A-7543-4161-A3C8-425883781FC2}"/>
              </a:ext>
            </a:extLst>
          </p:cNvPr>
          <p:cNvSpPr>
            <a:spLocks noGrp="1"/>
          </p:cNvSpPr>
          <p:nvPr>
            <p:ph type="title"/>
          </p:nvPr>
        </p:nvSpPr>
        <p:spPr/>
        <p:txBody>
          <a:bodyPr/>
          <a:lstStyle/>
          <a:p>
            <a:r>
              <a:rPr lang="en-US" dirty="0"/>
              <a:t>Necrotizing enterocolitis</a:t>
            </a:r>
          </a:p>
        </p:txBody>
      </p:sp>
      <p:sp>
        <p:nvSpPr>
          <p:cNvPr id="3" name="Content Placeholder 2">
            <a:extLst>
              <a:ext uri="{FF2B5EF4-FFF2-40B4-BE49-F238E27FC236}">
                <a16:creationId xmlns:a16="http://schemas.microsoft.com/office/drawing/2014/main" xmlns="" id="{8C222D1B-83B9-40FF-8604-61F46585F054}"/>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xmlns="" id="{63FD67AB-233D-4591-B49F-D1A8911BCA93}"/>
              </a:ext>
            </a:extLst>
          </p:cNvPr>
          <p:cNvSpPr>
            <a:spLocks noGrp="1"/>
          </p:cNvSpPr>
          <p:nvPr>
            <p:ph type="sldNum" sz="quarter" idx="12"/>
          </p:nvPr>
        </p:nvSpPr>
        <p:spPr/>
        <p:txBody>
          <a:bodyPr/>
          <a:lstStyle/>
          <a:p>
            <a:fld id="{F010F31A-5B1D-4478-A180-CDC3128319F7}" type="slidenum">
              <a:rPr lang="en-US" smtClean="0"/>
              <a:t>22</a:t>
            </a:fld>
            <a:endParaRPr lang="en-US"/>
          </a:p>
        </p:txBody>
      </p:sp>
    </p:spTree>
    <p:extLst>
      <p:ext uri="{BB962C8B-B14F-4D97-AF65-F5344CB8AC3E}">
        <p14:creationId xmlns:p14="http://schemas.microsoft.com/office/powerpoint/2010/main" val="174054146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A665E12A-7A4A-4785-91AC-6679CED087B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50CB6800-CCDA-4E2F-A950-90ADD9AA162F}"/>
              </a:ext>
            </a:extLst>
          </p:cNvPr>
          <p:cNvSpPr>
            <a:spLocks noGrp="1"/>
          </p:cNvSpPr>
          <p:nvPr>
            <p:ph sz="half" idx="1"/>
          </p:nvPr>
        </p:nvSpPr>
        <p:spPr/>
        <p:txBody>
          <a:bodyPr>
            <a:normAutofit fontScale="77500" lnSpcReduction="20000"/>
          </a:bodyPr>
          <a:lstStyle/>
          <a:p>
            <a:r>
              <a:rPr lang="en-US" sz="3200" b="0" i="0" dirty="0">
                <a:solidFill>
                  <a:srgbClr val="242021"/>
                </a:solidFill>
                <a:effectLst/>
                <a:latin typeface="Times New Roman" panose="02020603050405020304" pitchFamily="18" charset="0"/>
                <a:cs typeface="Times New Roman" panose="02020603050405020304" pitchFamily="18" charset="0"/>
              </a:rPr>
              <a:t>NEC is the most common life-threatening emergency of the gastrointestinal tract in the newborn period. characterized by various degrees of mucosal or transmural necrosis of the intestine. </a:t>
            </a:r>
          </a:p>
          <a:p>
            <a:r>
              <a:rPr lang="en-US" sz="3200" dirty="0">
                <a:solidFill>
                  <a:srgbClr val="242021"/>
                </a:solidFill>
                <a:latin typeface="Times New Roman" panose="02020603050405020304" pitchFamily="18" charset="0"/>
                <a:cs typeface="Times New Roman" panose="02020603050405020304" pitchFamily="18" charset="0"/>
              </a:rPr>
              <a:t>C</a:t>
            </a:r>
            <a:r>
              <a:rPr lang="en-US" sz="3200" b="0" i="0" dirty="0">
                <a:solidFill>
                  <a:srgbClr val="242021"/>
                </a:solidFill>
                <a:effectLst/>
                <a:latin typeface="Times New Roman" panose="02020603050405020304" pitchFamily="18" charset="0"/>
                <a:cs typeface="Times New Roman" panose="02020603050405020304" pitchFamily="18" charset="0"/>
              </a:rPr>
              <a:t>ause of NEC </a:t>
            </a:r>
          </a:p>
          <a:p>
            <a:pPr lvl="1"/>
            <a:r>
              <a:rPr lang="en-US" b="0" i="0" dirty="0">
                <a:solidFill>
                  <a:srgbClr val="242021"/>
                </a:solidFill>
                <a:effectLst/>
                <a:latin typeface="Times New Roman" panose="02020603050405020304" pitchFamily="18" charset="0"/>
                <a:cs typeface="Times New Roman" panose="02020603050405020304" pitchFamily="18" charset="0"/>
              </a:rPr>
              <a:t>remains unclear</a:t>
            </a:r>
          </a:p>
          <a:p>
            <a:pPr lvl="1"/>
            <a:r>
              <a:rPr lang="en-US" b="0" i="0" dirty="0">
                <a:solidFill>
                  <a:srgbClr val="242021"/>
                </a:solidFill>
                <a:effectLst/>
                <a:latin typeface="Times New Roman" panose="02020603050405020304" pitchFamily="18" charset="0"/>
                <a:cs typeface="Times New Roman" panose="02020603050405020304" pitchFamily="18" charset="0"/>
              </a:rPr>
              <a:t> most likely multifactorial</a:t>
            </a:r>
          </a:p>
          <a:p>
            <a:pPr lvl="1"/>
            <a:r>
              <a:rPr lang="en-US" b="0" i="0" dirty="0">
                <a:solidFill>
                  <a:srgbClr val="242021"/>
                </a:solidFill>
                <a:effectLst/>
                <a:latin typeface="Times New Roman" panose="02020603050405020304" pitchFamily="18" charset="0"/>
                <a:cs typeface="Times New Roman" panose="02020603050405020304" pitchFamily="18" charset="0"/>
              </a:rPr>
              <a:t> incidence of NEC is 1-5% of infants in neonatal ICUs. </a:t>
            </a:r>
          </a:p>
          <a:p>
            <a:pPr lvl="1"/>
            <a:r>
              <a:rPr lang="en-US" b="0" i="0" dirty="0">
                <a:solidFill>
                  <a:srgbClr val="242021"/>
                </a:solidFill>
                <a:effectLst/>
                <a:latin typeface="Times New Roman" panose="02020603050405020304" pitchFamily="18" charset="0"/>
                <a:cs typeface="Times New Roman" panose="02020603050405020304" pitchFamily="18" charset="0"/>
              </a:rPr>
              <a:t> incidence and case fatality rates increase with decreasing birth weight and gestational age. </a:t>
            </a:r>
            <a:r>
              <a:rPr lang="en-US" sz="4000" dirty="0">
                <a:latin typeface="Times New Roman" panose="02020603050405020304" pitchFamily="18" charset="0"/>
                <a:cs typeface="Times New Roman" panose="02020603050405020304" pitchFamily="18" charset="0"/>
              </a:rPr>
              <a:t/>
            </a:r>
            <a:br>
              <a:rPr lang="en-US" sz="4000"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xmlns="" id="{78F27C40-F244-42C5-B2E7-DD5C806EC9F9}"/>
              </a:ext>
            </a:extLst>
          </p:cNvPr>
          <p:cNvSpPr>
            <a:spLocks noGrp="1"/>
          </p:cNvSpPr>
          <p:nvPr>
            <p:ph sz="half" idx="2"/>
          </p:nvPr>
        </p:nvSpPr>
        <p:spPr/>
        <p:txBody>
          <a:bodyPr>
            <a:normAutofit fontScale="77500" lnSpcReduction="20000"/>
          </a:bodyPr>
          <a:lstStyle/>
          <a:p>
            <a:r>
              <a:rPr lang="en-US" sz="3200" dirty="0">
                <a:solidFill>
                  <a:srgbClr val="242021"/>
                </a:solidFill>
                <a:latin typeface="Times New Roman" panose="02020603050405020304" pitchFamily="18" charset="0"/>
                <a:cs typeface="Times New Roman" panose="02020603050405020304" pitchFamily="18" charset="0"/>
              </a:rPr>
              <a:t>P</a:t>
            </a:r>
            <a:r>
              <a:rPr lang="en-US" sz="3200" b="0" i="0" dirty="0">
                <a:solidFill>
                  <a:srgbClr val="242021"/>
                </a:solidFill>
                <a:effectLst/>
                <a:latin typeface="Times New Roman" panose="02020603050405020304" pitchFamily="18" charset="0"/>
                <a:cs typeface="Times New Roman" panose="02020603050405020304" pitchFamily="18" charset="0"/>
              </a:rPr>
              <a:t>athologic</a:t>
            </a:r>
            <a:r>
              <a:rPr lang="en-US" sz="3200" dirty="0">
                <a:solidFill>
                  <a:srgbClr val="242021"/>
                </a:solidFill>
                <a:latin typeface="Times New Roman" panose="02020603050405020304" pitchFamily="18" charset="0"/>
                <a:cs typeface="Times New Roman" panose="02020603050405020304" pitchFamily="18" charset="0"/>
              </a:rPr>
              <a:t> </a:t>
            </a:r>
            <a:r>
              <a:rPr lang="en-US" sz="3200" b="0" i="0" dirty="0">
                <a:solidFill>
                  <a:srgbClr val="242021"/>
                </a:solidFill>
                <a:effectLst/>
                <a:latin typeface="Times New Roman" panose="02020603050405020304" pitchFamily="18" charset="0"/>
                <a:cs typeface="Times New Roman" panose="02020603050405020304" pitchFamily="18" charset="0"/>
              </a:rPr>
              <a:t>findings of NEC</a:t>
            </a:r>
          </a:p>
          <a:p>
            <a:pPr lvl="1"/>
            <a:r>
              <a:rPr lang="en-US" sz="3200" b="0" i="0" dirty="0">
                <a:solidFill>
                  <a:srgbClr val="242021"/>
                </a:solidFill>
                <a:effectLst/>
                <a:latin typeface="Times New Roman" panose="02020603050405020304" pitchFamily="18" charset="0"/>
                <a:cs typeface="Times New Roman" panose="02020603050405020304" pitchFamily="18" charset="0"/>
              </a:rPr>
              <a:t>necrotic segment of intestine</a:t>
            </a:r>
          </a:p>
          <a:p>
            <a:pPr lvl="1"/>
            <a:r>
              <a:rPr lang="en-US" sz="3200" b="0" i="0" dirty="0">
                <a:solidFill>
                  <a:srgbClr val="242021"/>
                </a:solidFill>
                <a:effectLst/>
                <a:latin typeface="Times New Roman" panose="02020603050405020304" pitchFamily="18" charset="0"/>
                <a:cs typeface="Times New Roman" panose="02020603050405020304" pitchFamily="18" charset="0"/>
              </a:rPr>
              <a:t> gas accumulation in the submucosa of the bowel wall </a:t>
            </a:r>
            <a:r>
              <a:rPr lang="en-US" sz="3200" b="1" i="0" dirty="0">
                <a:solidFill>
                  <a:srgbClr val="242021"/>
                </a:solidFill>
                <a:effectLst/>
                <a:latin typeface="Times New Roman" panose="02020603050405020304" pitchFamily="18" charset="0"/>
                <a:cs typeface="Times New Roman" panose="02020603050405020304" pitchFamily="18" charset="0"/>
              </a:rPr>
              <a:t>(pneumatosis intestinalis)</a:t>
            </a:r>
            <a:endParaRPr lang="en-US" sz="3200" b="1" dirty="0">
              <a:solidFill>
                <a:srgbClr val="242021"/>
              </a:solidFill>
              <a:latin typeface="Times New Roman" panose="02020603050405020304" pitchFamily="18" charset="0"/>
              <a:cs typeface="Times New Roman" panose="02020603050405020304" pitchFamily="18" charset="0"/>
            </a:endParaRPr>
          </a:p>
          <a:p>
            <a:pPr lvl="1"/>
            <a:r>
              <a:rPr lang="en-US" sz="3200" b="0" i="0" dirty="0">
                <a:solidFill>
                  <a:srgbClr val="242021"/>
                </a:solidFill>
                <a:effectLst/>
                <a:latin typeface="Times New Roman" panose="02020603050405020304" pitchFamily="18" charset="0"/>
                <a:cs typeface="Times New Roman" panose="02020603050405020304" pitchFamily="18" charset="0"/>
              </a:rPr>
              <a:t> progression of the necrosis to perforation, </a:t>
            </a:r>
          </a:p>
          <a:p>
            <a:pPr lvl="1"/>
            <a:r>
              <a:rPr lang="en-US" sz="3200" b="0" i="0" dirty="0">
                <a:solidFill>
                  <a:srgbClr val="242021"/>
                </a:solidFill>
                <a:effectLst/>
                <a:latin typeface="Times New Roman" panose="02020603050405020304" pitchFamily="18" charset="0"/>
                <a:cs typeface="Times New Roman" panose="02020603050405020304" pitchFamily="18" charset="0"/>
              </a:rPr>
              <a:t>peritonitis</a:t>
            </a:r>
          </a:p>
          <a:p>
            <a:pPr lvl="1"/>
            <a:r>
              <a:rPr lang="en-US" sz="3200" b="0" i="0" dirty="0">
                <a:solidFill>
                  <a:srgbClr val="242021"/>
                </a:solidFill>
                <a:effectLst/>
                <a:latin typeface="Times New Roman" panose="02020603050405020304" pitchFamily="18" charset="0"/>
                <a:cs typeface="Times New Roman" panose="02020603050405020304" pitchFamily="18" charset="0"/>
              </a:rPr>
              <a:t> sepsis</a:t>
            </a:r>
          </a:p>
          <a:p>
            <a:pPr lvl="1"/>
            <a:r>
              <a:rPr lang="en-US" sz="3200" b="0" i="0" dirty="0">
                <a:solidFill>
                  <a:srgbClr val="242021"/>
                </a:solidFill>
                <a:effectLst/>
                <a:latin typeface="Times New Roman" panose="02020603050405020304" pitchFamily="18" charset="0"/>
                <a:cs typeface="Times New Roman" panose="02020603050405020304" pitchFamily="18" charset="0"/>
              </a:rPr>
              <a:t>death</a:t>
            </a:r>
            <a:endParaRPr lang="en-US" dirty="0"/>
          </a:p>
        </p:txBody>
      </p:sp>
      <p:sp>
        <p:nvSpPr>
          <p:cNvPr id="4" name="Slide Number Placeholder 3">
            <a:extLst>
              <a:ext uri="{FF2B5EF4-FFF2-40B4-BE49-F238E27FC236}">
                <a16:creationId xmlns:a16="http://schemas.microsoft.com/office/drawing/2014/main" xmlns="" id="{06CD53FF-7B85-4668-BE05-5CB84F257819}"/>
              </a:ext>
            </a:extLst>
          </p:cNvPr>
          <p:cNvSpPr>
            <a:spLocks noGrp="1"/>
          </p:cNvSpPr>
          <p:nvPr>
            <p:ph type="sldNum" sz="quarter" idx="12"/>
          </p:nvPr>
        </p:nvSpPr>
        <p:spPr/>
        <p:txBody>
          <a:bodyPr/>
          <a:lstStyle/>
          <a:p>
            <a:fld id="{F010F31A-5B1D-4478-A180-CDC3128319F7}" type="slidenum">
              <a:rPr lang="en-US" smtClean="0"/>
              <a:t>23</a:t>
            </a:fld>
            <a:endParaRPr lang="en-US"/>
          </a:p>
        </p:txBody>
      </p:sp>
    </p:spTree>
    <p:extLst>
      <p:ext uri="{BB962C8B-B14F-4D97-AF65-F5344CB8AC3E}">
        <p14:creationId xmlns:p14="http://schemas.microsoft.com/office/powerpoint/2010/main" val="153023867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FE81FE5-F84B-466A-BD09-004B41C8D98C}"/>
              </a:ext>
            </a:extLst>
          </p:cNvPr>
          <p:cNvSpPr>
            <a:spLocks noGrp="1"/>
          </p:cNvSpPr>
          <p:nvPr>
            <p:ph sz="half" idx="1"/>
          </p:nvPr>
        </p:nvSpPr>
        <p:spPr/>
        <p:txBody>
          <a:bodyPr>
            <a:normAutofit fontScale="92500" lnSpcReduction="10000"/>
          </a:bodyPr>
          <a:lstStyle/>
          <a:p>
            <a:r>
              <a:rPr lang="en-US" sz="1800" b="0" i="0" dirty="0">
                <a:solidFill>
                  <a:srgbClr val="242021"/>
                </a:solidFill>
                <a:effectLst/>
                <a:latin typeface="MinionPro-Regular"/>
              </a:rPr>
              <a:t>The distal part of the ileum and the proximal segment of colon are involved most frequently; in fatal cases, gangrene may extend from</a:t>
            </a:r>
            <a:r>
              <a:rPr lang="en-US" sz="1800" dirty="0">
                <a:solidFill>
                  <a:srgbClr val="242021"/>
                </a:solidFill>
                <a:latin typeface="MinionPro-Regular"/>
              </a:rPr>
              <a:t> </a:t>
            </a:r>
            <a:r>
              <a:rPr lang="en-US" sz="1800" b="0" i="0" dirty="0">
                <a:solidFill>
                  <a:srgbClr val="242021"/>
                </a:solidFill>
                <a:effectLst/>
                <a:latin typeface="MinionPro-Regular"/>
              </a:rPr>
              <a:t>the stomach to the rectum. </a:t>
            </a:r>
          </a:p>
          <a:p>
            <a:r>
              <a:rPr lang="en-US" sz="1800" b="0" i="0" dirty="0">
                <a:solidFill>
                  <a:srgbClr val="242021"/>
                </a:solidFill>
                <a:effectLst/>
                <a:latin typeface="MinionPro-Regular"/>
              </a:rPr>
              <a:t>Although NEC is a multifactorial disease primarily associated with intestinal immaturity, the concept of “risk factors” for NEC is controversial. </a:t>
            </a:r>
          </a:p>
          <a:p>
            <a:r>
              <a:rPr lang="en-US" sz="3200" b="1" i="0" dirty="0">
                <a:solidFill>
                  <a:srgbClr val="FF0000"/>
                </a:solidFill>
                <a:effectLst/>
                <a:latin typeface="MinionPro-Regular"/>
              </a:rPr>
              <a:t>This triad has classically been linked to NEC. </a:t>
            </a:r>
          </a:p>
          <a:p>
            <a:pPr lvl="1"/>
            <a:r>
              <a:rPr lang="en-US" b="1" i="0" dirty="0">
                <a:solidFill>
                  <a:srgbClr val="FF0000"/>
                </a:solidFill>
                <a:effectLst/>
                <a:latin typeface="MinionPro-Regular"/>
              </a:rPr>
              <a:t>intestinal ischemia</a:t>
            </a:r>
            <a:br>
              <a:rPr lang="en-US" b="1" i="0" dirty="0">
                <a:solidFill>
                  <a:srgbClr val="FF0000"/>
                </a:solidFill>
                <a:effectLst/>
                <a:latin typeface="MinionPro-Regular"/>
              </a:rPr>
            </a:br>
            <a:r>
              <a:rPr lang="en-US" b="1" i="0" dirty="0">
                <a:solidFill>
                  <a:srgbClr val="FF0000"/>
                </a:solidFill>
                <a:effectLst/>
                <a:latin typeface="MinionPro-Regular"/>
              </a:rPr>
              <a:t>(injury), </a:t>
            </a:r>
          </a:p>
          <a:p>
            <a:pPr lvl="1"/>
            <a:r>
              <a:rPr lang="en-US" b="1" i="0" dirty="0">
                <a:solidFill>
                  <a:srgbClr val="FF0000"/>
                </a:solidFill>
                <a:effectLst/>
                <a:latin typeface="MinionPro-Regular"/>
              </a:rPr>
              <a:t>enteral nutrition (metabolic substrate), and </a:t>
            </a:r>
          </a:p>
          <a:p>
            <a:pPr lvl="1"/>
            <a:r>
              <a:rPr lang="en-US" b="1" i="0" dirty="0">
                <a:solidFill>
                  <a:srgbClr val="FF0000"/>
                </a:solidFill>
                <a:effectLst/>
                <a:latin typeface="MinionPro-Regular"/>
              </a:rPr>
              <a:t>bacterial translocation</a:t>
            </a:r>
            <a:endParaRPr lang="en-US" sz="4000" b="1" dirty="0">
              <a:solidFill>
                <a:srgbClr val="FF0000"/>
              </a:solidFill>
            </a:endParaRPr>
          </a:p>
        </p:txBody>
      </p:sp>
      <p:sp>
        <p:nvSpPr>
          <p:cNvPr id="10" name="Content Placeholder 9">
            <a:extLst>
              <a:ext uri="{FF2B5EF4-FFF2-40B4-BE49-F238E27FC236}">
                <a16:creationId xmlns:a16="http://schemas.microsoft.com/office/drawing/2014/main" xmlns="" id="{B17C397F-F763-45F6-A2AF-4447C1F7497D}"/>
              </a:ext>
            </a:extLst>
          </p:cNvPr>
          <p:cNvSpPr>
            <a:spLocks noGrp="1"/>
          </p:cNvSpPr>
          <p:nvPr>
            <p:ph sz="half" idx="2"/>
          </p:nvPr>
        </p:nvSpPr>
        <p:spPr/>
        <p:txBody>
          <a:bodyPr>
            <a:normAutofit fontScale="92500" lnSpcReduction="10000"/>
          </a:bodyPr>
          <a:lstStyle/>
          <a:p>
            <a:r>
              <a:rPr lang="en-US" dirty="0">
                <a:solidFill>
                  <a:srgbClr val="FF0000"/>
                </a:solidFill>
                <a:latin typeface="MinionPro-Regular"/>
              </a:rPr>
              <a:t>P</a:t>
            </a:r>
            <a:r>
              <a:rPr lang="en-US" sz="2800" b="0" i="0" dirty="0">
                <a:solidFill>
                  <a:srgbClr val="FF0000"/>
                </a:solidFill>
                <a:effectLst/>
                <a:latin typeface="MinionPro-Regular"/>
              </a:rPr>
              <a:t>rematurity is the greatest risk factor</a:t>
            </a:r>
          </a:p>
          <a:p>
            <a:r>
              <a:rPr lang="en-US" sz="2800" dirty="0">
                <a:solidFill>
                  <a:srgbClr val="FF0000"/>
                </a:solidFill>
                <a:latin typeface="MinionPro-Regular"/>
              </a:rPr>
              <a:t>R</a:t>
            </a:r>
            <a:r>
              <a:rPr lang="en-US" sz="2800" b="0" i="0" dirty="0">
                <a:solidFill>
                  <a:srgbClr val="FF0000"/>
                </a:solidFill>
                <a:effectLst/>
                <a:latin typeface="MinionPro-Regular"/>
              </a:rPr>
              <a:t>arely occurs before the initiation of enteral feeding and is much less common in infants fed human milk.</a:t>
            </a:r>
            <a:r>
              <a:rPr lang="en-US" sz="2800" b="0" i="0" dirty="0">
                <a:solidFill>
                  <a:srgbClr val="242021"/>
                </a:solidFill>
                <a:effectLst/>
                <a:latin typeface="MinionPro-Regular"/>
              </a:rPr>
              <a:t> </a:t>
            </a:r>
          </a:p>
          <a:p>
            <a:r>
              <a:rPr lang="en-US" sz="2800" b="0" i="0" dirty="0">
                <a:solidFill>
                  <a:srgbClr val="FF0000"/>
                </a:solidFill>
                <a:effectLst/>
                <a:latin typeface="MinionPro-Regular"/>
              </a:rPr>
              <a:t>Aggressive enteral feeding may predispose to the development of </a:t>
            </a:r>
            <a:r>
              <a:rPr lang="en-US" dirty="0">
                <a:solidFill>
                  <a:srgbClr val="FF0000"/>
                </a:solidFill>
                <a:latin typeface="MinionPro-Regular"/>
              </a:rPr>
              <a:t>NEC.</a:t>
            </a:r>
          </a:p>
          <a:p>
            <a:r>
              <a:rPr lang="en-US" dirty="0">
                <a:solidFill>
                  <a:srgbClr val="FF0000"/>
                </a:solidFill>
                <a:latin typeface="MinionPro-Regular"/>
              </a:rPr>
              <a:t> Coagulation necrosis is the characteristic histologic finding in intestinal specimens.</a:t>
            </a:r>
          </a:p>
          <a:p>
            <a:endParaRPr lang="en-US" sz="2800" b="0" i="0" dirty="0">
              <a:solidFill>
                <a:srgbClr val="FF0000"/>
              </a:solidFill>
              <a:effectLst/>
              <a:latin typeface="MinionPro-Regular"/>
            </a:endParaRPr>
          </a:p>
          <a:p>
            <a:endParaRPr lang="en-US" dirty="0"/>
          </a:p>
        </p:txBody>
      </p:sp>
      <p:sp>
        <p:nvSpPr>
          <p:cNvPr id="4" name="Slide Number Placeholder 3">
            <a:extLst>
              <a:ext uri="{FF2B5EF4-FFF2-40B4-BE49-F238E27FC236}">
                <a16:creationId xmlns:a16="http://schemas.microsoft.com/office/drawing/2014/main" xmlns="" id="{271A380C-2169-48D4-A3B8-304465AD774F}"/>
              </a:ext>
            </a:extLst>
          </p:cNvPr>
          <p:cNvSpPr>
            <a:spLocks noGrp="1"/>
          </p:cNvSpPr>
          <p:nvPr>
            <p:ph type="sldNum" sz="quarter" idx="12"/>
          </p:nvPr>
        </p:nvSpPr>
        <p:spPr/>
        <p:txBody>
          <a:bodyPr/>
          <a:lstStyle/>
          <a:p>
            <a:fld id="{F010F31A-5B1D-4478-A180-CDC3128319F7}" type="slidenum">
              <a:rPr lang="en-US" smtClean="0"/>
              <a:t>24</a:t>
            </a:fld>
            <a:endParaRPr lang="en-US"/>
          </a:p>
        </p:txBody>
      </p:sp>
    </p:spTree>
    <p:extLst>
      <p:ext uri="{BB962C8B-B14F-4D97-AF65-F5344CB8AC3E}">
        <p14:creationId xmlns:p14="http://schemas.microsoft.com/office/powerpoint/2010/main" val="170553434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6027A3DF-9BB6-4FF8-987C-A77ACD5CEFE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31AD5245-5E82-4D7A-8CA4-D704FD819985}"/>
              </a:ext>
            </a:extLst>
          </p:cNvPr>
          <p:cNvSpPr>
            <a:spLocks noGrp="1"/>
          </p:cNvSpPr>
          <p:nvPr>
            <p:ph sz="half" idx="2"/>
          </p:nvPr>
        </p:nvSpPr>
        <p:spPr>
          <a:xfrm>
            <a:off x="836612" y="1690688"/>
            <a:ext cx="5160963" cy="4802187"/>
          </a:xfrm>
        </p:spPr>
        <p:txBody>
          <a:bodyPr>
            <a:noAutofit/>
          </a:bodyPr>
          <a:lstStyle/>
          <a:p>
            <a:r>
              <a:rPr lang="en-US" sz="2400" b="0" i="0" dirty="0">
                <a:solidFill>
                  <a:srgbClr val="242021"/>
                </a:solidFill>
                <a:effectLst/>
                <a:latin typeface="Times New Roman" panose="02020603050405020304" pitchFamily="18" charset="0"/>
                <a:cs typeface="Times New Roman" panose="02020603050405020304" pitchFamily="18" charset="0"/>
              </a:rPr>
              <a:t>Although nearly 90% of all cases of NEC occur in preterm infants,</a:t>
            </a:r>
            <a:br>
              <a:rPr lang="en-US" sz="2400" b="0" i="0" dirty="0">
                <a:solidFill>
                  <a:srgbClr val="242021"/>
                </a:solidFill>
                <a:effectLst/>
                <a:latin typeface="Times New Roman" panose="02020603050405020304" pitchFamily="18" charset="0"/>
                <a:cs typeface="Times New Roman" panose="02020603050405020304" pitchFamily="18" charset="0"/>
              </a:rPr>
            </a:br>
            <a:r>
              <a:rPr lang="en-US" sz="2400" b="0" i="0" dirty="0">
                <a:solidFill>
                  <a:srgbClr val="242021"/>
                </a:solidFill>
                <a:effectLst/>
                <a:latin typeface="Times New Roman" panose="02020603050405020304" pitchFamily="18" charset="0"/>
                <a:cs typeface="Times New Roman" panose="02020603050405020304" pitchFamily="18" charset="0"/>
              </a:rPr>
              <a:t>the disease can occur in full-term neonates. </a:t>
            </a:r>
          </a:p>
          <a:p>
            <a:r>
              <a:rPr lang="en-US" sz="2400" b="0" i="0" dirty="0">
                <a:solidFill>
                  <a:srgbClr val="242021"/>
                </a:solidFill>
                <a:effectLst/>
                <a:latin typeface="Times New Roman" panose="02020603050405020304" pitchFamily="18" charset="0"/>
                <a:cs typeface="Times New Roman" panose="02020603050405020304" pitchFamily="18" charset="0"/>
              </a:rPr>
              <a:t>NEC in term infants is</a:t>
            </a:r>
            <a:r>
              <a:rPr lang="en-US" sz="2400" dirty="0">
                <a:solidFill>
                  <a:srgbClr val="242021"/>
                </a:solidFill>
                <a:latin typeface="Times New Roman" panose="02020603050405020304" pitchFamily="18" charset="0"/>
                <a:cs typeface="Times New Roman" panose="02020603050405020304" pitchFamily="18" charset="0"/>
              </a:rPr>
              <a:t> </a:t>
            </a:r>
            <a:r>
              <a:rPr lang="en-US" sz="2400" b="0" i="0" dirty="0">
                <a:solidFill>
                  <a:srgbClr val="242021"/>
                </a:solidFill>
                <a:effectLst/>
                <a:latin typeface="Times New Roman" panose="02020603050405020304" pitchFamily="18" charset="0"/>
                <a:cs typeface="Times New Roman" panose="02020603050405020304" pitchFamily="18" charset="0"/>
              </a:rPr>
              <a:t>often a “secondary” disease,</a:t>
            </a:r>
          </a:p>
          <a:p>
            <a:pPr lvl="1"/>
            <a:r>
              <a:rPr lang="en-US" b="0" i="0" dirty="0">
                <a:solidFill>
                  <a:srgbClr val="242021"/>
                </a:solidFill>
                <a:effectLst/>
                <a:latin typeface="Times New Roman" panose="02020603050405020304" pitchFamily="18" charset="0"/>
                <a:cs typeface="Times New Roman" panose="02020603050405020304" pitchFamily="18" charset="0"/>
              </a:rPr>
              <a:t>more frequently in infants with history of </a:t>
            </a:r>
          </a:p>
          <a:p>
            <a:pPr lvl="2"/>
            <a:r>
              <a:rPr lang="en-US" sz="2400" b="0" i="0" dirty="0">
                <a:solidFill>
                  <a:srgbClr val="FF0000"/>
                </a:solidFill>
                <a:effectLst/>
                <a:latin typeface="Times New Roman" panose="02020603050405020304" pitchFamily="18" charset="0"/>
                <a:cs typeface="Times New Roman" panose="02020603050405020304" pitchFamily="18" charset="0"/>
              </a:rPr>
              <a:t>birth asphyxia</a:t>
            </a:r>
          </a:p>
          <a:p>
            <a:pPr lvl="2"/>
            <a:r>
              <a:rPr lang="en-US" sz="2400" b="0" i="0" dirty="0">
                <a:solidFill>
                  <a:srgbClr val="FF0000"/>
                </a:solidFill>
                <a:effectLst/>
                <a:latin typeface="Times New Roman" panose="02020603050405020304" pitchFamily="18" charset="0"/>
                <a:cs typeface="Times New Roman" panose="02020603050405020304" pitchFamily="18" charset="0"/>
              </a:rPr>
              <a:t>Down syndrome</a:t>
            </a:r>
          </a:p>
          <a:p>
            <a:pPr lvl="2"/>
            <a:r>
              <a:rPr lang="en-US" sz="2400" b="0" i="0" dirty="0">
                <a:solidFill>
                  <a:srgbClr val="FF0000"/>
                </a:solidFill>
                <a:effectLst/>
                <a:latin typeface="Times New Roman" panose="02020603050405020304" pitchFamily="18" charset="0"/>
                <a:cs typeface="Times New Roman" panose="02020603050405020304" pitchFamily="18" charset="0"/>
              </a:rPr>
              <a:t> congenital heart disease</a:t>
            </a:r>
          </a:p>
          <a:p>
            <a:pPr lvl="2"/>
            <a:r>
              <a:rPr lang="en-US" sz="2400" b="0" i="0" dirty="0">
                <a:solidFill>
                  <a:srgbClr val="FF0000"/>
                </a:solidFill>
                <a:effectLst/>
                <a:latin typeface="Times New Roman" panose="02020603050405020304" pitchFamily="18" charset="0"/>
                <a:cs typeface="Times New Roman" panose="02020603050405020304" pitchFamily="18" charset="0"/>
              </a:rPr>
              <a:t> rotavirus infections</a:t>
            </a:r>
          </a:p>
          <a:p>
            <a:pPr lvl="2"/>
            <a:r>
              <a:rPr lang="en-US" sz="2400" b="0" i="0" dirty="0">
                <a:solidFill>
                  <a:srgbClr val="FF0000"/>
                </a:solidFill>
                <a:effectLst/>
                <a:latin typeface="Times New Roman" panose="02020603050405020304" pitchFamily="18" charset="0"/>
                <a:cs typeface="Times New Roman" panose="02020603050405020304" pitchFamily="18" charset="0"/>
              </a:rPr>
              <a:t>Hirschsprung disease</a:t>
            </a:r>
            <a:r>
              <a:rPr lang="en-US" sz="2400" b="0" i="0" dirty="0">
                <a:solidFill>
                  <a:srgbClr val="242021"/>
                </a:solidFill>
                <a:effectLst/>
                <a:latin typeface="Times New Roman" panose="02020603050405020304" pitchFamily="18" charset="0"/>
                <a:cs typeface="Times New Roman" panose="02020603050405020304" pitchFamily="18" charset="0"/>
              </a:rPr>
              <a:t/>
            </a:r>
            <a:br>
              <a:rPr lang="en-US" sz="2400" b="0" i="0" dirty="0">
                <a:solidFill>
                  <a:srgbClr val="242021"/>
                </a:solidFill>
                <a:effectLst/>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xmlns="" id="{2DF678C2-4A02-46AB-869E-037DBA696987}"/>
              </a:ext>
            </a:extLst>
          </p:cNvPr>
          <p:cNvSpPr>
            <a:spLocks noGrp="1"/>
          </p:cNvSpPr>
          <p:nvPr>
            <p:ph type="body" sz="quarter" idx="3"/>
          </p:nvPr>
        </p:nvSpPr>
        <p:spPr>
          <a:xfrm>
            <a:off x="6084887" y="1362076"/>
            <a:ext cx="5183188" cy="823912"/>
          </a:xfrm>
        </p:spPr>
        <p:txBody>
          <a:bodyPr/>
          <a:lstStyle/>
          <a:p>
            <a:r>
              <a:rPr lang="en-US" dirty="0"/>
              <a:t>History</a:t>
            </a:r>
          </a:p>
        </p:txBody>
      </p:sp>
      <p:sp>
        <p:nvSpPr>
          <p:cNvPr id="8" name="Content Placeholder 7">
            <a:extLst>
              <a:ext uri="{FF2B5EF4-FFF2-40B4-BE49-F238E27FC236}">
                <a16:creationId xmlns:a16="http://schemas.microsoft.com/office/drawing/2014/main" xmlns="" id="{D1F8E2B3-F01B-49F1-9C90-EE2FBB4BCD5C}"/>
              </a:ext>
            </a:extLst>
          </p:cNvPr>
          <p:cNvSpPr>
            <a:spLocks noGrp="1"/>
          </p:cNvSpPr>
          <p:nvPr>
            <p:ph sz="quarter" idx="4"/>
          </p:nvPr>
        </p:nvSpPr>
        <p:spPr>
          <a:xfrm>
            <a:off x="6084887" y="2299855"/>
            <a:ext cx="5270501" cy="3889808"/>
          </a:xfrm>
        </p:spPr>
        <p:txBody>
          <a:bodyPr>
            <a:normAutofit fontScale="32500" lnSpcReduction="20000"/>
          </a:bodyPr>
          <a:lstStyle/>
          <a:p>
            <a:r>
              <a:rPr lang="en-US" sz="5000" dirty="0">
                <a:latin typeface="Times New Roman" panose="02020603050405020304" pitchFamily="18" charset="0"/>
                <a:cs typeface="Times New Roman" panose="02020603050405020304" pitchFamily="18" charset="0"/>
              </a:rPr>
              <a:t>Age at onset</a:t>
            </a:r>
          </a:p>
          <a:p>
            <a:r>
              <a:rPr lang="en-US" sz="5000" dirty="0">
                <a:latin typeface="Times New Roman" panose="02020603050405020304" pitchFamily="18" charset="0"/>
                <a:cs typeface="Times New Roman" panose="02020603050405020304" pitchFamily="18" charset="0"/>
              </a:rPr>
              <a:t>Progression</a:t>
            </a:r>
          </a:p>
          <a:p>
            <a:r>
              <a:rPr lang="en-US" sz="5000" dirty="0">
                <a:latin typeface="Times New Roman" panose="02020603050405020304" pitchFamily="18" charset="0"/>
                <a:cs typeface="Times New Roman" panose="02020603050405020304" pitchFamily="18" charset="0"/>
              </a:rPr>
              <a:t>Preterm?</a:t>
            </a:r>
          </a:p>
          <a:p>
            <a:r>
              <a:rPr lang="en-US" sz="5000" dirty="0">
                <a:latin typeface="Times New Roman" panose="02020603050405020304" pitchFamily="18" charset="0"/>
                <a:cs typeface="Times New Roman" panose="02020603050405020304" pitchFamily="18" charset="0"/>
              </a:rPr>
              <a:t>Enteral feeding?</a:t>
            </a:r>
          </a:p>
          <a:p>
            <a:r>
              <a:rPr lang="en-US" sz="5000" b="0" i="0" dirty="0">
                <a:latin typeface="Times New Roman" panose="02020603050405020304" pitchFamily="18" charset="0"/>
                <a:cs typeface="Times New Roman" panose="02020603050405020304" pitchFamily="18" charset="0"/>
              </a:rPr>
              <a:t>lethargy and temperature instability, abdominal distention, gastric retention</a:t>
            </a:r>
          </a:p>
          <a:p>
            <a:r>
              <a:rPr lang="en-US" sz="5000" dirty="0">
                <a:latin typeface="Times New Roman" panose="02020603050405020304" pitchFamily="18" charset="0"/>
                <a:cs typeface="Times New Roman" panose="02020603050405020304" pitchFamily="18" charset="0"/>
              </a:rPr>
              <a:t>Type of </a:t>
            </a:r>
            <a:r>
              <a:rPr lang="en-US" sz="5000" dirty="0" err="1">
                <a:latin typeface="Times New Roman" panose="02020603050405020304" pitchFamily="18" charset="0"/>
                <a:cs typeface="Times New Roman" panose="02020603050405020304" pitchFamily="18" charset="0"/>
              </a:rPr>
              <a:t>stool,bloody</a:t>
            </a:r>
            <a:r>
              <a:rPr lang="en-US" sz="5000" dirty="0">
                <a:latin typeface="Times New Roman" panose="02020603050405020304" pitchFamily="18" charset="0"/>
                <a:cs typeface="Times New Roman" panose="02020603050405020304" pitchFamily="18" charset="0"/>
              </a:rPr>
              <a:t> stool</a:t>
            </a:r>
            <a:r>
              <a:rPr lang="en-US" sz="5000" b="0" i="0" dirty="0">
                <a:effectLst/>
                <a:latin typeface="Times New Roman" panose="02020603050405020304" pitchFamily="18" charset="0"/>
                <a:cs typeface="Times New Roman" panose="02020603050405020304" pitchFamily="18" charset="0"/>
              </a:rPr>
              <a:t> </a:t>
            </a:r>
          </a:p>
          <a:p>
            <a:r>
              <a:rPr lang="en-US" sz="5000" b="0" i="0" dirty="0">
                <a:effectLst/>
                <a:latin typeface="Times New Roman" panose="02020603050405020304" pitchFamily="18" charset="0"/>
                <a:cs typeface="Times New Roman" panose="02020603050405020304" pitchFamily="18" charset="0"/>
              </a:rPr>
              <a:t>Red cell transfusion</a:t>
            </a:r>
          </a:p>
          <a:p>
            <a:r>
              <a:rPr lang="en-US" sz="5000" dirty="0">
                <a:latin typeface="Times New Roman" panose="02020603050405020304" pitchFamily="18" charset="0"/>
                <a:cs typeface="Times New Roman" panose="02020603050405020304" pitchFamily="18" charset="0"/>
              </a:rPr>
              <a:t>History of</a:t>
            </a:r>
          </a:p>
          <a:p>
            <a:pPr lvl="2"/>
            <a:r>
              <a:rPr lang="en-US" sz="5000" dirty="0">
                <a:latin typeface="Times New Roman" panose="02020603050405020304" pitchFamily="18" charset="0"/>
                <a:cs typeface="Times New Roman" panose="02020603050405020304" pitchFamily="18" charset="0"/>
              </a:rPr>
              <a:t>B</a:t>
            </a:r>
            <a:r>
              <a:rPr lang="en-US" sz="5000" b="0" i="0" dirty="0">
                <a:effectLst/>
                <a:latin typeface="Times New Roman" panose="02020603050405020304" pitchFamily="18" charset="0"/>
                <a:cs typeface="Times New Roman" panose="02020603050405020304" pitchFamily="18" charset="0"/>
              </a:rPr>
              <a:t>irth asphyxia</a:t>
            </a:r>
          </a:p>
          <a:p>
            <a:pPr lvl="2"/>
            <a:r>
              <a:rPr lang="en-US" sz="5000" b="0" i="0" dirty="0">
                <a:effectLst/>
                <a:latin typeface="Times New Roman" panose="02020603050405020304" pitchFamily="18" charset="0"/>
                <a:cs typeface="Times New Roman" panose="02020603050405020304" pitchFamily="18" charset="0"/>
              </a:rPr>
              <a:t>Down syndrome</a:t>
            </a:r>
          </a:p>
          <a:p>
            <a:pPr lvl="2"/>
            <a:r>
              <a:rPr lang="en-US" sz="5000" b="0" i="0" dirty="0">
                <a:effectLst/>
                <a:latin typeface="Times New Roman" panose="02020603050405020304" pitchFamily="18" charset="0"/>
                <a:cs typeface="Times New Roman" panose="02020603050405020304" pitchFamily="18" charset="0"/>
              </a:rPr>
              <a:t>Congenital heart disease</a:t>
            </a:r>
          </a:p>
          <a:p>
            <a:pPr lvl="2"/>
            <a:r>
              <a:rPr lang="en-US" sz="5000" dirty="0">
                <a:latin typeface="Times New Roman" panose="02020603050405020304" pitchFamily="18" charset="0"/>
                <a:cs typeface="Times New Roman" panose="02020603050405020304" pitchFamily="18" charset="0"/>
              </a:rPr>
              <a:t>R</a:t>
            </a:r>
            <a:r>
              <a:rPr lang="en-US" sz="5000" b="0" i="0" dirty="0">
                <a:effectLst/>
                <a:latin typeface="Times New Roman" panose="02020603050405020304" pitchFamily="18" charset="0"/>
                <a:cs typeface="Times New Roman" panose="02020603050405020304" pitchFamily="18" charset="0"/>
              </a:rPr>
              <a:t>otavirus infections</a:t>
            </a:r>
          </a:p>
          <a:p>
            <a:pPr lvl="2"/>
            <a:r>
              <a:rPr lang="en-US" sz="5000" b="0" i="0" dirty="0">
                <a:effectLst/>
                <a:latin typeface="Times New Roman" panose="02020603050405020304" pitchFamily="18" charset="0"/>
                <a:cs typeface="Times New Roman" panose="02020603050405020304" pitchFamily="18" charset="0"/>
              </a:rPr>
              <a:t>Hirschsprung disease</a:t>
            </a:r>
            <a:r>
              <a:rPr lang="en-US" sz="3600" b="0" i="0" dirty="0">
                <a:effectLst/>
                <a:latin typeface="Times New Roman" panose="02020603050405020304" pitchFamily="18" charset="0"/>
                <a:cs typeface="Times New Roman" panose="02020603050405020304" pitchFamily="18" charset="0"/>
              </a:rPr>
              <a:t/>
            </a:r>
            <a:br>
              <a:rPr lang="en-US" sz="3600" b="0" i="0" dirty="0">
                <a:effectLst/>
                <a:latin typeface="Times New Roman" panose="02020603050405020304" pitchFamily="18" charset="0"/>
                <a:cs typeface="Times New Roman" panose="02020603050405020304" pitchFamily="18" charset="0"/>
              </a:rPr>
            </a:br>
            <a:endParaRPr lang="en-US" sz="3600" b="0" i="0" dirty="0">
              <a:effectLst/>
              <a:latin typeface="Times New Roman" panose="02020603050405020304" pitchFamily="18"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xmlns="" id="{7B31A8BC-CE61-40E9-934B-4A11E2C0229F}"/>
              </a:ext>
            </a:extLst>
          </p:cNvPr>
          <p:cNvSpPr>
            <a:spLocks noGrp="1"/>
          </p:cNvSpPr>
          <p:nvPr>
            <p:ph type="sldNum" sz="quarter" idx="12"/>
          </p:nvPr>
        </p:nvSpPr>
        <p:spPr/>
        <p:txBody>
          <a:bodyPr/>
          <a:lstStyle/>
          <a:p>
            <a:fld id="{F010F31A-5B1D-4478-A180-CDC3128319F7}" type="slidenum">
              <a:rPr lang="en-US" smtClean="0"/>
              <a:t>25</a:t>
            </a:fld>
            <a:endParaRPr lang="en-US"/>
          </a:p>
        </p:txBody>
      </p:sp>
    </p:spTree>
    <p:extLst>
      <p:ext uri="{BB962C8B-B14F-4D97-AF65-F5344CB8AC3E}">
        <p14:creationId xmlns:p14="http://schemas.microsoft.com/office/powerpoint/2010/main" val="24243753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1B056E-80E8-45F8-9190-418B3468394B}"/>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xmlns="" id="{C0128F78-E51F-4164-B629-78200FE552D3}"/>
              </a:ext>
            </a:extLst>
          </p:cNvPr>
          <p:cNvPicPr>
            <a:picLocks noGrp="1" noChangeAspect="1"/>
          </p:cNvPicPr>
          <p:nvPr>
            <p:ph idx="1"/>
          </p:nvPr>
        </p:nvPicPr>
        <p:blipFill>
          <a:blip r:embed="rId2"/>
          <a:stretch>
            <a:fillRect/>
          </a:stretch>
        </p:blipFill>
        <p:spPr>
          <a:xfrm>
            <a:off x="3259741" y="1135675"/>
            <a:ext cx="5220973" cy="4586649"/>
          </a:xfrm>
        </p:spPr>
      </p:pic>
      <p:sp>
        <p:nvSpPr>
          <p:cNvPr id="3" name="Slide Number Placeholder 2">
            <a:extLst>
              <a:ext uri="{FF2B5EF4-FFF2-40B4-BE49-F238E27FC236}">
                <a16:creationId xmlns:a16="http://schemas.microsoft.com/office/drawing/2014/main" xmlns="" id="{6F92F682-3D9A-4F35-80A4-FBB2FBB32D68}"/>
              </a:ext>
            </a:extLst>
          </p:cNvPr>
          <p:cNvSpPr>
            <a:spLocks noGrp="1"/>
          </p:cNvSpPr>
          <p:nvPr>
            <p:ph type="sldNum" sz="quarter" idx="12"/>
          </p:nvPr>
        </p:nvSpPr>
        <p:spPr/>
        <p:txBody>
          <a:bodyPr/>
          <a:lstStyle/>
          <a:p>
            <a:fld id="{F010F31A-5B1D-4478-A180-CDC3128319F7}" type="slidenum">
              <a:rPr lang="en-US" smtClean="0"/>
              <a:t>26</a:t>
            </a:fld>
            <a:endParaRPr lang="en-US"/>
          </a:p>
        </p:txBody>
      </p:sp>
    </p:spTree>
    <p:extLst>
      <p:ext uri="{BB962C8B-B14F-4D97-AF65-F5344CB8AC3E}">
        <p14:creationId xmlns:p14="http://schemas.microsoft.com/office/powerpoint/2010/main" val="30245673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xmlns="" id="{399F32D9-8252-4673-8439-6B8419DC8B07}"/>
              </a:ext>
            </a:extLst>
          </p:cNvPr>
          <p:cNvSpPr>
            <a:spLocks noGrp="1"/>
          </p:cNvSpPr>
          <p:nvPr>
            <p:ph type="body" idx="1"/>
          </p:nvPr>
        </p:nvSpPr>
        <p:spPr>
          <a:xfrm>
            <a:off x="728952" y="668337"/>
            <a:ext cx="5157787" cy="823912"/>
          </a:xfrm>
        </p:spPr>
        <p:txBody>
          <a:bodyPr/>
          <a:lstStyle/>
          <a:p>
            <a:r>
              <a:rPr lang="en-US" dirty="0"/>
              <a:t>Diagnosis</a:t>
            </a:r>
          </a:p>
        </p:txBody>
      </p:sp>
      <p:sp>
        <p:nvSpPr>
          <p:cNvPr id="3" name="Content Placeholder 2">
            <a:extLst>
              <a:ext uri="{FF2B5EF4-FFF2-40B4-BE49-F238E27FC236}">
                <a16:creationId xmlns:a16="http://schemas.microsoft.com/office/drawing/2014/main" xmlns="" id="{0FF78D50-E340-406E-A9CB-312EEAC1AAC6}"/>
              </a:ext>
            </a:extLst>
          </p:cNvPr>
          <p:cNvSpPr>
            <a:spLocks noGrp="1"/>
          </p:cNvSpPr>
          <p:nvPr>
            <p:ph sz="half" idx="2"/>
          </p:nvPr>
        </p:nvSpPr>
        <p:spPr>
          <a:xfrm>
            <a:off x="728952" y="1681163"/>
            <a:ext cx="5268623" cy="4508500"/>
          </a:xfrm>
        </p:spPr>
        <p:txBody>
          <a:bodyPr>
            <a:normAutofit fontScale="85000" lnSpcReduction="10000"/>
          </a:bodyPr>
          <a:lstStyle/>
          <a:p>
            <a:r>
              <a:rPr lang="en-US" sz="2400" dirty="0">
                <a:latin typeface="Times New Roman" panose="02020603050405020304" pitchFamily="18" charset="0"/>
                <a:cs typeface="Times New Roman" panose="02020603050405020304" pitchFamily="18" charset="0"/>
              </a:rPr>
              <a:t>V</a:t>
            </a:r>
            <a:r>
              <a:rPr lang="en-US" sz="2400" b="0" i="0" dirty="0">
                <a:effectLst/>
                <a:latin typeface="Times New Roman" panose="02020603050405020304" pitchFamily="18" charset="0"/>
                <a:cs typeface="Times New Roman" panose="02020603050405020304" pitchFamily="18" charset="0"/>
              </a:rPr>
              <a:t>ery high index of suspicion in treating preterm at-risk infants </a:t>
            </a:r>
          </a:p>
          <a:p>
            <a:r>
              <a:rPr lang="en-US" sz="2400" b="0" i="0" dirty="0">
                <a:effectLst/>
                <a:latin typeface="Times New Roman" panose="02020603050405020304" pitchFamily="18" charset="0"/>
                <a:cs typeface="Times New Roman" panose="02020603050405020304" pitchFamily="18" charset="0"/>
              </a:rPr>
              <a:t>Plain abdominal radiographs are essential to make a diagnosis</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of NEC</a:t>
            </a:r>
          </a:p>
          <a:p>
            <a:pPr lvl="1"/>
            <a:r>
              <a:rPr lang="en-US" sz="1800" dirty="0">
                <a:latin typeface="Times New Roman" panose="02020603050405020304" pitchFamily="18" charset="0"/>
                <a:cs typeface="Times New Roman" panose="02020603050405020304" pitchFamily="18" charset="0"/>
              </a:rPr>
              <a:t>P</a:t>
            </a:r>
            <a:r>
              <a:rPr lang="en-US" sz="1800" b="0" i="0" dirty="0">
                <a:effectLst/>
                <a:latin typeface="Times New Roman" panose="02020603050405020304" pitchFamily="18" charset="0"/>
                <a:cs typeface="Times New Roman" panose="02020603050405020304" pitchFamily="18" charset="0"/>
              </a:rPr>
              <a:t>neumatosis intestinalis (air in the bowel wall)</a:t>
            </a:r>
            <a:br>
              <a:rPr lang="en-US" sz="1800" b="0" i="0" dirty="0">
                <a:effectLst/>
                <a:latin typeface="Times New Roman" panose="02020603050405020304" pitchFamily="18" charset="0"/>
                <a:cs typeface="Times New Roman" panose="02020603050405020304" pitchFamily="18" charset="0"/>
              </a:rPr>
            </a:br>
            <a:r>
              <a:rPr lang="en-US" sz="1800" b="0" i="0" dirty="0">
                <a:effectLst/>
                <a:latin typeface="Times New Roman" panose="02020603050405020304" pitchFamily="18" charset="0"/>
                <a:cs typeface="Times New Roman" panose="02020603050405020304" pitchFamily="18" charset="0"/>
              </a:rPr>
              <a:t>confirms the clinical suspicion of NEC and is diagnostic; </a:t>
            </a:r>
          </a:p>
          <a:p>
            <a:pPr lvl="1"/>
            <a:r>
              <a:rPr lang="en-US" sz="1800" b="0" i="0" dirty="0">
                <a:effectLst/>
                <a:latin typeface="Times New Roman" panose="02020603050405020304" pitchFamily="18" charset="0"/>
                <a:cs typeface="Times New Roman" panose="02020603050405020304" pitchFamily="18" charset="0"/>
              </a:rPr>
              <a:t>50-75% of patients have pneumatosis when treatment is started</a:t>
            </a:r>
            <a:endParaRPr lang="en-US" sz="1800" dirty="0">
              <a:latin typeface="Times New Roman" panose="02020603050405020304" pitchFamily="18" charset="0"/>
              <a:cs typeface="Times New Roman" panose="02020603050405020304" pitchFamily="18" charset="0"/>
            </a:endParaRPr>
          </a:p>
          <a:p>
            <a:r>
              <a:rPr lang="en-US" sz="2400" b="0" i="0" dirty="0">
                <a:effectLst/>
                <a:latin typeface="Times New Roman" panose="02020603050405020304" pitchFamily="18" charset="0"/>
                <a:cs typeface="Times New Roman" panose="02020603050405020304" pitchFamily="18" charset="0"/>
              </a:rPr>
              <a:t>Portal venous gas is a sign of severe disease, and pneumoperitoneum</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indicates a perforation</a:t>
            </a:r>
          </a:p>
          <a:p>
            <a:r>
              <a:rPr lang="en-US" sz="2400" b="0" i="0" dirty="0">
                <a:effectLst/>
                <a:latin typeface="Times New Roman" panose="02020603050405020304" pitchFamily="18" charset="0"/>
                <a:cs typeface="Times New Roman" panose="02020603050405020304" pitchFamily="18" charset="0"/>
              </a:rPr>
              <a:t>Hepatic sonography may detect portal venous gas in some infants with normal abdominal</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x-rays.</a:t>
            </a:r>
            <a:br>
              <a:rPr lang="en-US" sz="2400" b="0" i="0" dirty="0">
                <a:effectLst/>
                <a:latin typeface="Times New Roman" panose="02020603050405020304" pitchFamily="18" charset="0"/>
                <a:cs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p:sp>
        <p:nvSpPr>
          <p:cNvPr id="6" name="Text Placeholder 5">
            <a:extLst>
              <a:ext uri="{FF2B5EF4-FFF2-40B4-BE49-F238E27FC236}">
                <a16:creationId xmlns:a16="http://schemas.microsoft.com/office/drawing/2014/main" xmlns="" id="{33D62B44-D02A-420F-9C9D-43819D5F25D6}"/>
              </a:ext>
            </a:extLst>
          </p:cNvPr>
          <p:cNvSpPr>
            <a:spLocks noGrp="1"/>
          </p:cNvSpPr>
          <p:nvPr>
            <p:ph type="body" sz="quarter" idx="3"/>
          </p:nvPr>
        </p:nvSpPr>
        <p:spPr>
          <a:xfrm>
            <a:off x="6134100" y="703553"/>
            <a:ext cx="5183188" cy="823912"/>
          </a:xfrm>
        </p:spPr>
        <p:txBody>
          <a:bodyPr/>
          <a:lstStyle/>
          <a:p>
            <a:r>
              <a:rPr lang="en-US" dirty="0"/>
              <a:t>Differential diagnosis</a:t>
            </a:r>
          </a:p>
        </p:txBody>
      </p:sp>
      <p:sp>
        <p:nvSpPr>
          <p:cNvPr id="7" name="Content Placeholder 6">
            <a:extLst>
              <a:ext uri="{FF2B5EF4-FFF2-40B4-BE49-F238E27FC236}">
                <a16:creationId xmlns:a16="http://schemas.microsoft.com/office/drawing/2014/main" xmlns="" id="{A04729A8-BE78-49CC-98A4-177293787FE0}"/>
              </a:ext>
            </a:extLst>
          </p:cNvPr>
          <p:cNvSpPr>
            <a:spLocks noGrp="1"/>
          </p:cNvSpPr>
          <p:nvPr>
            <p:ph sz="quarter" idx="4"/>
          </p:nvPr>
        </p:nvSpPr>
        <p:spPr>
          <a:xfrm>
            <a:off x="6086765" y="1801092"/>
            <a:ext cx="5268623" cy="4388572"/>
          </a:xfrm>
        </p:spPr>
        <p:txBody>
          <a:bodyPr>
            <a:normAutofit fontScale="92500" lnSpcReduction="20000"/>
          </a:bodyPr>
          <a:lstStyle/>
          <a:p>
            <a:r>
              <a:rPr lang="en-US" dirty="0">
                <a:solidFill>
                  <a:srgbClr val="242021"/>
                </a:solidFill>
                <a:latin typeface="MinionPro-Regular"/>
              </a:rPr>
              <a:t>G</a:t>
            </a:r>
            <a:r>
              <a:rPr lang="en-US" sz="2800" b="0" i="0" dirty="0">
                <a:solidFill>
                  <a:srgbClr val="242021"/>
                </a:solidFill>
                <a:effectLst/>
                <a:latin typeface="MinionPro-Regular"/>
              </a:rPr>
              <a:t>astrointestinal obstruction</a:t>
            </a:r>
          </a:p>
          <a:p>
            <a:r>
              <a:rPr lang="en-US" dirty="0">
                <a:solidFill>
                  <a:srgbClr val="242021"/>
                </a:solidFill>
                <a:latin typeface="MinionPro-Regular"/>
              </a:rPr>
              <a:t>V</a:t>
            </a:r>
            <a:r>
              <a:rPr lang="en-US" sz="2800" b="0" i="0" dirty="0">
                <a:solidFill>
                  <a:srgbClr val="242021"/>
                </a:solidFill>
                <a:effectLst/>
                <a:latin typeface="MinionPro-Regular"/>
              </a:rPr>
              <a:t>olvulus</a:t>
            </a:r>
          </a:p>
          <a:p>
            <a:r>
              <a:rPr lang="en-US" dirty="0">
                <a:solidFill>
                  <a:srgbClr val="242021"/>
                </a:solidFill>
                <a:latin typeface="MinionPro-Regular"/>
              </a:rPr>
              <a:t>I</a:t>
            </a:r>
            <a:r>
              <a:rPr lang="en-US" sz="2800" b="0" i="0" dirty="0">
                <a:solidFill>
                  <a:srgbClr val="242021"/>
                </a:solidFill>
                <a:effectLst/>
                <a:latin typeface="MinionPro-Regular"/>
              </a:rPr>
              <a:t>solated</a:t>
            </a:r>
            <a:r>
              <a:rPr lang="en-US" dirty="0">
                <a:solidFill>
                  <a:srgbClr val="242021"/>
                </a:solidFill>
                <a:latin typeface="MinionPro-Regular"/>
              </a:rPr>
              <a:t> </a:t>
            </a:r>
            <a:r>
              <a:rPr lang="en-US" sz="2800" b="0" i="0" dirty="0">
                <a:solidFill>
                  <a:srgbClr val="242021"/>
                </a:solidFill>
                <a:effectLst/>
                <a:latin typeface="MinionPro-Regular"/>
              </a:rPr>
              <a:t>intestinal perforation</a:t>
            </a:r>
          </a:p>
          <a:p>
            <a:r>
              <a:rPr lang="en-US" sz="2800" b="0" i="0" dirty="0">
                <a:solidFill>
                  <a:srgbClr val="242021"/>
                </a:solidFill>
                <a:effectLst/>
                <a:latin typeface="MinionPro-Regular"/>
              </a:rPr>
              <a:t>Idiopathic focal intestinal perforation can occur spontaneously or after the early use of postnatal steroids and indomethacin. </a:t>
            </a:r>
          </a:p>
          <a:p>
            <a:pPr lvl="1"/>
            <a:r>
              <a:rPr lang="en-US" b="0" i="0" dirty="0">
                <a:solidFill>
                  <a:srgbClr val="242021"/>
                </a:solidFill>
                <a:effectLst/>
                <a:latin typeface="MinionPro-Regular"/>
              </a:rPr>
              <a:t>Pneumoperitoneum develops in such patients, but they are</a:t>
            </a:r>
            <a:br>
              <a:rPr lang="en-US" b="0" i="0" dirty="0">
                <a:solidFill>
                  <a:srgbClr val="242021"/>
                </a:solidFill>
                <a:effectLst/>
                <a:latin typeface="MinionPro-Regular"/>
              </a:rPr>
            </a:br>
            <a:r>
              <a:rPr lang="en-US" b="0" i="0" dirty="0">
                <a:solidFill>
                  <a:srgbClr val="242021"/>
                </a:solidFill>
                <a:effectLst/>
                <a:latin typeface="MinionPro-Regular"/>
              </a:rPr>
              <a:t>usually less ill than those with NEC.</a:t>
            </a:r>
            <a:r>
              <a:rPr lang="en-US" dirty="0"/>
              <a:t> </a:t>
            </a:r>
            <a:br>
              <a:rPr lang="en-US" dirty="0"/>
            </a:br>
            <a:endParaRPr lang="en-US" dirty="0"/>
          </a:p>
          <a:p>
            <a:endParaRPr lang="en-US" dirty="0"/>
          </a:p>
        </p:txBody>
      </p:sp>
      <p:sp>
        <p:nvSpPr>
          <p:cNvPr id="4" name="Slide Number Placeholder 3">
            <a:extLst>
              <a:ext uri="{FF2B5EF4-FFF2-40B4-BE49-F238E27FC236}">
                <a16:creationId xmlns:a16="http://schemas.microsoft.com/office/drawing/2014/main" xmlns="" id="{B1BF6C3E-2638-402C-9D23-CA472BBA2E83}"/>
              </a:ext>
            </a:extLst>
          </p:cNvPr>
          <p:cNvSpPr>
            <a:spLocks noGrp="1"/>
          </p:cNvSpPr>
          <p:nvPr>
            <p:ph type="sldNum" sz="quarter" idx="12"/>
          </p:nvPr>
        </p:nvSpPr>
        <p:spPr/>
        <p:txBody>
          <a:bodyPr/>
          <a:lstStyle/>
          <a:p>
            <a:fld id="{F010F31A-5B1D-4478-A180-CDC3128319F7}" type="slidenum">
              <a:rPr lang="en-US" smtClean="0"/>
              <a:t>27</a:t>
            </a:fld>
            <a:endParaRPr lang="en-US"/>
          </a:p>
        </p:txBody>
      </p:sp>
    </p:spTree>
    <p:extLst>
      <p:ext uri="{BB962C8B-B14F-4D97-AF65-F5344CB8AC3E}">
        <p14:creationId xmlns:p14="http://schemas.microsoft.com/office/powerpoint/2010/main" val="36297152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2517D8-9543-4CC9-9D83-01690D4340DE}"/>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xmlns="" id="{047A5235-A84E-4D20-A197-662F564BCFBA}"/>
              </a:ext>
            </a:extLst>
          </p:cNvPr>
          <p:cNvPicPr>
            <a:picLocks noGrp="1" noChangeAspect="1"/>
          </p:cNvPicPr>
          <p:nvPr>
            <p:ph idx="1"/>
          </p:nvPr>
        </p:nvPicPr>
        <p:blipFill>
          <a:blip r:embed="rId2"/>
          <a:stretch>
            <a:fillRect/>
          </a:stretch>
        </p:blipFill>
        <p:spPr>
          <a:xfrm>
            <a:off x="838200" y="868326"/>
            <a:ext cx="5570795" cy="5121347"/>
          </a:xfrm>
        </p:spPr>
      </p:pic>
      <p:sp>
        <p:nvSpPr>
          <p:cNvPr id="3" name="Slide Number Placeholder 2">
            <a:extLst>
              <a:ext uri="{FF2B5EF4-FFF2-40B4-BE49-F238E27FC236}">
                <a16:creationId xmlns:a16="http://schemas.microsoft.com/office/drawing/2014/main" xmlns="" id="{8A8ABA49-B722-4AD2-8447-241F483D012D}"/>
              </a:ext>
            </a:extLst>
          </p:cNvPr>
          <p:cNvSpPr>
            <a:spLocks noGrp="1"/>
          </p:cNvSpPr>
          <p:nvPr>
            <p:ph type="sldNum" sz="quarter" idx="12"/>
          </p:nvPr>
        </p:nvSpPr>
        <p:spPr/>
        <p:txBody>
          <a:bodyPr/>
          <a:lstStyle/>
          <a:p>
            <a:fld id="{F010F31A-5B1D-4478-A180-CDC3128319F7}" type="slidenum">
              <a:rPr lang="en-US" smtClean="0"/>
              <a:t>28</a:t>
            </a:fld>
            <a:endParaRPr lang="en-US"/>
          </a:p>
        </p:txBody>
      </p:sp>
      <p:pic>
        <p:nvPicPr>
          <p:cNvPr id="6" name="Content Placeholder 4">
            <a:extLst>
              <a:ext uri="{FF2B5EF4-FFF2-40B4-BE49-F238E27FC236}">
                <a16:creationId xmlns:a16="http://schemas.microsoft.com/office/drawing/2014/main" xmlns="" id="{220A2BA5-8446-4088-A15D-F230C8404DC0}"/>
              </a:ext>
            </a:extLst>
          </p:cNvPr>
          <p:cNvPicPr>
            <a:picLocks noChangeAspect="1"/>
          </p:cNvPicPr>
          <p:nvPr/>
        </p:nvPicPr>
        <p:blipFill>
          <a:blip r:embed="rId3"/>
          <a:stretch>
            <a:fillRect/>
          </a:stretch>
        </p:blipFill>
        <p:spPr>
          <a:xfrm>
            <a:off x="6237777" y="868326"/>
            <a:ext cx="5287241" cy="5121347"/>
          </a:xfrm>
          <a:prstGeom prst="rect">
            <a:avLst/>
          </a:prstGeom>
        </p:spPr>
      </p:pic>
    </p:spTree>
    <p:extLst>
      <p:ext uri="{BB962C8B-B14F-4D97-AF65-F5344CB8AC3E}">
        <p14:creationId xmlns:p14="http://schemas.microsoft.com/office/powerpoint/2010/main" val="6350634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A0EC7DB-94E1-423E-BDA2-F363AB60CE77}"/>
              </a:ext>
            </a:extLst>
          </p:cNvPr>
          <p:cNvSpPr>
            <a:spLocks noGrp="1"/>
          </p:cNvSpPr>
          <p:nvPr>
            <p:ph type="title"/>
          </p:nvPr>
        </p:nvSpPr>
        <p:spPr/>
        <p:txBody>
          <a:bodyPr/>
          <a:lstStyle/>
          <a:p>
            <a:r>
              <a:rPr lang="en-US" dirty="0"/>
              <a:t>Treatment</a:t>
            </a:r>
          </a:p>
        </p:txBody>
      </p:sp>
      <p:sp>
        <p:nvSpPr>
          <p:cNvPr id="5" name="Text Placeholder 4">
            <a:extLst>
              <a:ext uri="{FF2B5EF4-FFF2-40B4-BE49-F238E27FC236}">
                <a16:creationId xmlns:a16="http://schemas.microsoft.com/office/drawing/2014/main" xmlns="" id="{10F7828E-2AF5-4B91-B3D3-688172A1392F}"/>
              </a:ext>
            </a:extLst>
          </p:cNvPr>
          <p:cNvSpPr>
            <a:spLocks noGrp="1"/>
          </p:cNvSpPr>
          <p:nvPr>
            <p:ph type="body" idx="1"/>
          </p:nvPr>
        </p:nvSpPr>
        <p:spPr/>
        <p:txBody>
          <a:bodyPr/>
          <a:lstStyle/>
          <a:p>
            <a:endParaRPr lang="en-US"/>
          </a:p>
        </p:txBody>
      </p:sp>
      <p:sp>
        <p:nvSpPr>
          <p:cNvPr id="3" name="Content Placeholder 2">
            <a:extLst>
              <a:ext uri="{FF2B5EF4-FFF2-40B4-BE49-F238E27FC236}">
                <a16:creationId xmlns:a16="http://schemas.microsoft.com/office/drawing/2014/main" xmlns="" id="{2BC8278F-C838-4EE2-9233-A823C6116B4D}"/>
              </a:ext>
            </a:extLst>
          </p:cNvPr>
          <p:cNvSpPr>
            <a:spLocks noGrp="1"/>
          </p:cNvSpPr>
          <p:nvPr>
            <p:ph sz="half" idx="2"/>
          </p:nvPr>
        </p:nvSpPr>
        <p:spPr/>
        <p:txBody>
          <a:bodyPr>
            <a:normAutofit fontScale="62500" lnSpcReduction="20000"/>
          </a:bodyPr>
          <a:lstStyle/>
          <a:p>
            <a:r>
              <a:rPr lang="en-US" sz="3400" dirty="0">
                <a:latin typeface="Times New Roman" panose="02020603050405020304" pitchFamily="18" charset="0"/>
                <a:cs typeface="Times New Roman" panose="02020603050405020304" pitchFamily="18" charset="0"/>
              </a:rPr>
              <a:t>Rapid initiation of therapy</a:t>
            </a:r>
          </a:p>
          <a:p>
            <a:r>
              <a:rPr lang="en-US" sz="3400" dirty="0">
                <a:latin typeface="Times New Roman" panose="02020603050405020304" pitchFamily="18" charset="0"/>
                <a:cs typeface="Times New Roman" panose="02020603050405020304" pitchFamily="18" charset="0"/>
              </a:rPr>
              <a:t>N</a:t>
            </a:r>
            <a:r>
              <a:rPr lang="en-US" sz="3400" i="0" dirty="0">
                <a:effectLst/>
                <a:latin typeface="Times New Roman" panose="02020603050405020304" pitchFamily="18" charset="0"/>
                <a:cs typeface="Times New Roman" panose="02020603050405020304" pitchFamily="18" charset="0"/>
              </a:rPr>
              <a:t>o definitive treatment for established NEC</a:t>
            </a:r>
          </a:p>
          <a:p>
            <a:pPr lvl="1"/>
            <a:r>
              <a:rPr lang="en-US" sz="2600" i="0" dirty="0">
                <a:effectLst/>
                <a:latin typeface="Times New Roman" panose="02020603050405020304" pitchFamily="18" charset="0"/>
                <a:cs typeface="Times New Roman" panose="02020603050405020304" pitchFamily="18" charset="0"/>
              </a:rPr>
              <a:t>giving supportive care and preventing further injury with </a:t>
            </a:r>
          </a:p>
          <a:p>
            <a:pPr lvl="2"/>
            <a:r>
              <a:rPr lang="en-US" sz="2300" i="0" dirty="0">
                <a:effectLst/>
                <a:latin typeface="Times New Roman" panose="02020603050405020304" pitchFamily="18" charset="0"/>
                <a:cs typeface="Times New Roman" panose="02020603050405020304" pitchFamily="18" charset="0"/>
              </a:rPr>
              <a:t>cessation of feeding, </a:t>
            </a:r>
          </a:p>
          <a:p>
            <a:pPr lvl="2"/>
            <a:r>
              <a:rPr lang="en-US" sz="2300" i="0" dirty="0">
                <a:effectLst/>
                <a:latin typeface="Times New Roman" panose="02020603050405020304" pitchFamily="18" charset="0"/>
                <a:cs typeface="Times New Roman" panose="02020603050405020304" pitchFamily="18" charset="0"/>
              </a:rPr>
              <a:t>nasogastric decompression, and </a:t>
            </a:r>
          </a:p>
          <a:p>
            <a:pPr lvl="2"/>
            <a:r>
              <a:rPr lang="en-US" sz="2300" i="0" dirty="0">
                <a:effectLst/>
                <a:latin typeface="Times New Roman" panose="02020603050405020304" pitchFamily="18" charset="0"/>
                <a:cs typeface="Times New Roman" panose="02020603050405020304" pitchFamily="18" charset="0"/>
              </a:rPr>
              <a:t>administration of intravenous ﬂuids.</a:t>
            </a:r>
          </a:p>
          <a:p>
            <a:r>
              <a:rPr lang="en-US" sz="3400" dirty="0">
                <a:latin typeface="Times New Roman" panose="02020603050405020304" pitchFamily="18" charset="0"/>
                <a:cs typeface="Times New Roman" panose="02020603050405020304" pitchFamily="18" charset="0"/>
              </a:rPr>
              <a:t>B</a:t>
            </a:r>
            <a:r>
              <a:rPr lang="en-US" sz="3400" i="0" dirty="0">
                <a:effectLst/>
                <a:latin typeface="Times New Roman" panose="02020603050405020304" pitchFamily="18" charset="0"/>
                <a:cs typeface="Times New Roman" panose="02020603050405020304" pitchFamily="18" charset="0"/>
              </a:rPr>
              <a:t>road spectrum antibiotics</a:t>
            </a:r>
          </a:p>
          <a:p>
            <a:r>
              <a:rPr lang="en-US" sz="3400" i="0" dirty="0">
                <a:effectLst/>
                <a:latin typeface="Times New Roman" panose="02020603050405020304" pitchFamily="18" charset="0"/>
                <a:cs typeface="Times New Roman" panose="02020603050405020304" pitchFamily="18" charset="0"/>
              </a:rPr>
              <a:t>Intravascular volume replacement with crystalloid or blood products</a:t>
            </a:r>
          </a:p>
          <a:p>
            <a:r>
              <a:rPr lang="en-US" sz="3400" dirty="0">
                <a:latin typeface="Times New Roman" panose="02020603050405020304" pitchFamily="18" charset="0"/>
                <a:cs typeface="Times New Roman" panose="02020603050405020304" pitchFamily="18" charset="0"/>
              </a:rPr>
              <a:t>Surgery</a:t>
            </a:r>
            <a:br>
              <a:rPr lang="en-US" sz="3400" dirty="0">
                <a:latin typeface="Times New Roman" panose="02020603050405020304" pitchFamily="18" charset="0"/>
                <a:cs typeface="Times New Roman" panose="02020603050405020304" pitchFamily="18" charset="0"/>
              </a:rPr>
            </a:br>
            <a:endParaRPr lang="en-US" sz="3400" dirty="0">
              <a:latin typeface="Times New Roman" panose="02020603050405020304" pitchFamily="18" charset="0"/>
              <a:cs typeface="Times New Roman" panose="02020603050405020304" pitchFamily="18" charset="0"/>
            </a:endParaRPr>
          </a:p>
          <a:p>
            <a:endParaRPr lang="en-US" dirty="0"/>
          </a:p>
          <a:p>
            <a:pPr marL="0" indent="0">
              <a:buNone/>
            </a:pPr>
            <a:endParaRPr lang="en-US" dirty="0"/>
          </a:p>
        </p:txBody>
      </p:sp>
      <p:sp>
        <p:nvSpPr>
          <p:cNvPr id="6" name="Text Placeholder 5">
            <a:extLst>
              <a:ext uri="{FF2B5EF4-FFF2-40B4-BE49-F238E27FC236}">
                <a16:creationId xmlns:a16="http://schemas.microsoft.com/office/drawing/2014/main" xmlns="" id="{3232CA9B-1249-4E63-B243-A87E7F96FEAD}"/>
              </a:ext>
            </a:extLst>
          </p:cNvPr>
          <p:cNvSpPr>
            <a:spLocks noGrp="1"/>
          </p:cNvSpPr>
          <p:nvPr>
            <p:ph type="body" sz="quarter" idx="3"/>
          </p:nvPr>
        </p:nvSpPr>
        <p:spPr/>
        <p:txBody>
          <a:bodyPr/>
          <a:lstStyle/>
          <a:p>
            <a:r>
              <a:rPr lang="en-US" dirty="0">
                <a:solidFill>
                  <a:srgbClr val="242021"/>
                </a:solidFill>
                <a:latin typeface="MinionPro-Bold"/>
              </a:rPr>
              <a:t>Indications for surgery</a:t>
            </a:r>
            <a:endParaRPr lang="en-US" b="0" dirty="0">
              <a:solidFill>
                <a:srgbClr val="242021"/>
              </a:solidFill>
              <a:latin typeface="MinionPro-Regular"/>
            </a:endParaRPr>
          </a:p>
          <a:p>
            <a:endParaRPr lang="en-US" dirty="0"/>
          </a:p>
        </p:txBody>
      </p:sp>
      <p:sp>
        <p:nvSpPr>
          <p:cNvPr id="7" name="Content Placeholder 6">
            <a:extLst>
              <a:ext uri="{FF2B5EF4-FFF2-40B4-BE49-F238E27FC236}">
                <a16:creationId xmlns:a16="http://schemas.microsoft.com/office/drawing/2014/main" xmlns="" id="{EDEAF3D2-8281-4F09-9380-093ECA2BBC2C}"/>
              </a:ext>
            </a:extLst>
          </p:cNvPr>
          <p:cNvSpPr>
            <a:spLocks noGrp="1"/>
          </p:cNvSpPr>
          <p:nvPr>
            <p:ph sz="quarter" idx="4"/>
          </p:nvPr>
        </p:nvSpPr>
        <p:spPr/>
        <p:txBody>
          <a:bodyPr>
            <a:normAutofit fontScale="77500" lnSpcReduction="20000"/>
          </a:bodyPr>
          <a:lstStyle/>
          <a:p>
            <a:r>
              <a:rPr lang="en-US" sz="2800" b="0" i="0" dirty="0">
                <a:solidFill>
                  <a:srgbClr val="FF0000"/>
                </a:solidFill>
                <a:effectLst/>
                <a:latin typeface="Times New Roman" panose="02020603050405020304" pitchFamily="18" charset="0"/>
                <a:cs typeface="Times New Roman" panose="02020603050405020304" pitchFamily="18" charset="0"/>
              </a:rPr>
              <a:t>evidence of perforation on abdominal x-ray (pneumoperitoneum) or </a:t>
            </a:r>
          </a:p>
          <a:p>
            <a:r>
              <a:rPr lang="en-US" sz="2800" b="0" i="0" dirty="0">
                <a:solidFill>
                  <a:srgbClr val="FF0000"/>
                </a:solidFill>
                <a:effectLst/>
                <a:latin typeface="Times New Roman" panose="02020603050405020304" pitchFamily="18" charset="0"/>
                <a:cs typeface="Times New Roman" panose="02020603050405020304" pitchFamily="18" charset="0"/>
              </a:rPr>
              <a:t>positive result of abdominal paracentesis (stool or organism on Gram stain preparation from peritoneal ﬂuid)</a:t>
            </a:r>
          </a:p>
          <a:p>
            <a:r>
              <a:rPr lang="en-US" sz="2800" b="0" i="0" dirty="0">
                <a:solidFill>
                  <a:srgbClr val="7030A0"/>
                </a:solidFill>
                <a:effectLst/>
                <a:latin typeface="Times New Roman" panose="02020603050405020304" pitchFamily="18" charset="0"/>
                <a:cs typeface="Times New Roman" panose="02020603050405020304" pitchFamily="18" charset="0"/>
              </a:rPr>
              <a:t>Failure of medical management, </a:t>
            </a:r>
          </a:p>
          <a:p>
            <a:r>
              <a:rPr lang="en-US" sz="2800" b="0" i="0" dirty="0">
                <a:solidFill>
                  <a:srgbClr val="7030A0"/>
                </a:solidFill>
                <a:effectLst/>
                <a:latin typeface="Times New Roman" panose="02020603050405020304" pitchFamily="18" charset="0"/>
                <a:cs typeface="Times New Roman" panose="02020603050405020304" pitchFamily="18" charset="0"/>
              </a:rPr>
              <a:t>a single </a:t>
            </a:r>
            <a:r>
              <a:rPr lang="en-US" sz="2800" b="0" i="0" dirty="0" err="1">
                <a:solidFill>
                  <a:srgbClr val="7030A0"/>
                </a:solidFill>
                <a:effectLst/>
                <a:latin typeface="Times New Roman" panose="02020603050405020304" pitchFamily="18" charset="0"/>
                <a:cs typeface="Times New Roman" panose="02020603050405020304" pitchFamily="18" charset="0"/>
              </a:rPr>
              <a:t>fxed</a:t>
            </a:r>
            <a:r>
              <a:rPr lang="en-US" sz="2800" b="0" i="0" dirty="0">
                <a:solidFill>
                  <a:srgbClr val="7030A0"/>
                </a:solidFill>
                <a:effectLst/>
                <a:latin typeface="Times New Roman" panose="02020603050405020304" pitchFamily="18" charset="0"/>
                <a:cs typeface="Times New Roman" panose="02020603050405020304" pitchFamily="18" charset="0"/>
              </a:rPr>
              <a:t> bowel loop on</a:t>
            </a:r>
            <a:br>
              <a:rPr lang="en-US" sz="2800" b="0" i="0" dirty="0">
                <a:solidFill>
                  <a:srgbClr val="7030A0"/>
                </a:solidFill>
                <a:effectLst/>
                <a:latin typeface="Times New Roman" panose="02020603050405020304" pitchFamily="18" charset="0"/>
                <a:cs typeface="Times New Roman" panose="02020603050405020304" pitchFamily="18" charset="0"/>
              </a:rPr>
            </a:br>
            <a:r>
              <a:rPr lang="en-US" sz="2800" b="0" i="0" dirty="0">
                <a:solidFill>
                  <a:srgbClr val="7030A0"/>
                </a:solidFill>
                <a:effectLst/>
                <a:latin typeface="Times New Roman" panose="02020603050405020304" pitchFamily="18" charset="0"/>
                <a:cs typeface="Times New Roman" panose="02020603050405020304" pitchFamily="18" charset="0"/>
              </a:rPr>
              <a:t>radiographs, </a:t>
            </a:r>
          </a:p>
          <a:p>
            <a:r>
              <a:rPr lang="en-US" sz="2800" b="0" i="0" dirty="0">
                <a:solidFill>
                  <a:srgbClr val="7030A0"/>
                </a:solidFill>
                <a:effectLst/>
                <a:latin typeface="Times New Roman" panose="02020603050405020304" pitchFamily="18" charset="0"/>
                <a:cs typeface="Times New Roman" panose="02020603050405020304" pitchFamily="18" charset="0"/>
              </a:rPr>
              <a:t>abdominal wall erythema, and</a:t>
            </a:r>
          </a:p>
          <a:p>
            <a:r>
              <a:rPr lang="en-US" sz="2800" b="0" i="0" dirty="0">
                <a:solidFill>
                  <a:srgbClr val="7030A0"/>
                </a:solidFill>
                <a:effectLst/>
                <a:latin typeface="Times New Roman" panose="02020603050405020304" pitchFamily="18" charset="0"/>
                <a:cs typeface="Times New Roman" panose="02020603050405020304" pitchFamily="18" charset="0"/>
              </a:rPr>
              <a:t>a palpable mass are relative indications for exploratory laparotomy. </a:t>
            </a:r>
            <a:endParaRPr lang="en-US" dirty="0">
              <a:solidFill>
                <a:srgbClr val="7030A0"/>
              </a:solidFill>
              <a:latin typeface="Times New Roman" panose="02020603050405020304" pitchFamily="18"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xmlns="" id="{7DF924A9-B51D-4AD7-8303-F9E3606778E7}"/>
              </a:ext>
            </a:extLst>
          </p:cNvPr>
          <p:cNvSpPr>
            <a:spLocks noGrp="1"/>
          </p:cNvSpPr>
          <p:nvPr>
            <p:ph type="sldNum" sz="quarter" idx="12"/>
          </p:nvPr>
        </p:nvSpPr>
        <p:spPr/>
        <p:txBody>
          <a:bodyPr/>
          <a:lstStyle/>
          <a:p>
            <a:fld id="{F010F31A-5B1D-4478-A180-CDC3128319F7}" type="slidenum">
              <a:rPr lang="en-US" smtClean="0"/>
              <a:t>29</a:t>
            </a:fld>
            <a:endParaRPr lang="en-US"/>
          </a:p>
        </p:txBody>
      </p:sp>
    </p:spTree>
    <p:extLst>
      <p:ext uri="{BB962C8B-B14F-4D97-AF65-F5344CB8AC3E}">
        <p14:creationId xmlns:p14="http://schemas.microsoft.com/office/powerpoint/2010/main" val="14112270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xmlns="" id="{B6BEDB6C-D888-4308-AEA2-2484838C7A92}"/>
              </a:ext>
            </a:extLst>
          </p:cNvPr>
          <p:cNvSpPr>
            <a:spLocks noGrp="1"/>
          </p:cNvSpPr>
          <p:nvPr>
            <p:ph type="body" idx="1"/>
          </p:nvPr>
        </p:nvSpPr>
        <p:spPr>
          <a:xfrm>
            <a:off x="715097" y="256381"/>
            <a:ext cx="5157787" cy="823912"/>
          </a:xfrm>
        </p:spPr>
        <p:txBody>
          <a:bodyPr/>
          <a:lstStyle/>
          <a:p>
            <a:r>
              <a:rPr lang="en-US" dirty="0"/>
              <a:t>Prognosis</a:t>
            </a:r>
          </a:p>
        </p:txBody>
      </p:sp>
      <p:sp>
        <p:nvSpPr>
          <p:cNvPr id="3" name="Content Placeholder 2">
            <a:extLst>
              <a:ext uri="{FF2B5EF4-FFF2-40B4-BE49-F238E27FC236}">
                <a16:creationId xmlns:a16="http://schemas.microsoft.com/office/drawing/2014/main" xmlns="" id="{EB3AE2BB-A515-45BD-A6C4-0DD5BF729415}"/>
              </a:ext>
            </a:extLst>
          </p:cNvPr>
          <p:cNvSpPr>
            <a:spLocks noGrp="1"/>
          </p:cNvSpPr>
          <p:nvPr>
            <p:ph sz="half" idx="2"/>
          </p:nvPr>
        </p:nvSpPr>
        <p:spPr>
          <a:xfrm>
            <a:off x="715096" y="1586706"/>
            <a:ext cx="5157787" cy="3684588"/>
          </a:xfrm>
        </p:spPr>
        <p:txBody>
          <a:bodyPr>
            <a:normAutofit fontScale="77500" lnSpcReduction="20000"/>
          </a:bodyPr>
          <a:lstStyle/>
          <a:p>
            <a:r>
              <a:rPr lang="en-US" b="0" i="0" dirty="0">
                <a:solidFill>
                  <a:srgbClr val="242021"/>
                </a:solidFill>
                <a:effectLst/>
                <a:latin typeface="Times New Roman" panose="02020603050405020304" pitchFamily="18" charset="0"/>
                <a:cs typeface="Times New Roman" panose="02020603050405020304" pitchFamily="18" charset="0"/>
              </a:rPr>
              <a:t>Medical management fails in approximately 20-40% of patients with pneumatosis intestinalis at diagnosis; of these, 10-30% die. </a:t>
            </a:r>
          </a:p>
          <a:p>
            <a:r>
              <a:rPr lang="en-US" b="0" i="0" dirty="0">
                <a:solidFill>
                  <a:srgbClr val="242021"/>
                </a:solidFill>
                <a:effectLst/>
                <a:latin typeface="Times New Roman" panose="02020603050405020304" pitchFamily="18" charset="0"/>
                <a:cs typeface="Times New Roman" panose="02020603050405020304" pitchFamily="18" charset="0"/>
              </a:rPr>
              <a:t>Early postoperative in approximately 10% of surgically or medically managed patients.</a:t>
            </a:r>
          </a:p>
          <a:p>
            <a:r>
              <a:rPr lang="en-US" b="0" i="0" dirty="0">
                <a:solidFill>
                  <a:srgbClr val="242021"/>
                </a:solidFill>
                <a:effectLst/>
                <a:latin typeface="Times New Roman" panose="02020603050405020304" pitchFamily="18" charset="0"/>
                <a:cs typeface="Times New Roman" panose="02020603050405020304" pitchFamily="18" charset="0"/>
              </a:rPr>
              <a:t>Preterm infants with NEC who require surgical intervention or who have concomitant bacteremia are at increased risk for adverse growth and neurodevelopmental outcome.</a:t>
            </a:r>
            <a:r>
              <a:rPr lang="en-US" sz="4000" dirty="0">
                <a:latin typeface="Times New Roman" panose="02020603050405020304" pitchFamily="18" charset="0"/>
                <a:cs typeface="Times New Roman" panose="02020603050405020304" pitchFamily="18" charset="0"/>
              </a:rPr>
              <a:t> </a:t>
            </a:r>
            <a:br>
              <a:rPr lang="en-US" sz="4000" dirty="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6" name="Text Placeholder 5">
            <a:extLst>
              <a:ext uri="{FF2B5EF4-FFF2-40B4-BE49-F238E27FC236}">
                <a16:creationId xmlns:a16="http://schemas.microsoft.com/office/drawing/2014/main" xmlns="" id="{8EEF9018-C532-4703-ACEA-A8C8CBCAF796}"/>
              </a:ext>
            </a:extLst>
          </p:cNvPr>
          <p:cNvSpPr>
            <a:spLocks noGrp="1"/>
          </p:cNvSpPr>
          <p:nvPr>
            <p:ph type="body" sz="quarter" idx="3"/>
          </p:nvPr>
        </p:nvSpPr>
        <p:spPr>
          <a:xfrm>
            <a:off x="6293715" y="256381"/>
            <a:ext cx="5183188" cy="823912"/>
          </a:xfrm>
        </p:spPr>
        <p:txBody>
          <a:bodyPr/>
          <a:lstStyle/>
          <a:p>
            <a:r>
              <a:rPr lang="en-US" dirty="0"/>
              <a:t>Prevention</a:t>
            </a:r>
          </a:p>
        </p:txBody>
      </p:sp>
      <p:sp>
        <p:nvSpPr>
          <p:cNvPr id="7" name="Content Placeholder 6">
            <a:extLst>
              <a:ext uri="{FF2B5EF4-FFF2-40B4-BE49-F238E27FC236}">
                <a16:creationId xmlns:a16="http://schemas.microsoft.com/office/drawing/2014/main" xmlns="" id="{6A68C29C-044C-48CD-B04A-E3931046C8A1}"/>
              </a:ext>
            </a:extLst>
          </p:cNvPr>
          <p:cNvSpPr>
            <a:spLocks noGrp="1"/>
          </p:cNvSpPr>
          <p:nvPr>
            <p:ph sz="quarter" idx="4"/>
          </p:nvPr>
        </p:nvSpPr>
        <p:spPr>
          <a:xfrm>
            <a:off x="6096000" y="1586706"/>
            <a:ext cx="5183188" cy="3684588"/>
          </a:xfrm>
        </p:spPr>
        <p:txBody>
          <a:bodyPr>
            <a:normAutofit/>
          </a:bodyPr>
          <a:lstStyle/>
          <a:p>
            <a:r>
              <a:rPr lang="en-US" dirty="0"/>
              <a:t>Exclusive breast feeding</a:t>
            </a:r>
          </a:p>
          <a:p>
            <a:r>
              <a:rPr lang="en-US" dirty="0"/>
              <a:t>Delayed or slow introduction of enteral feeding(controversial)</a:t>
            </a:r>
          </a:p>
          <a:p>
            <a:r>
              <a:rPr lang="en-US" dirty="0"/>
              <a:t>Prophylactic antibiotics(Controversial)</a:t>
            </a:r>
          </a:p>
          <a:p>
            <a:endParaRPr lang="en-US" dirty="0"/>
          </a:p>
        </p:txBody>
      </p:sp>
      <p:sp>
        <p:nvSpPr>
          <p:cNvPr id="4" name="Slide Number Placeholder 3">
            <a:extLst>
              <a:ext uri="{FF2B5EF4-FFF2-40B4-BE49-F238E27FC236}">
                <a16:creationId xmlns:a16="http://schemas.microsoft.com/office/drawing/2014/main" xmlns="" id="{A6F6597A-6BD7-433D-8448-BCF56767F241}"/>
              </a:ext>
            </a:extLst>
          </p:cNvPr>
          <p:cNvSpPr>
            <a:spLocks noGrp="1"/>
          </p:cNvSpPr>
          <p:nvPr>
            <p:ph type="sldNum" sz="quarter" idx="12"/>
          </p:nvPr>
        </p:nvSpPr>
        <p:spPr/>
        <p:txBody>
          <a:bodyPr/>
          <a:lstStyle/>
          <a:p>
            <a:fld id="{F010F31A-5B1D-4478-A180-CDC3128319F7}" type="slidenum">
              <a:rPr lang="en-US" smtClean="0"/>
              <a:t>30</a:t>
            </a:fld>
            <a:endParaRPr lang="en-US"/>
          </a:p>
        </p:txBody>
      </p:sp>
    </p:spTree>
    <p:extLst>
      <p:ext uri="{BB962C8B-B14F-4D97-AF65-F5344CB8AC3E}">
        <p14:creationId xmlns:p14="http://schemas.microsoft.com/office/powerpoint/2010/main" val="25241643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3D1FCD-FD62-429F-B2F8-E56B8B0271FB}"/>
              </a:ext>
            </a:extLst>
          </p:cNvPr>
          <p:cNvSpPr>
            <a:spLocks noGrp="1"/>
          </p:cNvSpPr>
          <p:nvPr>
            <p:ph type="title"/>
          </p:nvPr>
        </p:nvSpPr>
        <p:spPr/>
        <p:txBody>
          <a:bodyPr/>
          <a:lstStyle/>
          <a:p>
            <a:r>
              <a:rPr lang="en-US" dirty="0"/>
              <a:t>TORCH</a:t>
            </a:r>
          </a:p>
        </p:txBody>
      </p:sp>
      <p:sp>
        <p:nvSpPr>
          <p:cNvPr id="3" name="Content Placeholder 2">
            <a:extLst>
              <a:ext uri="{FF2B5EF4-FFF2-40B4-BE49-F238E27FC236}">
                <a16:creationId xmlns:a16="http://schemas.microsoft.com/office/drawing/2014/main" xmlns="" id="{07C919CA-613F-4E5F-9CC9-44E88F1B145E}"/>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xmlns="" id="{14868F04-4983-4F77-AE38-B79BA03FEF20}"/>
              </a:ext>
            </a:extLst>
          </p:cNvPr>
          <p:cNvSpPr>
            <a:spLocks noGrp="1"/>
          </p:cNvSpPr>
          <p:nvPr>
            <p:ph type="sldNum" sz="quarter" idx="12"/>
          </p:nvPr>
        </p:nvSpPr>
        <p:spPr/>
        <p:txBody>
          <a:bodyPr/>
          <a:lstStyle/>
          <a:p>
            <a:fld id="{F010F31A-5B1D-4478-A180-CDC3128319F7}" type="slidenum">
              <a:rPr lang="en-US" smtClean="0"/>
              <a:t>31</a:t>
            </a:fld>
            <a:endParaRPr lang="en-US"/>
          </a:p>
        </p:txBody>
      </p:sp>
    </p:spTree>
    <p:extLst>
      <p:ext uri="{BB962C8B-B14F-4D97-AF65-F5344CB8AC3E}">
        <p14:creationId xmlns:p14="http://schemas.microsoft.com/office/powerpoint/2010/main" val="23568038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pPr eaLnBrk="1" hangingPunct="1"/>
            <a:r>
              <a:rPr lang="en-US" dirty="0">
                <a:latin typeface="Times New Roman" panose="02020603050405020304" pitchFamily="18" charset="0"/>
                <a:cs typeface="Times New Roman" panose="02020603050405020304" pitchFamily="18" charset="0"/>
              </a:rPr>
              <a:t>TORCH INFECTIONS</a:t>
            </a:r>
          </a:p>
        </p:txBody>
      </p:sp>
      <p:sp>
        <p:nvSpPr>
          <p:cNvPr id="36867" name="Content Placeholder 2"/>
          <p:cNvSpPr>
            <a:spLocks noGrp="1"/>
          </p:cNvSpPr>
          <p:nvPr>
            <p:ph idx="1"/>
          </p:nvPr>
        </p:nvSpPr>
        <p:spPr>
          <a:xfrm>
            <a:off x="838200" y="1690689"/>
            <a:ext cx="9372600" cy="4435476"/>
          </a:xfrm>
        </p:spPr>
        <p:txBody>
          <a:bodyPr/>
          <a:lstStyle/>
          <a:p>
            <a:pPr marL="0" indent="0" eaLnBrk="1" hangingPunct="1">
              <a:buNone/>
            </a:pPr>
            <a:r>
              <a:rPr lang="en-US" dirty="0"/>
              <a:t>TORCH is an acronym </a:t>
            </a:r>
          </a:p>
          <a:p>
            <a:pPr eaLnBrk="1" hangingPunct="1"/>
            <a:r>
              <a:rPr lang="en-US" dirty="0"/>
              <a:t>Toxoplasmosis; </a:t>
            </a:r>
          </a:p>
          <a:p>
            <a:pPr eaLnBrk="1" hangingPunct="1"/>
            <a:r>
              <a:rPr lang="en-US" dirty="0"/>
              <a:t>Others.. syphilis, hepatitis B, coxsackievirus, Epstein-</a:t>
            </a:r>
            <a:r>
              <a:rPr lang="en-US" dirty="0" err="1"/>
              <a:t>barr</a:t>
            </a:r>
            <a:r>
              <a:rPr lang="en-US" dirty="0"/>
              <a:t>,  varicella-zoster virus (VZV), and human parvovirus; </a:t>
            </a:r>
          </a:p>
          <a:p>
            <a:pPr eaLnBrk="1" hangingPunct="1"/>
            <a:r>
              <a:rPr lang="en-US" dirty="0"/>
              <a:t>Rubella virus; </a:t>
            </a:r>
          </a:p>
          <a:p>
            <a:pPr eaLnBrk="1" hangingPunct="1"/>
            <a:r>
              <a:rPr lang="en-US" dirty="0"/>
              <a:t>Cytomegalovirus [CMV] and </a:t>
            </a:r>
          </a:p>
          <a:p>
            <a:pPr eaLnBrk="1" hangingPunct="1"/>
            <a:r>
              <a:rPr lang="en-US" dirty="0"/>
              <a:t>Herpes simplex virus [HSV])</a:t>
            </a:r>
          </a:p>
        </p:txBody>
      </p:sp>
      <p:sp>
        <p:nvSpPr>
          <p:cNvPr id="35844"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5FE6CD62-7787-4091-B035-569C636F6C7C}" type="slidenum">
              <a:rPr lang="en-US" smtClean="0">
                <a:solidFill>
                  <a:schemeClr val="tx1"/>
                </a:solidFill>
              </a:rPr>
              <a:pPr fontAlgn="base">
                <a:spcBef>
                  <a:spcPct val="0"/>
                </a:spcBef>
                <a:spcAft>
                  <a:spcPct val="0"/>
                </a:spcAft>
                <a:defRPr/>
              </a:pPr>
              <a:t>32</a:t>
            </a:fld>
            <a:endParaRPr lang="en-US">
              <a:solidFill>
                <a:schemeClr val="tx1"/>
              </a:solidFill>
            </a:endParaRPr>
          </a:p>
        </p:txBody>
      </p:sp>
    </p:spTree>
    <p:extLst>
      <p:ext uri="{BB962C8B-B14F-4D97-AF65-F5344CB8AC3E}">
        <p14:creationId xmlns:p14="http://schemas.microsoft.com/office/powerpoint/2010/main" val="28436320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75F755-C46E-4B62-B990-F301D48607E4}"/>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xmlns="" id="{8472FE58-64DC-4FEA-9D35-4152FF1D640D}"/>
              </a:ext>
            </a:extLst>
          </p:cNvPr>
          <p:cNvPicPr>
            <a:picLocks noGrp="1" noChangeAspect="1"/>
          </p:cNvPicPr>
          <p:nvPr>
            <p:ph idx="1"/>
          </p:nvPr>
        </p:nvPicPr>
        <p:blipFill>
          <a:blip r:embed="rId2"/>
          <a:stretch>
            <a:fillRect/>
          </a:stretch>
        </p:blipFill>
        <p:spPr>
          <a:xfrm>
            <a:off x="1951304" y="684754"/>
            <a:ext cx="8067717" cy="5488492"/>
          </a:xfrm>
        </p:spPr>
      </p:pic>
      <p:sp>
        <p:nvSpPr>
          <p:cNvPr id="3" name="Slide Number Placeholder 2">
            <a:extLst>
              <a:ext uri="{FF2B5EF4-FFF2-40B4-BE49-F238E27FC236}">
                <a16:creationId xmlns:a16="http://schemas.microsoft.com/office/drawing/2014/main" xmlns="" id="{3BB6BD17-B402-43DA-AAF7-C825DEA639DA}"/>
              </a:ext>
            </a:extLst>
          </p:cNvPr>
          <p:cNvSpPr>
            <a:spLocks noGrp="1"/>
          </p:cNvSpPr>
          <p:nvPr>
            <p:ph type="sldNum" sz="quarter" idx="12"/>
          </p:nvPr>
        </p:nvSpPr>
        <p:spPr/>
        <p:txBody>
          <a:bodyPr/>
          <a:lstStyle/>
          <a:p>
            <a:fld id="{F010F31A-5B1D-4478-A180-CDC3128319F7}" type="slidenum">
              <a:rPr lang="en-US" smtClean="0"/>
              <a:t>33</a:t>
            </a:fld>
            <a:endParaRPr lang="en-US"/>
          </a:p>
        </p:txBody>
      </p:sp>
    </p:spTree>
    <p:extLst>
      <p:ext uri="{BB962C8B-B14F-4D97-AF65-F5344CB8AC3E}">
        <p14:creationId xmlns:p14="http://schemas.microsoft.com/office/powerpoint/2010/main" val="7106688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pPr eaLnBrk="1" hangingPunct="1"/>
            <a:r>
              <a:rPr lang="en-US" b="1" dirty="0">
                <a:solidFill>
                  <a:srgbClr val="FF0000"/>
                </a:solidFill>
              </a:rPr>
              <a:t>TOXOPLASMOSIS</a:t>
            </a:r>
          </a:p>
        </p:txBody>
      </p:sp>
      <p:sp>
        <p:nvSpPr>
          <p:cNvPr id="2" name="Text Placeholder 1">
            <a:extLst>
              <a:ext uri="{FF2B5EF4-FFF2-40B4-BE49-F238E27FC236}">
                <a16:creationId xmlns:a16="http://schemas.microsoft.com/office/drawing/2014/main" xmlns="" id="{6F52B554-6743-4AF3-AE76-402ADC2878B8}"/>
              </a:ext>
            </a:extLst>
          </p:cNvPr>
          <p:cNvSpPr>
            <a:spLocks noGrp="1"/>
          </p:cNvSpPr>
          <p:nvPr>
            <p:ph type="body" idx="1"/>
          </p:nvPr>
        </p:nvSpPr>
        <p:spPr/>
        <p:txBody>
          <a:bodyPr/>
          <a:lstStyle/>
          <a:p>
            <a:endParaRPr lang="en-US"/>
          </a:p>
        </p:txBody>
      </p:sp>
      <p:sp>
        <p:nvSpPr>
          <p:cNvPr id="37891" name="Content Placeholder 2"/>
          <p:cNvSpPr>
            <a:spLocks noGrp="1"/>
          </p:cNvSpPr>
          <p:nvPr>
            <p:ph sz="half" idx="2"/>
          </p:nvPr>
        </p:nvSpPr>
        <p:spPr/>
        <p:txBody>
          <a:bodyPr>
            <a:normAutofit lnSpcReduction="10000"/>
          </a:bodyPr>
          <a:lstStyle/>
          <a:p>
            <a:r>
              <a:rPr lang="en-US" dirty="0"/>
              <a:t>Intracellular parasitic protozoan</a:t>
            </a:r>
          </a:p>
          <a:p>
            <a:r>
              <a:rPr lang="en-US" dirty="0"/>
              <a:t>More risk as the pregnancy progresses 17% 1</a:t>
            </a:r>
            <a:r>
              <a:rPr lang="en-US" baseline="30000" dirty="0"/>
              <a:t>st</a:t>
            </a:r>
            <a:r>
              <a:rPr lang="en-US" dirty="0"/>
              <a:t> TM and 65% 3</a:t>
            </a:r>
            <a:r>
              <a:rPr lang="en-US" baseline="30000" dirty="0"/>
              <a:t>rd</a:t>
            </a:r>
            <a:r>
              <a:rPr lang="en-US" dirty="0"/>
              <a:t> TM</a:t>
            </a:r>
          </a:p>
          <a:p>
            <a:r>
              <a:rPr lang="en-US" dirty="0"/>
              <a:t>The incidence of congenital infection is </a:t>
            </a:r>
          </a:p>
          <a:p>
            <a:pPr lvl="2" eaLnBrk="1" hangingPunct="1"/>
            <a:r>
              <a:rPr lang="en-US" sz="2800" dirty="0"/>
              <a:t>1 in 1000 to 1 in 10,000 live births</a:t>
            </a:r>
          </a:p>
          <a:p>
            <a:pPr marL="914400" lvl="2" indent="0" eaLnBrk="1" hangingPunct="1">
              <a:buNone/>
            </a:pPr>
            <a:endParaRPr lang="en-US" sz="2800" dirty="0"/>
          </a:p>
        </p:txBody>
      </p:sp>
      <p:sp>
        <p:nvSpPr>
          <p:cNvPr id="3" name="Text Placeholder 2">
            <a:extLst>
              <a:ext uri="{FF2B5EF4-FFF2-40B4-BE49-F238E27FC236}">
                <a16:creationId xmlns:a16="http://schemas.microsoft.com/office/drawing/2014/main" xmlns="" id="{9729FA45-FB5A-4482-A40E-04D211CDBB9B}"/>
              </a:ext>
            </a:extLst>
          </p:cNvPr>
          <p:cNvSpPr>
            <a:spLocks noGrp="1"/>
          </p:cNvSpPr>
          <p:nvPr>
            <p:ph type="body" sz="quarter" idx="3"/>
          </p:nvPr>
        </p:nvSpPr>
        <p:spPr/>
        <p:txBody>
          <a:bodyPr/>
          <a:lstStyle/>
          <a:p>
            <a:r>
              <a:rPr lang="en-US" dirty="0"/>
              <a:t>Risk factors</a:t>
            </a:r>
          </a:p>
        </p:txBody>
      </p:sp>
      <p:sp>
        <p:nvSpPr>
          <p:cNvPr id="4" name="Content Placeholder 3">
            <a:extLst>
              <a:ext uri="{FF2B5EF4-FFF2-40B4-BE49-F238E27FC236}">
                <a16:creationId xmlns:a16="http://schemas.microsoft.com/office/drawing/2014/main" xmlns="" id="{EEFAF2F4-03E8-4BE9-BF9E-39CECE498007}"/>
              </a:ext>
            </a:extLst>
          </p:cNvPr>
          <p:cNvSpPr>
            <a:spLocks noGrp="1"/>
          </p:cNvSpPr>
          <p:nvPr>
            <p:ph sz="quarter" idx="4"/>
          </p:nvPr>
        </p:nvSpPr>
        <p:spPr/>
        <p:txBody>
          <a:bodyPr>
            <a:normAutofit lnSpcReduction="10000"/>
          </a:bodyPr>
          <a:lstStyle/>
          <a:p>
            <a:r>
              <a:rPr lang="en-US" dirty="0"/>
              <a:t>T. gondii may be ingested during contact with soil or litter boxes contaminated with cat feces</a:t>
            </a:r>
          </a:p>
          <a:p>
            <a:r>
              <a:rPr lang="en-US" dirty="0"/>
              <a:t>Unpasteurized milk, in raw or undercooked meats (especially pork)</a:t>
            </a:r>
          </a:p>
          <a:p>
            <a:r>
              <a:rPr lang="en-US" dirty="0"/>
              <a:t>blood product transfusion (white blood cells)</a:t>
            </a:r>
          </a:p>
          <a:p>
            <a:r>
              <a:rPr lang="en-US" dirty="0"/>
              <a:t>Prematurity </a:t>
            </a:r>
          </a:p>
          <a:p>
            <a:endParaRPr lang="en-US" dirty="0"/>
          </a:p>
        </p:txBody>
      </p:sp>
      <p:sp>
        <p:nvSpPr>
          <p:cNvPr id="36868"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7028FA8E-DB71-4745-B15E-3DDE0CA946E4}" type="slidenum">
              <a:rPr lang="en-US" smtClean="0">
                <a:solidFill>
                  <a:schemeClr val="tx1"/>
                </a:solidFill>
              </a:rPr>
              <a:pPr fontAlgn="base">
                <a:spcBef>
                  <a:spcPct val="0"/>
                </a:spcBef>
                <a:spcAft>
                  <a:spcPct val="0"/>
                </a:spcAft>
                <a:defRPr/>
              </a:pPr>
              <a:t>34</a:t>
            </a:fld>
            <a:endParaRPr lang="en-US">
              <a:solidFill>
                <a:schemeClr val="tx1"/>
              </a:solidFill>
            </a:endParaRPr>
          </a:p>
        </p:txBody>
      </p:sp>
    </p:spTree>
    <p:extLst>
      <p:ext uri="{BB962C8B-B14F-4D97-AF65-F5344CB8AC3E}">
        <p14:creationId xmlns:p14="http://schemas.microsoft.com/office/powerpoint/2010/main" val="30480755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838BB980-5D51-4095-A73C-27C56998C2E8}" type="slidenum">
              <a:rPr lang="en-US" smtClean="0">
                <a:solidFill>
                  <a:schemeClr val="tx1"/>
                </a:solidFill>
              </a:rPr>
              <a:pPr>
                <a:defRPr/>
              </a:pPr>
              <a:t>35</a:t>
            </a:fld>
            <a:endParaRPr lang="en-US" dirty="0">
              <a:solidFill>
                <a:schemeClr val="tx1"/>
              </a:solidFill>
            </a:endParaRPr>
          </a:p>
        </p:txBody>
      </p:sp>
      <p:sp>
        <p:nvSpPr>
          <p:cNvPr id="41988" name="Picture 2" descr="C:\Documents and Settings\User\My Documents\My Pictures\457px-Toxoplasma_gondii_Life_cycle_PHIL_3421_lores.jpg"/>
          <p:cNvSpPr>
            <a:spLocks noChangeAspect="1" noChangeArrowheads="1"/>
          </p:cNvSpPr>
          <p:nvPr/>
        </p:nvSpPr>
        <p:spPr bwMode="auto">
          <a:xfrm>
            <a:off x="2209800" y="0"/>
            <a:ext cx="7162800" cy="640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pic>
        <p:nvPicPr>
          <p:cNvPr id="41989" name="Picture 2" descr="C:\Documents and Settings\User\My Documents\My Pictures\457px-Toxoplasma_gondii_Life_cycle_PHIL_3421_lore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0"/>
            <a:ext cx="7848600" cy="640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379493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0BD91A85-D566-4F5D-9CD4-7DAA63D55532}"/>
              </a:ext>
            </a:extLst>
          </p:cNvPr>
          <p:cNvSpPr>
            <a:spLocks noGrp="1"/>
          </p:cNvSpPr>
          <p:nvPr>
            <p:ph type="body" idx="1"/>
          </p:nvPr>
        </p:nvSpPr>
        <p:spPr>
          <a:xfrm>
            <a:off x="673534" y="256381"/>
            <a:ext cx="5157787" cy="823912"/>
          </a:xfrm>
        </p:spPr>
        <p:txBody>
          <a:bodyPr/>
          <a:lstStyle/>
          <a:p>
            <a:r>
              <a:rPr lang="en-US" dirty="0"/>
              <a:t>Clinical presentation</a:t>
            </a:r>
          </a:p>
        </p:txBody>
      </p:sp>
      <p:sp>
        <p:nvSpPr>
          <p:cNvPr id="44035" name="Content Placeholder 2"/>
          <p:cNvSpPr>
            <a:spLocks noGrp="1"/>
          </p:cNvSpPr>
          <p:nvPr>
            <p:ph sz="half" idx="2"/>
          </p:nvPr>
        </p:nvSpPr>
        <p:spPr>
          <a:xfrm>
            <a:off x="673533" y="1586706"/>
            <a:ext cx="5157787" cy="3684588"/>
          </a:xfrm>
        </p:spPr>
        <p:txBody>
          <a:bodyPr>
            <a:normAutofit fontScale="92500" lnSpcReduction="10000"/>
          </a:bodyPr>
          <a:lstStyle/>
          <a:p>
            <a:r>
              <a:rPr lang="en-US" dirty="0"/>
              <a:t>Congenital toxoplasmosis may be manifested as </a:t>
            </a:r>
          </a:p>
          <a:p>
            <a:pPr marL="1314450" lvl="2" indent="-514350">
              <a:buFont typeface="Calibri" pitchFamily="34" charset="0"/>
              <a:buAutoNum type="arabicPeriod"/>
            </a:pPr>
            <a:r>
              <a:rPr lang="en-US" sz="2800" dirty="0"/>
              <a:t>Clinical neonatal disease</a:t>
            </a:r>
          </a:p>
          <a:p>
            <a:pPr marL="1314450" lvl="2" indent="-514350">
              <a:buFont typeface="Calibri" pitchFamily="34" charset="0"/>
              <a:buAutoNum type="arabicPeriod"/>
            </a:pPr>
            <a:r>
              <a:rPr lang="en-US" sz="2800" dirty="0"/>
              <a:t>Disease in the first few months of life</a:t>
            </a:r>
          </a:p>
          <a:p>
            <a:pPr marL="1314450" lvl="2" indent="-514350">
              <a:buFont typeface="Calibri" pitchFamily="34" charset="0"/>
              <a:buAutoNum type="arabicPeriod"/>
            </a:pPr>
            <a:r>
              <a:rPr lang="en-US" sz="2800" dirty="0"/>
              <a:t>Late sequelae or relapsed infection or</a:t>
            </a:r>
          </a:p>
          <a:p>
            <a:pPr marL="1314450" lvl="2" indent="-514350">
              <a:buFont typeface="Calibri" pitchFamily="34" charset="0"/>
              <a:buAutoNum type="arabicPeriod"/>
            </a:pPr>
            <a:r>
              <a:rPr lang="en-US" sz="2800" dirty="0"/>
              <a:t>Subclinical disease</a:t>
            </a:r>
          </a:p>
        </p:txBody>
      </p:sp>
      <p:sp>
        <p:nvSpPr>
          <p:cNvPr id="4" name="Content Placeholder 3">
            <a:extLst>
              <a:ext uri="{FF2B5EF4-FFF2-40B4-BE49-F238E27FC236}">
                <a16:creationId xmlns:a16="http://schemas.microsoft.com/office/drawing/2014/main" xmlns="" id="{2C3D1A82-527C-49F9-9292-AD5FCF6AE087}"/>
              </a:ext>
            </a:extLst>
          </p:cNvPr>
          <p:cNvSpPr>
            <a:spLocks noGrp="1"/>
          </p:cNvSpPr>
          <p:nvPr>
            <p:ph sz="quarter" idx="4"/>
          </p:nvPr>
        </p:nvSpPr>
        <p:spPr>
          <a:xfrm>
            <a:off x="6096000" y="1586706"/>
            <a:ext cx="5183188" cy="3684588"/>
          </a:xfrm>
        </p:spPr>
        <p:txBody>
          <a:bodyPr>
            <a:normAutofit fontScale="92500" lnSpcReduction="10000"/>
          </a:bodyPr>
          <a:lstStyle/>
          <a:p>
            <a:r>
              <a:rPr lang="en-US" dirty="0"/>
              <a:t>Disseminated disease </a:t>
            </a:r>
          </a:p>
          <a:p>
            <a:r>
              <a:rPr lang="en-US" dirty="0"/>
              <a:t>Isolated CNS or ocular disease</a:t>
            </a:r>
          </a:p>
          <a:p>
            <a:r>
              <a:rPr lang="en-US" dirty="0"/>
              <a:t>Late sequelae are primarily related to ocular or CNS disease</a:t>
            </a:r>
          </a:p>
          <a:p>
            <a:r>
              <a:rPr lang="en-US" b="1" dirty="0">
                <a:solidFill>
                  <a:srgbClr val="FF0000"/>
                </a:solidFill>
              </a:rPr>
              <a:t>The classic triad of toxoplasmosis</a:t>
            </a:r>
          </a:p>
          <a:p>
            <a:pPr marL="1314450" lvl="2" indent="-514350">
              <a:buFont typeface="Calibri" pitchFamily="34" charset="0"/>
              <a:buAutoNum type="arabicPeriod"/>
            </a:pPr>
            <a:r>
              <a:rPr lang="en-US" sz="2800" b="1" dirty="0">
                <a:solidFill>
                  <a:srgbClr val="FF0000"/>
                </a:solidFill>
              </a:rPr>
              <a:t>Obstructive hydrocephalus</a:t>
            </a:r>
          </a:p>
          <a:p>
            <a:pPr marL="1314450" lvl="2" indent="-514350">
              <a:buFont typeface="Calibri" pitchFamily="34" charset="0"/>
              <a:buAutoNum type="arabicPeriod"/>
            </a:pPr>
            <a:r>
              <a:rPr lang="en-US" sz="2800" b="1" dirty="0">
                <a:solidFill>
                  <a:srgbClr val="FF0000"/>
                </a:solidFill>
              </a:rPr>
              <a:t>Chorioretinitis, and </a:t>
            </a:r>
          </a:p>
          <a:p>
            <a:pPr marL="1314450" lvl="2" indent="-514350">
              <a:buFont typeface="Calibri" pitchFamily="34" charset="0"/>
              <a:buAutoNum type="arabicPeriod"/>
            </a:pPr>
            <a:r>
              <a:rPr lang="en-US" sz="2800" b="1" dirty="0">
                <a:solidFill>
                  <a:srgbClr val="FF0000"/>
                </a:solidFill>
              </a:rPr>
              <a:t>intracranial calcifications form</a:t>
            </a:r>
          </a:p>
          <a:p>
            <a:endParaRPr lang="en-US" dirty="0"/>
          </a:p>
        </p:txBody>
      </p:sp>
      <p:sp>
        <p:nvSpPr>
          <p:cNvPr id="41988"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6737FD75-2C0D-405E-8DAD-2D7745F693CF}" type="slidenum">
              <a:rPr lang="en-US" smtClean="0">
                <a:solidFill>
                  <a:schemeClr val="tx1"/>
                </a:solidFill>
              </a:rPr>
              <a:pPr fontAlgn="base">
                <a:spcBef>
                  <a:spcPct val="0"/>
                </a:spcBef>
                <a:spcAft>
                  <a:spcPct val="0"/>
                </a:spcAft>
                <a:defRPr/>
              </a:pPr>
              <a:t>36</a:t>
            </a:fld>
            <a:endParaRPr lang="en-US">
              <a:solidFill>
                <a:schemeClr val="tx1"/>
              </a:solidFill>
            </a:endParaRPr>
          </a:p>
        </p:txBody>
      </p:sp>
    </p:spTree>
    <p:extLst>
      <p:ext uri="{BB962C8B-B14F-4D97-AF65-F5344CB8AC3E}">
        <p14:creationId xmlns:p14="http://schemas.microsoft.com/office/powerpoint/2010/main" val="28805308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pPr eaLnBrk="1" hangingPunct="1"/>
            <a:r>
              <a:rPr lang="en-US"/>
              <a:t>Diagnosis</a:t>
            </a:r>
          </a:p>
        </p:txBody>
      </p:sp>
      <p:sp>
        <p:nvSpPr>
          <p:cNvPr id="47107" name="Content Placeholder 2"/>
          <p:cNvSpPr>
            <a:spLocks noGrp="1"/>
          </p:cNvSpPr>
          <p:nvPr>
            <p:ph sz="half" idx="1"/>
          </p:nvPr>
        </p:nvSpPr>
        <p:spPr/>
        <p:txBody>
          <a:bodyPr>
            <a:normAutofit fontScale="92500" lnSpcReduction="10000"/>
          </a:bodyPr>
          <a:lstStyle/>
          <a:p>
            <a:r>
              <a:rPr lang="en-US" dirty="0"/>
              <a:t>clinical suspicion</a:t>
            </a:r>
          </a:p>
          <a:p>
            <a:pPr marL="0" indent="0">
              <a:buNone/>
            </a:pPr>
            <a:r>
              <a:rPr lang="en-US" sz="2800" dirty="0">
                <a:solidFill>
                  <a:srgbClr val="000000"/>
                </a:solidFill>
                <a:effectLst/>
                <a:latin typeface="Times New Roman" panose="02020603050405020304" pitchFamily="18" charset="0"/>
                <a:cs typeface="Times New Roman" panose="02020603050405020304" pitchFamily="18" charset="0"/>
              </a:rPr>
              <a:t>• Serologic tests:</a:t>
            </a:r>
            <a:br>
              <a:rPr lang="en-US" sz="2800" dirty="0">
                <a:solidFill>
                  <a:srgbClr val="000000"/>
                </a:solidFill>
                <a:effectLst/>
                <a:latin typeface="Times New Roman" panose="02020603050405020304" pitchFamily="18" charset="0"/>
                <a:cs typeface="Times New Roman" panose="02020603050405020304" pitchFamily="18" charset="0"/>
              </a:rPr>
            </a:br>
            <a:r>
              <a:rPr lang="en-US" sz="2800" dirty="0">
                <a:solidFill>
                  <a:srgbClr val="000000"/>
                </a:solidFill>
                <a:effectLst/>
                <a:latin typeface="Times New Roman" panose="02020603050405020304" pitchFamily="18" charset="0"/>
                <a:cs typeface="Times New Roman" panose="02020603050405020304" pitchFamily="18" charset="0"/>
              </a:rPr>
              <a:t>– IgG(The Sabin-Feldman dye test )</a:t>
            </a:r>
            <a:br>
              <a:rPr lang="en-US" sz="2800" dirty="0">
                <a:solidFill>
                  <a:srgbClr val="000000"/>
                </a:solidFill>
                <a:effectLst/>
                <a:latin typeface="Times New Roman" panose="02020603050405020304" pitchFamily="18" charset="0"/>
                <a:cs typeface="Times New Roman" panose="02020603050405020304" pitchFamily="18" charset="0"/>
              </a:rPr>
            </a:br>
            <a:r>
              <a:rPr lang="en-US" sz="2800" dirty="0">
                <a:solidFill>
                  <a:srgbClr val="000000"/>
                </a:solidFill>
                <a:effectLst/>
                <a:latin typeface="Times New Roman" panose="02020603050405020304" pitchFamily="18" charset="0"/>
                <a:cs typeface="Times New Roman" panose="02020603050405020304" pitchFamily="18" charset="0"/>
              </a:rPr>
              <a:t>– IgM</a:t>
            </a:r>
            <a:br>
              <a:rPr lang="en-US" sz="2800" dirty="0">
                <a:solidFill>
                  <a:srgbClr val="000000"/>
                </a:solidFill>
                <a:effectLst/>
                <a:latin typeface="Times New Roman" panose="02020603050405020304" pitchFamily="18" charset="0"/>
                <a:cs typeface="Times New Roman" panose="02020603050405020304" pitchFamily="18" charset="0"/>
              </a:rPr>
            </a:br>
            <a:r>
              <a:rPr lang="en-US" sz="2800" dirty="0">
                <a:solidFill>
                  <a:srgbClr val="000000"/>
                </a:solidFill>
                <a:effectLst/>
                <a:latin typeface="Times New Roman" panose="02020603050405020304" pitchFamily="18" charset="0"/>
                <a:cs typeface="Times New Roman" panose="02020603050405020304" pitchFamily="18" charset="0"/>
              </a:rPr>
              <a:t>– The IgG indirect fluorescent-antibody (IgG-IFA) test.</a:t>
            </a:r>
            <a:br>
              <a:rPr lang="en-US" sz="2800" dirty="0">
                <a:solidFill>
                  <a:srgbClr val="000000"/>
                </a:solidFill>
                <a:effectLst/>
                <a:latin typeface="Times New Roman" panose="02020603050405020304" pitchFamily="18" charset="0"/>
                <a:cs typeface="Times New Roman" panose="02020603050405020304" pitchFamily="18" charset="0"/>
              </a:rPr>
            </a:br>
            <a:r>
              <a:rPr lang="en-US" sz="2800" dirty="0">
                <a:solidFill>
                  <a:srgbClr val="000000"/>
                </a:solidFill>
                <a:effectLst/>
                <a:latin typeface="Times New Roman" panose="02020603050405020304" pitchFamily="18" charset="0"/>
                <a:cs typeface="Times New Roman" panose="02020603050405020304" pitchFamily="18" charset="0"/>
              </a:rPr>
              <a:t>• PCR</a:t>
            </a:r>
            <a:r>
              <a:rPr lang="en-US" dirty="0">
                <a:latin typeface="Times New Roman" panose="02020603050405020304" pitchFamily="18" charset="0"/>
                <a:cs typeface="Times New Roman" panose="02020603050405020304" pitchFamily="18" charset="0"/>
              </a:rPr>
              <a:t> </a:t>
            </a:r>
          </a:p>
          <a:p>
            <a:r>
              <a:rPr lang="en-US" dirty="0"/>
              <a:t>Direct isolation of the organism from body fluids or tissues</a:t>
            </a:r>
          </a:p>
          <a:p>
            <a:r>
              <a:rPr lang="en-US" dirty="0"/>
              <a:t>Perinatal diagnosis</a:t>
            </a:r>
          </a:p>
          <a:p>
            <a:r>
              <a:rPr lang="en-US" dirty="0"/>
              <a:t>CSF examination</a:t>
            </a:r>
          </a:p>
        </p:txBody>
      </p:sp>
      <p:sp>
        <p:nvSpPr>
          <p:cNvPr id="5" name="Content Placeholder 4">
            <a:extLst>
              <a:ext uri="{FF2B5EF4-FFF2-40B4-BE49-F238E27FC236}">
                <a16:creationId xmlns:a16="http://schemas.microsoft.com/office/drawing/2014/main" xmlns="" id="{B5B0AD08-2705-42F8-8F86-3693B6D6A230}"/>
              </a:ext>
            </a:extLst>
          </p:cNvPr>
          <p:cNvSpPr>
            <a:spLocks noGrp="1"/>
          </p:cNvSpPr>
          <p:nvPr>
            <p:ph sz="half" idx="2"/>
          </p:nvPr>
        </p:nvSpPr>
        <p:spPr/>
        <p:txBody>
          <a:bodyPr>
            <a:normAutofit fontScale="92500" lnSpcReduction="10000"/>
          </a:bodyPr>
          <a:lstStyle/>
          <a:p>
            <a:pPr eaLnBrk="1" hangingPunct="1"/>
            <a:r>
              <a:rPr lang="en-US" dirty="0"/>
              <a:t>Radiologic studies</a:t>
            </a:r>
          </a:p>
          <a:p>
            <a:pPr eaLnBrk="1" hangingPunct="1"/>
            <a:r>
              <a:rPr lang="en-US" dirty="0"/>
              <a:t>Cranial ultrasonogram or CT scan of the head</a:t>
            </a:r>
          </a:p>
          <a:p>
            <a:pPr eaLnBrk="1" hangingPunct="1"/>
            <a:r>
              <a:rPr lang="en-US" dirty="0"/>
              <a:t>Long-bone films may show abnormalities</a:t>
            </a:r>
          </a:p>
          <a:p>
            <a:pPr eaLnBrk="1" hangingPunct="1"/>
            <a:r>
              <a:rPr lang="en-US" dirty="0"/>
              <a:t>Ophthalmologic examination</a:t>
            </a:r>
          </a:p>
          <a:p>
            <a:endParaRPr lang="en-US" dirty="0"/>
          </a:p>
        </p:txBody>
      </p:sp>
      <p:sp>
        <p:nvSpPr>
          <p:cNvPr id="16388"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A8937EF8-A170-4D4C-A0C7-D3BBBA2B5DF4}" type="slidenum">
              <a:rPr lang="en-US" smtClean="0">
                <a:solidFill>
                  <a:schemeClr val="tx1"/>
                </a:solidFill>
              </a:rPr>
              <a:pPr fontAlgn="base">
                <a:spcBef>
                  <a:spcPct val="0"/>
                </a:spcBef>
                <a:spcAft>
                  <a:spcPct val="0"/>
                </a:spcAft>
                <a:defRPr/>
              </a:pPr>
              <a:t>37</a:t>
            </a:fld>
            <a:endParaRPr lang="en-US">
              <a:solidFill>
                <a:schemeClr val="tx1"/>
              </a:solidFill>
            </a:endParaRPr>
          </a:p>
        </p:txBody>
      </p:sp>
    </p:spTree>
    <p:extLst>
      <p:ext uri="{BB962C8B-B14F-4D97-AF65-F5344CB8AC3E}">
        <p14:creationId xmlns:p14="http://schemas.microsoft.com/office/powerpoint/2010/main" val="31262838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xmlns="" id="{6A884B42-37ED-4D32-9AA2-043B9DB5BBD2}"/>
              </a:ext>
            </a:extLst>
          </p:cNvPr>
          <p:cNvSpPr>
            <a:spLocks noGrp="1"/>
          </p:cNvSpPr>
          <p:nvPr>
            <p:ph type="body" idx="1"/>
          </p:nvPr>
        </p:nvSpPr>
        <p:spPr>
          <a:xfrm>
            <a:off x="673534" y="256381"/>
            <a:ext cx="5157787" cy="823912"/>
          </a:xfrm>
        </p:spPr>
        <p:txBody>
          <a:bodyPr/>
          <a:lstStyle/>
          <a:p>
            <a:r>
              <a:rPr lang="en-US" dirty="0"/>
              <a:t>Treatment</a:t>
            </a:r>
          </a:p>
        </p:txBody>
      </p:sp>
      <p:sp>
        <p:nvSpPr>
          <p:cNvPr id="3" name="Content Placeholder 2">
            <a:extLst>
              <a:ext uri="{FF2B5EF4-FFF2-40B4-BE49-F238E27FC236}">
                <a16:creationId xmlns:a16="http://schemas.microsoft.com/office/drawing/2014/main" xmlns="" id="{127AAE96-B551-433D-85A0-F4B1B51080CA}"/>
              </a:ext>
            </a:extLst>
          </p:cNvPr>
          <p:cNvSpPr>
            <a:spLocks noGrp="1"/>
          </p:cNvSpPr>
          <p:nvPr>
            <p:ph sz="half" idx="2"/>
          </p:nvPr>
        </p:nvSpPr>
        <p:spPr>
          <a:xfrm>
            <a:off x="673534" y="1586706"/>
            <a:ext cx="5157787" cy="3684588"/>
          </a:xfrm>
        </p:spPr>
        <p:txBody>
          <a:bodyPr>
            <a:normAutofit fontScale="92500" lnSpcReduction="10000"/>
          </a:bodyPr>
          <a:lstStyle/>
          <a:p>
            <a:pPr marL="0" indent="0">
              <a:buNone/>
            </a:pPr>
            <a:r>
              <a:rPr lang="en-US" sz="2800" b="0" i="0" dirty="0">
                <a:effectLst/>
                <a:latin typeface="Times New Roman" panose="02020603050405020304" pitchFamily="18" charset="0"/>
                <a:cs typeface="Times New Roman" panose="02020603050405020304" pitchFamily="18" charset="0"/>
              </a:rPr>
              <a:t>o Pyrimethamine</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o Sulfadiazine</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o </a:t>
            </a:r>
            <a:r>
              <a:rPr lang="en-US" sz="2800" b="0" i="0" dirty="0" err="1">
                <a:effectLst/>
                <a:latin typeface="Times New Roman" panose="02020603050405020304" pitchFamily="18" charset="0"/>
                <a:cs typeface="Times New Roman" panose="02020603050405020304" pitchFamily="18" charset="0"/>
              </a:rPr>
              <a:t>Folinic</a:t>
            </a:r>
            <a:r>
              <a:rPr lang="en-US" sz="2800" b="0" i="0" dirty="0">
                <a:effectLst/>
                <a:latin typeface="Times New Roman" panose="02020603050405020304" pitchFamily="18" charset="0"/>
                <a:cs typeface="Times New Roman" panose="02020603050405020304" pitchFamily="18" charset="0"/>
              </a:rPr>
              <a:t> Acid</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 </a:t>
            </a:r>
            <a:r>
              <a:rPr lang="en-US" sz="2800" b="0" i="0" dirty="0" err="1">
                <a:effectLst/>
                <a:latin typeface="Times New Roman" panose="02020603050405020304" pitchFamily="18" charset="0"/>
                <a:cs typeface="Times New Roman" panose="02020603050405020304" pitchFamily="18" charset="0"/>
              </a:rPr>
              <a:t>Spiramycine</a:t>
            </a:r>
            <a:r>
              <a:rPr lang="en-US" sz="2800" b="0" i="0" dirty="0">
                <a:effectLst/>
                <a:latin typeface="Times New Roman" panose="02020603050405020304" pitchFamily="18" charset="0"/>
                <a:cs typeface="Times New Roman" panose="02020603050405020304" pitchFamily="18" charset="0"/>
              </a:rPr>
              <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 In case of signs of acute inflammation:</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 Corticosteroids (Prednisolone)</a:t>
            </a:r>
            <a:endParaRPr lang="en-US" dirty="0">
              <a:latin typeface="Times New Roman" panose="02020603050405020304" pitchFamily="18" charset="0"/>
              <a:cs typeface="Times New Roman" panose="02020603050405020304" pitchFamily="18" charset="0"/>
            </a:endParaRPr>
          </a:p>
        </p:txBody>
      </p:sp>
      <p:sp>
        <p:nvSpPr>
          <p:cNvPr id="6" name="Text Placeholder 5">
            <a:extLst>
              <a:ext uri="{FF2B5EF4-FFF2-40B4-BE49-F238E27FC236}">
                <a16:creationId xmlns:a16="http://schemas.microsoft.com/office/drawing/2014/main" xmlns="" id="{35E2A970-7B39-495D-BA5B-3E613936B6C7}"/>
              </a:ext>
            </a:extLst>
          </p:cNvPr>
          <p:cNvSpPr>
            <a:spLocks noGrp="1"/>
          </p:cNvSpPr>
          <p:nvPr>
            <p:ph type="body" sz="quarter" idx="3"/>
          </p:nvPr>
        </p:nvSpPr>
        <p:spPr>
          <a:xfrm>
            <a:off x="6170612" y="256381"/>
            <a:ext cx="5183188" cy="823912"/>
          </a:xfrm>
        </p:spPr>
        <p:txBody>
          <a:bodyPr/>
          <a:lstStyle/>
          <a:p>
            <a:r>
              <a:rPr lang="en-US" dirty="0"/>
              <a:t>Complication</a:t>
            </a:r>
          </a:p>
        </p:txBody>
      </p:sp>
      <p:sp>
        <p:nvSpPr>
          <p:cNvPr id="7" name="Content Placeholder 6">
            <a:extLst>
              <a:ext uri="{FF2B5EF4-FFF2-40B4-BE49-F238E27FC236}">
                <a16:creationId xmlns:a16="http://schemas.microsoft.com/office/drawing/2014/main" xmlns="" id="{A877C5C0-D96F-41BC-95FA-4AC409AC8116}"/>
              </a:ext>
            </a:extLst>
          </p:cNvPr>
          <p:cNvSpPr>
            <a:spLocks noGrp="1"/>
          </p:cNvSpPr>
          <p:nvPr>
            <p:ph sz="quarter" idx="4"/>
          </p:nvPr>
        </p:nvSpPr>
        <p:spPr>
          <a:xfrm>
            <a:off x="6019006" y="1586706"/>
            <a:ext cx="5183188" cy="3684588"/>
          </a:xfrm>
        </p:spPr>
        <p:txBody>
          <a:bodyPr>
            <a:normAutofit fontScale="92500" lnSpcReduction="10000"/>
          </a:bodyPr>
          <a:lstStyle/>
          <a:p>
            <a:pPr marL="0" indent="0">
              <a:buNone/>
            </a:pPr>
            <a:r>
              <a:rPr lang="en-US" b="0" i="0" dirty="0">
                <a:effectLst/>
                <a:latin typeface="Times New Roman" panose="02020603050405020304" pitchFamily="18" charset="0"/>
                <a:cs typeface="Times New Roman" panose="02020603050405020304" pitchFamily="18" charset="0"/>
              </a:rPr>
              <a:t>Blindness or severe visual disability</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 Severe mental retardation</a:t>
            </a:r>
          </a:p>
          <a:p>
            <a:r>
              <a:rPr lang="en-US" b="0" i="0" dirty="0">
                <a:effectLst/>
                <a:latin typeface="Times New Roman" panose="02020603050405020304" pitchFamily="18" charset="0"/>
                <a:cs typeface="Times New Roman" panose="02020603050405020304" pitchFamily="18" charset="0"/>
              </a:rPr>
              <a:t>Other neurological manifestations</a:t>
            </a:r>
            <a:r>
              <a:rPr lang="en-US" sz="4000" dirty="0">
                <a:latin typeface="Times New Roman" panose="02020603050405020304" pitchFamily="18" charset="0"/>
                <a:cs typeface="Times New Roman" panose="02020603050405020304" pitchFamily="18" charset="0"/>
              </a:rPr>
              <a:t> </a:t>
            </a:r>
          </a:p>
          <a:p>
            <a:pPr marL="0" indent="0">
              <a:buNone/>
            </a:pPr>
            <a:r>
              <a:rPr lang="en-US" sz="2600" b="1" dirty="0">
                <a:latin typeface="Times New Roman" panose="02020603050405020304" pitchFamily="18" charset="0"/>
                <a:cs typeface="Times New Roman" panose="02020603050405020304" pitchFamily="18" charset="0"/>
              </a:rPr>
              <a:t>Prevention</a:t>
            </a:r>
          </a:p>
          <a:p>
            <a:r>
              <a:rPr lang="en-US" dirty="0"/>
              <a:t>Pregnant women should avoid</a:t>
            </a:r>
          </a:p>
          <a:p>
            <a:pPr marL="1314450" lvl="2" indent="-514350">
              <a:buFont typeface="Calibri" pitchFamily="34" charset="0"/>
              <a:buAutoNum type="arabicPeriod"/>
            </a:pPr>
            <a:r>
              <a:rPr lang="en-US" sz="2800" dirty="0"/>
              <a:t>eating raw meat or raw eggs and</a:t>
            </a:r>
          </a:p>
          <a:p>
            <a:pPr marL="1314450" lvl="2" indent="-514350">
              <a:buFont typeface="Calibri" pitchFamily="34" charset="0"/>
              <a:buAutoNum type="arabicPeriod"/>
            </a:pPr>
            <a:r>
              <a:rPr lang="en-US" sz="2800" dirty="0"/>
              <a:t>exposure to cat litter boxes or cat feces</a:t>
            </a:r>
            <a:endParaRPr lang="en-US" dirty="0"/>
          </a:p>
        </p:txBody>
      </p:sp>
      <p:sp>
        <p:nvSpPr>
          <p:cNvPr id="4" name="Slide Number Placeholder 3">
            <a:extLst>
              <a:ext uri="{FF2B5EF4-FFF2-40B4-BE49-F238E27FC236}">
                <a16:creationId xmlns:a16="http://schemas.microsoft.com/office/drawing/2014/main" xmlns="" id="{ED73C8E3-5543-421A-9F9D-2E4E95196BB0}"/>
              </a:ext>
            </a:extLst>
          </p:cNvPr>
          <p:cNvSpPr>
            <a:spLocks noGrp="1"/>
          </p:cNvSpPr>
          <p:nvPr>
            <p:ph type="sldNum" sz="quarter" idx="12"/>
          </p:nvPr>
        </p:nvSpPr>
        <p:spPr/>
        <p:txBody>
          <a:bodyPr/>
          <a:lstStyle/>
          <a:p>
            <a:fld id="{F010F31A-5B1D-4478-A180-CDC3128319F7}" type="slidenum">
              <a:rPr lang="en-US" smtClean="0"/>
              <a:t>38</a:t>
            </a:fld>
            <a:endParaRPr lang="en-US"/>
          </a:p>
        </p:txBody>
      </p:sp>
    </p:spTree>
    <p:extLst>
      <p:ext uri="{BB962C8B-B14F-4D97-AF65-F5344CB8AC3E}">
        <p14:creationId xmlns:p14="http://schemas.microsoft.com/office/powerpoint/2010/main" val="18838996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pPr eaLnBrk="1" hangingPunct="1"/>
            <a:r>
              <a:rPr lang="en-US" b="1" dirty="0">
                <a:solidFill>
                  <a:srgbClr val="FF0000"/>
                </a:solidFill>
              </a:rPr>
              <a:t>RUBELLA</a:t>
            </a:r>
          </a:p>
        </p:txBody>
      </p:sp>
      <p:sp>
        <p:nvSpPr>
          <p:cNvPr id="53251" name="Content Placeholder 2"/>
          <p:cNvSpPr>
            <a:spLocks noGrp="1"/>
          </p:cNvSpPr>
          <p:nvPr>
            <p:ph sz="half" idx="2"/>
          </p:nvPr>
        </p:nvSpPr>
        <p:spPr>
          <a:xfrm>
            <a:off x="836612" y="1690688"/>
            <a:ext cx="5160963" cy="4498975"/>
          </a:xfrm>
        </p:spPr>
        <p:txBody>
          <a:bodyPr>
            <a:normAutofit fontScale="92500" lnSpcReduction="20000"/>
          </a:bodyPr>
          <a:lstStyle/>
          <a:p>
            <a:r>
              <a:rPr lang="en-US" dirty="0"/>
              <a:t>Viral infection capable of causing</a:t>
            </a:r>
          </a:p>
          <a:p>
            <a:pPr lvl="1"/>
            <a:r>
              <a:rPr lang="en-US" dirty="0"/>
              <a:t>chronic intrauterine infection and</a:t>
            </a:r>
          </a:p>
          <a:p>
            <a:pPr lvl="1"/>
            <a:r>
              <a:rPr lang="en-US" dirty="0"/>
              <a:t>damage to the developing fetus</a:t>
            </a:r>
          </a:p>
          <a:p>
            <a:r>
              <a:rPr lang="en-US" dirty="0"/>
              <a:t>Rubella vaccine has virtually eliminated cases of congenital rubella syndrome (CRS) in the developed countries</a:t>
            </a:r>
          </a:p>
          <a:p>
            <a:r>
              <a:rPr lang="en-US" sz="2400" b="0" i="0" dirty="0">
                <a:solidFill>
                  <a:srgbClr val="000000"/>
                </a:solidFill>
                <a:effectLst/>
                <a:latin typeface="Times New Roman" panose="02020603050405020304" pitchFamily="18" charset="0"/>
                <a:cs typeface="Times New Roman" panose="02020603050405020304" pitchFamily="18" charset="0"/>
              </a:rPr>
              <a:t>The risk for congenital defects and disease is greatest with primary maternal infection during the first trimester.</a:t>
            </a:r>
            <a:r>
              <a:rPr lang="en-US" sz="2400" dirty="0">
                <a:latin typeface="Times New Roman" panose="02020603050405020304" pitchFamily="18" charset="0"/>
                <a:cs typeface="Times New Roman" panose="02020603050405020304" pitchFamily="18" charset="0"/>
              </a:rPr>
              <a:t> </a:t>
            </a:r>
          </a:p>
          <a:p>
            <a:r>
              <a:rPr lang="en-US" dirty="0"/>
              <a:t>Risk factors</a:t>
            </a:r>
          </a:p>
          <a:p>
            <a:pPr lvl="2"/>
            <a:r>
              <a:rPr lang="en-US" sz="2800" dirty="0"/>
              <a:t>Women of childbearing age who are rubella nonimmune</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xmlns="" id="{F42DF21F-50E0-4ACD-87DF-CB4AA9F6521D}"/>
              </a:ext>
            </a:extLst>
          </p:cNvPr>
          <p:cNvSpPr>
            <a:spLocks noGrp="1"/>
          </p:cNvSpPr>
          <p:nvPr>
            <p:ph type="body" sz="quarter" idx="3"/>
          </p:nvPr>
        </p:nvSpPr>
        <p:spPr/>
        <p:txBody>
          <a:bodyPr/>
          <a:lstStyle/>
          <a:p>
            <a:r>
              <a:rPr lang="en-US" dirty="0"/>
              <a:t>Clinical presentation</a:t>
            </a:r>
          </a:p>
        </p:txBody>
      </p:sp>
      <p:sp>
        <p:nvSpPr>
          <p:cNvPr id="5" name="Content Placeholder 4">
            <a:extLst>
              <a:ext uri="{FF2B5EF4-FFF2-40B4-BE49-F238E27FC236}">
                <a16:creationId xmlns:a16="http://schemas.microsoft.com/office/drawing/2014/main" xmlns="" id="{B0407CA3-A868-42D4-BC22-D0F68E8435F2}"/>
              </a:ext>
            </a:extLst>
          </p:cNvPr>
          <p:cNvSpPr>
            <a:spLocks noGrp="1"/>
          </p:cNvSpPr>
          <p:nvPr>
            <p:ph sz="quarter" idx="4"/>
          </p:nvPr>
        </p:nvSpPr>
        <p:spPr/>
        <p:txBody>
          <a:bodyPr>
            <a:normAutofit fontScale="92500" lnSpcReduction="20000"/>
          </a:bodyPr>
          <a:lstStyle/>
          <a:p>
            <a:pPr eaLnBrk="1" hangingPunct="1"/>
            <a:r>
              <a:rPr lang="en-US" dirty="0"/>
              <a:t>Wide spectrum of presentations</a:t>
            </a:r>
          </a:p>
          <a:p>
            <a:pPr eaLnBrk="1" hangingPunct="1"/>
            <a:r>
              <a:rPr lang="en-US" dirty="0"/>
              <a:t>Teratogenic effects</a:t>
            </a:r>
          </a:p>
          <a:p>
            <a:pPr eaLnBrk="1" hangingPunct="1"/>
            <a:r>
              <a:rPr lang="en-US" dirty="0"/>
              <a:t>Systemic involvement</a:t>
            </a:r>
          </a:p>
          <a:p>
            <a:pPr eaLnBrk="1" hangingPunct="1"/>
            <a:r>
              <a:rPr lang="en-US" dirty="0"/>
              <a:t>Later-presenting defects, normal at birth</a:t>
            </a:r>
          </a:p>
          <a:p>
            <a:pPr eaLnBrk="1" hangingPunct="1"/>
            <a:r>
              <a:rPr lang="en-US" dirty="0"/>
              <a:t>the majority later develop one or more signs and symptoms of disease</a:t>
            </a:r>
            <a:endParaRPr lang="en-US" b="1" dirty="0"/>
          </a:p>
          <a:p>
            <a:pPr marL="0" indent="0">
              <a:buNone/>
            </a:pPr>
            <a:r>
              <a:rPr lang="en-US" dirty="0"/>
              <a:t>S</a:t>
            </a:r>
          </a:p>
        </p:txBody>
      </p:sp>
      <p:sp>
        <p:nvSpPr>
          <p:cNvPr id="15364"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F0D70FCE-4EC2-4D7B-A99C-5994D03EA800}" type="slidenum">
              <a:rPr lang="en-US" smtClean="0">
                <a:solidFill>
                  <a:schemeClr val="tx1"/>
                </a:solidFill>
              </a:rPr>
              <a:pPr fontAlgn="base">
                <a:spcBef>
                  <a:spcPct val="0"/>
                </a:spcBef>
                <a:spcAft>
                  <a:spcPct val="0"/>
                </a:spcAft>
                <a:defRPr/>
              </a:pPr>
              <a:t>39</a:t>
            </a:fld>
            <a:endParaRPr lang="en-US">
              <a:solidFill>
                <a:schemeClr val="tx1"/>
              </a:solidFill>
            </a:endParaRPr>
          </a:p>
        </p:txBody>
      </p:sp>
    </p:spTree>
    <p:extLst>
      <p:ext uri="{BB962C8B-B14F-4D97-AF65-F5344CB8AC3E}">
        <p14:creationId xmlns:p14="http://schemas.microsoft.com/office/powerpoint/2010/main" val="30970650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F6BD882C-F088-43CC-8E29-35A2C55413D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643B0CB4-CD6E-44DA-BA84-AD09CC18900E}"/>
              </a:ext>
            </a:extLst>
          </p:cNvPr>
          <p:cNvSpPr>
            <a:spLocks noGrp="1"/>
          </p:cNvSpPr>
          <p:nvPr>
            <p:ph sz="half" idx="2"/>
          </p:nvPr>
        </p:nvSpPr>
        <p:spPr/>
        <p:txBody>
          <a:bodyPr>
            <a:noAutofit/>
          </a:bodyPr>
          <a:lstStyle/>
          <a:p>
            <a:r>
              <a:rPr lang="en-US" sz="3200" b="0" i="0" dirty="0">
                <a:effectLst/>
                <a:latin typeface="Times New Roman" panose="02020603050405020304" pitchFamily="18" charset="0"/>
                <a:cs typeface="Times New Roman" panose="02020603050405020304" pitchFamily="18" charset="0"/>
              </a:rPr>
              <a:t>Complications may involve many parts of the body.</a:t>
            </a:r>
            <a:br>
              <a:rPr lang="en-US" sz="3200" b="0" i="0" dirty="0">
                <a:effectLst/>
                <a:latin typeface="Times New Roman" panose="02020603050405020304" pitchFamily="18" charset="0"/>
                <a:cs typeface="Times New Roman" panose="02020603050405020304" pitchFamily="18" charset="0"/>
              </a:rPr>
            </a:br>
            <a:endParaRPr lang="en-US" sz="3200" b="0" i="0" dirty="0">
              <a:effectLst/>
              <a:latin typeface="Times New Roman" panose="02020603050405020304" pitchFamily="18" charset="0"/>
              <a:cs typeface="Times New Roman" panose="02020603050405020304" pitchFamily="18" charset="0"/>
            </a:endParaRPr>
          </a:p>
          <a:p>
            <a:r>
              <a:rPr lang="en-US" sz="3200" b="0" i="0" dirty="0">
                <a:solidFill>
                  <a:srgbClr val="FF0000"/>
                </a:solidFill>
                <a:effectLst/>
                <a:latin typeface="Times New Roman" panose="02020603050405020304" pitchFamily="18" charset="0"/>
                <a:cs typeface="Times New Roman" panose="02020603050405020304" pitchFamily="18" charset="0"/>
              </a:rPr>
              <a:t>Triads of congenital rubella</a:t>
            </a:r>
            <a:br>
              <a:rPr lang="en-US" sz="3200" b="0" i="0" dirty="0">
                <a:solidFill>
                  <a:srgbClr val="FF0000"/>
                </a:solidFill>
                <a:effectLst/>
                <a:latin typeface="Times New Roman" panose="02020603050405020304" pitchFamily="18" charset="0"/>
                <a:cs typeface="Times New Roman" panose="02020603050405020304" pitchFamily="18" charset="0"/>
              </a:rPr>
            </a:br>
            <a:r>
              <a:rPr lang="en-US" sz="3200" b="0" i="0" dirty="0">
                <a:solidFill>
                  <a:srgbClr val="FF0000"/>
                </a:solidFill>
                <a:effectLst/>
                <a:latin typeface="Times New Roman" panose="02020603050405020304" pitchFamily="18" charset="0"/>
                <a:cs typeface="Times New Roman" panose="02020603050405020304" pitchFamily="18" charset="0"/>
              </a:rPr>
              <a:t>• Cataract</a:t>
            </a:r>
            <a:br>
              <a:rPr lang="en-US" sz="3200" b="0" i="0" dirty="0">
                <a:solidFill>
                  <a:srgbClr val="FF0000"/>
                </a:solidFill>
                <a:effectLst/>
                <a:latin typeface="Times New Roman" panose="02020603050405020304" pitchFamily="18" charset="0"/>
                <a:cs typeface="Times New Roman" panose="02020603050405020304" pitchFamily="18" charset="0"/>
              </a:rPr>
            </a:br>
            <a:r>
              <a:rPr lang="en-US" sz="3200" b="0" i="0" dirty="0">
                <a:solidFill>
                  <a:srgbClr val="FF0000"/>
                </a:solidFill>
                <a:effectLst/>
                <a:latin typeface="Times New Roman" panose="02020603050405020304" pitchFamily="18" charset="0"/>
                <a:cs typeface="Times New Roman" panose="02020603050405020304" pitchFamily="18" charset="0"/>
              </a:rPr>
              <a:t>• Patent ductus arteriosus</a:t>
            </a:r>
            <a:br>
              <a:rPr lang="en-US" sz="3200" b="0" i="0" dirty="0">
                <a:solidFill>
                  <a:srgbClr val="FF0000"/>
                </a:solidFill>
                <a:effectLst/>
                <a:latin typeface="Times New Roman" panose="02020603050405020304" pitchFamily="18" charset="0"/>
                <a:cs typeface="Times New Roman" panose="02020603050405020304" pitchFamily="18" charset="0"/>
              </a:rPr>
            </a:br>
            <a:r>
              <a:rPr lang="en-US" sz="3200" b="0" i="0" dirty="0">
                <a:solidFill>
                  <a:srgbClr val="FF0000"/>
                </a:solidFill>
                <a:effectLst/>
                <a:latin typeface="Times New Roman" panose="02020603050405020304" pitchFamily="18" charset="0"/>
                <a:cs typeface="Times New Roman" panose="02020603050405020304" pitchFamily="18" charset="0"/>
              </a:rPr>
              <a:t>• Microcephaly</a:t>
            </a:r>
            <a:br>
              <a:rPr lang="en-US" sz="3200" b="0" i="0" dirty="0">
                <a:solidFill>
                  <a:srgbClr val="FF0000"/>
                </a:solidFill>
                <a:effectLst/>
                <a:latin typeface="Times New Roman" panose="02020603050405020304" pitchFamily="18" charset="0"/>
                <a:cs typeface="Times New Roman" panose="02020603050405020304" pitchFamily="18" charset="0"/>
              </a:rPr>
            </a:br>
            <a:r>
              <a:rPr lang="en-US" sz="3200" b="0" i="0" dirty="0">
                <a:effectLst/>
                <a:latin typeface="Times New Roman" panose="02020603050405020304" pitchFamily="18" charset="0"/>
                <a:cs typeface="Times New Roman" panose="02020603050405020304" pitchFamily="18" charset="0"/>
              </a:rPr>
              <a:t/>
            </a:r>
            <a:br>
              <a:rPr lang="en-US" sz="3200" b="0" i="0" dirty="0">
                <a:effectLst/>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xmlns="" id="{1BBDAEE4-670B-4D9F-871F-1C88E796111C}"/>
              </a:ext>
            </a:extLst>
          </p:cNvPr>
          <p:cNvSpPr>
            <a:spLocks noGrp="1"/>
          </p:cNvSpPr>
          <p:nvPr>
            <p:ph type="body" sz="quarter" idx="3"/>
          </p:nvPr>
        </p:nvSpPr>
        <p:spPr/>
        <p:txBody>
          <a:bodyPr/>
          <a:lstStyle/>
          <a:p>
            <a:r>
              <a:rPr lang="en-US" dirty="0"/>
              <a:t>Diagnosis</a:t>
            </a:r>
          </a:p>
        </p:txBody>
      </p:sp>
      <p:sp>
        <p:nvSpPr>
          <p:cNvPr id="8" name="Content Placeholder 7">
            <a:extLst>
              <a:ext uri="{FF2B5EF4-FFF2-40B4-BE49-F238E27FC236}">
                <a16:creationId xmlns:a16="http://schemas.microsoft.com/office/drawing/2014/main" xmlns="" id="{EE71BBC5-DD9D-4F00-B4FE-BD47A89C111A}"/>
              </a:ext>
            </a:extLst>
          </p:cNvPr>
          <p:cNvSpPr>
            <a:spLocks noGrp="1"/>
          </p:cNvSpPr>
          <p:nvPr>
            <p:ph sz="quarter" idx="4"/>
          </p:nvPr>
        </p:nvSpPr>
        <p:spPr/>
        <p:txBody>
          <a:bodyPr>
            <a:normAutofit fontScale="62500" lnSpcReduction="20000"/>
          </a:bodyPr>
          <a:lstStyle/>
          <a:p>
            <a:pPr marL="0" indent="0">
              <a:buNone/>
            </a:pPr>
            <a:r>
              <a:rPr lang="en-US" sz="2800" dirty="0">
                <a:latin typeface="Times New Roman" panose="02020603050405020304" pitchFamily="18" charset="0"/>
                <a:cs typeface="Times New Roman" panose="02020603050405020304" pitchFamily="18" charset="0"/>
              </a:rPr>
              <a:t>C</a:t>
            </a:r>
            <a:r>
              <a:rPr lang="en-US" sz="2800" i="0" dirty="0">
                <a:effectLst/>
                <a:latin typeface="Times New Roman" panose="02020603050405020304" pitchFamily="18" charset="0"/>
                <a:cs typeface="Times New Roman" panose="02020603050405020304" pitchFamily="18" charset="0"/>
              </a:rPr>
              <a:t>onfirmed by:</a:t>
            </a:r>
            <a:br>
              <a:rPr lang="en-US" sz="2800" i="0" dirty="0">
                <a:effectLst/>
                <a:latin typeface="Times New Roman" panose="02020603050405020304" pitchFamily="18" charset="0"/>
                <a:cs typeface="Times New Roman" panose="02020603050405020304" pitchFamily="18" charset="0"/>
              </a:rPr>
            </a:br>
            <a:r>
              <a:rPr lang="en-US" sz="2800" i="0" dirty="0">
                <a:effectLst/>
                <a:latin typeface="Times New Roman" panose="02020603050405020304" pitchFamily="18" charset="0"/>
                <a:cs typeface="Times New Roman" panose="02020603050405020304" pitchFamily="18" charset="0"/>
              </a:rPr>
              <a:t>• finding rubella-specific IgM antibody in the neonatal </a:t>
            </a:r>
            <a:r>
              <a:rPr lang="en-US" sz="2800" i="0" dirty="0" err="1">
                <a:effectLst/>
                <a:latin typeface="Times New Roman" panose="02020603050405020304" pitchFamily="18" charset="0"/>
                <a:cs typeface="Times New Roman" panose="02020603050405020304" pitchFamily="18" charset="0"/>
              </a:rPr>
              <a:t>serum,or</a:t>
            </a:r>
            <a:endParaRPr lang="en-US" sz="2800" i="0" dirty="0">
              <a:effectLst/>
              <a:latin typeface="Times New Roman" panose="02020603050405020304" pitchFamily="18" charset="0"/>
              <a:cs typeface="Times New Roman" panose="02020603050405020304" pitchFamily="18" charset="0"/>
            </a:endParaRPr>
          </a:p>
          <a:p>
            <a:pPr marL="0" indent="0">
              <a:buNone/>
            </a:pPr>
            <a:r>
              <a:rPr lang="en-US" sz="2800" i="0" dirty="0">
                <a:effectLst/>
                <a:latin typeface="Times New Roman" panose="02020603050405020304" pitchFamily="18" charset="0"/>
                <a:cs typeface="Times New Roman" panose="02020603050405020304" pitchFamily="18" charset="0"/>
              </a:rPr>
              <a:t/>
            </a:r>
            <a:br>
              <a:rPr lang="en-US" sz="2800" i="0" dirty="0">
                <a:effectLst/>
                <a:latin typeface="Times New Roman" panose="02020603050405020304" pitchFamily="18" charset="0"/>
                <a:cs typeface="Times New Roman" panose="02020603050405020304" pitchFamily="18" charset="0"/>
              </a:rPr>
            </a:br>
            <a:r>
              <a:rPr lang="en-US" sz="2800" i="0" dirty="0">
                <a:effectLst/>
                <a:latin typeface="Times New Roman" panose="02020603050405020304" pitchFamily="18" charset="0"/>
                <a:cs typeface="Times New Roman" panose="02020603050405020304" pitchFamily="18" charset="0"/>
              </a:rPr>
              <a:t>• culturing rubella virus from the infant (nasopharynx, urine, or</a:t>
            </a:r>
            <a:br>
              <a:rPr lang="en-US" sz="2800" i="0" dirty="0">
                <a:effectLst/>
                <a:latin typeface="Times New Roman" panose="02020603050405020304" pitchFamily="18" charset="0"/>
                <a:cs typeface="Times New Roman" panose="02020603050405020304" pitchFamily="18" charset="0"/>
              </a:rPr>
            </a:br>
            <a:r>
              <a:rPr lang="en-US" sz="2800" i="0" dirty="0">
                <a:effectLst/>
                <a:latin typeface="Times New Roman" panose="02020603050405020304" pitchFamily="18" charset="0"/>
                <a:cs typeface="Times New Roman" panose="02020603050405020304" pitchFamily="18" charset="0"/>
              </a:rPr>
              <a:t>tissues)</a:t>
            </a:r>
          </a:p>
          <a:p>
            <a:pPr marL="0" indent="0">
              <a:buNone/>
            </a:pPr>
            <a:r>
              <a:rPr lang="en-US" sz="2800" i="0" dirty="0">
                <a:effectLst/>
                <a:latin typeface="Times New Roman" panose="02020603050405020304" pitchFamily="18" charset="0"/>
                <a:cs typeface="Times New Roman" panose="02020603050405020304" pitchFamily="18" charset="0"/>
              </a:rPr>
              <a:t/>
            </a:r>
            <a:br>
              <a:rPr lang="en-US" sz="2800" i="0" dirty="0">
                <a:effectLst/>
                <a:latin typeface="Times New Roman" panose="02020603050405020304" pitchFamily="18" charset="0"/>
                <a:cs typeface="Times New Roman" panose="02020603050405020304" pitchFamily="18" charset="0"/>
              </a:rPr>
            </a:br>
            <a:r>
              <a:rPr lang="en-US" sz="2800" i="0" dirty="0">
                <a:effectLst/>
                <a:latin typeface="Times New Roman" panose="02020603050405020304" pitchFamily="18" charset="0"/>
                <a:cs typeface="Times New Roman" panose="02020603050405020304" pitchFamily="18" charset="0"/>
              </a:rPr>
              <a:t>• Virus can be shed in the urine for 1 </a:t>
            </a:r>
            <a:r>
              <a:rPr lang="en-US" sz="2800" i="0" dirty="0" err="1">
                <a:effectLst/>
                <a:latin typeface="Times New Roman" panose="02020603050405020304" pitchFamily="18" charset="0"/>
                <a:cs typeface="Times New Roman" panose="02020603050405020304" pitchFamily="18" charset="0"/>
              </a:rPr>
              <a:t>yr</a:t>
            </a:r>
            <a:r>
              <a:rPr lang="en-US" sz="2800" i="0" dirty="0">
                <a:effectLst/>
                <a:latin typeface="Times New Roman" panose="02020603050405020304" pitchFamily="18" charset="0"/>
                <a:cs typeface="Times New Roman" panose="02020603050405020304" pitchFamily="18" charset="0"/>
              </a:rPr>
              <a:t> or longer</a:t>
            </a:r>
            <a:endParaRPr lang="en-US" sz="3200" dirty="0">
              <a:latin typeface="Times New Roman" panose="02020603050405020304" pitchFamily="18" charset="0"/>
              <a:cs typeface="Times New Roman" panose="02020603050405020304" pitchFamily="18" charset="0"/>
            </a:endParaRPr>
          </a:p>
          <a:p>
            <a:pPr marL="0" indent="0">
              <a:buNone/>
            </a:pPr>
            <a:endParaRPr lang="en-US" sz="3200" dirty="0">
              <a:latin typeface="Times New Roman" panose="02020603050405020304" pitchFamily="18" charset="0"/>
              <a:cs typeface="Times New Roman" panose="02020603050405020304" pitchFamily="18" charset="0"/>
            </a:endParaRPr>
          </a:p>
          <a:p>
            <a:pPr marL="0" indent="0">
              <a:buNone/>
            </a:pPr>
            <a:r>
              <a:rPr lang="en-US" sz="4400" dirty="0">
                <a:latin typeface="Times New Roman" panose="02020603050405020304" pitchFamily="18" charset="0"/>
                <a:cs typeface="Times New Roman" panose="02020603050405020304" pitchFamily="18" charset="0"/>
              </a:rPr>
              <a:t>Management</a:t>
            </a:r>
          </a:p>
          <a:p>
            <a:pPr eaLnBrk="1" hangingPunct="1"/>
            <a:r>
              <a:rPr lang="en-US" sz="3200" dirty="0"/>
              <a:t>There is no specific treatment for rubella</a:t>
            </a:r>
          </a:p>
          <a:p>
            <a:pPr eaLnBrk="1" hangingPunct="1"/>
            <a:r>
              <a:rPr lang="en-US" sz="3200" dirty="0"/>
              <a:t>Long-term follow-up</a:t>
            </a:r>
          </a:p>
          <a:p>
            <a:endParaRPr lang="en-US" dirty="0"/>
          </a:p>
        </p:txBody>
      </p:sp>
      <p:sp>
        <p:nvSpPr>
          <p:cNvPr id="4" name="Slide Number Placeholder 3">
            <a:extLst>
              <a:ext uri="{FF2B5EF4-FFF2-40B4-BE49-F238E27FC236}">
                <a16:creationId xmlns:a16="http://schemas.microsoft.com/office/drawing/2014/main" xmlns="" id="{294FBDDC-426D-4AD6-8C98-84AD88D86A4E}"/>
              </a:ext>
            </a:extLst>
          </p:cNvPr>
          <p:cNvSpPr>
            <a:spLocks noGrp="1"/>
          </p:cNvSpPr>
          <p:nvPr>
            <p:ph type="sldNum" sz="quarter" idx="12"/>
          </p:nvPr>
        </p:nvSpPr>
        <p:spPr/>
        <p:txBody>
          <a:bodyPr/>
          <a:lstStyle/>
          <a:p>
            <a:fld id="{F010F31A-5B1D-4478-A180-CDC3128319F7}" type="slidenum">
              <a:rPr lang="en-US" smtClean="0"/>
              <a:t>40</a:t>
            </a:fld>
            <a:endParaRPr lang="en-US"/>
          </a:p>
        </p:txBody>
      </p:sp>
    </p:spTree>
    <p:extLst>
      <p:ext uri="{BB962C8B-B14F-4D97-AF65-F5344CB8AC3E}">
        <p14:creationId xmlns:p14="http://schemas.microsoft.com/office/powerpoint/2010/main" val="8934702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p:txBody>
          <a:bodyPr/>
          <a:lstStyle/>
          <a:p>
            <a:pPr eaLnBrk="1" hangingPunct="1"/>
            <a:r>
              <a:rPr lang="en-US"/>
              <a:t>CYTOMEGALOVIRUS</a:t>
            </a:r>
          </a:p>
        </p:txBody>
      </p:sp>
      <p:sp>
        <p:nvSpPr>
          <p:cNvPr id="61443" name="Content Placeholder 2"/>
          <p:cNvSpPr>
            <a:spLocks noGrp="1"/>
          </p:cNvSpPr>
          <p:nvPr>
            <p:ph sz="half" idx="2"/>
          </p:nvPr>
        </p:nvSpPr>
        <p:spPr>
          <a:xfrm>
            <a:off x="814388" y="1690688"/>
            <a:ext cx="5183188" cy="4498975"/>
          </a:xfrm>
        </p:spPr>
        <p:txBody>
          <a:bodyPr>
            <a:normAutofit fontScale="92500" lnSpcReduction="20000"/>
          </a:bodyPr>
          <a:lstStyle/>
          <a:p>
            <a:r>
              <a:rPr lang="en-US" dirty="0"/>
              <a:t>CMV is a DNA virus member of the herpesvirus group</a:t>
            </a:r>
          </a:p>
          <a:p>
            <a:r>
              <a:rPr lang="en-US" dirty="0"/>
              <a:t>Common cause of congenital infection</a:t>
            </a:r>
          </a:p>
          <a:p>
            <a:r>
              <a:rPr lang="en-US" dirty="0"/>
              <a:t>Incidence is ~ 0.5-1.5%  of all live births</a:t>
            </a:r>
          </a:p>
          <a:p>
            <a:r>
              <a:rPr lang="en-US" sz="2800" i="0" dirty="0">
                <a:solidFill>
                  <a:srgbClr val="000000"/>
                </a:solidFill>
                <a:effectLst/>
                <a:latin typeface="Times New Roman" panose="02020603050405020304" pitchFamily="18" charset="0"/>
                <a:cs typeface="Times New Roman" panose="02020603050405020304" pitchFamily="18" charset="0"/>
              </a:rPr>
              <a:t>Most CMV infections are inapparent</a:t>
            </a:r>
            <a:br>
              <a:rPr lang="en-US" sz="2800" i="0" dirty="0">
                <a:solidFill>
                  <a:srgbClr val="000000"/>
                </a:solidFill>
                <a:effectLst/>
                <a:latin typeface="Times New Roman" panose="02020603050405020304" pitchFamily="18" charset="0"/>
                <a:cs typeface="Times New Roman" panose="02020603050405020304" pitchFamily="18" charset="0"/>
              </a:rPr>
            </a:br>
            <a:r>
              <a:rPr lang="en-US" sz="2800" i="0" dirty="0">
                <a:solidFill>
                  <a:srgbClr val="000000"/>
                </a:solidFill>
                <a:effectLst/>
                <a:latin typeface="Times New Roman" panose="02020603050405020304" pitchFamily="18" charset="0"/>
                <a:cs typeface="Times New Roman" panose="02020603050405020304" pitchFamily="18" charset="0"/>
              </a:rPr>
              <a:t>• but the virus can cause a variety of clinical illnesses that range in</a:t>
            </a:r>
            <a:br>
              <a:rPr lang="en-US" sz="2800" i="0" dirty="0">
                <a:solidFill>
                  <a:srgbClr val="000000"/>
                </a:solidFill>
                <a:effectLst/>
                <a:latin typeface="Times New Roman" panose="02020603050405020304" pitchFamily="18" charset="0"/>
                <a:cs typeface="Times New Roman" panose="02020603050405020304" pitchFamily="18" charset="0"/>
              </a:rPr>
            </a:br>
            <a:r>
              <a:rPr lang="en-US" sz="2800" i="0" dirty="0">
                <a:solidFill>
                  <a:srgbClr val="000000"/>
                </a:solidFill>
                <a:effectLst/>
                <a:latin typeface="Times New Roman" panose="02020603050405020304" pitchFamily="18" charset="0"/>
                <a:cs typeface="Times New Roman" panose="02020603050405020304" pitchFamily="18" charset="0"/>
              </a:rPr>
              <a:t>severity from mild to fatal</a:t>
            </a:r>
            <a:br>
              <a:rPr lang="en-US" sz="2800" i="0" dirty="0">
                <a:solidFill>
                  <a:srgbClr val="000000"/>
                </a:solidFill>
                <a:effectLst/>
                <a:latin typeface="Times New Roman" panose="02020603050405020304" pitchFamily="18" charset="0"/>
                <a:cs typeface="Times New Roman" panose="02020603050405020304" pitchFamily="18" charset="0"/>
              </a:rPr>
            </a:br>
            <a:r>
              <a:rPr lang="en-US" sz="2800" i="0" dirty="0">
                <a:solidFill>
                  <a:srgbClr val="FF0000"/>
                </a:solidFill>
                <a:effectLst/>
                <a:latin typeface="Times New Roman" panose="02020603050405020304" pitchFamily="18" charset="0"/>
                <a:cs typeface="Times New Roman" panose="02020603050405020304" pitchFamily="18" charset="0"/>
              </a:rPr>
              <a:t>• CMV is the most common cause of congenital infection</a:t>
            </a:r>
            <a:r>
              <a:rPr lang="en-US" sz="2800" i="0" dirty="0">
                <a:solidFill>
                  <a:srgbClr val="000000"/>
                </a:solidFill>
                <a:effectLst/>
                <a:latin typeface="Times New Roman" panose="02020603050405020304" pitchFamily="18" charset="0"/>
                <a:cs typeface="Times New Roman" panose="02020603050405020304" pitchFamily="18" charset="0"/>
              </a:rPr>
              <a:t/>
            </a:r>
            <a:br>
              <a:rPr lang="en-US" sz="2800" i="0" dirty="0">
                <a:solidFill>
                  <a:srgbClr val="000000"/>
                </a:solidFill>
                <a:effectLst/>
                <a:latin typeface="Times New Roman" panose="02020603050405020304" pitchFamily="18" charset="0"/>
                <a:cs typeface="Times New Roman" panose="02020603050405020304" pitchFamily="18" charset="0"/>
              </a:rPr>
            </a:br>
            <a:endParaRPr lang="en-US" dirty="0"/>
          </a:p>
        </p:txBody>
      </p:sp>
      <p:sp>
        <p:nvSpPr>
          <p:cNvPr id="3" name="Text Placeholder 2">
            <a:extLst>
              <a:ext uri="{FF2B5EF4-FFF2-40B4-BE49-F238E27FC236}">
                <a16:creationId xmlns:a16="http://schemas.microsoft.com/office/drawing/2014/main" xmlns="" id="{6F5832E2-E785-4BE3-A255-44E2489CF01F}"/>
              </a:ext>
            </a:extLst>
          </p:cNvPr>
          <p:cNvSpPr>
            <a:spLocks noGrp="1"/>
          </p:cNvSpPr>
          <p:nvPr>
            <p:ph type="body" sz="quarter" idx="3"/>
          </p:nvPr>
        </p:nvSpPr>
        <p:spPr>
          <a:xfrm>
            <a:off x="6194426" y="1445419"/>
            <a:ext cx="5183188" cy="823912"/>
          </a:xfrm>
        </p:spPr>
        <p:txBody>
          <a:bodyPr/>
          <a:lstStyle/>
          <a:p>
            <a:r>
              <a:rPr lang="en-US" dirty="0"/>
              <a:t>Risk </a:t>
            </a:r>
            <a:r>
              <a:rPr lang="en-US" dirty="0" err="1"/>
              <a:t>factotrs</a:t>
            </a:r>
            <a:endParaRPr lang="en-US" dirty="0"/>
          </a:p>
        </p:txBody>
      </p:sp>
      <p:sp>
        <p:nvSpPr>
          <p:cNvPr id="4" name="Content Placeholder 3">
            <a:extLst>
              <a:ext uri="{FF2B5EF4-FFF2-40B4-BE49-F238E27FC236}">
                <a16:creationId xmlns:a16="http://schemas.microsoft.com/office/drawing/2014/main" xmlns="" id="{B1FAC8A5-3602-46E3-B2E5-66024A3C40E9}"/>
              </a:ext>
            </a:extLst>
          </p:cNvPr>
          <p:cNvSpPr>
            <a:spLocks noGrp="1"/>
          </p:cNvSpPr>
          <p:nvPr>
            <p:ph sz="quarter" idx="4"/>
          </p:nvPr>
        </p:nvSpPr>
        <p:spPr/>
        <p:txBody>
          <a:bodyPr>
            <a:normAutofit fontScale="92500" lnSpcReduction="20000"/>
          </a:bodyPr>
          <a:lstStyle/>
          <a:p>
            <a:r>
              <a:rPr lang="en-US" dirty="0"/>
              <a:t>lower socioeconomic status</a:t>
            </a:r>
          </a:p>
          <a:p>
            <a:r>
              <a:rPr lang="en-US" dirty="0"/>
              <a:t>drug abuse</a:t>
            </a:r>
          </a:p>
          <a:p>
            <a:r>
              <a:rPr lang="en-US" dirty="0"/>
              <a:t>sexual promiscuity in the mother</a:t>
            </a:r>
          </a:p>
          <a:p>
            <a:r>
              <a:rPr lang="en-US" dirty="0"/>
              <a:t> Premature </a:t>
            </a:r>
          </a:p>
          <a:p>
            <a:r>
              <a:rPr lang="en-US" dirty="0"/>
              <a:t>Transfusion with unscreened blood product</a:t>
            </a:r>
          </a:p>
          <a:p>
            <a:endParaRPr lang="en-US" dirty="0"/>
          </a:p>
        </p:txBody>
      </p:sp>
      <p:sp>
        <p:nvSpPr>
          <p:cNvPr id="15364"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F3338D1-3F3E-4087-82AE-7E93B189EC47}" type="slidenum">
              <a:rPr lang="en-US" smtClean="0">
                <a:solidFill>
                  <a:schemeClr val="tx1"/>
                </a:solidFill>
              </a:rPr>
              <a:pPr fontAlgn="base">
                <a:spcBef>
                  <a:spcPct val="0"/>
                </a:spcBef>
                <a:spcAft>
                  <a:spcPct val="0"/>
                </a:spcAft>
                <a:defRPr/>
              </a:pPr>
              <a:t>41</a:t>
            </a:fld>
            <a:endParaRPr lang="en-US">
              <a:solidFill>
                <a:schemeClr val="tx1"/>
              </a:solidFill>
            </a:endParaRPr>
          </a:p>
        </p:txBody>
      </p:sp>
    </p:spTree>
    <p:extLst>
      <p:ext uri="{BB962C8B-B14F-4D97-AF65-F5344CB8AC3E}">
        <p14:creationId xmlns:p14="http://schemas.microsoft.com/office/powerpoint/2010/main" val="38998596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pPr eaLnBrk="1" hangingPunct="1"/>
            <a:r>
              <a:rPr lang="en-US"/>
              <a:t>Clinical presentation</a:t>
            </a:r>
          </a:p>
        </p:txBody>
      </p:sp>
      <p:sp>
        <p:nvSpPr>
          <p:cNvPr id="68611" name="Content Placeholder 2"/>
          <p:cNvSpPr>
            <a:spLocks noGrp="1"/>
          </p:cNvSpPr>
          <p:nvPr>
            <p:ph sz="half" idx="1"/>
          </p:nvPr>
        </p:nvSpPr>
        <p:spPr/>
        <p:txBody>
          <a:bodyPr>
            <a:normAutofit fontScale="92500" lnSpcReduction="20000"/>
          </a:bodyPr>
          <a:lstStyle/>
          <a:p>
            <a:r>
              <a:rPr lang="en-US"/>
              <a:t>Subclinical infection is 10 times more common than clinical illness</a:t>
            </a:r>
          </a:p>
          <a:p>
            <a:r>
              <a:rPr lang="en-US"/>
              <a:t>LBW and SGA even when the infant is not infected</a:t>
            </a:r>
          </a:p>
          <a:p>
            <a:r>
              <a:rPr lang="en-US"/>
              <a:t>IUGR</a:t>
            </a:r>
          </a:p>
          <a:p>
            <a:r>
              <a:rPr lang="en-US"/>
              <a:t>Hepatosplenomegaly  with jaundice</a:t>
            </a:r>
          </a:p>
          <a:p>
            <a:r>
              <a:rPr lang="en-US"/>
              <a:t>Abnormal LFTs</a:t>
            </a:r>
          </a:p>
          <a:p>
            <a:r>
              <a:rPr lang="en-US"/>
              <a:t>Thrombocytopenia with or without purpura</a:t>
            </a:r>
          </a:p>
          <a:p>
            <a:r>
              <a:rPr lang="en-US"/>
              <a:t>Severe CNS disease in 50-90% of newborn</a:t>
            </a:r>
          </a:p>
          <a:p>
            <a:endParaRPr lang="en-US" sz="2400"/>
          </a:p>
          <a:p>
            <a:endParaRPr lang="en-US" sz="2400"/>
          </a:p>
        </p:txBody>
      </p:sp>
      <p:sp>
        <p:nvSpPr>
          <p:cNvPr id="5" name="Content Placeholder 4">
            <a:extLst>
              <a:ext uri="{FF2B5EF4-FFF2-40B4-BE49-F238E27FC236}">
                <a16:creationId xmlns:a16="http://schemas.microsoft.com/office/drawing/2014/main" xmlns="" id="{109328EC-36C5-4511-A37F-E95A19D2C586}"/>
              </a:ext>
            </a:extLst>
          </p:cNvPr>
          <p:cNvSpPr>
            <a:spLocks noGrp="1"/>
          </p:cNvSpPr>
          <p:nvPr>
            <p:ph sz="half" idx="2"/>
          </p:nvPr>
        </p:nvSpPr>
        <p:spPr/>
        <p:txBody>
          <a:bodyPr>
            <a:normAutofit fontScale="92500" lnSpcReduction="20000"/>
          </a:bodyPr>
          <a:lstStyle/>
          <a:p>
            <a:r>
              <a:rPr lang="en-US" dirty="0">
                <a:solidFill>
                  <a:srgbClr val="FF0000"/>
                </a:solidFill>
              </a:rPr>
              <a:t>Microcephaly</a:t>
            </a:r>
          </a:p>
          <a:p>
            <a:r>
              <a:rPr lang="en-US" dirty="0">
                <a:solidFill>
                  <a:srgbClr val="FF0000"/>
                </a:solidFill>
              </a:rPr>
              <a:t>Intracerebral calcifications ( subependymal area), </a:t>
            </a:r>
          </a:p>
          <a:p>
            <a:r>
              <a:rPr lang="en-US" dirty="0">
                <a:solidFill>
                  <a:srgbClr val="FF0000"/>
                </a:solidFill>
              </a:rPr>
              <a:t>Chorioretinitis</a:t>
            </a:r>
          </a:p>
          <a:p>
            <a:r>
              <a:rPr lang="en-US" dirty="0">
                <a:solidFill>
                  <a:srgbClr val="FF0000"/>
                </a:solidFill>
              </a:rPr>
              <a:t>Progressive sensorineural hearing loss (10-20% )</a:t>
            </a:r>
          </a:p>
          <a:p>
            <a:endParaRPr lang="en-US" dirty="0"/>
          </a:p>
        </p:txBody>
      </p:sp>
      <p:sp>
        <p:nvSpPr>
          <p:cNvPr id="15364"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DFAA8D37-7399-4ABF-89BB-020C57E618EA}" type="slidenum">
              <a:rPr lang="en-US" smtClean="0">
                <a:solidFill>
                  <a:schemeClr val="tx1"/>
                </a:solidFill>
              </a:rPr>
              <a:pPr fontAlgn="base">
                <a:spcBef>
                  <a:spcPct val="0"/>
                </a:spcBef>
                <a:spcAft>
                  <a:spcPct val="0"/>
                </a:spcAft>
                <a:defRPr/>
              </a:pPr>
              <a:t>42</a:t>
            </a:fld>
            <a:endParaRPr lang="en-US">
              <a:solidFill>
                <a:schemeClr val="tx1"/>
              </a:solidFill>
            </a:endParaRPr>
          </a:p>
        </p:txBody>
      </p:sp>
    </p:spTree>
    <p:extLst>
      <p:ext uri="{BB962C8B-B14F-4D97-AF65-F5344CB8AC3E}">
        <p14:creationId xmlns:p14="http://schemas.microsoft.com/office/powerpoint/2010/main" val="30204243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lstStyle/>
          <a:p>
            <a:r>
              <a:rPr lang="en-US" dirty="0"/>
              <a:t>Clinical presentation</a:t>
            </a:r>
          </a:p>
        </p:txBody>
      </p:sp>
      <p:sp>
        <p:nvSpPr>
          <p:cNvPr id="70659" name="Content Placeholder 2"/>
          <p:cNvSpPr>
            <a:spLocks noGrp="1"/>
          </p:cNvSpPr>
          <p:nvPr>
            <p:ph sz="half" idx="1"/>
          </p:nvPr>
        </p:nvSpPr>
        <p:spPr/>
        <p:txBody>
          <a:bodyPr/>
          <a:lstStyle/>
          <a:p>
            <a:r>
              <a:rPr lang="en-US"/>
              <a:t>Hemolytic anemia</a:t>
            </a:r>
          </a:p>
          <a:p>
            <a:r>
              <a:rPr lang="en-US"/>
              <a:t>Pneumonitis </a:t>
            </a:r>
          </a:p>
          <a:p>
            <a:r>
              <a:rPr lang="en-US"/>
              <a:t>By 2 years of age, 5-15% of infants who are asymptomatic at birth may develop serious sequelae</a:t>
            </a:r>
          </a:p>
          <a:p>
            <a:pPr lvl="2"/>
            <a:r>
              <a:rPr lang="en-US" sz="2800"/>
              <a:t> such as hearing loss or </a:t>
            </a:r>
          </a:p>
          <a:p>
            <a:pPr lvl="2"/>
            <a:r>
              <a:rPr lang="en-US" sz="2800"/>
              <a:t>ocular abnormalities.</a:t>
            </a:r>
          </a:p>
          <a:p>
            <a:endParaRPr lang="en-US"/>
          </a:p>
        </p:txBody>
      </p:sp>
      <p:sp>
        <p:nvSpPr>
          <p:cNvPr id="2" name="Content Placeholder 1">
            <a:extLst>
              <a:ext uri="{FF2B5EF4-FFF2-40B4-BE49-F238E27FC236}">
                <a16:creationId xmlns:a16="http://schemas.microsoft.com/office/drawing/2014/main" xmlns="" id="{AA2E0B8B-8071-47FA-8265-BE6836C2058C}"/>
              </a:ext>
            </a:extLst>
          </p:cNvPr>
          <p:cNvSpPr>
            <a:spLocks noGrp="1"/>
          </p:cNvSpPr>
          <p:nvPr>
            <p:ph sz="half" idx="2"/>
          </p:nvPr>
        </p:nvSpPr>
        <p:spPr/>
        <p:txBody>
          <a:bodyPr/>
          <a:lstStyle/>
          <a:p>
            <a:r>
              <a:rPr lang="en-US" dirty="0"/>
              <a:t>Late sequelae </a:t>
            </a:r>
          </a:p>
          <a:p>
            <a:pPr lvl="2"/>
            <a:r>
              <a:rPr lang="en-US" sz="2800" dirty="0">
                <a:solidFill>
                  <a:srgbClr val="FF0000"/>
                </a:solidFill>
              </a:rPr>
              <a:t>mental retardation</a:t>
            </a:r>
          </a:p>
          <a:p>
            <a:pPr lvl="2"/>
            <a:r>
              <a:rPr lang="en-US" sz="2800" dirty="0">
                <a:solidFill>
                  <a:srgbClr val="FF0000"/>
                </a:solidFill>
              </a:rPr>
              <a:t>Learning disability and</a:t>
            </a:r>
          </a:p>
          <a:p>
            <a:pPr lvl="2"/>
            <a:r>
              <a:rPr lang="en-US" sz="2800" dirty="0">
                <a:solidFill>
                  <a:srgbClr val="FF0000"/>
                </a:solidFill>
              </a:rPr>
              <a:t>sensorineural hearing loss in 7-15% </a:t>
            </a:r>
            <a:r>
              <a:rPr lang="en-US" sz="2800" dirty="0" err="1">
                <a:solidFill>
                  <a:srgbClr val="FF0000"/>
                </a:solidFill>
              </a:rPr>
              <a:t>ilateral</a:t>
            </a:r>
            <a:endParaRPr lang="en-US" sz="2800" dirty="0">
              <a:solidFill>
                <a:srgbClr val="FF0000"/>
              </a:solidFill>
            </a:endParaRPr>
          </a:p>
          <a:p>
            <a:pPr lvl="2"/>
            <a:r>
              <a:rPr lang="en-US" sz="2800" dirty="0">
                <a:solidFill>
                  <a:srgbClr val="FF0000"/>
                </a:solidFill>
              </a:rPr>
              <a:t>Progressive deterioration.</a:t>
            </a:r>
          </a:p>
          <a:p>
            <a:endParaRPr lang="en-US" dirty="0"/>
          </a:p>
        </p:txBody>
      </p:sp>
      <p:sp>
        <p:nvSpPr>
          <p:cNvPr id="5" name="Slide Number Placeholder 4"/>
          <p:cNvSpPr>
            <a:spLocks noGrp="1"/>
          </p:cNvSpPr>
          <p:nvPr>
            <p:ph type="sldNum" sz="quarter" idx="12"/>
          </p:nvPr>
        </p:nvSpPr>
        <p:spPr/>
        <p:txBody>
          <a:bodyPr/>
          <a:lstStyle/>
          <a:p>
            <a:pPr>
              <a:defRPr/>
            </a:pPr>
            <a:fld id="{3CAB6E25-9B80-4CAD-8B4D-62AB397D0FFF}" type="slidenum">
              <a:rPr lang="en-US" smtClean="0"/>
              <a:pPr>
                <a:defRPr/>
              </a:pPr>
              <a:t>43</a:t>
            </a:fld>
            <a:endParaRPr lang="en-US"/>
          </a:p>
        </p:txBody>
      </p:sp>
    </p:spTree>
    <p:extLst>
      <p:ext uri="{BB962C8B-B14F-4D97-AF65-F5344CB8AC3E}">
        <p14:creationId xmlns:p14="http://schemas.microsoft.com/office/powerpoint/2010/main" val="5217829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436C2E80-7732-4C48-9687-31D8DFB1B36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09A4660E-798B-4259-8E71-5ADAD35AF750}"/>
              </a:ext>
            </a:extLst>
          </p:cNvPr>
          <p:cNvSpPr>
            <a:spLocks noGrp="1"/>
          </p:cNvSpPr>
          <p:nvPr>
            <p:ph sz="half" idx="2"/>
          </p:nvPr>
        </p:nvSpPr>
        <p:spPr>
          <a:xfrm>
            <a:off x="836612" y="2093119"/>
            <a:ext cx="5157787" cy="3684588"/>
          </a:xfrm>
        </p:spPr>
        <p:txBody>
          <a:bodyPr>
            <a:normAutofit fontScale="77500" lnSpcReduction="20000"/>
          </a:bodyPr>
          <a:lstStyle/>
          <a:p>
            <a:r>
              <a:rPr lang="en-US" sz="3200" i="0" dirty="0">
                <a:solidFill>
                  <a:srgbClr val="FF0000"/>
                </a:solidFill>
                <a:effectLst/>
                <a:latin typeface="Times New Roman" panose="02020603050405020304" pitchFamily="18" charset="0"/>
                <a:cs typeface="Times New Roman" panose="02020603050405020304" pitchFamily="18" charset="0"/>
              </a:rPr>
              <a:t>cytomegalic inclusion disease</a:t>
            </a:r>
            <a:endParaRPr lang="en-US" sz="3200" dirty="0">
              <a:solidFill>
                <a:srgbClr val="FF0000"/>
              </a:solidFill>
              <a:latin typeface="Times New Roman" panose="02020603050405020304" pitchFamily="18" charset="0"/>
              <a:cs typeface="Times New Roman" panose="02020603050405020304" pitchFamily="18" charset="0"/>
            </a:endParaRPr>
          </a:p>
          <a:p>
            <a:pPr lvl="1"/>
            <a:r>
              <a:rPr lang="en-US" sz="2800" i="0" dirty="0">
                <a:solidFill>
                  <a:srgbClr val="FF0000"/>
                </a:solidFill>
                <a:effectLst/>
                <a:latin typeface="Times New Roman" panose="02020603050405020304" pitchFamily="18" charset="0"/>
                <a:cs typeface="Times New Roman" panose="02020603050405020304" pitchFamily="18" charset="0"/>
              </a:rPr>
              <a:t>Hepatosplenomegaly</a:t>
            </a:r>
          </a:p>
          <a:p>
            <a:pPr lvl="1"/>
            <a:r>
              <a:rPr lang="en-US" sz="2800" i="0" dirty="0">
                <a:solidFill>
                  <a:srgbClr val="FF0000"/>
                </a:solidFill>
                <a:effectLst/>
                <a:latin typeface="Times New Roman" panose="02020603050405020304" pitchFamily="18" charset="0"/>
                <a:cs typeface="Times New Roman" panose="02020603050405020304" pitchFamily="18" charset="0"/>
              </a:rPr>
              <a:t>Jaundice</a:t>
            </a:r>
          </a:p>
          <a:p>
            <a:pPr lvl="1"/>
            <a:r>
              <a:rPr lang="en-US" sz="2800" i="0" dirty="0">
                <a:solidFill>
                  <a:srgbClr val="FF0000"/>
                </a:solidFill>
                <a:effectLst/>
                <a:latin typeface="Times New Roman" panose="02020603050405020304" pitchFamily="18" charset="0"/>
                <a:cs typeface="Times New Roman" panose="02020603050405020304" pitchFamily="18" charset="0"/>
              </a:rPr>
              <a:t>Petechiae</a:t>
            </a:r>
          </a:p>
          <a:p>
            <a:pPr lvl="1"/>
            <a:r>
              <a:rPr lang="en-US" sz="2800" i="0" dirty="0">
                <a:solidFill>
                  <a:srgbClr val="FF0000"/>
                </a:solidFill>
                <a:effectLst/>
                <a:latin typeface="Times New Roman" panose="02020603050405020304" pitchFamily="18" charset="0"/>
                <a:cs typeface="Times New Roman" panose="02020603050405020304" pitchFamily="18" charset="0"/>
              </a:rPr>
              <a:t>Purpura</a:t>
            </a:r>
          </a:p>
          <a:p>
            <a:pPr lvl="1"/>
            <a:r>
              <a:rPr lang="en-US" sz="2800" i="0" dirty="0">
                <a:solidFill>
                  <a:srgbClr val="FF0000"/>
                </a:solidFill>
                <a:effectLst/>
                <a:latin typeface="Times New Roman" panose="02020603050405020304" pitchFamily="18" charset="0"/>
                <a:cs typeface="Times New Roman" panose="02020603050405020304" pitchFamily="18" charset="0"/>
              </a:rPr>
              <a:t>microcephaly</a:t>
            </a:r>
            <a:br>
              <a:rPr lang="en-US" sz="2800" i="0" dirty="0">
                <a:solidFill>
                  <a:srgbClr val="FF0000"/>
                </a:solidFill>
                <a:effectLst/>
                <a:latin typeface="Times New Roman" panose="02020603050405020304" pitchFamily="18" charset="0"/>
                <a:cs typeface="Times New Roman" panose="02020603050405020304" pitchFamily="18" charset="0"/>
              </a:rPr>
            </a:br>
            <a:endParaRPr lang="en-US" sz="2800" dirty="0">
              <a:solidFill>
                <a:srgbClr val="FF0000"/>
              </a:solidFill>
            </a:endParaRPr>
          </a:p>
        </p:txBody>
      </p:sp>
      <p:sp>
        <p:nvSpPr>
          <p:cNvPr id="7" name="Text Placeholder 6">
            <a:extLst>
              <a:ext uri="{FF2B5EF4-FFF2-40B4-BE49-F238E27FC236}">
                <a16:creationId xmlns:a16="http://schemas.microsoft.com/office/drawing/2014/main" xmlns="" id="{D0E1DA16-2C3C-44B0-8D61-FFCB7A200C76}"/>
              </a:ext>
            </a:extLst>
          </p:cNvPr>
          <p:cNvSpPr>
            <a:spLocks noGrp="1"/>
          </p:cNvSpPr>
          <p:nvPr>
            <p:ph type="body" sz="quarter" idx="3"/>
          </p:nvPr>
        </p:nvSpPr>
        <p:spPr/>
        <p:txBody>
          <a:bodyPr/>
          <a:lstStyle/>
          <a:p>
            <a:r>
              <a:rPr lang="en-US" dirty="0"/>
              <a:t>Diagnosis</a:t>
            </a:r>
          </a:p>
        </p:txBody>
      </p:sp>
      <p:sp>
        <p:nvSpPr>
          <p:cNvPr id="8" name="Content Placeholder 7">
            <a:extLst>
              <a:ext uri="{FF2B5EF4-FFF2-40B4-BE49-F238E27FC236}">
                <a16:creationId xmlns:a16="http://schemas.microsoft.com/office/drawing/2014/main" xmlns="" id="{80833B6B-DD96-4140-863B-5CE4B79BCCA1}"/>
              </a:ext>
            </a:extLst>
          </p:cNvPr>
          <p:cNvSpPr>
            <a:spLocks noGrp="1"/>
          </p:cNvSpPr>
          <p:nvPr>
            <p:ph sz="quarter" idx="4"/>
          </p:nvPr>
        </p:nvSpPr>
        <p:spPr/>
        <p:txBody>
          <a:bodyPr>
            <a:normAutofit fontScale="77500" lnSpcReduction="20000"/>
          </a:bodyPr>
          <a:lstStyle/>
          <a:p>
            <a:r>
              <a:rPr lang="en-US" sz="2800" b="0" i="0" dirty="0">
                <a:effectLst/>
                <a:latin typeface="Times New Roman" panose="02020603050405020304" pitchFamily="18" charset="0"/>
                <a:cs typeface="Times New Roman" panose="02020603050405020304" pitchFamily="18" charset="0"/>
              </a:rPr>
              <a:t>Active CMV infection is best confirmed by virus isolation from:</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o Urine(positive within 48-72 </a:t>
            </a:r>
            <a:r>
              <a:rPr lang="en-US" sz="2800" b="0" i="0" dirty="0" err="1">
                <a:effectLst/>
                <a:latin typeface="Times New Roman" panose="02020603050405020304" pitchFamily="18" charset="0"/>
                <a:cs typeface="Times New Roman" panose="02020603050405020304" pitchFamily="18" charset="0"/>
              </a:rPr>
              <a:t>hrs</a:t>
            </a:r>
            <a:r>
              <a:rPr lang="en-US" sz="2800" b="0" i="0" dirty="0">
                <a:effectLst/>
                <a:latin typeface="Times New Roman" panose="02020603050405020304" pitchFamily="18" charset="0"/>
                <a:cs typeface="Times New Roman" panose="02020603050405020304" pitchFamily="18" charset="0"/>
              </a:rPr>
              <a:t>)</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o Saliva(positive within 48-72 </a:t>
            </a:r>
            <a:r>
              <a:rPr lang="en-US" sz="2800" b="0" i="0" dirty="0" err="1">
                <a:effectLst/>
                <a:latin typeface="Times New Roman" panose="02020603050405020304" pitchFamily="18" charset="0"/>
                <a:cs typeface="Times New Roman" panose="02020603050405020304" pitchFamily="18" charset="0"/>
              </a:rPr>
              <a:t>hrs</a:t>
            </a:r>
            <a:r>
              <a:rPr lang="en-US" sz="2800" b="0" i="0" dirty="0">
                <a:effectLst/>
                <a:latin typeface="Times New Roman" panose="02020603050405020304" pitchFamily="18" charset="0"/>
                <a:cs typeface="Times New Roman" panose="02020603050405020304" pitchFamily="18" charset="0"/>
              </a:rPr>
              <a:t>)</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o bronchoalveolar washings</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o breast milk</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o cervical secretions</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o buffy coat or tissues obtained by biopsy.</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 PCR</a:t>
            </a:r>
            <a:br>
              <a:rPr lang="en-US" sz="2800" b="0" i="0" dirty="0">
                <a:effectLst/>
                <a:latin typeface="Times New Roman" panose="02020603050405020304" pitchFamily="18" charset="0"/>
                <a:cs typeface="Times New Roman" panose="02020603050405020304" pitchFamily="18" charset="0"/>
              </a:rPr>
            </a:br>
            <a:r>
              <a:rPr lang="en-US" sz="4400" b="0" i="0" dirty="0">
                <a:effectLst/>
                <a:latin typeface="Times New Roman" panose="02020603050405020304" pitchFamily="18" charset="0"/>
                <a:cs typeface="Times New Roman" panose="02020603050405020304" pitchFamily="18" charset="0"/>
              </a:rPr>
              <a:t>Treatment</a:t>
            </a:r>
            <a:r>
              <a:rPr lang="en-US" b="0" i="0" dirty="0">
                <a:effectLst/>
                <a:latin typeface="Times New Roman" panose="02020603050405020304" pitchFamily="18" charset="0"/>
                <a:cs typeface="Times New Roman" panose="02020603050405020304" pitchFamily="18" charset="0"/>
              </a:rPr>
              <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 ganciclovir</a:t>
            </a:r>
            <a:r>
              <a:rPr lang="en-US" sz="4400" dirty="0">
                <a:latin typeface="Times New Roman" panose="02020603050405020304" pitchFamily="18" charset="0"/>
                <a:cs typeface="Times New Roman" panose="02020603050405020304" pitchFamily="18" charset="0"/>
              </a:rPr>
              <a:t> </a:t>
            </a:r>
            <a:br>
              <a:rPr lang="en-US" sz="4400" dirty="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xmlns="" id="{C932E41D-8078-48AF-A013-649E3359A882}"/>
              </a:ext>
            </a:extLst>
          </p:cNvPr>
          <p:cNvSpPr>
            <a:spLocks noGrp="1"/>
          </p:cNvSpPr>
          <p:nvPr>
            <p:ph type="sldNum" sz="quarter" idx="12"/>
          </p:nvPr>
        </p:nvSpPr>
        <p:spPr/>
        <p:txBody>
          <a:bodyPr/>
          <a:lstStyle/>
          <a:p>
            <a:fld id="{F010F31A-5B1D-4478-A180-CDC3128319F7}" type="slidenum">
              <a:rPr lang="en-US" smtClean="0"/>
              <a:t>44</a:t>
            </a:fld>
            <a:endParaRPr lang="en-US"/>
          </a:p>
        </p:txBody>
      </p:sp>
    </p:spTree>
    <p:extLst>
      <p:ext uri="{BB962C8B-B14F-4D97-AF65-F5344CB8AC3E}">
        <p14:creationId xmlns:p14="http://schemas.microsoft.com/office/powerpoint/2010/main" val="13696005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p:txBody>
          <a:bodyPr/>
          <a:lstStyle/>
          <a:p>
            <a:pPr eaLnBrk="1" hangingPunct="1"/>
            <a:r>
              <a:rPr lang="en-US" dirty="0">
                <a:solidFill>
                  <a:srgbClr val="FF0000"/>
                </a:solidFill>
              </a:rPr>
              <a:t>SYPHILIS</a:t>
            </a:r>
          </a:p>
        </p:txBody>
      </p:sp>
      <p:sp>
        <p:nvSpPr>
          <p:cNvPr id="75779" name="Content Placeholder 2"/>
          <p:cNvSpPr>
            <a:spLocks noGrp="1"/>
          </p:cNvSpPr>
          <p:nvPr>
            <p:ph sz="half" idx="2"/>
          </p:nvPr>
        </p:nvSpPr>
        <p:spPr>
          <a:xfrm>
            <a:off x="814388" y="1551709"/>
            <a:ext cx="5183187" cy="4637954"/>
          </a:xfrm>
        </p:spPr>
        <p:txBody>
          <a:bodyPr>
            <a:normAutofit fontScale="92500" lnSpcReduction="20000"/>
          </a:bodyPr>
          <a:lstStyle/>
          <a:p>
            <a:pPr eaLnBrk="1" hangingPunct="1"/>
            <a:r>
              <a:rPr lang="en-US" dirty="0"/>
              <a:t>Sexually transmitted infection caused by the spirochete Treponema pallidum</a:t>
            </a:r>
          </a:p>
          <a:p>
            <a:pPr eaLnBrk="1" hangingPunct="1"/>
            <a:r>
              <a:rPr lang="en-US" dirty="0"/>
              <a:t>It can cross the placenta at any time during pregnancy</a:t>
            </a:r>
          </a:p>
          <a:p>
            <a:pPr eaLnBrk="1" hangingPunct="1"/>
            <a:r>
              <a:rPr lang="en-US" dirty="0"/>
              <a:t>The incubation period is typically about 3 weeks but could range from 9 to 90 days</a:t>
            </a:r>
          </a:p>
          <a:p>
            <a:pPr eaLnBrk="1" hangingPunct="1"/>
            <a:r>
              <a:rPr lang="en-US" dirty="0"/>
              <a:t>The disease has three clinically recognizable stages</a:t>
            </a:r>
          </a:p>
          <a:p>
            <a:pPr lvl="1" eaLnBrk="1" hangingPunct="1"/>
            <a:r>
              <a:rPr lang="en-US" dirty="0"/>
              <a:t>Primary syphilis </a:t>
            </a:r>
          </a:p>
          <a:p>
            <a:pPr lvl="1" eaLnBrk="1" hangingPunct="1"/>
            <a:r>
              <a:rPr lang="en-US" dirty="0"/>
              <a:t>Secondary syphilis </a:t>
            </a:r>
          </a:p>
          <a:p>
            <a:pPr lvl="1" eaLnBrk="1" hangingPunct="1"/>
            <a:r>
              <a:rPr lang="en-US" dirty="0"/>
              <a:t>Tertiary syphilis </a:t>
            </a:r>
          </a:p>
        </p:txBody>
      </p:sp>
      <p:sp>
        <p:nvSpPr>
          <p:cNvPr id="4" name="Text Placeholder 3">
            <a:extLst>
              <a:ext uri="{FF2B5EF4-FFF2-40B4-BE49-F238E27FC236}">
                <a16:creationId xmlns:a16="http://schemas.microsoft.com/office/drawing/2014/main" xmlns="" id="{3B185E62-7644-4636-BCFA-95976E49C9C4}"/>
              </a:ext>
            </a:extLst>
          </p:cNvPr>
          <p:cNvSpPr>
            <a:spLocks noGrp="1"/>
          </p:cNvSpPr>
          <p:nvPr>
            <p:ph type="body" sz="quarter" idx="3"/>
          </p:nvPr>
        </p:nvSpPr>
        <p:spPr/>
        <p:txBody>
          <a:bodyPr/>
          <a:lstStyle/>
          <a:p>
            <a:r>
              <a:rPr lang="en-US" dirty="0"/>
              <a:t>Risk factors</a:t>
            </a:r>
          </a:p>
        </p:txBody>
      </p:sp>
      <p:sp>
        <p:nvSpPr>
          <p:cNvPr id="5" name="Content Placeholder 4">
            <a:extLst>
              <a:ext uri="{FF2B5EF4-FFF2-40B4-BE49-F238E27FC236}">
                <a16:creationId xmlns:a16="http://schemas.microsoft.com/office/drawing/2014/main" xmlns="" id="{9C228B75-E814-4BC8-B35F-06F0FEDAC0E2}"/>
              </a:ext>
            </a:extLst>
          </p:cNvPr>
          <p:cNvSpPr>
            <a:spLocks noGrp="1"/>
          </p:cNvSpPr>
          <p:nvPr>
            <p:ph sz="quarter" idx="4"/>
          </p:nvPr>
        </p:nvSpPr>
        <p:spPr/>
        <p:txBody>
          <a:bodyPr>
            <a:normAutofit fontScale="92500" lnSpcReduction="20000"/>
          </a:bodyPr>
          <a:lstStyle/>
          <a:p>
            <a:pPr lvl="1" eaLnBrk="1" hangingPunct="1"/>
            <a:r>
              <a:rPr lang="en-US" dirty="0"/>
              <a:t>lack of prenatal health care</a:t>
            </a:r>
          </a:p>
          <a:p>
            <a:pPr lvl="1" eaLnBrk="1" hangingPunct="1"/>
            <a:r>
              <a:rPr lang="en-US" dirty="0"/>
              <a:t>Maternal  illicit drug use (cocaine use)</a:t>
            </a:r>
          </a:p>
          <a:p>
            <a:pPr lvl="1" eaLnBrk="1" hangingPunct="1"/>
            <a:r>
              <a:rPr lang="en-US" dirty="0"/>
              <a:t>No  serologic test for syphilis (STS) performed during pregnancy</a:t>
            </a:r>
          </a:p>
          <a:p>
            <a:endParaRPr lang="en-US" dirty="0"/>
          </a:p>
        </p:txBody>
      </p:sp>
      <p:sp>
        <p:nvSpPr>
          <p:cNvPr id="15364"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82680939-817C-4D43-A2EF-2F9D0963CA86}" type="slidenum">
              <a:rPr lang="en-US" smtClean="0">
                <a:solidFill>
                  <a:schemeClr val="tx1"/>
                </a:solidFill>
              </a:rPr>
              <a:pPr fontAlgn="base">
                <a:spcBef>
                  <a:spcPct val="0"/>
                </a:spcBef>
                <a:spcAft>
                  <a:spcPct val="0"/>
                </a:spcAft>
                <a:defRPr/>
              </a:pPr>
              <a:t>45</a:t>
            </a:fld>
            <a:endParaRPr lang="en-US">
              <a:solidFill>
                <a:schemeClr val="tx1"/>
              </a:solidFill>
            </a:endParaRPr>
          </a:p>
        </p:txBody>
      </p:sp>
    </p:spTree>
    <p:extLst>
      <p:ext uri="{BB962C8B-B14F-4D97-AF65-F5344CB8AC3E}">
        <p14:creationId xmlns:p14="http://schemas.microsoft.com/office/powerpoint/2010/main" val="12837450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xmlns="" id="{412E5567-9AC8-4461-8C3E-6418A6F71492}"/>
              </a:ext>
            </a:extLst>
          </p:cNvPr>
          <p:cNvSpPr>
            <a:spLocks noGrp="1"/>
          </p:cNvSpPr>
          <p:nvPr>
            <p:ph type="title"/>
          </p:nvPr>
        </p:nvSpPr>
        <p:spPr/>
        <p:txBody>
          <a:bodyPr/>
          <a:lstStyle/>
          <a:p>
            <a:r>
              <a:rPr lang="en-US" dirty="0"/>
              <a:t>Clinical manifestation</a:t>
            </a:r>
          </a:p>
        </p:txBody>
      </p:sp>
      <p:sp>
        <p:nvSpPr>
          <p:cNvPr id="3" name="Content Placeholder 2">
            <a:extLst>
              <a:ext uri="{FF2B5EF4-FFF2-40B4-BE49-F238E27FC236}">
                <a16:creationId xmlns:a16="http://schemas.microsoft.com/office/drawing/2014/main" xmlns="" id="{9C2C6371-FCEF-4E4D-AFA9-1566ACF4077C}"/>
              </a:ext>
            </a:extLst>
          </p:cNvPr>
          <p:cNvSpPr>
            <a:spLocks noGrp="1"/>
          </p:cNvSpPr>
          <p:nvPr>
            <p:ph sz="half" idx="1"/>
          </p:nvPr>
        </p:nvSpPr>
        <p:spPr/>
        <p:txBody>
          <a:bodyPr>
            <a:normAutofit fontScale="92500"/>
          </a:bodyPr>
          <a:lstStyle/>
          <a:p>
            <a:r>
              <a:rPr lang="en-US" sz="2400" b="0" i="0" dirty="0">
                <a:effectLst/>
                <a:latin typeface="Times New Roman" panose="02020603050405020304" pitchFamily="18" charset="0"/>
                <a:cs typeface="Times New Roman" panose="02020603050405020304" pitchFamily="18" charset="0"/>
              </a:rPr>
              <a:t>The early manifestations of congenital infection are varied and</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involve multiple organ systems.</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 Hepatosplenomegaly, jaundice, and elevated liver enzymes</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(common).</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 Lymphadenopathy</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 Coombs negative hemolytic anemia is characteristic.</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 Thrombocytopenia</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 osteochondritis and periostitis -(</a:t>
            </a:r>
            <a:r>
              <a:rPr lang="en-US" sz="2400" b="1" i="0" dirty="0" err="1">
                <a:effectLst/>
                <a:latin typeface="Times New Roman" panose="02020603050405020304" pitchFamily="18" charset="0"/>
                <a:cs typeface="Times New Roman" panose="02020603050405020304" pitchFamily="18" charset="0"/>
              </a:rPr>
              <a:t>pseudoparalysis</a:t>
            </a:r>
            <a:r>
              <a:rPr lang="en-US" sz="2400" b="1" i="0" dirty="0">
                <a:effectLst/>
                <a:latin typeface="Times New Roman" panose="02020603050405020304" pitchFamily="18" charset="0"/>
                <a:cs typeface="Times New Roman" panose="02020603050405020304" pitchFamily="18" charset="0"/>
              </a:rPr>
              <a:t> of Parrot</a:t>
            </a:r>
            <a:r>
              <a:rPr lang="en-US" sz="2400" b="0" i="0" dirty="0">
                <a:effectLst/>
                <a:latin typeface="Times New Roman" panose="02020603050405020304" pitchFamily="18" charset="0"/>
                <a:cs typeface="Times New Roman" panose="02020603050405020304" pitchFamily="18" charset="0"/>
              </a:rPr>
              <a:t>)</a:t>
            </a:r>
            <a:r>
              <a:rPr lang="en-US" sz="3600" dirty="0">
                <a:latin typeface="Times New Roman" panose="02020603050405020304" pitchFamily="18" charset="0"/>
                <a:cs typeface="Times New Roman" panose="02020603050405020304" pitchFamily="18" charset="0"/>
              </a:rPr>
              <a:t> </a:t>
            </a:r>
            <a:r>
              <a:rPr lang="en-US" dirty="0"/>
              <a:t/>
            </a:r>
            <a:br>
              <a:rPr lang="en-US" dirty="0"/>
            </a:br>
            <a:endParaRPr lang="en-US" dirty="0"/>
          </a:p>
        </p:txBody>
      </p:sp>
      <p:sp>
        <p:nvSpPr>
          <p:cNvPr id="8" name="Content Placeholder 7">
            <a:extLst>
              <a:ext uri="{FF2B5EF4-FFF2-40B4-BE49-F238E27FC236}">
                <a16:creationId xmlns:a16="http://schemas.microsoft.com/office/drawing/2014/main" xmlns="" id="{49166946-3547-4D2D-87A4-6BBA1A71E1BD}"/>
              </a:ext>
            </a:extLst>
          </p:cNvPr>
          <p:cNvSpPr>
            <a:spLocks noGrp="1"/>
          </p:cNvSpPr>
          <p:nvPr>
            <p:ph sz="half" idx="2"/>
          </p:nvPr>
        </p:nvSpPr>
        <p:spPr/>
        <p:txBody>
          <a:bodyPr>
            <a:normAutofit fontScale="92500"/>
          </a:bodyPr>
          <a:lstStyle/>
          <a:p>
            <a:pPr>
              <a:buFont typeface="Wingdings" panose="05000000000000000000" pitchFamily="2" charset="2"/>
              <a:buChar char="q"/>
            </a:pPr>
            <a:r>
              <a:rPr lang="en-US" sz="2800" b="0" i="0" dirty="0">
                <a:solidFill>
                  <a:srgbClr val="000000"/>
                </a:solidFill>
                <a:effectLst/>
                <a:latin typeface="Times New Roman" panose="02020603050405020304" pitchFamily="18" charset="0"/>
                <a:cs typeface="Times New Roman" panose="02020603050405020304" pitchFamily="18" charset="0"/>
              </a:rPr>
              <a:t>mucocutaneous rash</a:t>
            </a:r>
            <a:endParaRPr lang="en-US" sz="2800" dirty="0">
              <a:solidFill>
                <a:srgbClr val="00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800" b="0" i="0" dirty="0">
                <a:solidFill>
                  <a:srgbClr val="000000"/>
                </a:solidFill>
                <a:effectLst/>
                <a:latin typeface="Times New Roman" panose="02020603050405020304" pitchFamily="18" charset="0"/>
                <a:cs typeface="Times New Roman" panose="02020603050405020304" pitchFamily="18" charset="0"/>
              </a:rPr>
              <a:t> Mucous patches</a:t>
            </a:r>
          </a:p>
          <a:p>
            <a:pPr>
              <a:buFont typeface="Wingdings" panose="05000000000000000000" pitchFamily="2" charset="2"/>
              <a:buChar char="q"/>
            </a:pPr>
            <a:r>
              <a:rPr lang="en-US" sz="2800" b="0" i="0" dirty="0">
                <a:solidFill>
                  <a:srgbClr val="000000"/>
                </a:solidFill>
                <a:effectLst/>
                <a:latin typeface="Times New Roman" panose="02020603050405020304" pitchFamily="18" charset="0"/>
                <a:cs typeface="Times New Roman" panose="02020603050405020304" pitchFamily="18" charset="0"/>
              </a:rPr>
              <a:t> rhinitis (</a:t>
            </a:r>
            <a:r>
              <a:rPr lang="en-US" sz="2800" b="1" i="0" dirty="0">
                <a:solidFill>
                  <a:srgbClr val="000000"/>
                </a:solidFill>
                <a:effectLst/>
                <a:latin typeface="Times New Roman" panose="02020603050405020304" pitchFamily="18" charset="0"/>
                <a:cs typeface="Times New Roman" panose="02020603050405020304" pitchFamily="18" charset="0"/>
              </a:rPr>
              <a:t>snuffles</a:t>
            </a:r>
            <a:r>
              <a:rPr lang="en-US" sz="2800" b="0" i="0" dirty="0">
                <a:solidFill>
                  <a:srgbClr val="000000"/>
                </a:solidFill>
                <a:effectLst/>
                <a:latin typeface="Times New Roman" panose="02020603050405020304" pitchFamily="18" charset="0"/>
                <a:cs typeface="Times New Roman" panose="02020603050405020304" pitchFamily="18" charset="0"/>
              </a:rPr>
              <a:t>), and</a:t>
            </a:r>
            <a:endParaRPr lang="en-US" sz="2800" dirty="0">
              <a:solidFill>
                <a:srgbClr val="00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800" b="0" i="0" dirty="0">
                <a:solidFill>
                  <a:srgbClr val="000000"/>
                </a:solidFill>
                <a:effectLst/>
                <a:latin typeface="Times New Roman" panose="02020603050405020304" pitchFamily="18" charset="0"/>
                <a:cs typeface="Times New Roman" panose="02020603050405020304" pitchFamily="18" charset="0"/>
              </a:rPr>
              <a:t> </a:t>
            </a:r>
            <a:r>
              <a:rPr lang="en-US" sz="2800" b="0" i="0" dirty="0" err="1">
                <a:solidFill>
                  <a:srgbClr val="000000"/>
                </a:solidFill>
                <a:effectLst/>
                <a:latin typeface="Times New Roman" panose="02020603050405020304" pitchFamily="18" charset="0"/>
                <a:cs typeface="Times New Roman" panose="02020603050405020304" pitchFamily="18" charset="0"/>
              </a:rPr>
              <a:t>condylomatous</a:t>
            </a:r>
            <a:r>
              <a:rPr lang="en-US" sz="2800" b="0" i="0" dirty="0">
                <a:solidFill>
                  <a:srgbClr val="000000"/>
                </a:solidFill>
                <a:effectLst/>
                <a:latin typeface="Times New Roman" panose="02020603050405020304" pitchFamily="18" charset="0"/>
                <a:cs typeface="Times New Roman" panose="02020603050405020304" pitchFamily="18" charset="0"/>
              </a:rPr>
              <a:t> lesions</a:t>
            </a:r>
            <a:endParaRPr lang="en-US" sz="2800" dirty="0">
              <a:solidFill>
                <a:srgbClr val="00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800" b="0" i="0" dirty="0">
                <a:solidFill>
                  <a:srgbClr val="000000"/>
                </a:solidFill>
                <a:effectLst/>
                <a:latin typeface="Times New Roman" panose="02020603050405020304" pitchFamily="18" charset="0"/>
                <a:cs typeface="Times New Roman" panose="02020603050405020304" pitchFamily="18" charset="0"/>
              </a:rPr>
              <a:t> CNS abnormalities</a:t>
            </a:r>
            <a:endParaRPr lang="en-US" sz="2800" dirty="0">
              <a:solidFill>
                <a:srgbClr val="00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800" b="0" i="0" dirty="0">
                <a:solidFill>
                  <a:srgbClr val="000000"/>
                </a:solidFill>
                <a:effectLst/>
                <a:latin typeface="Times New Roman" panose="02020603050405020304" pitchFamily="18" charset="0"/>
                <a:cs typeface="Times New Roman" panose="02020603050405020304" pitchFamily="18" charset="0"/>
              </a:rPr>
              <a:t> failure to thrive</a:t>
            </a:r>
            <a:endParaRPr lang="en-US" sz="2800" dirty="0">
              <a:solidFill>
                <a:srgbClr val="00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800" b="0" i="0" dirty="0">
                <a:solidFill>
                  <a:srgbClr val="000000"/>
                </a:solidFill>
                <a:effectLst/>
                <a:latin typeface="Times New Roman" panose="02020603050405020304" pitchFamily="18" charset="0"/>
                <a:cs typeface="Times New Roman" panose="02020603050405020304" pitchFamily="18" charset="0"/>
              </a:rPr>
              <a:t> chorioretinitis</a:t>
            </a:r>
            <a:endParaRPr lang="en-US" sz="2800" dirty="0">
              <a:solidFill>
                <a:srgbClr val="00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800" b="0" i="0" dirty="0">
                <a:solidFill>
                  <a:srgbClr val="000000"/>
                </a:solidFill>
                <a:effectLst/>
                <a:latin typeface="Times New Roman" panose="02020603050405020304" pitchFamily="18" charset="0"/>
                <a:cs typeface="Times New Roman" panose="02020603050405020304" pitchFamily="18" charset="0"/>
              </a:rPr>
              <a:t> nephritis, and nephrotic syndrome</a:t>
            </a:r>
            <a:br>
              <a:rPr lang="en-US" sz="2800" b="0" i="0" dirty="0">
                <a:solidFill>
                  <a:srgbClr val="000000"/>
                </a:solidFill>
                <a:effectLst/>
                <a:latin typeface="Times New Roman" panose="02020603050405020304" pitchFamily="18" charset="0"/>
                <a:cs typeface="Times New Roman" panose="02020603050405020304" pitchFamily="18" charset="0"/>
              </a:rPr>
            </a:br>
            <a:endParaRPr lang="en-US" sz="2800" dirty="0"/>
          </a:p>
          <a:p>
            <a:endParaRPr lang="en-US" dirty="0"/>
          </a:p>
        </p:txBody>
      </p:sp>
      <p:sp>
        <p:nvSpPr>
          <p:cNvPr id="4" name="Slide Number Placeholder 3">
            <a:extLst>
              <a:ext uri="{FF2B5EF4-FFF2-40B4-BE49-F238E27FC236}">
                <a16:creationId xmlns:a16="http://schemas.microsoft.com/office/drawing/2014/main" xmlns="" id="{769CAA9A-5FCF-407A-92BC-07BE755F36EF}"/>
              </a:ext>
            </a:extLst>
          </p:cNvPr>
          <p:cNvSpPr>
            <a:spLocks noGrp="1"/>
          </p:cNvSpPr>
          <p:nvPr>
            <p:ph type="sldNum" sz="quarter" idx="12"/>
          </p:nvPr>
        </p:nvSpPr>
        <p:spPr/>
        <p:txBody>
          <a:bodyPr/>
          <a:lstStyle/>
          <a:p>
            <a:fld id="{70BDFE1C-33C9-4171-93AE-4B33857102B6}" type="slidenum">
              <a:rPr lang="en-US" smtClean="0"/>
              <a:t>46</a:t>
            </a:fld>
            <a:endParaRPr lang="en-US"/>
          </a:p>
        </p:txBody>
      </p:sp>
    </p:spTree>
    <p:extLst>
      <p:ext uri="{BB962C8B-B14F-4D97-AF65-F5344CB8AC3E}">
        <p14:creationId xmlns:p14="http://schemas.microsoft.com/office/powerpoint/2010/main" val="41777853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E47CABA7-8377-4D12-B58D-4691E234585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A26FB7A9-09F3-4F54-BB1A-D8D502679DBE}"/>
              </a:ext>
            </a:extLst>
          </p:cNvPr>
          <p:cNvSpPr>
            <a:spLocks noGrp="1"/>
          </p:cNvSpPr>
          <p:nvPr>
            <p:ph sz="half" idx="1"/>
          </p:nvPr>
        </p:nvSpPr>
        <p:spPr/>
        <p:txBody>
          <a:bodyPr>
            <a:normAutofit fontScale="77500" lnSpcReduction="20000"/>
          </a:bodyPr>
          <a:lstStyle/>
          <a:p>
            <a:pPr marL="0" indent="0">
              <a:buNone/>
            </a:pPr>
            <a:r>
              <a:rPr lang="en-US" sz="2800" b="0" i="0" dirty="0">
                <a:solidFill>
                  <a:srgbClr val="0000CC"/>
                </a:solidFill>
                <a:effectLst/>
                <a:latin typeface="Arial" panose="020B0604020202020204" pitchFamily="34" charset="0"/>
              </a:rPr>
              <a:t>• </a:t>
            </a:r>
            <a:r>
              <a:rPr lang="en-US" sz="2800" b="0" i="0" dirty="0">
                <a:solidFill>
                  <a:srgbClr val="0000CC"/>
                </a:solidFill>
                <a:effectLst/>
                <a:latin typeface="Calibri" panose="020F0502020204030204" pitchFamily="34" charset="0"/>
              </a:rPr>
              <a:t>Clinical manifestations of renal involvement include:</a:t>
            </a:r>
            <a:br>
              <a:rPr lang="en-US" sz="2800" b="0" i="0" dirty="0">
                <a:solidFill>
                  <a:srgbClr val="0000CC"/>
                </a:solidFill>
                <a:effectLst/>
                <a:latin typeface="Calibri" panose="020F0502020204030204" pitchFamily="34" charset="0"/>
              </a:rPr>
            </a:br>
            <a:r>
              <a:rPr lang="en-US" sz="2800" b="0" i="0" dirty="0">
                <a:solidFill>
                  <a:srgbClr val="000000"/>
                </a:solidFill>
                <a:effectLst/>
                <a:latin typeface="Courier New" panose="02070309020205020404" pitchFamily="49" charset="0"/>
              </a:rPr>
              <a:t>o </a:t>
            </a:r>
            <a:r>
              <a:rPr lang="en-US" sz="2800" b="0" i="0" dirty="0">
                <a:solidFill>
                  <a:srgbClr val="000000"/>
                </a:solidFill>
                <a:effectLst/>
                <a:latin typeface="Calibri" panose="020F0502020204030204" pitchFamily="34" charset="0"/>
              </a:rPr>
              <a:t>hypertension</a:t>
            </a:r>
            <a:br>
              <a:rPr lang="en-US" sz="2800" b="0" i="0" dirty="0">
                <a:solidFill>
                  <a:srgbClr val="000000"/>
                </a:solidFill>
                <a:effectLst/>
                <a:latin typeface="Calibri" panose="020F0502020204030204" pitchFamily="34" charset="0"/>
              </a:rPr>
            </a:br>
            <a:r>
              <a:rPr lang="en-US" sz="2800" b="0" i="0" dirty="0">
                <a:solidFill>
                  <a:srgbClr val="000000"/>
                </a:solidFill>
                <a:effectLst/>
                <a:latin typeface="Courier New" panose="02070309020205020404" pitchFamily="49" charset="0"/>
              </a:rPr>
              <a:t>o </a:t>
            </a:r>
            <a:r>
              <a:rPr lang="en-US" sz="2800" b="0" i="0" dirty="0">
                <a:solidFill>
                  <a:srgbClr val="000000"/>
                </a:solidFill>
                <a:effectLst/>
                <a:latin typeface="Calibri" panose="020F0502020204030204" pitchFamily="34" charset="0"/>
              </a:rPr>
              <a:t>Hematuria</a:t>
            </a:r>
            <a:br>
              <a:rPr lang="en-US" sz="2800" b="0" i="0" dirty="0">
                <a:solidFill>
                  <a:srgbClr val="000000"/>
                </a:solidFill>
                <a:effectLst/>
                <a:latin typeface="Calibri" panose="020F0502020204030204" pitchFamily="34" charset="0"/>
              </a:rPr>
            </a:br>
            <a:r>
              <a:rPr lang="en-US" sz="2800" b="0" i="0" dirty="0">
                <a:solidFill>
                  <a:srgbClr val="000000"/>
                </a:solidFill>
                <a:effectLst/>
                <a:latin typeface="Courier New" panose="02070309020205020404" pitchFamily="49" charset="0"/>
              </a:rPr>
              <a:t>o </a:t>
            </a:r>
            <a:r>
              <a:rPr lang="en-US" sz="2800" b="0" i="0" dirty="0">
                <a:solidFill>
                  <a:srgbClr val="000000"/>
                </a:solidFill>
                <a:effectLst/>
                <a:latin typeface="Calibri" panose="020F0502020204030204" pitchFamily="34" charset="0"/>
              </a:rPr>
              <a:t>Proteinuria</a:t>
            </a:r>
            <a:br>
              <a:rPr lang="en-US" sz="2800" b="0" i="0" dirty="0">
                <a:solidFill>
                  <a:srgbClr val="000000"/>
                </a:solidFill>
                <a:effectLst/>
                <a:latin typeface="Calibri" panose="020F0502020204030204" pitchFamily="34" charset="0"/>
              </a:rPr>
            </a:br>
            <a:r>
              <a:rPr lang="en-US" sz="2800" b="0" i="0" dirty="0">
                <a:solidFill>
                  <a:srgbClr val="000000"/>
                </a:solidFill>
                <a:effectLst/>
                <a:latin typeface="Courier New" panose="02070309020205020404" pitchFamily="49" charset="0"/>
              </a:rPr>
              <a:t>o </a:t>
            </a:r>
            <a:r>
              <a:rPr lang="en-US" sz="2800" b="0" i="0" dirty="0">
                <a:solidFill>
                  <a:srgbClr val="000000"/>
                </a:solidFill>
                <a:effectLst/>
                <a:latin typeface="Calibri" panose="020F0502020204030204" pitchFamily="34" charset="0"/>
              </a:rPr>
              <a:t>Hypoproteinemia</a:t>
            </a:r>
            <a:br>
              <a:rPr lang="en-US" sz="2800" b="0" i="0" dirty="0">
                <a:solidFill>
                  <a:srgbClr val="000000"/>
                </a:solidFill>
                <a:effectLst/>
                <a:latin typeface="Calibri" panose="020F0502020204030204" pitchFamily="34" charset="0"/>
              </a:rPr>
            </a:br>
            <a:r>
              <a:rPr lang="en-US" sz="2800" b="0" i="0" dirty="0">
                <a:solidFill>
                  <a:srgbClr val="000000"/>
                </a:solidFill>
                <a:effectLst/>
                <a:latin typeface="Courier New" panose="02070309020205020404" pitchFamily="49" charset="0"/>
              </a:rPr>
              <a:t>o </a:t>
            </a:r>
            <a:r>
              <a:rPr lang="en-US" sz="2800" b="0" i="0" dirty="0">
                <a:solidFill>
                  <a:srgbClr val="000000"/>
                </a:solidFill>
                <a:effectLst/>
                <a:latin typeface="Calibri" panose="020F0502020204030204" pitchFamily="34" charset="0"/>
              </a:rPr>
              <a:t>hypercholesterolemia, and</a:t>
            </a:r>
            <a:br>
              <a:rPr lang="en-US" sz="2800" b="0" i="0" dirty="0">
                <a:solidFill>
                  <a:srgbClr val="000000"/>
                </a:solidFill>
                <a:effectLst/>
                <a:latin typeface="Calibri" panose="020F0502020204030204" pitchFamily="34" charset="0"/>
              </a:rPr>
            </a:br>
            <a:r>
              <a:rPr lang="en-US" sz="2800" b="0" i="0" dirty="0">
                <a:solidFill>
                  <a:srgbClr val="000000"/>
                </a:solidFill>
                <a:effectLst/>
                <a:latin typeface="Courier New" panose="02070309020205020404" pitchFamily="49" charset="0"/>
              </a:rPr>
              <a:t>o </a:t>
            </a:r>
            <a:r>
              <a:rPr lang="en-US" sz="2800" b="0" i="0" dirty="0">
                <a:solidFill>
                  <a:srgbClr val="000000"/>
                </a:solidFill>
                <a:effectLst/>
                <a:latin typeface="Calibri" panose="020F0502020204030204" pitchFamily="34" charset="0"/>
              </a:rPr>
              <a:t>hypocomplementemia.</a:t>
            </a:r>
            <a:r>
              <a:rPr lang="en-US" dirty="0"/>
              <a:t> </a:t>
            </a:r>
            <a:br>
              <a:rPr lang="en-US" dirty="0"/>
            </a:br>
            <a:endParaRPr lang="en-US" dirty="0"/>
          </a:p>
        </p:txBody>
      </p:sp>
      <p:sp>
        <p:nvSpPr>
          <p:cNvPr id="6" name="Content Placeholder 5">
            <a:extLst>
              <a:ext uri="{FF2B5EF4-FFF2-40B4-BE49-F238E27FC236}">
                <a16:creationId xmlns:a16="http://schemas.microsoft.com/office/drawing/2014/main" xmlns="" id="{D73E6F97-8F26-4EC5-A1CD-5FADE040932E}"/>
              </a:ext>
            </a:extLst>
          </p:cNvPr>
          <p:cNvSpPr>
            <a:spLocks noGrp="1"/>
          </p:cNvSpPr>
          <p:nvPr>
            <p:ph sz="half" idx="2"/>
          </p:nvPr>
        </p:nvSpPr>
        <p:spPr/>
        <p:txBody>
          <a:bodyPr>
            <a:normAutofit fontScale="77500" lnSpcReduction="20000"/>
          </a:bodyPr>
          <a:lstStyle/>
          <a:p>
            <a:r>
              <a:rPr lang="en-US" sz="2800" b="0" i="0" dirty="0">
                <a:effectLst/>
                <a:latin typeface="Times New Roman" panose="02020603050405020304" pitchFamily="18" charset="0"/>
                <a:cs typeface="Times New Roman" panose="02020603050405020304" pitchFamily="18" charset="0"/>
              </a:rPr>
              <a:t>The late manifestations result primarily from chronic</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inflammation of:</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 bone</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 teeth, and</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 the CNS.</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 Skeletal changes due to persistent or recurrent periostitis and</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associated thickening of bone include:</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 frontal bossing</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 a bony prominence of the forehead (“</a:t>
            </a:r>
            <a:r>
              <a:rPr lang="en-US" sz="2800" b="1" i="0" dirty="0" err="1">
                <a:effectLst/>
                <a:latin typeface="Times New Roman" panose="02020603050405020304" pitchFamily="18" charset="0"/>
                <a:cs typeface="Times New Roman" panose="02020603050405020304" pitchFamily="18" charset="0"/>
              </a:rPr>
              <a:t>olympian</a:t>
            </a:r>
            <a:r>
              <a:rPr lang="en-US" sz="2800" b="1" i="0" dirty="0">
                <a:effectLst/>
                <a:latin typeface="Times New Roman" panose="02020603050405020304" pitchFamily="18" charset="0"/>
                <a:cs typeface="Times New Roman" panose="02020603050405020304" pitchFamily="18" charset="0"/>
              </a:rPr>
              <a:t> brow</a:t>
            </a:r>
            <a:r>
              <a:rPr lang="en-US" sz="2800" b="0" i="0" dirty="0">
                <a:effectLst/>
                <a:latin typeface="Times New Roman" panose="02020603050405020304" pitchFamily="18" charset="0"/>
                <a:cs typeface="Times New Roman" panose="02020603050405020304" pitchFamily="18" charset="0"/>
              </a:rPr>
              <a:t>”)</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 unilateral or bilateral thickening of the sternoclavicular portion of the</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clavicle (</a:t>
            </a:r>
            <a:r>
              <a:rPr lang="en-US" sz="2800" b="1" i="0" dirty="0" err="1">
                <a:effectLst/>
                <a:latin typeface="Times New Roman" panose="02020603050405020304" pitchFamily="18" charset="0"/>
                <a:cs typeface="Times New Roman" panose="02020603050405020304" pitchFamily="18" charset="0"/>
              </a:rPr>
              <a:t>Higouménakis</a:t>
            </a:r>
            <a:r>
              <a:rPr lang="en-US" sz="2800" b="1" i="0" dirty="0">
                <a:effectLst/>
                <a:latin typeface="Times New Roman" panose="02020603050405020304" pitchFamily="18" charset="0"/>
                <a:cs typeface="Times New Roman" panose="02020603050405020304" pitchFamily="18" charset="0"/>
              </a:rPr>
              <a:t> sign</a:t>
            </a:r>
            <a:r>
              <a:rPr lang="en-US" sz="2800" b="0" i="0" dirty="0">
                <a:effectLst/>
                <a:latin typeface="Times New Roman" panose="02020603050405020304" pitchFamily="18" charset="0"/>
                <a:cs typeface="Times New Roman" panose="02020603050405020304" pitchFamily="18" charset="0"/>
              </a:rPr>
              <a:t>)</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an anterior bowing of the midportion of the tibia (</a:t>
            </a:r>
            <a:r>
              <a:rPr lang="en-US" sz="2800" b="1" i="0" dirty="0">
                <a:effectLst/>
                <a:latin typeface="Times New Roman" panose="02020603050405020304" pitchFamily="18" charset="0"/>
                <a:cs typeface="Times New Roman" panose="02020603050405020304" pitchFamily="18" charset="0"/>
              </a:rPr>
              <a:t>saber shins</a:t>
            </a:r>
            <a:r>
              <a:rPr lang="en-US" sz="2800" b="0" i="0" dirty="0">
                <a:effectLst/>
                <a:latin typeface="Times New Roman" panose="02020603050405020304" pitchFamily="18" charset="0"/>
                <a:cs typeface="Times New Roman" panose="02020603050405020304" pitchFamily="18" charset="0"/>
              </a:rPr>
              <a:t>)</a:t>
            </a:r>
            <a:r>
              <a:rPr lang="en-US" dirty="0"/>
              <a:t> </a:t>
            </a:r>
            <a:br>
              <a:rPr lang="en-US" dirty="0"/>
            </a:br>
            <a:endParaRPr lang="en-US" dirty="0"/>
          </a:p>
          <a:p>
            <a:endParaRPr lang="en-US" dirty="0"/>
          </a:p>
        </p:txBody>
      </p:sp>
      <p:sp>
        <p:nvSpPr>
          <p:cNvPr id="4" name="Slide Number Placeholder 3">
            <a:extLst>
              <a:ext uri="{FF2B5EF4-FFF2-40B4-BE49-F238E27FC236}">
                <a16:creationId xmlns:a16="http://schemas.microsoft.com/office/drawing/2014/main" xmlns="" id="{FF60373E-750E-48AC-B58B-31A7DD5034C1}"/>
              </a:ext>
            </a:extLst>
          </p:cNvPr>
          <p:cNvSpPr>
            <a:spLocks noGrp="1"/>
          </p:cNvSpPr>
          <p:nvPr>
            <p:ph type="sldNum" sz="quarter" idx="12"/>
          </p:nvPr>
        </p:nvSpPr>
        <p:spPr/>
        <p:txBody>
          <a:bodyPr/>
          <a:lstStyle/>
          <a:p>
            <a:fld id="{F010F31A-5B1D-4478-A180-CDC3128319F7}" type="slidenum">
              <a:rPr lang="en-US" smtClean="0"/>
              <a:t>47</a:t>
            </a:fld>
            <a:endParaRPr lang="en-US"/>
          </a:p>
        </p:txBody>
      </p:sp>
    </p:spTree>
    <p:extLst>
      <p:ext uri="{BB962C8B-B14F-4D97-AF65-F5344CB8AC3E}">
        <p14:creationId xmlns:p14="http://schemas.microsoft.com/office/powerpoint/2010/main" val="33657056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FDE91A37-0893-487D-86FD-0BACD7678BD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924F5B1B-2009-4C9F-B53A-262AE1FD40B7}"/>
              </a:ext>
            </a:extLst>
          </p:cNvPr>
          <p:cNvSpPr>
            <a:spLocks noGrp="1"/>
          </p:cNvSpPr>
          <p:nvPr>
            <p:ph sz="half" idx="1"/>
          </p:nvPr>
        </p:nvSpPr>
        <p:spPr/>
        <p:txBody>
          <a:bodyPr>
            <a:normAutofit fontScale="92500" lnSpcReduction="10000"/>
          </a:bodyPr>
          <a:lstStyle/>
          <a:p>
            <a:r>
              <a:rPr lang="en-US" sz="2000" b="0" i="0" dirty="0">
                <a:effectLst/>
                <a:latin typeface="Times New Roman" panose="02020603050405020304" pitchFamily="18" charset="0"/>
                <a:cs typeface="Times New Roman" panose="02020603050405020304" pitchFamily="18" charset="0"/>
              </a:rPr>
              <a:t>Dental abnormalities are common :</a:t>
            </a:r>
            <a:br>
              <a:rPr lang="en-US" sz="2000" b="0" i="0" dirty="0">
                <a:effectLst/>
                <a:latin typeface="Times New Roman" panose="02020603050405020304" pitchFamily="18" charset="0"/>
                <a:cs typeface="Times New Roman" panose="02020603050405020304" pitchFamily="18" charset="0"/>
              </a:rPr>
            </a:br>
            <a:r>
              <a:rPr lang="en-US" sz="2000" b="1" i="0" dirty="0">
                <a:effectLst/>
                <a:latin typeface="Times New Roman" panose="02020603050405020304" pitchFamily="18" charset="0"/>
                <a:cs typeface="Times New Roman" panose="02020603050405020304" pitchFamily="18" charset="0"/>
              </a:rPr>
              <a:t>1. Hutchinson teeth (</a:t>
            </a:r>
            <a:r>
              <a:rPr lang="en-US" sz="2000" b="0" i="0" dirty="0">
                <a:effectLst/>
                <a:latin typeface="Times New Roman" panose="02020603050405020304" pitchFamily="18" charset="0"/>
                <a:cs typeface="Times New Roman" panose="02020603050405020304" pitchFamily="18" charset="0"/>
              </a:rPr>
              <a:t>peg or barrel-shaped upper central incisors)</a:t>
            </a:r>
            <a:br>
              <a:rPr lang="en-US" sz="2000" b="0" i="0" dirty="0">
                <a:effectLst/>
                <a:latin typeface="Times New Roman" panose="02020603050405020304" pitchFamily="18" charset="0"/>
                <a:cs typeface="Times New Roman" panose="02020603050405020304" pitchFamily="18" charset="0"/>
              </a:rPr>
            </a:br>
            <a:r>
              <a:rPr lang="en-US" sz="2000" b="0" i="0" dirty="0">
                <a:effectLst/>
                <a:latin typeface="Times New Roman" panose="02020603050405020304" pitchFamily="18" charset="0"/>
                <a:cs typeface="Times New Roman" panose="02020603050405020304" pitchFamily="18" charset="0"/>
              </a:rPr>
              <a:t>2. abnormal enamel, which results in a notch along the biting surface</a:t>
            </a:r>
            <a:br>
              <a:rPr lang="en-US" sz="2000" b="0" i="0" dirty="0">
                <a:effectLst/>
                <a:latin typeface="Times New Roman" panose="02020603050405020304" pitchFamily="18" charset="0"/>
                <a:cs typeface="Times New Roman" panose="02020603050405020304" pitchFamily="18" charset="0"/>
              </a:rPr>
            </a:br>
            <a:r>
              <a:rPr lang="en-US" sz="2000" b="1" i="0" dirty="0">
                <a:effectLst/>
                <a:latin typeface="Times New Roman" panose="02020603050405020304" pitchFamily="18" charset="0"/>
                <a:cs typeface="Times New Roman" panose="02020603050405020304" pitchFamily="18" charset="0"/>
              </a:rPr>
              <a:t>3. mulberry molars</a:t>
            </a:r>
            <a:br>
              <a:rPr lang="en-US" sz="2000" b="1" i="0" dirty="0">
                <a:effectLst/>
                <a:latin typeface="Times New Roman" panose="02020603050405020304" pitchFamily="18" charset="0"/>
                <a:cs typeface="Times New Roman" panose="02020603050405020304" pitchFamily="18" charset="0"/>
              </a:rPr>
            </a:br>
            <a:r>
              <a:rPr lang="en-US" sz="2000" b="0" i="0" dirty="0">
                <a:effectLst/>
                <a:latin typeface="Times New Roman" panose="02020603050405020304" pitchFamily="18" charset="0"/>
                <a:cs typeface="Times New Roman" panose="02020603050405020304" pitchFamily="18" charset="0"/>
              </a:rPr>
              <a:t> Defects in enamel formation lead to repeated caries and eventual tooth</a:t>
            </a:r>
            <a:br>
              <a:rPr lang="en-US" sz="2000" b="0" i="0" dirty="0">
                <a:effectLst/>
                <a:latin typeface="Times New Roman" panose="02020603050405020304" pitchFamily="18" charset="0"/>
                <a:cs typeface="Times New Roman" panose="02020603050405020304" pitchFamily="18" charset="0"/>
              </a:rPr>
            </a:br>
            <a:r>
              <a:rPr lang="en-US" sz="2000" b="0" i="0" dirty="0">
                <a:effectLst/>
                <a:latin typeface="Times New Roman" panose="02020603050405020304" pitchFamily="18" charset="0"/>
                <a:cs typeface="Times New Roman" panose="02020603050405020304" pitchFamily="18" charset="0"/>
              </a:rPr>
              <a:t>destruction.</a:t>
            </a:r>
            <a:br>
              <a:rPr lang="en-US" sz="2000" b="0" i="0" dirty="0">
                <a:effectLst/>
                <a:latin typeface="Times New Roman" panose="02020603050405020304" pitchFamily="18" charset="0"/>
                <a:cs typeface="Times New Roman" panose="02020603050405020304" pitchFamily="18" charset="0"/>
              </a:rPr>
            </a:br>
            <a:r>
              <a:rPr lang="en-US" sz="2000" b="0" i="0" dirty="0">
                <a:effectLst/>
                <a:latin typeface="Times New Roman" panose="02020603050405020304" pitchFamily="18" charset="0"/>
                <a:cs typeface="Times New Roman" panose="02020603050405020304" pitchFamily="18" charset="0"/>
              </a:rPr>
              <a:t>• A </a:t>
            </a:r>
            <a:r>
              <a:rPr lang="en-US" sz="2000" b="1" i="0" dirty="0">
                <a:effectLst/>
                <a:latin typeface="Times New Roman" panose="02020603050405020304" pitchFamily="18" charset="0"/>
                <a:cs typeface="Times New Roman" panose="02020603050405020304" pitchFamily="18" charset="0"/>
              </a:rPr>
              <a:t>saddle nose (</a:t>
            </a:r>
            <a:r>
              <a:rPr lang="en-US" sz="2000" b="0" i="0" dirty="0">
                <a:effectLst/>
                <a:latin typeface="Times New Roman" panose="02020603050405020304" pitchFamily="18" charset="0"/>
                <a:cs typeface="Times New Roman" panose="02020603050405020304" pitchFamily="18" charset="0"/>
              </a:rPr>
              <a:t>depression of the nasal root) is a result of syphilitic rhinitis</a:t>
            </a:r>
            <a:br>
              <a:rPr lang="en-US" sz="2000" b="0" i="0" dirty="0">
                <a:effectLst/>
                <a:latin typeface="Times New Roman" panose="02020603050405020304" pitchFamily="18" charset="0"/>
                <a:cs typeface="Times New Roman" panose="02020603050405020304" pitchFamily="18" charset="0"/>
              </a:rPr>
            </a:br>
            <a:r>
              <a:rPr lang="en-US" sz="2000" b="0" i="0" dirty="0">
                <a:effectLst/>
                <a:latin typeface="Times New Roman" panose="02020603050405020304" pitchFamily="18" charset="0"/>
                <a:cs typeface="Times New Roman" panose="02020603050405020304" pitchFamily="18" charset="0"/>
              </a:rPr>
              <a:t>that destroys the adjacent bone and cartilage.</a:t>
            </a:r>
            <a:br>
              <a:rPr lang="en-US" sz="2000" b="0" i="0" dirty="0">
                <a:effectLst/>
                <a:latin typeface="Times New Roman" panose="02020603050405020304" pitchFamily="18" charset="0"/>
                <a:cs typeface="Times New Roman" panose="02020603050405020304" pitchFamily="18" charset="0"/>
              </a:rPr>
            </a:br>
            <a:r>
              <a:rPr lang="en-US" sz="2000" b="0" i="0" dirty="0">
                <a:effectLst/>
                <a:latin typeface="Times New Roman" panose="02020603050405020304" pitchFamily="18" charset="0"/>
                <a:cs typeface="Times New Roman" panose="02020603050405020304" pitchFamily="18" charset="0"/>
              </a:rPr>
              <a:t>• </a:t>
            </a:r>
            <a:r>
              <a:rPr lang="en-US" sz="2000" b="1" i="0" dirty="0">
                <a:effectLst/>
                <a:latin typeface="Times New Roman" panose="02020603050405020304" pitchFamily="18" charset="0"/>
                <a:cs typeface="Times New Roman" panose="02020603050405020304" pitchFamily="18" charset="0"/>
              </a:rPr>
              <a:t>Rhagades -</a:t>
            </a:r>
            <a:r>
              <a:rPr lang="en-US" sz="2000" b="0" i="0" dirty="0">
                <a:effectLst/>
                <a:latin typeface="Times New Roman" panose="02020603050405020304" pitchFamily="18" charset="0"/>
                <a:cs typeface="Times New Roman" panose="02020603050405020304" pitchFamily="18" charset="0"/>
              </a:rPr>
              <a:t>are linear scars that extend in a </a:t>
            </a:r>
            <a:r>
              <a:rPr lang="en-US" sz="2000" b="0" i="0" dirty="0" err="1">
                <a:effectLst/>
                <a:latin typeface="Times New Roman" panose="02020603050405020304" pitchFamily="18" charset="0"/>
                <a:cs typeface="Times New Roman" panose="02020603050405020304" pitchFamily="18" charset="0"/>
              </a:rPr>
              <a:t>spokelike</a:t>
            </a:r>
            <a:r>
              <a:rPr lang="en-US" sz="2000" b="0" i="0" dirty="0">
                <a:effectLst/>
                <a:latin typeface="Times New Roman" panose="02020603050405020304" pitchFamily="18" charset="0"/>
                <a:cs typeface="Times New Roman" panose="02020603050405020304" pitchFamily="18" charset="0"/>
              </a:rPr>
              <a:t> pattern from previous</a:t>
            </a:r>
            <a:br>
              <a:rPr lang="en-US" sz="2000" b="0" i="0" dirty="0">
                <a:effectLst/>
                <a:latin typeface="Times New Roman" panose="02020603050405020304" pitchFamily="18" charset="0"/>
                <a:cs typeface="Times New Roman" panose="02020603050405020304" pitchFamily="18" charset="0"/>
              </a:rPr>
            </a:br>
            <a:r>
              <a:rPr lang="en-US" sz="2000" b="0" i="0" dirty="0">
                <a:effectLst/>
                <a:latin typeface="Times New Roman" panose="02020603050405020304" pitchFamily="18" charset="0"/>
                <a:cs typeface="Times New Roman" panose="02020603050405020304" pitchFamily="18" charset="0"/>
              </a:rPr>
              <a:t>mucocutaneous fissures of the mouth, anus, and genitalia</a:t>
            </a:r>
            <a:r>
              <a:rPr lang="en-US" sz="3200" dirty="0">
                <a:latin typeface="Times New Roman" panose="02020603050405020304" pitchFamily="18" charset="0"/>
                <a:cs typeface="Times New Roman" panose="02020603050405020304" pitchFamily="18" charset="0"/>
              </a:rPr>
              <a:t> </a:t>
            </a: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xmlns="" id="{7CC29DE2-07B8-4488-B6C2-59D0D8A3566B}"/>
              </a:ext>
            </a:extLst>
          </p:cNvPr>
          <p:cNvSpPr>
            <a:spLocks noGrp="1"/>
          </p:cNvSpPr>
          <p:nvPr>
            <p:ph sz="half" idx="2"/>
          </p:nvPr>
        </p:nvSpPr>
        <p:spPr/>
        <p:txBody>
          <a:bodyPr>
            <a:normAutofit fontScale="92500" lnSpcReduction="10000"/>
          </a:bodyPr>
          <a:lstStyle/>
          <a:p>
            <a:r>
              <a:rPr lang="en-US" sz="2800" b="1" i="0" dirty="0">
                <a:effectLst/>
                <a:latin typeface="Times New Roman" panose="02020603050405020304" pitchFamily="18" charset="0"/>
                <a:cs typeface="Times New Roman" panose="02020603050405020304" pitchFamily="18" charset="0"/>
              </a:rPr>
              <a:t>Juvenile paresis</a:t>
            </a:r>
            <a:r>
              <a:rPr lang="en-US" sz="2800" b="0" i="0" dirty="0">
                <a:effectLst/>
                <a:latin typeface="Times New Roman" panose="02020603050405020304" pitchFamily="18" charset="0"/>
                <a:cs typeface="Times New Roman" panose="02020603050405020304" pitchFamily="18" charset="0"/>
              </a:rPr>
              <a:t>, an uncommon latent meningovascular</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infection, typically presents during adolescence with:</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o behavioral changes</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o focal seizures, or</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o loss of intellectual function.</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 </a:t>
            </a:r>
            <a:r>
              <a:rPr lang="en-US" sz="2800" b="1" i="0" dirty="0">
                <a:effectLst/>
                <a:latin typeface="Times New Roman" panose="02020603050405020304" pitchFamily="18" charset="0"/>
                <a:cs typeface="Times New Roman" panose="02020603050405020304" pitchFamily="18" charset="0"/>
              </a:rPr>
              <a:t>Juvenile </a:t>
            </a:r>
            <a:r>
              <a:rPr lang="en-US" sz="2800" b="1" i="0" dirty="0" err="1">
                <a:effectLst/>
                <a:latin typeface="Times New Roman" panose="02020603050405020304" pitchFamily="18" charset="0"/>
                <a:cs typeface="Times New Roman" panose="02020603050405020304" pitchFamily="18" charset="0"/>
              </a:rPr>
              <a:t>tabes</a:t>
            </a:r>
            <a:r>
              <a:rPr lang="en-US" sz="2800" b="1" i="0" dirty="0">
                <a:effectLst/>
                <a:latin typeface="Times New Roman" panose="02020603050405020304" pitchFamily="18" charset="0"/>
                <a:cs typeface="Times New Roman" panose="02020603050405020304" pitchFamily="18" charset="0"/>
              </a:rPr>
              <a:t> </a:t>
            </a:r>
            <a:r>
              <a:rPr lang="en-US" sz="2800" b="0" i="0" dirty="0">
                <a:effectLst/>
                <a:latin typeface="Times New Roman" panose="02020603050405020304" pitchFamily="18" charset="0"/>
                <a:cs typeface="Times New Roman" panose="02020603050405020304" pitchFamily="18" charset="0"/>
              </a:rPr>
              <a:t>with spinal cord involvement and</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 cardiovascular involvement with aortitis are rare</a:t>
            </a:r>
            <a:endParaRPr lang="en-US" dirty="0"/>
          </a:p>
        </p:txBody>
      </p:sp>
      <p:sp>
        <p:nvSpPr>
          <p:cNvPr id="4" name="Slide Number Placeholder 3">
            <a:extLst>
              <a:ext uri="{FF2B5EF4-FFF2-40B4-BE49-F238E27FC236}">
                <a16:creationId xmlns:a16="http://schemas.microsoft.com/office/drawing/2014/main" xmlns="" id="{7B9FF6D5-DF39-456E-BF41-6F3832C6AB47}"/>
              </a:ext>
            </a:extLst>
          </p:cNvPr>
          <p:cNvSpPr>
            <a:spLocks noGrp="1"/>
          </p:cNvSpPr>
          <p:nvPr>
            <p:ph type="sldNum" sz="quarter" idx="12"/>
          </p:nvPr>
        </p:nvSpPr>
        <p:spPr/>
        <p:txBody>
          <a:bodyPr/>
          <a:lstStyle/>
          <a:p>
            <a:fld id="{70BDFE1C-33C9-4171-93AE-4B33857102B6}" type="slidenum">
              <a:rPr lang="en-US" smtClean="0"/>
              <a:t>48</a:t>
            </a:fld>
            <a:endParaRPr lang="en-US"/>
          </a:p>
        </p:txBody>
      </p:sp>
    </p:spTree>
    <p:extLst>
      <p:ext uri="{BB962C8B-B14F-4D97-AF65-F5344CB8AC3E}">
        <p14:creationId xmlns:p14="http://schemas.microsoft.com/office/powerpoint/2010/main" val="4023527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674CD2-4F83-4879-9170-F4635B7FD300}"/>
              </a:ext>
            </a:extLst>
          </p:cNvPr>
          <p:cNvSpPr>
            <a:spLocks noGrp="1"/>
          </p:cNvSpPr>
          <p:nvPr>
            <p:ph type="title"/>
          </p:nvPr>
        </p:nvSpPr>
        <p:spPr/>
        <p:txBody>
          <a:bodyPr/>
          <a:lstStyle/>
          <a:p>
            <a:r>
              <a:rPr lang="en-US" dirty="0"/>
              <a:t>Hutchinson teeth</a:t>
            </a:r>
          </a:p>
        </p:txBody>
      </p:sp>
      <p:pic>
        <p:nvPicPr>
          <p:cNvPr id="6" name="Content Placeholder 5">
            <a:extLst>
              <a:ext uri="{FF2B5EF4-FFF2-40B4-BE49-F238E27FC236}">
                <a16:creationId xmlns:a16="http://schemas.microsoft.com/office/drawing/2014/main" xmlns="" id="{4E0CE3E5-33FF-41A8-AEFC-D24CC4C4A32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71065" y="1690688"/>
            <a:ext cx="5471299" cy="4351338"/>
          </a:xfrm>
        </p:spPr>
      </p:pic>
      <p:sp>
        <p:nvSpPr>
          <p:cNvPr id="4" name="Slide Number Placeholder 3">
            <a:extLst>
              <a:ext uri="{FF2B5EF4-FFF2-40B4-BE49-F238E27FC236}">
                <a16:creationId xmlns:a16="http://schemas.microsoft.com/office/drawing/2014/main" xmlns="" id="{9ABC3599-6159-43ED-8F9D-DED6BE4EC144}"/>
              </a:ext>
            </a:extLst>
          </p:cNvPr>
          <p:cNvSpPr>
            <a:spLocks noGrp="1"/>
          </p:cNvSpPr>
          <p:nvPr>
            <p:ph type="sldNum" sz="quarter" idx="12"/>
          </p:nvPr>
        </p:nvSpPr>
        <p:spPr/>
        <p:txBody>
          <a:bodyPr/>
          <a:lstStyle/>
          <a:p>
            <a:fld id="{F010F31A-5B1D-4478-A180-CDC3128319F7}" type="slidenum">
              <a:rPr lang="en-US" smtClean="0"/>
              <a:t>49</a:t>
            </a:fld>
            <a:endParaRPr lang="en-US"/>
          </a:p>
        </p:txBody>
      </p:sp>
      <p:pic>
        <p:nvPicPr>
          <p:cNvPr id="8" name="Picture 7">
            <a:extLst>
              <a:ext uri="{FF2B5EF4-FFF2-40B4-BE49-F238E27FC236}">
                <a16:creationId xmlns:a16="http://schemas.microsoft.com/office/drawing/2014/main" xmlns="" id="{09468219-D0EB-43B5-B547-FD31FAF293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5620" y="2251580"/>
            <a:ext cx="5756380" cy="3229553"/>
          </a:xfrm>
          <a:prstGeom prst="rect">
            <a:avLst/>
          </a:prstGeom>
        </p:spPr>
      </p:pic>
    </p:spTree>
    <p:extLst>
      <p:ext uri="{BB962C8B-B14F-4D97-AF65-F5344CB8AC3E}">
        <p14:creationId xmlns:p14="http://schemas.microsoft.com/office/powerpoint/2010/main" val="13553857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81936B8-605D-4A1C-B5E1-1DE5402C6511}"/>
              </a:ext>
            </a:extLst>
          </p:cNvPr>
          <p:cNvSpPr>
            <a:spLocks noGrp="1"/>
          </p:cNvSpPr>
          <p:nvPr>
            <p:ph type="title"/>
          </p:nvPr>
        </p:nvSpPr>
        <p:spPr/>
        <p:txBody>
          <a:bodyPr/>
          <a:lstStyle/>
          <a:p>
            <a:r>
              <a:rPr lang="en-US" dirty="0"/>
              <a:t>Mulberry molars</a:t>
            </a:r>
          </a:p>
        </p:txBody>
      </p:sp>
      <p:pic>
        <p:nvPicPr>
          <p:cNvPr id="6" name="Content Placeholder 5">
            <a:extLst>
              <a:ext uri="{FF2B5EF4-FFF2-40B4-BE49-F238E27FC236}">
                <a16:creationId xmlns:a16="http://schemas.microsoft.com/office/drawing/2014/main" xmlns="" id="{66C17CE6-440E-4738-81C8-0667A1FC3EE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65767" y="1690688"/>
            <a:ext cx="5827009" cy="4351338"/>
          </a:xfrm>
        </p:spPr>
      </p:pic>
      <p:sp>
        <p:nvSpPr>
          <p:cNvPr id="4" name="Slide Number Placeholder 3">
            <a:extLst>
              <a:ext uri="{FF2B5EF4-FFF2-40B4-BE49-F238E27FC236}">
                <a16:creationId xmlns:a16="http://schemas.microsoft.com/office/drawing/2014/main" xmlns="" id="{3EDA8F8E-0065-434C-8E8B-413C635B2AF9}"/>
              </a:ext>
            </a:extLst>
          </p:cNvPr>
          <p:cNvSpPr>
            <a:spLocks noGrp="1"/>
          </p:cNvSpPr>
          <p:nvPr>
            <p:ph type="sldNum" sz="quarter" idx="12"/>
          </p:nvPr>
        </p:nvSpPr>
        <p:spPr/>
        <p:txBody>
          <a:bodyPr/>
          <a:lstStyle/>
          <a:p>
            <a:fld id="{F010F31A-5B1D-4478-A180-CDC3128319F7}" type="slidenum">
              <a:rPr lang="en-US" smtClean="0"/>
              <a:t>50</a:t>
            </a:fld>
            <a:endParaRPr lang="en-US"/>
          </a:p>
        </p:txBody>
      </p:sp>
      <p:pic>
        <p:nvPicPr>
          <p:cNvPr id="8" name="Picture 7">
            <a:extLst>
              <a:ext uri="{FF2B5EF4-FFF2-40B4-BE49-F238E27FC236}">
                <a16:creationId xmlns:a16="http://schemas.microsoft.com/office/drawing/2014/main" xmlns="" id="{7C229AEE-B0F5-416F-829B-494D9F376C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0343" y="2499814"/>
            <a:ext cx="5176930" cy="3493721"/>
          </a:xfrm>
          <a:prstGeom prst="rect">
            <a:avLst/>
          </a:prstGeom>
        </p:spPr>
      </p:pic>
    </p:spTree>
    <p:extLst>
      <p:ext uri="{BB962C8B-B14F-4D97-AF65-F5344CB8AC3E}">
        <p14:creationId xmlns:p14="http://schemas.microsoft.com/office/powerpoint/2010/main" val="12953436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38E682-8528-4C47-844F-B687D34D9AD6}"/>
              </a:ext>
            </a:extLst>
          </p:cNvPr>
          <p:cNvSpPr>
            <a:spLocks noGrp="1"/>
          </p:cNvSpPr>
          <p:nvPr>
            <p:ph type="title"/>
          </p:nvPr>
        </p:nvSpPr>
        <p:spPr/>
        <p:txBody>
          <a:bodyPr/>
          <a:lstStyle/>
          <a:p>
            <a:r>
              <a:rPr lang="en-US" dirty="0"/>
              <a:t>Saddle nose</a:t>
            </a:r>
          </a:p>
        </p:txBody>
      </p:sp>
      <p:pic>
        <p:nvPicPr>
          <p:cNvPr id="6" name="Content Placeholder 5">
            <a:extLst>
              <a:ext uri="{FF2B5EF4-FFF2-40B4-BE49-F238E27FC236}">
                <a16:creationId xmlns:a16="http://schemas.microsoft.com/office/drawing/2014/main" xmlns="" id="{C7531E7F-7152-4058-9A60-34265A09D7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867694"/>
            <a:ext cx="3821257" cy="3821257"/>
          </a:xfrm>
        </p:spPr>
      </p:pic>
      <p:sp>
        <p:nvSpPr>
          <p:cNvPr id="4" name="Slide Number Placeholder 3">
            <a:extLst>
              <a:ext uri="{FF2B5EF4-FFF2-40B4-BE49-F238E27FC236}">
                <a16:creationId xmlns:a16="http://schemas.microsoft.com/office/drawing/2014/main" xmlns="" id="{E161B207-63AB-4979-B839-4581B3BCEB78}"/>
              </a:ext>
            </a:extLst>
          </p:cNvPr>
          <p:cNvSpPr>
            <a:spLocks noGrp="1"/>
          </p:cNvSpPr>
          <p:nvPr>
            <p:ph type="sldNum" sz="quarter" idx="12"/>
          </p:nvPr>
        </p:nvSpPr>
        <p:spPr/>
        <p:txBody>
          <a:bodyPr/>
          <a:lstStyle/>
          <a:p>
            <a:fld id="{F010F31A-5B1D-4478-A180-CDC3128319F7}" type="slidenum">
              <a:rPr lang="en-US" smtClean="0"/>
              <a:t>51</a:t>
            </a:fld>
            <a:endParaRPr lang="en-US"/>
          </a:p>
        </p:txBody>
      </p:sp>
      <p:pic>
        <p:nvPicPr>
          <p:cNvPr id="8" name="Picture 7">
            <a:extLst>
              <a:ext uri="{FF2B5EF4-FFF2-40B4-BE49-F238E27FC236}">
                <a16:creationId xmlns:a16="http://schemas.microsoft.com/office/drawing/2014/main" xmlns="" id="{CDD24008-2CF9-4E2B-B89A-89294B5A60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2545" y="1867693"/>
            <a:ext cx="2438964" cy="3821257"/>
          </a:xfrm>
          <a:prstGeom prst="rect">
            <a:avLst/>
          </a:prstGeom>
        </p:spPr>
      </p:pic>
    </p:spTree>
    <p:extLst>
      <p:ext uri="{BB962C8B-B14F-4D97-AF65-F5344CB8AC3E}">
        <p14:creationId xmlns:p14="http://schemas.microsoft.com/office/powerpoint/2010/main" val="30128057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3EE9AE44-6450-447B-A602-105957C1015D}"/>
              </a:ext>
            </a:extLst>
          </p:cNvPr>
          <p:cNvSpPr>
            <a:spLocks noGrp="1"/>
          </p:cNvSpPr>
          <p:nvPr>
            <p:ph type="body" idx="1"/>
          </p:nvPr>
        </p:nvSpPr>
        <p:spPr>
          <a:xfrm>
            <a:off x="839787" y="256381"/>
            <a:ext cx="5157787" cy="823912"/>
          </a:xfrm>
        </p:spPr>
        <p:txBody>
          <a:bodyPr/>
          <a:lstStyle/>
          <a:p>
            <a:r>
              <a:rPr lang="en-US" dirty="0"/>
              <a:t>Diagnosis</a:t>
            </a:r>
          </a:p>
        </p:txBody>
      </p:sp>
      <p:sp>
        <p:nvSpPr>
          <p:cNvPr id="92163" name="Content Placeholder 2"/>
          <p:cNvSpPr>
            <a:spLocks noGrp="1"/>
          </p:cNvSpPr>
          <p:nvPr>
            <p:ph sz="half" idx="2"/>
          </p:nvPr>
        </p:nvSpPr>
        <p:spPr>
          <a:xfrm>
            <a:off x="836612" y="1586706"/>
            <a:ext cx="5157787" cy="3684588"/>
          </a:xfrm>
        </p:spPr>
        <p:txBody>
          <a:bodyPr>
            <a:normAutofit lnSpcReduction="10000"/>
          </a:bodyPr>
          <a:lstStyle/>
          <a:p>
            <a:pPr eaLnBrk="1" hangingPunct="1">
              <a:defRPr/>
            </a:pPr>
            <a:r>
              <a:rPr lang="en-US" dirty="0"/>
              <a:t>Laboratory studies</a:t>
            </a:r>
          </a:p>
          <a:p>
            <a:pPr marL="457200" indent="-457200">
              <a:buFont typeface="+mj-lt"/>
              <a:buAutoNum type="arabicPeriod"/>
              <a:defRPr/>
            </a:pPr>
            <a:r>
              <a:rPr lang="en-US" dirty="0"/>
              <a:t>Nonspecific </a:t>
            </a:r>
            <a:r>
              <a:rPr lang="en-US" dirty="0" err="1"/>
              <a:t>reagin</a:t>
            </a:r>
            <a:r>
              <a:rPr lang="en-US" dirty="0"/>
              <a:t> antibody tests</a:t>
            </a:r>
          </a:p>
          <a:p>
            <a:pPr marL="457200" indent="-457200">
              <a:buFont typeface="+mj-lt"/>
              <a:buAutoNum type="arabicPeriod"/>
              <a:defRPr/>
            </a:pPr>
            <a:r>
              <a:rPr lang="en-US" dirty="0"/>
              <a:t>Specific treponemal tests</a:t>
            </a:r>
          </a:p>
          <a:p>
            <a:pPr marL="457200" indent="-457200">
              <a:buFont typeface="+mj-lt"/>
              <a:buAutoNum type="arabicPeriod"/>
              <a:defRPr/>
            </a:pPr>
            <a:r>
              <a:rPr lang="en-US" dirty="0"/>
              <a:t>Complete blood cell count with differential</a:t>
            </a:r>
          </a:p>
          <a:p>
            <a:pPr marL="457200" indent="-457200">
              <a:buFont typeface="+mj-lt"/>
              <a:buAutoNum type="arabicPeriod"/>
              <a:defRPr/>
            </a:pPr>
            <a:r>
              <a:rPr lang="en-US" dirty="0"/>
              <a:t>Lumbar puncture</a:t>
            </a:r>
          </a:p>
          <a:p>
            <a:pPr marL="457200" indent="-457200">
              <a:buFont typeface="+mj-lt"/>
              <a:buAutoNum type="arabicPeriod"/>
              <a:defRPr/>
            </a:pPr>
            <a:r>
              <a:rPr lang="en-US" dirty="0"/>
              <a:t>X-ray of the long bones</a:t>
            </a:r>
          </a:p>
          <a:p>
            <a:pPr marL="457200" indent="-457200">
              <a:buFont typeface="+mj-lt"/>
              <a:buAutoNum type="arabicPeriod"/>
              <a:defRPr/>
            </a:pPr>
            <a:endParaRPr lang="en-US" dirty="0"/>
          </a:p>
          <a:p>
            <a:pPr marL="457200" indent="-457200">
              <a:buFont typeface="+mj-lt"/>
              <a:buAutoNum type="arabicPeriod"/>
              <a:defRPr/>
            </a:pPr>
            <a:endParaRPr lang="en-US" dirty="0"/>
          </a:p>
        </p:txBody>
      </p:sp>
      <p:sp>
        <p:nvSpPr>
          <p:cNvPr id="4" name="Text Placeholder 3">
            <a:extLst>
              <a:ext uri="{FF2B5EF4-FFF2-40B4-BE49-F238E27FC236}">
                <a16:creationId xmlns:a16="http://schemas.microsoft.com/office/drawing/2014/main" xmlns="" id="{95E78987-E901-48C9-9FB1-7F8E14BB5F63}"/>
              </a:ext>
            </a:extLst>
          </p:cNvPr>
          <p:cNvSpPr>
            <a:spLocks noGrp="1"/>
          </p:cNvSpPr>
          <p:nvPr>
            <p:ph type="body" sz="quarter" idx="3"/>
          </p:nvPr>
        </p:nvSpPr>
        <p:spPr>
          <a:xfrm>
            <a:off x="6096000" y="256381"/>
            <a:ext cx="5183188" cy="823912"/>
          </a:xfrm>
        </p:spPr>
        <p:txBody>
          <a:bodyPr/>
          <a:lstStyle/>
          <a:p>
            <a:r>
              <a:rPr lang="en-US" dirty="0"/>
              <a:t>Management</a:t>
            </a:r>
          </a:p>
        </p:txBody>
      </p:sp>
      <p:sp>
        <p:nvSpPr>
          <p:cNvPr id="5" name="Content Placeholder 4">
            <a:extLst>
              <a:ext uri="{FF2B5EF4-FFF2-40B4-BE49-F238E27FC236}">
                <a16:creationId xmlns:a16="http://schemas.microsoft.com/office/drawing/2014/main" xmlns="" id="{ABDB790C-1896-4A69-BE59-E7FEB07306A2}"/>
              </a:ext>
            </a:extLst>
          </p:cNvPr>
          <p:cNvSpPr>
            <a:spLocks noGrp="1"/>
          </p:cNvSpPr>
          <p:nvPr>
            <p:ph sz="quarter" idx="4"/>
          </p:nvPr>
        </p:nvSpPr>
        <p:spPr>
          <a:xfrm>
            <a:off x="6197603" y="1586706"/>
            <a:ext cx="5183188" cy="3684588"/>
          </a:xfrm>
        </p:spPr>
        <p:txBody>
          <a:bodyPr>
            <a:normAutofit lnSpcReduction="10000"/>
          </a:bodyPr>
          <a:lstStyle/>
          <a:p>
            <a:pPr eaLnBrk="1" hangingPunct="1"/>
            <a:r>
              <a:rPr lang="en-US" dirty="0"/>
              <a:t>Treat the mother</a:t>
            </a:r>
          </a:p>
          <a:p>
            <a:r>
              <a:rPr lang="en-US" dirty="0"/>
              <a:t>Treat the infant if maternal treatment was</a:t>
            </a:r>
          </a:p>
          <a:p>
            <a:pPr marL="914400" lvl="1" indent="-514350">
              <a:buFont typeface="Calibri" pitchFamily="34" charset="0"/>
              <a:buAutoNum type="arabicPeriod"/>
            </a:pPr>
            <a:r>
              <a:rPr lang="en-US" dirty="0"/>
              <a:t>Inadequate</a:t>
            </a:r>
          </a:p>
          <a:p>
            <a:pPr marL="914400" lvl="1" indent="-514350">
              <a:buFont typeface="Calibri" pitchFamily="34" charset="0"/>
              <a:buAutoNum type="arabicPeriod"/>
            </a:pPr>
            <a:r>
              <a:rPr lang="en-US" dirty="0"/>
              <a:t>Unknown</a:t>
            </a:r>
          </a:p>
          <a:p>
            <a:pPr marL="914400" lvl="1" indent="-514350">
              <a:buFont typeface="Calibri" pitchFamily="34" charset="0"/>
              <a:buAutoNum type="arabicPeriod"/>
            </a:pPr>
            <a:r>
              <a:rPr lang="en-US" dirty="0"/>
              <a:t>Given during the last 4 weeks of pregnancy or</a:t>
            </a:r>
          </a:p>
          <a:p>
            <a:pPr marL="914400" lvl="1" indent="-514350">
              <a:buFont typeface="Calibri" pitchFamily="34" charset="0"/>
              <a:buAutoNum type="arabicPeriod"/>
            </a:pPr>
            <a:r>
              <a:rPr lang="en-US" dirty="0"/>
              <a:t>Drug used was other than penicillin</a:t>
            </a:r>
          </a:p>
          <a:p>
            <a:endParaRPr lang="en-US" dirty="0"/>
          </a:p>
        </p:txBody>
      </p:sp>
      <p:sp>
        <p:nvSpPr>
          <p:cNvPr id="15364"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52910930-E5EE-4849-B22F-725CB6E86AA4}" type="slidenum">
              <a:rPr lang="en-US" smtClean="0">
                <a:solidFill>
                  <a:schemeClr val="tx1"/>
                </a:solidFill>
              </a:rPr>
              <a:pPr fontAlgn="base">
                <a:spcBef>
                  <a:spcPct val="0"/>
                </a:spcBef>
                <a:spcAft>
                  <a:spcPct val="0"/>
                </a:spcAft>
                <a:defRPr/>
              </a:pPr>
              <a:t>52</a:t>
            </a:fld>
            <a:endParaRPr lang="en-US">
              <a:solidFill>
                <a:schemeClr val="tx1"/>
              </a:solidFill>
            </a:endParaRPr>
          </a:p>
        </p:txBody>
      </p:sp>
    </p:spTree>
    <p:extLst>
      <p:ext uri="{BB962C8B-B14F-4D97-AF65-F5344CB8AC3E}">
        <p14:creationId xmlns:p14="http://schemas.microsoft.com/office/powerpoint/2010/main" val="20649887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p:cNvSpPr>
            <a:spLocks noGrp="1"/>
          </p:cNvSpPr>
          <p:nvPr>
            <p:ph type="title"/>
          </p:nvPr>
        </p:nvSpPr>
        <p:spPr/>
        <p:txBody>
          <a:bodyPr/>
          <a:lstStyle/>
          <a:p>
            <a:pPr eaLnBrk="1" hangingPunct="1"/>
            <a:r>
              <a:rPr lang="en-US" dirty="0"/>
              <a:t>Management</a:t>
            </a:r>
          </a:p>
        </p:txBody>
      </p:sp>
      <p:sp>
        <p:nvSpPr>
          <p:cNvPr id="91139" name="Content Placeholder 2"/>
          <p:cNvSpPr>
            <a:spLocks noGrp="1"/>
          </p:cNvSpPr>
          <p:nvPr>
            <p:ph sz="half" idx="1"/>
          </p:nvPr>
        </p:nvSpPr>
        <p:spPr/>
        <p:txBody>
          <a:bodyPr/>
          <a:lstStyle/>
          <a:p>
            <a:pPr eaLnBrk="1" hangingPunct="1"/>
            <a:r>
              <a:rPr lang="en-US"/>
              <a:t>For pregnant  woman who has been treated for syphilis  monthly quantitative NTA tests</a:t>
            </a:r>
          </a:p>
          <a:p>
            <a:pPr eaLnBrk="1" hangingPunct="1"/>
            <a:r>
              <a:rPr lang="en-US"/>
              <a:t>VDRL-positive infant treat with</a:t>
            </a:r>
          </a:p>
          <a:p>
            <a:pPr eaLnBrk="1" hangingPunct="1"/>
            <a:r>
              <a:rPr lang="en-US"/>
              <a:t>aqueous crystalline penicillin G 100,000-150,000 units/kg/24 h IV, or</a:t>
            </a:r>
          </a:p>
          <a:p>
            <a:r>
              <a:rPr lang="en-US"/>
              <a:t>50,000 units/kg/day of procaine penicillin IM for 10-14</a:t>
            </a:r>
          </a:p>
        </p:txBody>
      </p:sp>
      <p:sp>
        <p:nvSpPr>
          <p:cNvPr id="2" name="Content Placeholder 1">
            <a:extLst>
              <a:ext uri="{FF2B5EF4-FFF2-40B4-BE49-F238E27FC236}">
                <a16:creationId xmlns:a16="http://schemas.microsoft.com/office/drawing/2014/main" xmlns="" id="{EC0CCCEC-1FBC-4EED-8707-E4087806D18B}"/>
              </a:ext>
            </a:extLst>
          </p:cNvPr>
          <p:cNvSpPr>
            <a:spLocks noGrp="1"/>
          </p:cNvSpPr>
          <p:nvPr>
            <p:ph sz="half" idx="2"/>
          </p:nvPr>
        </p:nvSpPr>
        <p:spPr/>
        <p:txBody>
          <a:bodyPr/>
          <a:lstStyle/>
          <a:p>
            <a:r>
              <a:rPr lang="en-US" b="0" i="0" dirty="0">
                <a:solidFill>
                  <a:srgbClr val="000000"/>
                </a:solidFill>
                <a:effectLst/>
                <a:latin typeface="Times New Roman" panose="02020603050405020304" pitchFamily="18" charset="0"/>
                <a:cs typeface="Times New Roman" panose="02020603050405020304" pitchFamily="18" charset="0"/>
              </a:rPr>
              <a:t>Aqueous crystalline penicillin G (100,000–150,000U/kg/24hr,</a:t>
            </a:r>
            <a:br>
              <a:rPr lang="en-US" b="0" i="0" dirty="0">
                <a:solidFill>
                  <a:srgbClr val="000000"/>
                </a:solidFill>
                <a:effectLst/>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given as 50,000U/kg IV BID for the first 7 days and TID</a:t>
            </a:r>
            <a:br>
              <a:rPr lang="en-US" b="0" i="0" dirty="0">
                <a:solidFill>
                  <a:srgbClr val="000000"/>
                </a:solidFill>
                <a:effectLst/>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thereafter) for 10–14 days OR</a:t>
            </a:r>
            <a:br>
              <a:rPr lang="en-US" b="0" i="0" dirty="0">
                <a:solidFill>
                  <a:srgbClr val="000000"/>
                </a:solidFill>
                <a:effectLst/>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Procaine penicillin G (50,000U/kg IM daily in a single dose) for</a:t>
            </a:r>
            <a:br>
              <a:rPr lang="en-US" b="0" i="0" dirty="0">
                <a:solidFill>
                  <a:srgbClr val="000000"/>
                </a:solidFill>
                <a:effectLst/>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10–14 days</a:t>
            </a:r>
            <a:r>
              <a:rPr lang="en-US" sz="4000" dirty="0">
                <a:latin typeface="Times New Roman" panose="02020603050405020304" pitchFamily="18" charset="0"/>
                <a:cs typeface="Times New Roman" panose="02020603050405020304" pitchFamily="18" charset="0"/>
              </a:rPr>
              <a:t> </a:t>
            </a:r>
            <a:br>
              <a:rPr lang="en-US" sz="4000" dirty="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a:p>
            <a:endParaRPr lang="en-US" dirty="0"/>
          </a:p>
        </p:txBody>
      </p:sp>
      <p:sp>
        <p:nvSpPr>
          <p:cNvPr id="15364"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8449AC80-C4B8-43F8-A64C-D7F80B295061}" type="slidenum">
              <a:rPr lang="en-US" smtClean="0">
                <a:solidFill>
                  <a:schemeClr val="tx1"/>
                </a:solidFill>
              </a:rPr>
              <a:pPr fontAlgn="base">
                <a:spcBef>
                  <a:spcPct val="0"/>
                </a:spcBef>
                <a:spcAft>
                  <a:spcPct val="0"/>
                </a:spcAft>
                <a:defRPr/>
              </a:pPr>
              <a:t>53</a:t>
            </a:fld>
            <a:endParaRPr lang="en-US">
              <a:solidFill>
                <a:schemeClr val="tx1"/>
              </a:solidFill>
            </a:endParaRPr>
          </a:p>
        </p:txBody>
      </p:sp>
    </p:spTree>
    <p:extLst>
      <p:ext uri="{BB962C8B-B14F-4D97-AF65-F5344CB8AC3E}">
        <p14:creationId xmlns:p14="http://schemas.microsoft.com/office/powerpoint/2010/main" val="42200245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p:cNvSpPr>
          <p:nvPr>
            <p:ph type="title"/>
          </p:nvPr>
        </p:nvSpPr>
        <p:spPr/>
        <p:txBody>
          <a:bodyPr/>
          <a:lstStyle/>
          <a:p>
            <a:pPr eaLnBrk="1" hangingPunct="1"/>
            <a:r>
              <a:rPr lang="en-US"/>
              <a:t>Isolation Procedures</a:t>
            </a:r>
          </a:p>
        </p:txBody>
      </p:sp>
      <p:sp>
        <p:nvSpPr>
          <p:cNvPr id="92163" name="Content Placeholder 2"/>
          <p:cNvSpPr>
            <a:spLocks noGrp="1"/>
          </p:cNvSpPr>
          <p:nvPr>
            <p:ph idx="1"/>
          </p:nvPr>
        </p:nvSpPr>
        <p:spPr>
          <a:xfrm>
            <a:off x="1828800" y="1600201"/>
            <a:ext cx="8534400" cy="4525963"/>
          </a:xfrm>
        </p:spPr>
        <p:txBody>
          <a:bodyPr/>
          <a:lstStyle/>
          <a:p>
            <a:endParaRPr lang="en-US"/>
          </a:p>
          <a:p>
            <a:r>
              <a:rPr lang="en-US"/>
              <a:t>Precautions regarding drainage, secretions, blood and body fluids are indicated for all infants with suspected or proven congenital syphilis until therapy has been given for 24 h</a:t>
            </a:r>
          </a:p>
        </p:txBody>
      </p:sp>
      <p:sp>
        <p:nvSpPr>
          <p:cNvPr id="15364"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AE02E6E3-1CB9-4649-86F1-E5DC9DE3AFE6}" type="slidenum">
              <a:rPr lang="en-US" smtClean="0">
                <a:solidFill>
                  <a:schemeClr val="tx1"/>
                </a:solidFill>
              </a:rPr>
              <a:pPr fontAlgn="base">
                <a:spcBef>
                  <a:spcPct val="0"/>
                </a:spcBef>
                <a:spcAft>
                  <a:spcPct val="0"/>
                </a:spcAft>
                <a:defRPr/>
              </a:pPr>
              <a:t>54</a:t>
            </a:fld>
            <a:endParaRPr lang="en-US">
              <a:solidFill>
                <a:schemeClr val="tx1"/>
              </a:solidFill>
            </a:endParaRPr>
          </a:p>
        </p:txBody>
      </p:sp>
    </p:spTree>
    <p:extLst>
      <p:ext uri="{BB962C8B-B14F-4D97-AF65-F5344CB8AC3E}">
        <p14:creationId xmlns:p14="http://schemas.microsoft.com/office/powerpoint/2010/main" val="28148277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5EA3C78-C110-4690-BAD0-5ED4ED2E33CD}"/>
              </a:ext>
            </a:extLst>
          </p:cNvPr>
          <p:cNvSpPr>
            <a:spLocks noGrp="1"/>
          </p:cNvSpPr>
          <p:nvPr>
            <p:ph type="title"/>
          </p:nvPr>
        </p:nvSpPr>
        <p:spPr/>
        <p:txBody>
          <a:bodyPr/>
          <a:lstStyle/>
          <a:p>
            <a:r>
              <a:rPr lang="en-US" dirty="0">
                <a:solidFill>
                  <a:srgbClr val="FF0000"/>
                </a:solidFill>
              </a:rPr>
              <a:t>HSV</a:t>
            </a:r>
          </a:p>
        </p:txBody>
      </p:sp>
      <p:sp>
        <p:nvSpPr>
          <p:cNvPr id="3" name="Content Placeholder 2">
            <a:extLst>
              <a:ext uri="{FF2B5EF4-FFF2-40B4-BE49-F238E27FC236}">
                <a16:creationId xmlns:a16="http://schemas.microsoft.com/office/drawing/2014/main" xmlns="" id="{0A574672-DDF8-42AA-8D2D-FC89FBEE961D}"/>
              </a:ext>
            </a:extLst>
          </p:cNvPr>
          <p:cNvSpPr>
            <a:spLocks noGrp="1"/>
          </p:cNvSpPr>
          <p:nvPr>
            <p:ph sz="half" idx="1"/>
          </p:nvPr>
        </p:nvSpPr>
        <p:spPr/>
        <p:txBody>
          <a:bodyPr>
            <a:normAutofit fontScale="77500" lnSpcReduction="20000"/>
          </a:bodyPr>
          <a:lstStyle/>
          <a:p>
            <a:r>
              <a:rPr lang="en-US" sz="2400" b="0" i="0" dirty="0">
                <a:effectLst/>
                <a:latin typeface="Times New Roman" panose="02020603050405020304" pitchFamily="18" charset="0"/>
                <a:cs typeface="Times New Roman" panose="02020603050405020304" pitchFamily="18" charset="0"/>
              </a:rPr>
              <a:t>Neonatal HSV Infection</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 Most cases of neonatal herpes occur:</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 due to maternal infection during delivery</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 approximately 75% are HSV type 2.</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 Maternal primary or first episode genital herpes (no antibody</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present against the type of virus ) has an infant attack rate of 33–</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50%.</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 Recurrent maternal disease has an infant attack rate of only 1–3%</a:t>
            </a:r>
            <a:r>
              <a:rPr lang="en-US" sz="2400" dirty="0">
                <a:latin typeface="Times New Roman" panose="02020603050405020304" pitchFamily="18" charset="0"/>
                <a:cs typeface="Times New Roman" panose="02020603050405020304" pitchFamily="18" charset="0"/>
              </a:rPr>
              <a:t> </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xmlns="" id="{ADBD3920-38B9-45B2-9C71-BAE9AFF26EBA}"/>
              </a:ext>
            </a:extLst>
          </p:cNvPr>
          <p:cNvSpPr>
            <a:spLocks noGrp="1"/>
          </p:cNvSpPr>
          <p:nvPr>
            <p:ph sz="half" idx="2"/>
          </p:nvPr>
        </p:nvSpPr>
        <p:spPr/>
        <p:txBody>
          <a:bodyPr>
            <a:normAutofit fontScale="77500" lnSpcReduction="20000"/>
          </a:bodyPr>
          <a:lstStyle/>
          <a:p>
            <a:r>
              <a:rPr lang="en-US" sz="2800" b="0" i="0" dirty="0">
                <a:effectLst/>
                <a:latin typeface="Times New Roman" panose="02020603050405020304" pitchFamily="18" charset="0"/>
                <a:cs typeface="Times New Roman" panose="02020603050405020304" pitchFamily="18" charset="0"/>
              </a:rPr>
              <a:t>Perinatal infection manifests in the first month of life:</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 9% on the first day, and</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 in 40% by the first week.</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 Three major categories:</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1. localized skin, eye, and mouth infection</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2. CNS infection and</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3. Disseminated infection.</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 Symptoms of CNS involvement are found in 48–79% and</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include:</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o Lethargy</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o poor feeding</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o Irritability</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o poor tone, and</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o seizures</a:t>
            </a:r>
            <a:r>
              <a:rPr lang="en-US" sz="2800" dirty="0">
                <a:latin typeface="Times New Roman" panose="02020603050405020304" pitchFamily="18" charset="0"/>
                <a:cs typeface="Times New Roman" panose="02020603050405020304" pitchFamily="18" charset="0"/>
              </a:rPr>
              <a:t> </a:t>
            </a: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xmlns="" id="{7A5AD240-5E2C-4E86-9457-2E9A53B27EAD}"/>
              </a:ext>
            </a:extLst>
          </p:cNvPr>
          <p:cNvSpPr>
            <a:spLocks noGrp="1"/>
          </p:cNvSpPr>
          <p:nvPr>
            <p:ph type="sldNum" sz="quarter" idx="12"/>
          </p:nvPr>
        </p:nvSpPr>
        <p:spPr/>
        <p:txBody>
          <a:bodyPr/>
          <a:lstStyle/>
          <a:p>
            <a:fld id="{70BDFE1C-33C9-4171-93AE-4B33857102B6}" type="slidenum">
              <a:rPr lang="en-US" smtClean="0"/>
              <a:t>55</a:t>
            </a:fld>
            <a:endParaRPr lang="en-US"/>
          </a:p>
        </p:txBody>
      </p:sp>
    </p:spTree>
    <p:extLst>
      <p:ext uri="{BB962C8B-B14F-4D97-AF65-F5344CB8AC3E}">
        <p14:creationId xmlns:p14="http://schemas.microsoft.com/office/powerpoint/2010/main" val="33865784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1132CE7-3E42-41B6-A2AF-241B75DBE6C7}"/>
              </a:ext>
            </a:extLst>
          </p:cNvPr>
          <p:cNvSpPr>
            <a:spLocks noGrp="1"/>
          </p:cNvSpPr>
          <p:nvPr>
            <p:ph type="title"/>
          </p:nvPr>
        </p:nvSpPr>
        <p:spPr/>
        <p:txBody>
          <a:bodyPr/>
          <a:lstStyle/>
          <a:p>
            <a:r>
              <a:rPr lang="en-US" dirty="0"/>
              <a:t>Diagnosis</a:t>
            </a:r>
          </a:p>
        </p:txBody>
      </p:sp>
      <p:sp>
        <p:nvSpPr>
          <p:cNvPr id="3" name="Content Placeholder 2">
            <a:extLst>
              <a:ext uri="{FF2B5EF4-FFF2-40B4-BE49-F238E27FC236}">
                <a16:creationId xmlns:a16="http://schemas.microsoft.com/office/drawing/2014/main" xmlns="" id="{AC7322B0-FF9B-4E0F-BA63-F474A2FD001B}"/>
              </a:ext>
            </a:extLst>
          </p:cNvPr>
          <p:cNvSpPr>
            <a:spLocks noGrp="1"/>
          </p:cNvSpPr>
          <p:nvPr>
            <p:ph sz="half" idx="1"/>
          </p:nvPr>
        </p:nvSpPr>
        <p:spPr/>
        <p:txBody>
          <a:bodyPr>
            <a:noAutofit/>
          </a:bodyPr>
          <a:lstStyle/>
          <a:p>
            <a:pPr marL="0" indent="0">
              <a:buNone/>
            </a:pPr>
            <a:r>
              <a:rPr lang="en-US" sz="2400" b="0" i="0" dirty="0">
                <a:effectLst/>
                <a:latin typeface="Times New Roman" panose="02020603050405020304" pitchFamily="18" charset="0"/>
                <a:cs typeface="Times New Roman" panose="02020603050405020304" pitchFamily="18" charset="0"/>
              </a:rPr>
              <a:t>- is based on any two of the following:</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1. a compatible clinical pattern</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2. isolation of the virus</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3. development of specific antibodies and</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4. demonstration of characteristic cells, histologic changes, viral</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antigen, or HSV DNA in scrapings, CSF, or biopsy material.</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 The use of PCR analysis of CSF and perhaps blood is critical to diagnose</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neonatal HSV infection, especially in the absence of skin lesions.</a:t>
            </a:r>
            <a:br>
              <a:rPr lang="en-US" sz="2400" b="0" i="0" dirty="0">
                <a:effectLst/>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xmlns="" id="{9F8CBDC7-3319-408C-A5A5-6322ED18CFB8}"/>
              </a:ext>
            </a:extLst>
          </p:cNvPr>
          <p:cNvSpPr>
            <a:spLocks noGrp="1"/>
          </p:cNvSpPr>
          <p:nvPr>
            <p:ph sz="half" idx="2"/>
          </p:nvPr>
        </p:nvSpPr>
        <p:spPr/>
        <p:txBody>
          <a:bodyPr>
            <a:normAutofit fontScale="92500" lnSpcReduction="10000"/>
          </a:bodyPr>
          <a:lstStyle/>
          <a:p>
            <a:r>
              <a:rPr lang="en-US" sz="2800" b="0" i="0" dirty="0">
                <a:effectLst/>
                <a:latin typeface="Times New Roman" panose="02020603050405020304" pitchFamily="18" charset="0"/>
                <a:cs typeface="Times New Roman" panose="02020603050405020304" pitchFamily="18" charset="0"/>
              </a:rPr>
              <a:t> The sensitivity of CSF PCR in neonatal CNS infection is 75%.</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Viral culture is gold standard!</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Microscopic examination of scrapings from lesions (</a:t>
            </a:r>
            <a:r>
              <a:rPr lang="en-US" sz="2800" b="0" i="0" dirty="0" err="1">
                <a:effectLst/>
                <a:latin typeface="Times New Roman" panose="02020603050405020304" pitchFamily="18" charset="0"/>
                <a:cs typeface="Times New Roman" panose="02020603050405020304" pitchFamily="18" charset="0"/>
              </a:rPr>
              <a:t>Tzanck</a:t>
            </a:r>
            <a:r>
              <a:rPr lang="en-US" sz="2800" b="0" i="0" dirty="0">
                <a:effectLst/>
                <a:latin typeface="Times New Roman" panose="02020603050405020304" pitchFamily="18" charset="0"/>
                <a:cs typeface="Times New Roman" panose="02020603050405020304" pitchFamily="18" charset="0"/>
              </a:rPr>
              <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stain) reveals multinuclear giant cells and intranuclear</a:t>
            </a:r>
            <a:br>
              <a:rPr lang="en-US" sz="2800" b="0" i="0" dirty="0">
                <a:effectLst/>
                <a:latin typeface="Times New Roman" panose="02020603050405020304" pitchFamily="18" charset="0"/>
                <a:cs typeface="Times New Roman" panose="02020603050405020304" pitchFamily="18" charset="0"/>
              </a:rPr>
            </a:br>
            <a:r>
              <a:rPr lang="en-US" sz="2800" b="0" i="0" dirty="0">
                <a:effectLst/>
                <a:latin typeface="Times New Roman" panose="02020603050405020304" pitchFamily="18" charset="0"/>
                <a:cs typeface="Times New Roman" panose="02020603050405020304" pitchFamily="18" charset="0"/>
              </a:rPr>
              <a:t>inclusions approximately 50% of the time.</a:t>
            </a:r>
          </a:p>
          <a:p>
            <a:pPr marL="0" indent="0">
              <a:buNone/>
            </a:pPr>
            <a:r>
              <a:rPr lang="en-US" sz="2800" dirty="0">
                <a:latin typeface="Times New Roman" panose="02020603050405020304" pitchFamily="18" charset="0"/>
                <a:cs typeface="Times New Roman" panose="02020603050405020304" pitchFamily="18" charset="0"/>
              </a:rPr>
              <a:t>Treatment</a:t>
            </a:r>
          </a:p>
          <a:p>
            <a:pPr marL="0" indent="0">
              <a:buNone/>
            </a:pPr>
            <a:r>
              <a:rPr lang="en-US" sz="2800" dirty="0">
                <a:latin typeface="Times New Roman" panose="02020603050405020304" pitchFamily="18" charset="0"/>
                <a:cs typeface="Times New Roman" panose="02020603050405020304" pitchFamily="18" charset="0"/>
              </a:rPr>
              <a:t>Acyclovir </a:t>
            </a:r>
            <a:br>
              <a:rPr lang="en-US" sz="2800" dirty="0">
                <a:latin typeface="Times New Roman" panose="02020603050405020304" pitchFamily="18" charset="0"/>
                <a:cs typeface="Times New Roman" panose="02020603050405020304" pitchFamily="18" charset="0"/>
              </a:rPr>
            </a:br>
            <a:endParaRPr lang="en-US" dirty="0"/>
          </a:p>
        </p:txBody>
      </p:sp>
      <p:sp>
        <p:nvSpPr>
          <p:cNvPr id="4" name="Slide Number Placeholder 3">
            <a:extLst>
              <a:ext uri="{FF2B5EF4-FFF2-40B4-BE49-F238E27FC236}">
                <a16:creationId xmlns:a16="http://schemas.microsoft.com/office/drawing/2014/main" xmlns="" id="{74C7BAAE-0CC2-44BF-A245-9788FD362924}"/>
              </a:ext>
            </a:extLst>
          </p:cNvPr>
          <p:cNvSpPr>
            <a:spLocks noGrp="1"/>
          </p:cNvSpPr>
          <p:nvPr>
            <p:ph type="sldNum" sz="quarter" idx="12"/>
          </p:nvPr>
        </p:nvSpPr>
        <p:spPr/>
        <p:txBody>
          <a:bodyPr/>
          <a:lstStyle/>
          <a:p>
            <a:fld id="{70BDFE1C-33C9-4171-93AE-4B33857102B6}" type="slidenum">
              <a:rPr lang="en-US" smtClean="0"/>
              <a:t>56</a:t>
            </a:fld>
            <a:endParaRPr lang="en-US"/>
          </a:p>
        </p:txBody>
      </p:sp>
    </p:spTree>
    <p:extLst>
      <p:ext uri="{BB962C8B-B14F-4D97-AF65-F5344CB8AC3E}">
        <p14:creationId xmlns:p14="http://schemas.microsoft.com/office/powerpoint/2010/main" val="13904486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p:cNvSpPr>
            <a:spLocks noGrp="1"/>
          </p:cNvSpPr>
          <p:nvPr>
            <p:ph type="title"/>
          </p:nvPr>
        </p:nvSpPr>
        <p:spPr/>
        <p:txBody>
          <a:bodyPr/>
          <a:lstStyle/>
          <a:p>
            <a:r>
              <a:rPr lang="en-US"/>
              <a:t>Hepatitis B</a:t>
            </a:r>
          </a:p>
        </p:txBody>
      </p:sp>
      <p:sp>
        <p:nvSpPr>
          <p:cNvPr id="111619" name="Content Placeholder 2"/>
          <p:cNvSpPr>
            <a:spLocks noGrp="1"/>
          </p:cNvSpPr>
          <p:nvPr>
            <p:ph sz="half" idx="2"/>
          </p:nvPr>
        </p:nvSpPr>
        <p:spPr>
          <a:xfrm>
            <a:off x="814388" y="1579418"/>
            <a:ext cx="5183188" cy="4610245"/>
          </a:xfrm>
        </p:spPr>
        <p:txBody>
          <a:bodyPr>
            <a:normAutofit fontScale="70000" lnSpcReduction="20000"/>
          </a:bodyPr>
          <a:lstStyle/>
          <a:p>
            <a:pPr>
              <a:defRPr/>
            </a:pPr>
            <a:r>
              <a:rPr lang="en-US" dirty="0"/>
              <a:t>Hepatitis B (serum hepatitis) is caused by a double-shelled DNA virus</a:t>
            </a:r>
          </a:p>
          <a:p>
            <a:pPr>
              <a:defRPr/>
            </a:pPr>
            <a:r>
              <a:rPr lang="en-US" dirty="0"/>
              <a:t>It has a long incubation period (45-160 days) after exposure</a:t>
            </a:r>
          </a:p>
        </p:txBody>
      </p:sp>
      <p:sp>
        <p:nvSpPr>
          <p:cNvPr id="5" name="Text Placeholder 4">
            <a:extLst>
              <a:ext uri="{FF2B5EF4-FFF2-40B4-BE49-F238E27FC236}">
                <a16:creationId xmlns:a16="http://schemas.microsoft.com/office/drawing/2014/main" xmlns="" id="{DDF96B32-F8D4-4D98-B22E-C5AB3A996B5E}"/>
              </a:ext>
            </a:extLst>
          </p:cNvPr>
          <p:cNvSpPr>
            <a:spLocks noGrp="1"/>
          </p:cNvSpPr>
          <p:nvPr>
            <p:ph type="body" sz="quarter" idx="3"/>
          </p:nvPr>
        </p:nvSpPr>
        <p:spPr>
          <a:xfrm>
            <a:off x="6169024" y="950120"/>
            <a:ext cx="5183188" cy="823912"/>
          </a:xfrm>
        </p:spPr>
        <p:txBody>
          <a:bodyPr/>
          <a:lstStyle/>
          <a:p>
            <a:r>
              <a:rPr lang="en-US" dirty="0"/>
              <a:t>Risk factor</a:t>
            </a:r>
          </a:p>
        </p:txBody>
      </p:sp>
      <p:sp>
        <p:nvSpPr>
          <p:cNvPr id="2" name="Content Placeholder 1">
            <a:extLst>
              <a:ext uri="{FF2B5EF4-FFF2-40B4-BE49-F238E27FC236}">
                <a16:creationId xmlns:a16="http://schemas.microsoft.com/office/drawing/2014/main" xmlns="" id="{0AE1C2BC-CB34-4530-A806-64E61FB9F040}"/>
              </a:ext>
            </a:extLst>
          </p:cNvPr>
          <p:cNvSpPr>
            <a:spLocks noGrp="1"/>
          </p:cNvSpPr>
          <p:nvPr>
            <p:ph sz="quarter" idx="4"/>
          </p:nvPr>
        </p:nvSpPr>
        <p:spPr>
          <a:xfrm>
            <a:off x="6096000" y="2105891"/>
            <a:ext cx="5259388" cy="4083772"/>
          </a:xfrm>
        </p:spPr>
        <p:txBody>
          <a:bodyPr>
            <a:normAutofit fontScale="70000" lnSpcReduction="20000"/>
          </a:bodyPr>
          <a:lstStyle/>
          <a:p>
            <a:pPr>
              <a:defRPr/>
            </a:pPr>
            <a:r>
              <a:rPr lang="en-US" dirty="0"/>
              <a:t>Factors associated with higher rates of HBV transmission to neonates are:</a:t>
            </a:r>
          </a:p>
          <a:p>
            <a:pPr marL="514350" indent="-514350">
              <a:buFont typeface="+mj-lt"/>
              <a:buAutoNum type="arabicPeriod"/>
              <a:defRPr/>
            </a:pPr>
            <a:r>
              <a:rPr lang="en-US" dirty="0"/>
              <a:t>The presence of </a:t>
            </a:r>
            <a:r>
              <a:rPr lang="en-US" dirty="0" err="1"/>
              <a:t>HBe</a:t>
            </a:r>
            <a:r>
              <a:rPr lang="en-US" dirty="0"/>
              <a:t> antigen and absence of anti-</a:t>
            </a:r>
            <a:r>
              <a:rPr lang="en-US" dirty="0" err="1"/>
              <a:t>HBe</a:t>
            </a:r>
            <a:r>
              <a:rPr lang="en-US" dirty="0"/>
              <a:t> in maternal serum</a:t>
            </a:r>
          </a:p>
          <a:p>
            <a:pPr marL="514350" indent="-514350">
              <a:buFont typeface="+mj-lt"/>
              <a:buAutoNum type="arabicPeriod"/>
              <a:defRPr/>
            </a:pPr>
            <a:r>
              <a:rPr lang="en-US" dirty="0"/>
              <a:t>Maternal acute hepatitis in the third trimester or immediately postpartum (70% attack rate)</a:t>
            </a:r>
          </a:p>
          <a:p>
            <a:pPr marL="514350" indent="-514350">
              <a:buFont typeface="+mj-lt"/>
              <a:buAutoNum type="arabicPeriod" startAt="3"/>
              <a:defRPr/>
            </a:pPr>
            <a:r>
              <a:rPr lang="en-US" dirty="0"/>
              <a:t>Higher-titer HBsAg in maternal serum</a:t>
            </a:r>
          </a:p>
          <a:p>
            <a:pPr marL="514350" indent="-514350">
              <a:buFont typeface="+mj-lt"/>
              <a:buAutoNum type="arabicPeriod" startAt="3"/>
              <a:defRPr/>
            </a:pPr>
            <a:r>
              <a:rPr lang="en-US" dirty="0"/>
              <a:t>Antigenemia present in older siblings</a:t>
            </a:r>
          </a:p>
          <a:p>
            <a:pPr marL="0" indent="0">
              <a:buNone/>
              <a:defRPr/>
            </a:pPr>
            <a:r>
              <a:rPr lang="en-US" dirty="0"/>
              <a:t>Factors not related to transmission are</a:t>
            </a:r>
          </a:p>
          <a:p>
            <a:pPr marL="914400" lvl="1" indent="-514350">
              <a:buFont typeface="+mj-lt"/>
              <a:buAutoNum type="alphaUcPeriod"/>
              <a:defRPr/>
            </a:pPr>
            <a:r>
              <a:rPr lang="en-US" dirty="0"/>
              <a:t>The particular HBV subtype in the mother</a:t>
            </a:r>
          </a:p>
          <a:p>
            <a:pPr marL="914400" lvl="1" indent="-514350">
              <a:buFont typeface="+mj-lt"/>
              <a:buAutoNum type="alphaUcPeriod"/>
              <a:defRPr/>
            </a:pPr>
            <a:r>
              <a:rPr lang="en-US" dirty="0"/>
              <a:t>The presence or absence of HBsAg in amniotic fluid</a:t>
            </a:r>
          </a:p>
          <a:p>
            <a:pPr marL="914400" lvl="1" indent="-514350">
              <a:buFont typeface="+mj-lt"/>
              <a:buAutoNum type="alphaUcPeriod"/>
              <a:defRPr/>
            </a:pPr>
            <a:r>
              <a:rPr lang="en-US" dirty="0"/>
              <a:t>The presence or titer of anti-HBc in cord blood</a:t>
            </a:r>
          </a:p>
          <a:p>
            <a:endParaRPr lang="en-US" dirty="0"/>
          </a:p>
        </p:txBody>
      </p:sp>
      <p:sp>
        <p:nvSpPr>
          <p:cNvPr id="15365"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solidFill>
                  <a:schemeClr val="tx1"/>
                </a:solidFill>
              </a:rPr>
              <a:t>Birzaf Woldetensai</a:t>
            </a:r>
          </a:p>
        </p:txBody>
      </p:sp>
      <p:sp>
        <p:nvSpPr>
          <p:cNvPr id="15364"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F66E748-DB67-4482-A907-9CB95EE941DD}" type="slidenum">
              <a:rPr lang="en-US" smtClean="0">
                <a:solidFill>
                  <a:schemeClr val="tx1"/>
                </a:solidFill>
              </a:rPr>
              <a:pPr fontAlgn="base">
                <a:spcBef>
                  <a:spcPct val="0"/>
                </a:spcBef>
                <a:spcAft>
                  <a:spcPct val="0"/>
                </a:spcAft>
                <a:defRPr/>
              </a:pPr>
              <a:t>57</a:t>
            </a:fld>
            <a:endParaRPr lang="en-US">
              <a:solidFill>
                <a:schemeClr val="tx1"/>
              </a:solidFill>
            </a:endParaRPr>
          </a:p>
        </p:txBody>
      </p:sp>
    </p:spTree>
    <p:extLst>
      <p:ext uri="{BB962C8B-B14F-4D97-AF65-F5344CB8AC3E}">
        <p14:creationId xmlns:p14="http://schemas.microsoft.com/office/powerpoint/2010/main" val="20793634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itle 1"/>
          <p:cNvSpPr>
            <a:spLocks noGrp="1"/>
          </p:cNvSpPr>
          <p:nvPr>
            <p:ph type="title"/>
          </p:nvPr>
        </p:nvSpPr>
        <p:spPr/>
        <p:txBody>
          <a:bodyPr/>
          <a:lstStyle/>
          <a:p>
            <a:pPr eaLnBrk="1" hangingPunct="1"/>
            <a:r>
              <a:rPr lang="en-US"/>
              <a:t>Clinical presentation</a:t>
            </a:r>
          </a:p>
        </p:txBody>
      </p:sp>
      <p:sp>
        <p:nvSpPr>
          <p:cNvPr id="114691" name="Content Placeholder 2"/>
          <p:cNvSpPr>
            <a:spLocks noGrp="1"/>
          </p:cNvSpPr>
          <p:nvPr>
            <p:ph sz="half" idx="1"/>
          </p:nvPr>
        </p:nvSpPr>
        <p:spPr/>
        <p:txBody>
          <a:bodyPr>
            <a:normAutofit fontScale="92500" lnSpcReduction="10000"/>
          </a:bodyPr>
          <a:lstStyle/>
          <a:p>
            <a:r>
              <a:rPr lang="en-US"/>
              <a:t>Maternal hepatitis B infection has not been associated with abortion,stillbirth, or congenital malformations</a:t>
            </a:r>
          </a:p>
          <a:p>
            <a:r>
              <a:rPr lang="en-US"/>
              <a:t>Prematurity has occurred, especially with acute hepatitis during pregnancy. Fetuses or newborns exposed to HBV present a wide spectrum of disease</a:t>
            </a:r>
          </a:p>
          <a:p>
            <a:r>
              <a:rPr lang="en-US"/>
              <a:t>Infants  are usually asymptomatic</a:t>
            </a:r>
          </a:p>
          <a:p>
            <a:r>
              <a:rPr lang="en-US"/>
              <a:t>jaundice appears in &lt;3%</a:t>
            </a:r>
          </a:p>
        </p:txBody>
      </p:sp>
      <p:sp>
        <p:nvSpPr>
          <p:cNvPr id="2" name="Content Placeholder 1">
            <a:extLst>
              <a:ext uri="{FF2B5EF4-FFF2-40B4-BE49-F238E27FC236}">
                <a16:creationId xmlns:a16="http://schemas.microsoft.com/office/drawing/2014/main" xmlns="" id="{67B7CD62-72E4-4DC0-A8D0-267D2A9E26CA}"/>
              </a:ext>
            </a:extLst>
          </p:cNvPr>
          <p:cNvSpPr>
            <a:spLocks noGrp="1"/>
          </p:cNvSpPr>
          <p:nvPr>
            <p:ph sz="half" idx="2"/>
          </p:nvPr>
        </p:nvSpPr>
        <p:spPr/>
        <p:txBody>
          <a:bodyPr>
            <a:normAutofit fontScale="92500" lnSpcReduction="10000"/>
          </a:bodyPr>
          <a:lstStyle/>
          <a:p>
            <a:r>
              <a:rPr lang="en-US" dirty="0"/>
              <a:t>Clinical presentations are various</a:t>
            </a:r>
          </a:p>
          <a:p>
            <a:pPr lvl="1"/>
            <a:r>
              <a:rPr lang="en-US" dirty="0"/>
              <a:t>Chronic active hepatitis with or without cirrhosis</a:t>
            </a:r>
          </a:p>
          <a:p>
            <a:pPr lvl="1"/>
            <a:r>
              <a:rPr lang="en-US" dirty="0"/>
              <a:t>Chronic persistent hepatitis</a:t>
            </a:r>
          </a:p>
          <a:p>
            <a:pPr lvl="1"/>
            <a:r>
              <a:rPr lang="en-US" dirty="0"/>
              <a:t>Chronic asymptomatic HBsAg carriage</a:t>
            </a:r>
          </a:p>
          <a:p>
            <a:pPr lvl="1"/>
            <a:r>
              <a:rPr lang="en-US" dirty="0"/>
              <a:t>Fulminant fatal hepatitis B (rare)</a:t>
            </a:r>
          </a:p>
          <a:p>
            <a:endParaRPr lang="en-US" dirty="0"/>
          </a:p>
        </p:txBody>
      </p:sp>
      <p:sp>
        <p:nvSpPr>
          <p:cNvPr id="15365"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solidFill>
                  <a:schemeClr val="tx1"/>
                </a:solidFill>
              </a:rPr>
              <a:t>Birzaf Woldetensai</a:t>
            </a:r>
          </a:p>
        </p:txBody>
      </p:sp>
      <p:sp>
        <p:nvSpPr>
          <p:cNvPr id="15364"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8E9F4FDD-64BE-4188-B3DF-59A9E7DC84B5}" type="slidenum">
              <a:rPr lang="en-US" smtClean="0">
                <a:solidFill>
                  <a:schemeClr val="tx1"/>
                </a:solidFill>
              </a:rPr>
              <a:pPr fontAlgn="base">
                <a:spcBef>
                  <a:spcPct val="0"/>
                </a:spcBef>
                <a:spcAft>
                  <a:spcPct val="0"/>
                </a:spcAft>
                <a:defRPr/>
              </a:pPr>
              <a:t>58</a:t>
            </a:fld>
            <a:endParaRPr lang="en-US">
              <a:solidFill>
                <a:schemeClr val="tx1"/>
              </a:solidFill>
            </a:endParaRPr>
          </a:p>
        </p:txBody>
      </p:sp>
    </p:spTree>
    <p:extLst>
      <p:ext uri="{BB962C8B-B14F-4D97-AF65-F5344CB8AC3E}">
        <p14:creationId xmlns:p14="http://schemas.microsoft.com/office/powerpoint/2010/main" val="38640322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itle 1"/>
          <p:cNvSpPr>
            <a:spLocks noGrp="1"/>
          </p:cNvSpPr>
          <p:nvPr>
            <p:ph type="title"/>
          </p:nvPr>
        </p:nvSpPr>
        <p:spPr/>
        <p:txBody>
          <a:bodyPr/>
          <a:lstStyle/>
          <a:p>
            <a:pPr eaLnBrk="1" hangingPunct="1"/>
            <a:r>
              <a:rPr lang="en-US"/>
              <a:t>Diagnosis</a:t>
            </a:r>
          </a:p>
        </p:txBody>
      </p:sp>
      <p:sp>
        <p:nvSpPr>
          <p:cNvPr id="115715" name="Content Placeholder 2"/>
          <p:cNvSpPr>
            <a:spLocks noGrp="1"/>
          </p:cNvSpPr>
          <p:nvPr>
            <p:ph sz="half" idx="1"/>
          </p:nvPr>
        </p:nvSpPr>
        <p:spPr/>
        <p:txBody>
          <a:bodyPr/>
          <a:lstStyle/>
          <a:p>
            <a:pPr marL="0" indent="0">
              <a:buNone/>
              <a:defRPr/>
            </a:pPr>
            <a:r>
              <a:rPr lang="en-US" dirty="0"/>
              <a:t>Differential diagnosis</a:t>
            </a:r>
          </a:p>
          <a:p>
            <a:pPr>
              <a:defRPr/>
            </a:pPr>
            <a:r>
              <a:rPr lang="en-US" dirty="0"/>
              <a:t>biliary atresia </a:t>
            </a:r>
          </a:p>
          <a:p>
            <a:pPr>
              <a:defRPr/>
            </a:pPr>
            <a:r>
              <a:rPr lang="en-US" dirty="0"/>
              <a:t>acute hepatitis secondary to other viruses (</a:t>
            </a:r>
            <a:r>
              <a:rPr lang="en-US" dirty="0" err="1"/>
              <a:t>eg</a:t>
            </a:r>
            <a:r>
              <a:rPr lang="en-US" dirty="0"/>
              <a:t>, hepatitis A, CMV, rubella, and HSV)</a:t>
            </a:r>
          </a:p>
        </p:txBody>
      </p:sp>
      <p:sp>
        <p:nvSpPr>
          <p:cNvPr id="2" name="Content Placeholder 1">
            <a:extLst>
              <a:ext uri="{FF2B5EF4-FFF2-40B4-BE49-F238E27FC236}">
                <a16:creationId xmlns:a16="http://schemas.microsoft.com/office/drawing/2014/main" xmlns="" id="{6ABD4524-3188-4DB2-B650-F094BF7D6A69}"/>
              </a:ext>
            </a:extLst>
          </p:cNvPr>
          <p:cNvSpPr>
            <a:spLocks noGrp="1"/>
          </p:cNvSpPr>
          <p:nvPr>
            <p:ph sz="half" idx="2"/>
          </p:nvPr>
        </p:nvSpPr>
        <p:spPr/>
        <p:txBody>
          <a:bodyPr/>
          <a:lstStyle/>
          <a:p>
            <a:pPr>
              <a:defRPr/>
            </a:pPr>
            <a:r>
              <a:rPr lang="en-US" dirty="0"/>
              <a:t>Mother Test for HBsAg, </a:t>
            </a:r>
            <a:r>
              <a:rPr lang="en-US" dirty="0" err="1"/>
              <a:t>HBeAg</a:t>
            </a:r>
            <a:r>
              <a:rPr lang="en-US" dirty="0"/>
              <a:t>, anti-</a:t>
            </a:r>
            <a:r>
              <a:rPr lang="en-US" dirty="0" err="1"/>
              <a:t>HBe</a:t>
            </a:r>
            <a:r>
              <a:rPr lang="en-US" dirty="0"/>
              <a:t>, and anti-HBc.</a:t>
            </a:r>
          </a:p>
          <a:p>
            <a:pPr>
              <a:defRPr/>
            </a:pPr>
            <a:r>
              <a:rPr lang="en-US" dirty="0"/>
              <a:t>Infant. Test for HBsAg and anti-HBc-IgM</a:t>
            </a:r>
          </a:p>
          <a:p>
            <a:pPr>
              <a:defRPr/>
            </a:pPr>
            <a:r>
              <a:rPr lang="en-US" dirty="0"/>
              <a:t>Transaminases</a:t>
            </a:r>
            <a:endParaRPr lang="en-US" sz="2000" dirty="0"/>
          </a:p>
          <a:p>
            <a:pPr>
              <a:defRPr/>
            </a:pPr>
            <a:r>
              <a:rPr lang="en-US" dirty="0"/>
              <a:t>Bilirubin (direct and indirect)</a:t>
            </a:r>
          </a:p>
          <a:p>
            <a:pPr>
              <a:defRPr/>
            </a:pPr>
            <a:r>
              <a:rPr lang="en-US" dirty="0"/>
              <a:t>Liver biopsy</a:t>
            </a:r>
            <a:endParaRPr lang="en-US" sz="2000" dirty="0"/>
          </a:p>
          <a:p>
            <a:pPr>
              <a:defRPr/>
            </a:pPr>
            <a:r>
              <a:rPr lang="en-US" dirty="0"/>
              <a:t>Hepatitis panel testing</a:t>
            </a:r>
          </a:p>
          <a:p>
            <a:endParaRPr lang="en-US" dirty="0"/>
          </a:p>
        </p:txBody>
      </p:sp>
      <p:sp>
        <p:nvSpPr>
          <p:cNvPr id="15365"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solidFill>
                  <a:schemeClr val="tx1"/>
                </a:solidFill>
              </a:rPr>
              <a:t>Birzaf Woldetensai</a:t>
            </a:r>
          </a:p>
        </p:txBody>
      </p:sp>
      <p:sp>
        <p:nvSpPr>
          <p:cNvPr id="15364"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FA63F6C1-A758-49C0-AE83-0C63EE0BF4FA}" type="slidenum">
              <a:rPr lang="en-US" smtClean="0">
                <a:solidFill>
                  <a:schemeClr val="tx1"/>
                </a:solidFill>
              </a:rPr>
              <a:pPr fontAlgn="base">
                <a:spcBef>
                  <a:spcPct val="0"/>
                </a:spcBef>
                <a:spcAft>
                  <a:spcPct val="0"/>
                </a:spcAft>
                <a:defRPr/>
              </a:pPr>
              <a:t>59</a:t>
            </a:fld>
            <a:endParaRPr lang="en-US">
              <a:solidFill>
                <a:schemeClr val="tx1"/>
              </a:solidFill>
            </a:endParaRPr>
          </a:p>
        </p:txBody>
      </p:sp>
    </p:spTree>
    <p:extLst>
      <p:ext uri="{BB962C8B-B14F-4D97-AF65-F5344CB8AC3E}">
        <p14:creationId xmlns:p14="http://schemas.microsoft.com/office/powerpoint/2010/main" val="20510460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itle 1"/>
          <p:cNvSpPr>
            <a:spLocks noGrp="1"/>
          </p:cNvSpPr>
          <p:nvPr>
            <p:ph type="title"/>
          </p:nvPr>
        </p:nvSpPr>
        <p:spPr/>
        <p:txBody>
          <a:bodyPr/>
          <a:lstStyle/>
          <a:p>
            <a:pPr eaLnBrk="1" hangingPunct="1"/>
            <a:r>
              <a:rPr lang="en-US"/>
              <a:t>Management</a:t>
            </a:r>
          </a:p>
        </p:txBody>
      </p:sp>
      <p:sp>
        <p:nvSpPr>
          <p:cNvPr id="118787" name="Content Placeholder 2"/>
          <p:cNvSpPr>
            <a:spLocks noGrp="1"/>
          </p:cNvSpPr>
          <p:nvPr>
            <p:ph sz="half" idx="2"/>
          </p:nvPr>
        </p:nvSpPr>
        <p:spPr>
          <a:xfrm>
            <a:off x="836612" y="1681163"/>
            <a:ext cx="5160963" cy="4508500"/>
          </a:xfrm>
        </p:spPr>
        <p:txBody>
          <a:bodyPr>
            <a:normAutofit lnSpcReduction="10000"/>
          </a:bodyPr>
          <a:lstStyle/>
          <a:p>
            <a:r>
              <a:rPr lang="en-US" dirty="0"/>
              <a:t>Mother is HBsAg-positive, regardless of the status of her </a:t>
            </a:r>
            <a:r>
              <a:rPr lang="en-US" dirty="0" err="1"/>
              <a:t>Hbe</a:t>
            </a:r>
            <a:r>
              <a:rPr lang="en-US" dirty="0"/>
              <a:t> antigen or antibody, the infant should be given hepatitis B immune globulin (HBIG)</a:t>
            </a:r>
          </a:p>
          <a:p>
            <a:pPr lvl="1"/>
            <a:r>
              <a:rPr lang="en-US" dirty="0"/>
              <a:t>0.5 mL IM, within 12 h after delivery</a:t>
            </a:r>
          </a:p>
          <a:p>
            <a:pPr lvl="1"/>
            <a:r>
              <a:rPr lang="en-US" dirty="0"/>
              <a:t>hepatitis B vaccine</a:t>
            </a:r>
          </a:p>
          <a:p>
            <a:r>
              <a:rPr lang="en-US" dirty="0" err="1"/>
              <a:t>Recombivax</a:t>
            </a:r>
            <a:r>
              <a:rPr lang="en-US" dirty="0"/>
              <a:t> (5 mcg [1.0 mL]) or </a:t>
            </a:r>
            <a:r>
              <a:rPr lang="en-US" dirty="0" err="1"/>
              <a:t>Engerix</a:t>
            </a:r>
            <a:r>
              <a:rPr lang="en-US" dirty="0"/>
              <a:t> (10 mcg [0.5 mL]) IM given at birth and at 1 month and 6 months of age.</a:t>
            </a:r>
          </a:p>
        </p:txBody>
      </p:sp>
      <p:sp>
        <p:nvSpPr>
          <p:cNvPr id="4" name="Text Placeholder 3">
            <a:extLst>
              <a:ext uri="{FF2B5EF4-FFF2-40B4-BE49-F238E27FC236}">
                <a16:creationId xmlns:a16="http://schemas.microsoft.com/office/drawing/2014/main" xmlns="" id="{3C720E5E-E13B-43AE-8348-3E6B8371A072}"/>
              </a:ext>
            </a:extLst>
          </p:cNvPr>
          <p:cNvSpPr>
            <a:spLocks noGrp="1"/>
          </p:cNvSpPr>
          <p:nvPr>
            <p:ph type="body" sz="quarter" idx="3"/>
          </p:nvPr>
        </p:nvSpPr>
        <p:spPr/>
        <p:txBody>
          <a:bodyPr/>
          <a:lstStyle/>
          <a:p>
            <a:r>
              <a:rPr lang="en-US" dirty="0"/>
              <a:t>Isolation</a:t>
            </a:r>
          </a:p>
        </p:txBody>
      </p:sp>
      <p:sp>
        <p:nvSpPr>
          <p:cNvPr id="2" name="Content Placeholder 1">
            <a:extLst>
              <a:ext uri="{FF2B5EF4-FFF2-40B4-BE49-F238E27FC236}">
                <a16:creationId xmlns:a16="http://schemas.microsoft.com/office/drawing/2014/main" xmlns="" id="{A1B49346-7A10-4265-8055-3B49152D28B9}"/>
              </a:ext>
            </a:extLst>
          </p:cNvPr>
          <p:cNvSpPr>
            <a:spLocks noGrp="1"/>
          </p:cNvSpPr>
          <p:nvPr>
            <p:ph sz="quarter" idx="4"/>
          </p:nvPr>
        </p:nvSpPr>
        <p:spPr/>
        <p:txBody>
          <a:bodyPr>
            <a:normAutofit lnSpcReduction="10000"/>
          </a:bodyPr>
          <a:lstStyle/>
          <a:p>
            <a:r>
              <a:rPr lang="en-US" dirty="0"/>
              <a:t>Precautions are needed in handling blood and secretions</a:t>
            </a:r>
          </a:p>
          <a:p>
            <a:r>
              <a:rPr lang="en-US" dirty="0"/>
              <a:t>Breast-feeding</a:t>
            </a:r>
          </a:p>
          <a:p>
            <a:r>
              <a:rPr lang="en-US" dirty="0"/>
              <a:t>HBsAg has been detected in breast milk of HBsAg-positive mothers breast-feeding can be encouraged</a:t>
            </a:r>
            <a:endParaRPr lang="en-US" sz="1800" dirty="0"/>
          </a:p>
          <a:p>
            <a:endParaRPr lang="en-US" dirty="0"/>
          </a:p>
        </p:txBody>
      </p:sp>
      <p:sp>
        <p:nvSpPr>
          <p:cNvPr id="15365"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solidFill>
                  <a:schemeClr val="tx1"/>
                </a:solidFill>
              </a:rPr>
              <a:t>Birzaf Woldetensai</a:t>
            </a:r>
          </a:p>
        </p:txBody>
      </p:sp>
      <p:sp>
        <p:nvSpPr>
          <p:cNvPr id="15364"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E01290E0-A468-4F36-8AAA-F376544C99A9}" type="slidenum">
              <a:rPr lang="en-US" smtClean="0">
                <a:solidFill>
                  <a:schemeClr val="tx1"/>
                </a:solidFill>
              </a:rPr>
              <a:pPr fontAlgn="base">
                <a:spcBef>
                  <a:spcPct val="0"/>
                </a:spcBef>
                <a:spcAft>
                  <a:spcPct val="0"/>
                </a:spcAft>
                <a:defRPr/>
              </a:pPr>
              <a:t>60</a:t>
            </a:fld>
            <a:endParaRPr lang="en-US">
              <a:solidFill>
                <a:schemeClr val="tx1"/>
              </a:solidFill>
            </a:endParaRPr>
          </a:p>
        </p:txBody>
      </p:sp>
    </p:spTree>
    <p:extLst>
      <p:ext uri="{BB962C8B-B14F-4D97-AF65-F5344CB8AC3E}">
        <p14:creationId xmlns:p14="http://schemas.microsoft.com/office/powerpoint/2010/main" val="21811074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4643D58D-19CB-4A8E-87E7-21404B6E8CA9}"/>
              </a:ext>
            </a:extLst>
          </p:cNvPr>
          <p:cNvSpPr>
            <a:spLocks noGrp="1"/>
          </p:cNvSpPr>
          <p:nvPr>
            <p:ph type="body" idx="1"/>
          </p:nvPr>
        </p:nvSpPr>
        <p:spPr>
          <a:xfrm>
            <a:off x="659679" y="199954"/>
            <a:ext cx="5157787" cy="823912"/>
          </a:xfrm>
        </p:spPr>
        <p:txBody>
          <a:bodyPr/>
          <a:lstStyle/>
          <a:p>
            <a:r>
              <a:rPr lang="en-US" dirty="0"/>
              <a:t>Vaccine efficacy</a:t>
            </a:r>
          </a:p>
        </p:txBody>
      </p:sp>
      <p:sp>
        <p:nvSpPr>
          <p:cNvPr id="123907" name="Content Placeholder 2"/>
          <p:cNvSpPr>
            <a:spLocks noGrp="1"/>
          </p:cNvSpPr>
          <p:nvPr>
            <p:ph sz="half" idx="2"/>
          </p:nvPr>
        </p:nvSpPr>
        <p:spPr>
          <a:xfrm>
            <a:off x="659678" y="1586706"/>
            <a:ext cx="5157787" cy="3684588"/>
          </a:xfrm>
        </p:spPr>
        <p:txBody>
          <a:bodyPr>
            <a:normAutofit fontScale="92500" lnSpcReduction="20000"/>
          </a:bodyPr>
          <a:lstStyle/>
          <a:p>
            <a:r>
              <a:rPr lang="en-US" dirty="0"/>
              <a:t>The overall protective efficiency rate in neonates given HBV vaccine and HBIG exceeds 93%. </a:t>
            </a:r>
          </a:p>
          <a:p>
            <a:r>
              <a:rPr lang="en-US" dirty="0"/>
              <a:t>The HBV-infected neonate is usually asymptomatic but may develop mild clinical hepatitis and usually becomes a chronic carrier</a:t>
            </a:r>
          </a:p>
        </p:txBody>
      </p:sp>
      <p:sp>
        <p:nvSpPr>
          <p:cNvPr id="4" name="Text Placeholder 3">
            <a:extLst>
              <a:ext uri="{FF2B5EF4-FFF2-40B4-BE49-F238E27FC236}">
                <a16:creationId xmlns:a16="http://schemas.microsoft.com/office/drawing/2014/main" xmlns="" id="{1AA81969-08C9-4C08-A2B7-BB6AE67C9A00}"/>
              </a:ext>
            </a:extLst>
          </p:cNvPr>
          <p:cNvSpPr>
            <a:spLocks noGrp="1"/>
          </p:cNvSpPr>
          <p:nvPr>
            <p:ph type="body" sz="quarter" idx="3"/>
          </p:nvPr>
        </p:nvSpPr>
        <p:spPr>
          <a:xfrm>
            <a:off x="6096000" y="256381"/>
            <a:ext cx="5183188" cy="823912"/>
          </a:xfrm>
        </p:spPr>
        <p:txBody>
          <a:bodyPr/>
          <a:lstStyle/>
          <a:p>
            <a:r>
              <a:rPr lang="en-US" dirty="0"/>
              <a:t>Immunization program</a:t>
            </a:r>
          </a:p>
        </p:txBody>
      </p:sp>
      <p:sp>
        <p:nvSpPr>
          <p:cNvPr id="2" name="Content Placeholder 1">
            <a:extLst>
              <a:ext uri="{FF2B5EF4-FFF2-40B4-BE49-F238E27FC236}">
                <a16:creationId xmlns:a16="http://schemas.microsoft.com/office/drawing/2014/main" xmlns="" id="{04B59F91-214B-4F51-92F8-A0B4D4F7154D}"/>
              </a:ext>
            </a:extLst>
          </p:cNvPr>
          <p:cNvSpPr>
            <a:spLocks noGrp="1"/>
          </p:cNvSpPr>
          <p:nvPr>
            <p:ph sz="quarter" idx="4"/>
          </p:nvPr>
        </p:nvSpPr>
        <p:spPr>
          <a:xfrm>
            <a:off x="6170612" y="1465984"/>
            <a:ext cx="5183188" cy="3684588"/>
          </a:xfrm>
        </p:spPr>
        <p:txBody>
          <a:bodyPr>
            <a:normAutofit fontScale="92500" lnSpcReduction="20000"/>
          </a:bodyPr>
          <a:lstStyle/>
          <a:p>
            <a:r>
              <a:rPr lang="en-US" dirty="0"/>
              <a:t>The WHO recommends that all countries add HBV vaccine to their routine childhood immunization program by 1997</a:t>
            </a:r>
          </a:p>
          <a:p>
            <a:r>
              <a:rPr lang="en-US" dirty="0"/>
              <a:t>Two dose schedules have been proposed</a:t>
            </a:r>
          </a:p>
          <a:p>
            <a:r>
              <a:rPr lang="en-US" dirty="0"/>
              <a:t> Each includes 3 separate doses</a:t>
            </a:r>
          </a:p>
          <a:p>
            <a:r>
              <a:rPr lang="en-US" dirty="0"/>
              <a:t>In option 1, at birth, 1-2 months, and at 6-18months</a:t>
            </a:r>
          </a:p>
          <a:p>
            <a:r>
              <a:rPr lang="en-US" dirty="0"/>
              <a:t>in option 2, at 1-2 months, 4 months, and 6-18 months.</a:t>
            </a:r>
          </a:p>
          <a:p>
            <a:endParaRPr lang="en-US" dirty="0"/>
          </a:p>
        </p:txBody>
      </p:sp>
      <p:sp>
        <p:nvSpPr>
          <p:cNvPr id="15365"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solidFill>
                  <a:schemeClr val="tx1"/>
                </a:solidFill>
              </a:rPr>
              <a:t>Birzaf Woldetensai</a:t>
            </a:r>
          </a:p>
        </p:txBody>
      </p:sp>
      <p:sp>
        <p:nvSpPr>
          <p:cNvPr id="15364"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AAF285D6-A624-4262-AE10-D576D3FB5EBA}" type="slidenum">
              <a:rPr lang="en-US" smtClean="0">
                <a:solidFill>
                  <a:schemeClr val="tx1"/>
                </a:solidFill>
              </a:rPr>
              <a:pPr fontAlgn="base">
                <a:spcBef>
                  <a:spcPct val="0"/>
                </a:spcBef>
                <a:spcAft>
                  <a:spcPct val="0"/>
                </a:spcAft>
                <a:defRPr/>
              </a:pPr>
              <a:t>61</a:t>
            </a:fld>
            <a:endParaRPr lang="en-US">
              <a:solidFill>
                <a:schemeClr val="tx1"/>
              </a:solidFill>
            </a:endParaRPr>
          </a:p>
        </p:txBody>
      </p:sp>
    </p:spTree>
    <p:extLst>
      <p:ext uri="{BB962C8B-B14F-4D97-AF65-F5344CB8AC3E}">
        <p14:creationId xmlns:p14="http://schemas.microsoft.com/office/powerpoint/2010/main" val="30847249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Respiratory Distress in the Newborn </a:t>
            </a:r>
          </a:p>
        </p:txBody>
      </p:sp>
      <p:sp>
        <p:nvSpPr>
          <p:cNvPr id="3" name="Content Placeholder 2"/>
          <p:cNvSpPr>
            <a:spLocks noGrp="1"/>
          </p:cNvSpPr>
          <p:nvPr>
            <p:ph sz="half" idx="1"/>
          </p:nvPr>
        </p:nvSpPr>
        <p:spPr/>
        <p:txBody>
          <a:bodyPr>
            <a:normAutofit lnSpcReduction="10000"/>
          </a:bodyPr>
          <a:lstStyle/>
          <a:p>
            <a:pPr>
              <a:lnSpc>
                <a:spcPct val="90000"/>
              </a:lnSpc>
            </a:pPr>
            <a:r>
              <a:rPr lang="en-US" dirty="0"/>
              <a:t>Respiratory distress is a symptom complex arising from disease processes that causes failure to maintain adequate gaseous exchange  and it will manifest as:-</a:t>
            </a:r>
          </a:p>
          <a:p>
            <a:pPr lvl="1">
              <a:lnSpc>
                <a:spcPct val="90000"/>
              </a:lnSpc>
              <a:buFont typeface="Wingdings" pitchFamily="2" charset="2"/>
              <a:buChar char="ü"/>
            </a:pPr>
            <a:r>
              <a:rPr lang="en-US" dirty="0"/>
              <a:t>Cyanosis</a:t>
            </a:r>
          </a:p>
          <a:p>
            <a:pPr lvl="1">
              <a:lnSpc>
                <a:spcPct val="90000"/>
              </a:lnSpc>
              <a:buFont typeface="Wingdings" pitchFamily="2" charset="2"/>
              <a:buChar char="ü"/>
            </a:pPr>
            <a:r>
              <a:rPr lang="en-US" dirty="0"/>
              <a:t>Grunting</a:t>
            </a:r>
          </a:p>
          <a:p>
            <a:pPr lvl="1">
              <a:lnSpc>
                <a:spcPct val="90000"/>
              </a:lnSpc>
              <a:buFont typeface="Wingdings" pitchFamily="2" charset="2"/>
              <a:buChar char="ü"/>
            </a:pPr>
            <a:r>
              <a:rPr lang="en-US" dirty="0"/>
              <a:t>Retractions</a:t>
            </a:r>
          </a:p>
          <a:p>
            <a:pPr lvl="1">
              <a:lnSpc>
                <a:spcPct val="90000"/>
              </a:lnSpc>
              <a:buFont typeface="Wingdings" pitchFamily="2" charset="2"/>
              <a:buChar char="ü"/>
            </a:pPr>
            <a:r>
              <a:rPr lang="en-US" dirty="0"/>
              <a:t>Tachypnea</a:t>
            </a:r>
          </a:p>
          <a:p>
            <a:pPr lvl="1">
              <a:lnSpc>
                <a:spcPct val="90000"/>
              </a:lnSpc>
              <a:buFont typeface="Wingdings" pitchFamily="2" charset="2"/>
              <a:buChar char="ü"/>
            </a:pPr>
            <a:r>
              <a:rPr lang="en-US" dirty="0"/>
              <a:t>Nasal flaring</a:t>
            </a:r>
          </a:p>
          <a:p>
            <a:pPr lvl="1">
              <a:lnSpc>
                <a:spcPct val="90000"/>
              </a:lnSpc>
              <a:buFont typeface="Wingdings" pitchFamily="2" charset="2"/>
              <a:buChar char="ü"/>
            </a:pPr>
            <a:r>
              <a:rPr lang="en-US" dirty="0"/>
              <a:t>Extreme: Apnea, Shock</a:t>
            </a:r>
          </a:p>
          <a:p>
            <a:endParaRPr lang="en-US" dirty="0"/>
          </a:p>
        </p:txBody>
      </p:sp>
      <p:sp>
        <p:nvSpPr>
          <p:cNvPr id="4" name="Content Placeholder 3">
            <a:extLst>
              <a:ext uri="{FF2B5EF4-FFF2-40B4-BE49-F238E27FC236}">
                <a16:creationId xmlns:a16="http://schemas.microsoft.com/office/drawing/2014/main" xmlns="" id="{670DE37E-C799-4F18-A934-AE78077F9941}"/>
              </a:ext>
            </a:extLst>
          </p:cNvPr>
          <p:cNvSpPr>
            <a:spLocks noGrp="1"/>
          </p:cNvSpPr>
          <p:nvPr>
            <p:ph sz="half" idx="2"/>
          </p:nvPr>
        </p:nvSpPr>
        <p:spPr/>
        <p:txBody>
          <a:bodyPr>
            <a:normAutofit lnSpcReduction="10000"/>
          </a:bodyPr>
          <a:lstStyle/>
          <a:p>
            <a:pPr marL="0" indent="0">
              <a:buNone/>
            </a:pPr>
            <a:r>
              <a:rPr lang="en-US" dirty="0"/>
              <a:t>Causes</a:t>
            </a:r>
          </a:p>
          <a:p>
            <a:r>
              <a:rPr lang="en-US" dirty="0"/>
              <a:t>Respiratory distress syndrome (RDS)</a:t>
            </a:r>
          </a:p>
          <a:p>
            <a:r>
              <a:rPr lang="en-US" dirty="0"/>
              <a:t>Pneumonia</a:t>
            </a:r>
          </a:p>
          <a:p>
            <a:r>
              <a:rPr lang="en-US" dirty="0"/>
              <a:t>Meconium Aspiration</a:t>
            </a:r>
          </a:p>
          <a:p>
            <a:r>
              <a:rPr lang="en-US" dirty="0"/>
              <a:t>Transient Tachypnea</a:t>
            </a:r>
          </a:p>
          <a:p>
            <a:r>
              <a:rPr lang="en-US" dirty="0"/>
              <a:t>Hypothermia</a:t>
            </a:r>
          </a:p>
          <a:p>
            <a:r>
              <a:rPr lang="en-US" dirty="0"/>
              <a:t>Hypoglycemia</a:t>
            </a:r>
          </a:p>
          <a:p>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xmlns="" id="{A52981D0-7E24-45E7-BE40-AD86E669C788}"/>
              </a:ext>
            </a:extLst>
          </p:cNvPr>
          <p:cNvSpPr>
            <a:spLocks noGrp="1"/>
          </p:cNvSpPr>
          <p:nvPr>
            <p:ph type="body" idx="1"/>
          </p:nvPr>
        </p:nvSpPr>
        <p:spPr>
          <a:xfrm>
            <a:off x="839787" y="461963"/>
            <a:ext cx="5157787" cy="823912"/>
          </a:xfrm>
        </p:spPr>
        <p:txBody>
          <a:bodyPr/>
          <a:lstStyle/>
          <a:p>
            <a:r>
              <a:rPr lang="en-US" dirty="0"/>
              <a:t>Laboratory tests</a:t>
            </a:r>
          </a:p>
        </p:txBody>
      </p:sp>
      <p:sp>
        <p:nvSpPr>
          <p:cNvPr id="3" name="Content Placeholder 2"/>
          <p:cNvSpPr>
            <a:spLocks noGrp="1"/>
          </p:cNvSpPr>
          <p:nvPr>
            <p:ph sz="half" idx="2"/>
          </p:nvPr>
        </p:nvSpPr>
        <p:spPr>
          <a:xfrm>
            <a:off x="836612" y="1586706"/>
            <a:ext cx="5157787" cy="3684588"/>
          </a:xfrm>
        </p:spPr>
        <p:txBody>
          <a:bodyPr>
            <a:normAutofit fontScale="85000" lnSpcReduction="20000"/>
          </a:bodyPr>
          <a:lstStyle/>
          <a:p>
            <a:pPr>
              <a:lnSpc>
                <a:spcPct val="80000"/>
              </a:lnSpc>
            </a:pPr>
            <a:r>
              <a:rPr lang="en-US" dirty="0"/>
              <a:t>O</a:t>
            </a:r>
            <a:r>
              <a:rPr lang="en-US" baseline="-25000" dirty="0"/>
              <a:t>2</a:t>
            </a:r>
            <a:r>
              <a:rPr lang="en-US" dirty="0"/>
              <a:t> saturation</a:t>
            </a:r>
          </a:p>
          <a:p>
            <a:pPr>
              <a:lnSpc>
                <a:spcPct val="80000"/>
              </a:lnSpc>
            </a:pPr>
            <a:r>
              <a:rPr lang="en-US" dirty="0"/>
              <a:t>X-ray: </a:t>
            </a:r>
            <a:r>
              <a:rPr lang="en-US" dirty="0" err="1"/>
              <a:t>AP+lateral</a:t>
            </a:r>
            <a:r>
              <a:rPr lang="en-US" dirty="0"/>
              <a:t>. Assess both lungs and heart</a:t>
            </a:r>
          </a:p>
          <a:p>
            <a:pPr>
              <a:lnSpc>
                <a:spcPct val="80000"/>
              </a:lnSpc>
            </a:pPr>
            <a:r>
              <a:rPr lang="en-US" dirty="0"/>
              <a:t>Blood gas</a:t>
            </a:r>
          </a:p>
          <a:p>
            <a:pPr>
              <a:lnSpc>
                <a:spcPct val="80000"/>
              </a:lnSpc>
            </a:pPr>
            <a:r>
              <a:rPr lang="en-US" dirty="0" err="1"/>
              <a:t>Hct</a:t>
            </a:r>
            <a:endParaRPr lang="en-US" dirty="0"/>
          </a:p>
          <a:p>
            <a:pPr>
              <a:lnSpc>
                <a:spcPct val="80000"/>
              </a:lnSpc>
            </a:pPr>
            <a:r>
              <a:rPr lang="en-US" dirty="0"/>
              <a:t>Random blood sugar</a:t>
            </a:r>
          </a:p>
          <a:p>
            <a:pPr>
              <a:lnSpc>
                <a:spcPct val="80000"/>
              </a:lnSpc>
            </a:pPr>
            <a:r>
              <a:rPr lang="en-US" dirty="0"/>
              <a:t>BP</a:t>
            </a:r>
          </a:p>
          <a:p>
            <a:pPr>
              <a:lnSpc>
                <a:spcPct val="80000"/>
              </a:lnSpc>
            </a:pPr>
            <a:r>
              <a:rPr lang="en-US" dirty="0" err="1"/>
              <a:t>Transillumination</a:t>
            </a:r>
            <a:endParaRPr lang="en-US" dirty="0"/>
          </a:p>
          <a:p>
            <a:pPr>
              <a:lnSpc>
                <a:spcPct val="80000"/>
              </a:lnSpc>
            </a:pPr>
            <a:r>
              <a:rPr lang="en-US" dirty="0" err="1"/>
              <a:t>Hyperoxia</a:t>
            </a:r>
            <a:r>
              <a:rPr lang="en-US" dirty="0"/>
              <a:t> test</a:t>
            </a:r>
          </a:p>
          <a:p>
            <a:pPr>
              <a:lnSpc>
                <a:spcPct val="80000"/>
              </a:lnSpc>
            </a:pPr>
            <a:r>
              <a:rPr lang="en-US" dirty="0" err="1"/>
              <a:t>Nasogastric</a:t>
            </a:r>
            <a:r>
              <a:rPr lang="en-US" dirty="0"/>
              <a:t> catheter (radio opaque)</a:t>
            </a:r>
          </a:p>
          <a:p>
            <a:pPr>
              <a:lnSpc>
                <a:spcPct val="80000"/>
              </a:lnSpc>
            </a:pPr>
            <a:r>
              <a:rPr lang="en-US" dirty="0"/>
              <a:t>Evaluate for sepsis</a:t>
            </a:r>
          </a:p>
          <a:p>
            <a:endParaRPr lang="en-US" dirty="0"/>
          </a:p>
        </p:txBody>
      </p:sp>
      <p:sp>
        <p:nvSpPr>
          <p:cNvPr id="6" name="Text Placeholder 5">
            <a:extLst>
              <a:ext uri="{FF2B5EF4-FFF2-40B4-BE49-F238E27FC236}">
                <a16:creationId xmlns:a16="http://schemas.microsoft.com/office/drawing/2014/main" xmlns="" id="{54517DAC-D9BD-4960-B6E2-5F7971966D57}"/>
              </a:ext>
            </a:extLst>
          </p:cNvPr>
          <p:cNvSpPr>
            <a:spLocks noGrp="1"/>
          </p:cNvSpPr>
          <p:nvPr>
            <p:ph type="body" sz="quarter" idx="3"/>
          </p:nvPr>
        </p:nvSpPr>
        <p:spPr>
          <a:xfrm>
            <a:off x="6169025" y="461963"/>
            <a:ext cx="5183188" cy="823912"/>
          </a:xfrm>
        </p:spPr>
        <p:txBody>
          <a:bodyPr/>
          <a:lstStyle/>
          <a:p>
            <a:r>
              <a:rPr lang="en-US" dirty="0"/>
              <a:t>Management</a:t>
            </a:r>
          </a:p>
        </p:txBody>
      </p:sp>
      <p:sp>
        <p:nvSpPr>
          <p:cNvPr id="7" name="Content Placeholder 6">
            <a:extLst>
              <a:ext uri="{FF2B5EF4-FFF2-40B4-BE49-F238E27FC236}">
                <a16:creationId xmlns:a16="http://schemas.microsoft.com/office/drawing/2014/main" xmlns="" id="{2499BC27-E5A9-499A-B1B4-AFC5C6F642FF}"/>
              </a:ext>
            </a:extLst>
          </p:cNvPr>
          <p:cNvSpPr>
            <a:spLocks noGrp="1"/>
          </p:cNvSpPr>
          <p:nvPr>
            <p:ph sz="quarter" idx="4"/>
          </p:nvPr>
        </p:nvSpPr>
        <p:spPr>
          <a:xfrm>
            <a:off x="6096000" y="1770784"/>
            <a:ext cx="5183188" cy="3684588"/>
          </a:xfrm>
        </p:spPr>
        <p:txBody>
          <a:bodyPr>
            <a:normAutofit fontScale="85000" lnSpcReduction="20000"/>
          </a:bodyPr>
          <a:lstStyle/>
          <a:p>
            <a:r>
              <a:rPr lang="en-US" dirty="0"/>
              <a:t>Clear airway, esp. meconium</a:t>
            </a:r>
          </a:p>
          <a:p>
            <a:r>
              <a:rPr lang="en-US" dirty="0"/>
              <a:t>Oxygen</a:t>
            </a:r>
          </a:p>
          <a:p>
            <a:r>
              <a:rPr lang="en-US" dirty="0"/>
              <a:t>Ventilation</a:t>
            </a:r>
          </a:p>
          <a:p>
            <a:pPr lvl="1"/>
            <a:r>
              <a:rPr lang="en-US" dirty="0"/>
              <a:t>mask bagging → intubation</a:t>
            </a:r>
          </a:p>
          <a:p>
            <a:pPr lvl="1"/>
            <a:r>
              <a:rPr lang="en-US" dirty="0"/>
              <a:t>Cyanosis</a:t>
            </a:r>
          </a:p>
          <a:p>
            <a:pPr lvl="1"/>
            <a:r>
              <a:rPr lang="en-US" dirty="0"/>
              <a:t>CO2 retention</a:t>
            </a:r>
          </a:p>
          <a:p>
            <a:pPr lvl="1"/>
            <a:r>
              <a:rPr lang="en-US" dirty="0"/>
              <a:t>apnea</a:t>
            </a:r>
          </a:p>
          <a:p>
            <a:r>
              <a:rPr lang="en-US" dirty="0"/>
              <a:t>Correct Acidosis</a:t>
            </a:r>
          </a:p>
          <a:p>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Respiratory Distress syndrome</a:t>
            </a:r>
            <a:br>
              <a:rPr lang="en-US" b="1" dirty="0"/>
            </a:br>
            <a:r>
              <a:rPr lang="en-US" b="1" dirty="0"/>
              <a:t>( Hyaline Membrane disease</a:t>
            </a:r>
            <a:r>
              <a:rPr lang="en-US" dirty="0"/>
              <a:t>)</a:t>
            </a:r>
          </a:p>
        </p:txBody>
      </p:sp>
      <p:sp>
        <p:nvSpPr>
          <p:cNvPr id="3" name="Content Placeholder 2"/>
          <p:cNvSpPr>
            <a:spLocks noGrp="1"/>
          </p:cNvSpPr>
          <p:nvPr>
            <p:ph sz="half" idx="2"/>
          </p:nvPr>
        </p:nvSpPr>
        <p:spPr>
          <a:xfrm>
            <a:off x="836612" y="1967345"/>
            <a:ext cx="5160963" cy="4222318"/>
          </a:xfrm>
        </p:spPr>
        <p:txBody>
          <a:bodyPr>
            <a:normAutofit fontScale="85000" lnSpcReduction="10000"/>
          </a:bodyPr>
          <a:lstStyle/>
          <a:p>
            <a:r>
              <a:rPr lang="en-US" dirty="0"/>
              <a:t>Respiratory distress syndrome occurs primarily in premature infants</a:t>
            </a:r>
          </a:p>
          <a:p>
            <a:r>
              <a:rPr lang="en-US" dirty="0">
                <a:latin typeface="Trebuchet MS" pitchFamily="34" charset="0"/>
              </a:rPr>
              <a:t>Incidence is inversely proportional to gestational age and birth weight </a:t>
            </a:r>
          </a:p>
          <a:p>
            <a:r>
              <a:rPr lang="en-US" dirty="0">
                <a:latin typeface="Trebuchet MS" pitchFamily="34" charset="0"/>
              </a:rPr>
              <a:t>60–80% in &lt; 28 wk of gestational age</a:t>
            </a:r>
          </a:p>
          <a:p>
            <a:r>
              <a:rPr lang="en-US" dirty="0">
                <a:latin typeface="Trebuchet MS" pitchFamily="34" charset="0"/>
              </a:rPr>
              <a:t>15–30%  in  between 32 and 36 wk</a:t>
            </a:r>
          </a:p>
          <a:p>
            <a:r>
              <a:rPr lang="en-US" dirty="0">
                <a:latin typeface="Trebuchet MS" pitchFamily="34" charset="0"/>
              </a:rPr>
              <a:t>5% &gt; 37 wk</a:t>
            </a:r>
          </a:p>
          <a:p>
            <a:r>
              <a:rPr lang="en-US" dirty="0">
                <a:latin typeface="Trebuchet MS" pitchFamily="34" charset="0"/>
              </a:rPr>
              <a:t>Rare at term </a:t>
            </a:r>
          </a:p>
          <a:p>
            <a:r>
              <a:rPr lang="en-US" dirty="0"/>
              <a:t>Risk is higher in male infants</a:t>
            </a:r>
          </a:p>
        </p:txBody>
      </p:sp>
      <p:sp>
        <p:nvSpPr>
          <p:cNvPr id="5" name="Text Placeholder 4">
            <a:extLst>
              <a:ext uri="{FF2B5EF4-FFF2-40B4-BE49-F238E27FC236}">
                <a16:creationId xmlns:a16="http://schemas.microsoft.com/office/drawing/2014/main" xmlns="" id="{7BA246DC-9165-4BAD-9603-E626AA8207FA}"/>
              </a:ext>
            </a:extLst>
          </p:cNvPr>
          <p:cNvSpPr>
            <a:spLocks noGrp="1"/>
          </p:cNvSpPr>
          <p:nvPr>
            <p:ph type="body" sz="quarter" idx="3"/>
          </p:nvPr>
        </p:nvSpPr>
        <p:spPr/>
        <p:txBody>
          <a:bodyPr/>
          <a:lstStyle/>
          <a:p>
            <a:r>
              <a:rPr lang="en-US" dirty="0"/>
              <a:t>Risk factors</a:t>
            </a:r>
          </a:p>
        </p:txBody>
      </p:sp>
      <p:sp>
        <p:nvSpPr>
          <p:cNvPr id="6" name="Content Placeholder 5">
            <a:extLst>
              <a:ext uri="{FF2B5EF4-FFF2-40B4-BE49-F238E27FC236}">
                <a16:creationId xmlns:a16="http://schemas.microsoft.com/office/drawing/2014/main" xmlns="" id="{BFE1136F-73B5-4640-A92E-82C7877EE07A}"/>
              </a:ext>
            </a:extLst>
          </p:cNvPr>
          <p:cNvSpPr>
            <a:spLocks noGrp="1"/>
          </p:cNvSpPr>
          <p:nvPr>
            <p:ph sz="quarter" idx="4"/>
          </p:nvPr>
        </p:nvSpPr>
        <p:spPr/>
        <p:txBody>
          <a:bodyPr>
            <a:normAutofit fontScale="85000" lnSpcReduction="10000"/>
          </a:bodyPr>
          <a:lstStyle/>
          <a:p>
            <a:pPr>
              <a:lnSpc>
                <a:spcPct val="90000"/>
              </a:lnSpc>
            </a:pPr>
            <a:r>
              <a:rPr lang="en-US" dirty="0">
                <a:latin typeface="Trebuchet MS" pitchFamily="34" charset="0"/>
              </a:rPr>
              <a:t>Infants of diabetic mothers</a:t>
            </a:r>
          </a:p>
          <a:p>
            <a:pPr>
              <a:lnSpc>
                <a:spcPct val="90000"/>
              </a:lnSpc>
            </a:pPr>
            <a:r>
              <a:rPr lang="en-US" dirty="0">
                <a:latin typeface="Trebuchet MS" pitchFamily="34" charset="0"/>
              </a:rPr>
              <a:t>Delivery before 37 </a:t>
            </a:r>
            <a:r>
              <a:rPr lang="en-US" dirty="0" err="1">
                <a:latin typeface="Trebuchet MS" pitchFamily="34" charset="0"/>
              </a:rPr>
              <a:t>wk</a:t>
            </a:r>
            <a:r>
              <a:rPr lang="en-US" dirty="0">
                <a:latin typeface="Trebuchet MS" pitchFamily="34" charset="0"/>
              </a:rPr>
              <a:t> gestation</a:t>
            </a:r>
          </a:p>
          <a:p>
            <a:pPr>
              <a:lnSpc>
                <a:spcPct val="90000"/>
              </a:lnSpc>
            </a:pPr>
            <a:r>
              <a:rPr lang="en-US" dirty="0">
                <a:latin typeface="Trebuchet MS" pitchFamily="34" charset="0"/>
              </a:rPr>
              <a:t>Multifetal pregnancies</a:t>
            </a:r>
          </a:p>
          <a:p>
            <a:pPr>
              <a:lnSpc>
                <a:spcPct val="90000"/>
              </a:lnSpc>
            </a:pPr>
            <a:r>
              <a:rPr lang="en-US" dirty="0">
                <a:latin typeface="Trebuchet MS" pitchFamily="34" charset="0"/>
              </a:rPr>
              <a:t>Cesarean section delivery</a:t>
            </a:r>
          </a:p>
          <a:p>
            <a:pPr>
              <a:lnSpc>
                <a:spcPct val="90000"/>
              </a:lnSpc>
            </a:pPr>
            <a:r>
              <a:rPr lang="en-US" dirty="0">
                <a:latin typeface="Trebuchet MS" pitchFamily="34" charset="0"/>
              </a:rPr>
              <a:t>Precipitous delivery</a:t>
            </a:r>
          </a:p>
          <a:p>
            <a:pPr>
              <a:lnSpc>
                <a:spcPct val="90000"/>
              </a:lnSpc>
            </a:pPr>
            <a:r>
              <a:rPr lang="en-US" dirty="0">
                <a:latin typeface="Trebuchet MS" pitchFamily="34" charset="0"/>
              </a:rPr>
              <a:t>Asphyxia</a:t>
            </a:r>
          </a:p>
          <a:p>
            <a:pPr>
              <a:lnSpc>
                <a:spcPct val="90000"/>
              </a:lnSpc>
            </a:pPr>
            <a:r>
              <a:rPr lang="en-US" dirty="0">
                <a:latin typeface="Trebuchet MS" pitchFamily="34" charset="0"/>
              </a:rPr>
              <a:t>Cold stress</a:t>
            </a:r>
          </a:p>
          <a:p>
            <a:pPr>
              <a:lnSpc>
                <a:spcPct val="90000"/>
              </a:lnSpc>
            </a:pPr>
            <a:r>
              <a:rPr lang="en-US" dirty="0">
                <a:latin typeface="Trebuchet MS" pitchFamily="34" charset="0"/>
              </a:rPr>
              <a:t>History of previously affected infants </a:t>
            </a:r>
          </a:p>
          <a:p>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xmlns="" id="{A157A898-FA25-4518-B55D-A1E995EE1B45}"/>
              </a:ext>
            </a:extLst>
          </p:cNvPr>
          <p:cNvSpPr>
            <a:spLocks noGrp="1"/>
          </p:cNvSpPr>
          <p:nvPr>
            <p:ph type="body" idx="1"/>
          </p:nvPr>
        </p:nvSpPr>
        <p:spPr>
          <a:xfrm>
            <a:off x="839787" y="448108"/>
            <a:ext cx="5157787" cy="823912"/>
          </a:xfrm>
        </p:spPr>
        <p:txBody>
          <a:bodyPr>
            <a:normAutofit lnSpcReduction="10000"/>
          </a:bodyPr>
          <a:lstStyle/>
          <a:p>
            <a:endParaRPr lang="en-US" dirty="0"/>
          </a:p>
          <a:p>
            <a:r>
              <a:rPr lang="en-US" dirty="0"/>
              <a:t>Decreased risk factors </a:t>
            </a:r>
          </a:p>
          <a:p>
            <a:endParaRPr lang="en-US" dirty="0"/>
          </a:p>
        </p:txBody>
      </p:sp>
      <p:sp>
        <p:nvSpPr>
          <p:cNvPr id="3" name="Content Placeholder 2"/>
          <p:cNvSpPr>
            <a:spLocks noGrp="1"/>
          </p:cNvSpPr>
          <p:nvPr>
            <p:ph sz="half" idx="2"/>
          </p:nvPr>
        </p:nvSpPr>
        <p:spPr>
          <a:xfrm>
            <a:off x="725775" y="1269422"/>
            <a:ext cx="5157787" cy="3684588"/>
          </a:xfrm>
        </p:spPr>
        <p:txBody>
          <a:bodyPr>
            <a:normAutofit lnSpcReduction="10000"/>
          </a:bodyPr>
          <a:lstStyle/>
          <a:p>
            <a:r>
              <a:rPr lang="en-US" dirty="0">
                <a:latin typeface="Trebuchet MS" pitchFamily="34" charset="0"/>
              </a:rPr>
              <a:t>Chronic or pregnancy-associated hypertension</a:t>
            </a:r>
          </a:p>
          <a:p>
            <a:r>
              <a:rPr lang="en-US" dirty="0">
                <a:latin typeface="Trebuchet MS" pitchFamily="34" charset="0"/>
              </a:rPr>
              <a:t>Maternal opiate addiction</a:t>
            </a:r>
          </a:p>
          <a:p>
            <a:r>
              <a:rPr lang="en-US" dirty="0">
                <a:latin typeface="Trebuchet MS" pitchFamily="34" charset="0"/>
              </a:rPr>
              <a:t>Prolonged rupture of membranes</a:t>
            </a:r>
          </a:p>
          <a:p>
            <a:r>
              <a:rPr lang="en-US" dirty="0">
                <a:latin typeface="Trebuchet MS" pitchFamily="34" charset="0"/>
              </a:rPr>
              <a:t>Antenatal corticosteroid use</a:t>
            </a:r>
          </a:p>
        </p:txBody>
      </p:sp>
      <p:sp>
        <p:nvSpPr>
          <p:cNvPr id="5" name="Text Placeholder 4">
            <a:extLst>
              <a:ext uri="{FF2B5EF4-FFF2-40B4-BE49-F238E27FC236}">
                <a16:creationId xmlns:a16="http://schemas.microsoft.com/office/drawing/2014/main" xmlns="" id="{A51BDFFE-6220-4B59-A6B0-9A53F088251A}"/>
              </a:ext>
            </a:extLst>
          </p:cNvPr>
          <p:cNvSpPr>
            <a:spLocks noGrp="1"/>
          </p:cNvSpPr>
          <p:nvPr>
            <p:ph type="body" sz="quarter" idx="3"/>
          </p:nvPr>
        </p:nvSpPr>
        <p:spPr>
          <a:xfrm>
            <a:off x="5997574" y="256381"/>
            <a:ext cx="5183188" cy="823912"/>
          </a:xfrm>
        </p:spPr>
        <p:txBody>
          <a:bodyPr>
            <a:normAutofit lnSpcReduction="10000"/>
          </a:bodyPr>
          <a:lstStyle/>
          <a:p>
            <a:endParaRPr lang="en-US" dirty="0"/>
          </a:p>
        </p:txBody>
      </p:sp>
      <p:sp>
        <p:nvSpPr>
          <p:cNvPr id="6" name="Content Placeholder 5">
            <a:extLst>
              <a:ext uri="{FF2B5EF4-FFF2-40B4-BE49-F238E27FC236}">
                <a16:creationId xmlns:a16="http://schemas.microsoft.com/office/drawing/2014/main" xmlns="" id="{B7BAA330-1A2A-4241-8459-46182B148DB4}"/>
              </a:ext>
            </a:extLst>
          </p:cNvPr>
          <p:cNvSpPr>
            <a:spLocks noGrp="1"/>
          </p:cNvSpPr>
          <p:nvPr>
            <p:ph sz="quarter" idx="4"/>
          </p:nvPr>
        </p:nvSpPr>
        <p:spPr>
          <a:xfrm>
            <a:off x="5997574" y="1269422"/>
            <a:ext cx="5183188" cy="3684588"/>
          </a:xfrm>
        </p:spPr>
        <p:txBody>
          <a:bodyPr>
            <a:normAutofit lnSpcReduction="10000"/>
          </a:bodyPr>
          <a:lstStyle/>
          <a:p>
            <a:pPr>
              <a:buNone/>
            </a:pPr>
            <a:r>
              <a:rPr lang="en-US" dirty="0"/>
              <a:t>Surfactant deficiency</a:t>
            </a:r>
          </a:p>
          <a:p>
            <a:pPr>
              <a:buNone/>
            </a:pPr>
            <a:r>
              <a:rPr lang="en-US" b="1" dirty="0"/>
              <a:t>Surfactant:</a:t>
            </a:r>
          </a:p>
          <a:p>
            <a:r>
              <a:rPr lang="en-US" dirty="0"/>
              <a:t>Phospholipids </a:t>
            </a:r>
          </a:p>
          <a:p>
            <a:pPr marL="514350" indent="-514350">
              <a:buFont typeface="+mj-lt"/>
              <a:buAutoNum type="arabicPeriod"/>
            </a:pPr>
            <a:r>
              <a:rPr lang="en-US" dirty="0"/>
              <a:t>Main components:- phosphatidylcholine and phosphatidylglycerol</a:t>
            </a:r>
          </a:p>
          <a:p>
            <a:pPr marL="514350" indent="-514350">
              <a:buFont typeface="+mj-lt"/>
              <a:buAutoNum type="arabicPeriod"/>
            </a:pPr>
            <a:r>
              <a:rPr lang="en-US" dirty="0"/>
              <a:t>Other constituents:   cholesterol, neutral lipid and other phospholipids</a:t>
            </a:r>
          </a:p>
          <a:p>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sz="half" idx="1"/>
          </p:nvPr>
        </p:nvSpPr>
        <p:spPr/>
        <p:txBody>
          <a:bodyPr>
            <a:normAutofit fontScale="92500" lnSpcReduction="20000"/>
          </a:bodyPr>
          <a:lstStyle/>
          <a:p>
            <a:pPr>
              <a:buNone/>
            </a:pPr>
            <a:r>
              <a:rPr lang="en-US" b="1" dirty="0"/>
              <a:t>In the absence of surfactant:</a:t>
            </a:r>
          </a:p>
          <a:p>
            <a:r>
              <a:rPr lang="en-US" dirty="0"/>
              <a:t>Progressive collapse of each alveoli during expiration</a:t>
            </a:r>
          </a:p>
          <a:p>
            <a:endParaRPr lang="en-US" sz="1050" dirty="0"/>
          </a:p>
          <a:p>
            <a:r>
              <a:rPr lang="en-US" dirty="0"/>
              <a:t>Decreased compliance (more pressure needed to inflate same volume of air)</a:t>
            </a:r>
          </a:p>
          <a:p>
            <a:endParaRPr lang="en-US" sz="1050" dirty="0"/>
          </a:p>
          <a:p>
            <a:r>
              <a:rPr lang="en-US" dirty="0"/>
              <a:t>Loss of functional residual capacity</a:t>
            </a:r>
          </a:p>
          <a:p>
            <a:pPr>
              <a:buNone/>
            </a:pPr>
            <a:endParaRPr lang="en-US" b="1" dirty="0"/>
          </a:p>
        </p:txBody>
      </p:sp>
      <p:sp>
        <p:nvSpPr>
          <p:cNvPr id="4" name="Content Placeholder 3">
            <a:extLst>
              <a:ext uri="{FF2B5EF4-FFF2-40B4-BE49-F238E27FC236}">
                <a16:creationId xmlns:a16="http://schemas.microsoft.com/office/drawing/2014/main" xmlns="" id="{C05AA708-7908-4E61-923A-17FB2062F341}"/>
              </a:ext>
            </a:extLst>
          </p:cNvPr>
          <p:cNvSpPr>
            <a:spLocks noGrp="1"/>
          </p:cNvSpPr>
          <p:nvPr>
            <p:ph sz="half" idx="2"/>
          </p:nvPr>
        </p:nvSpPr>
        <p:spPr/>
        <p:txBody>
          <a:bodyPr>
            <a:normAutofit fontScale="92500" lnSpcReduction="20000"/>
          </a:bodyPr>
          <a:lstStyle/>
          <a:p>
            <a:pPr>
              <a:buNone/>
            </a:pPr>
            <a:r>
              <a:rPr lang="en-US" b="1" dirty="0"/>
              <a:t>Sequence in the premature infant:-</a:t>
            </a:r>
          </a:p>
          <a:p>
            <a:r>
              <a:rPr lang="en-US" dirty="0"/>
              <a:t>Some surfactant present at birth</a:t>
            </a:r>
          </a:p>
          <a:p>
            <a:r>
              <a:rPr lang="en-US" dirty="0"/>
              <a:t>Used up quickly</a:t>
            </a:r>
          </a:p>
          <a:p>
            <a:r>
              <a:rPr lang="en-US" dirty="0"/>
              <a:t>Lungs unable to meet demand for more surfactant</a:t>
            </a:r>
          </a:p>
          <a:p>
            <a:r>
              <a:rPr lang="en-US" dirty="0"/>
              <a:t>Baby develops progressive collapse of alveoli</a:t>
            </a:r>
          </a:p>
          <a:p>
            <a:r>
              <a:rPr lang="en-US" dirty="0"/>
              <a:t>Hypoxia and acidosis further inhibit surfactant production, decrease pulmonary blood flow</a:t>
            </a:r>
          </a:p>
          <a:p>
            <a:r>
              <a:rPr lang="en-US" dirty="0"/>
              <a:t>Hypoxia results in capillary damage and exudate into alveoli</a:t>
            </a:r>
          </a:p>
          <a:p>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xmlns="" id="{477DBB49-D99E-4AAD-89F5-A68A6B38A575}"/>
              </a:ext>
            </a:extLst>
          </p:cNvPr>
          <p:cNvSpPr>
            <a:spLocks noGrp="1"/>
          </p:cNvSpPr>
          <p:nvPr>
            <p:ph type="body" idx="1"/>
          </p:nvPr>
        </p:nvSpPr>
        <p:spPr>
          <a:xfrm>
            <a:off x="871682" y="533472"/>
            <a:ext cx="5157787" cy="823912"/>
          </a:xfrm>
        </p:spPr>
        <p:txBody>
          <a:bodyPr/>
          <a:lstStyle/>
          <a:p>
            <a:r>
              <a:rPr lang="en-US" dirty="0"/>
              <a:t>Clinical presentation</a:t>
            </a:r>
          </a:p>
          <a:p>
            <a:endParaRPr lang="en-US" dirty="0"/>
          </a:p>
        </p:txBody>
      </p:sp>
      <p:sp>
        <p:nvSpPr>
          <p:cNvPr id="3" name="Content Placeholder 2"/>
          <p:cNvSpPr>
            <a:spLocks noGrp="1"/>
          </p:cNvSpPr>
          <p:nvPr>
            <p:ph sz="half" idx="2"/>
          </p:nvPr>
        </p:nvSpPr>
        <p:spPr>
          <a:xfrm>
            <a:off x="728952" y="1465984"/>
            <a:ext cx="5157787" cy="3684588"/>
          </a:xfrm>
        </p:spPr>
        <p:txBody>
          <a:bodyPr>
            <a:normAutofit fontScale="62500" lnSpcReduction="20000"/>
          </a:bodyPr>
          <a:lstStyle/>
          <a:p>
            <a:r>
              <a:rPr lang="en-US" dirty="0"/>
              <a:t>Premature infant</a:t>
            </a:r>
          </a:p>
          <a:p>
            <a:r>
              <a:rPr lang="en-US" dirty="0"/>
              <a:t>Onset shortly after birth</a:t>
            </a:r>
          </a:p>
          <a:p>
            <a:r>
              <a:rPr lang="en-US" dirty="0"/>
              <a:t>Grunting</a:t>
            </a:r>
          </a:p>
          <a:p>
            <a:r>
              <a:rPr lang="en-US" dirty="0"/>
              <a:t>Retractions</a:t>
            </a:r>
          </a:p>
          <a:p>
            <a:r>
              <a:rPr lang="en-US" dirty="0"/>
              <a:t>Nasal flaring</a:t>
            </a:r>
          </a:p>
          <a:p>
            <a:r>
              <a:rPr lang="en-US" dirty="0"/>
              <a:t>Cyanosis</a:t>
            </a:r>
          </a:p>
          <a:p>
            <a:r>
              <a:rPr lang="en-US" dirty="0"/>
              <a:t>Tachypnea</a:t>
            </a:r>
          </a:p>
          <a:p>
            <a:r>
              <a:rPr lang="en-US" dirty="0"/>
              <a:t>Tachycardia</a:t>
            </a:r>
          </a:p>
          <a:p>
            <a:r>
              <a:rPr lang="en-US" dirty="0"/>
              <a:t>Hypotension</a:t>
            </a:r>
          </a:p>
          <a:p>
            <a:r>
              <a:rPr lang="en-US" dirty="0"/>
              <a:t>Reaches its peak on the third day</a:t>
            </a:r>
          </a:p>
          <a:p>
            <a:r>
              <a:rPr lang="en-US" dirty="0"/>
              <a:t>Eventually…apnea</a:t>
            </a:r>
          </a:p>
          <a:p>
            <a:pPr>
              <a:buNone/>
            </a:pPr>
            <a:endParaRPr lang="en-US" dirty="0"/>
          </a:p>
        </p:txBody>
      </p:sp>
      <p:sp>
        <p:nvSpPr>
          <p:cNvPr id="5" name="Text Placeholder 4">
            <a:extLst>
              <a:ext uri="{FF2B5EF4-FFF2-40B4-BE49-F238E27FC236}">
                <a16:creationId xmlns:a16="http://schemas.microsoft.com/office/drawing/2014/main" xmlns="" id="{576ACC96-6E54-4C31-9A67-F33887D9B3F2}"/>
              </a:ext>
            </a:extLst>
          </p:cNvPr>
          <p:cNvSpPr>
            <a:spLocks noGrp="1"/>
          </p:cNvSpPr>
          <p:nvPr>
            <p:ph type="body" sz="quarter" idx="3"/>
          </p:nvPr>
        </p:nvSpPr>
        <p:spPr>
          <a:xfrm>
            <a:off x="6194428" y="256381"/>
            <a:ext cx="5183188" cy="823912"/>
          </a:xfrm>
        </p:spPr>
        <p:txBody>
          <a:bodyPr/>
          <a:lstStyle/>
          <a:p>
            <a:r>
              <a:rPr lang="en-US" dirty="0"/>
              <a:t>Differential diagnosis</a:t>
            </a:r>
          </a:p>
        </p:txBody>
      </p:sp>
      <p:sp>
        <p:nvSpPr>
          <p:cNvPr id="6" name="Content Placeholder 5">
            <a:extLst>
              <a:ext uri="{FF2B5EF4-FFF2-40B4-BE49-F238E27FC236}">
                <a16:creationId xmlns:a16="http://schemas.microsoft.com/office/drawing/2014/main" xmlns="" id="{1E5E4AFC-96E7-4C27-AC2C-84350C5C6774}"/>
              </a:ext>
            </a:extLst>
          </p:cNvPr>
          <p:cNvSpPr>
            <a:spLocks noGrp="1"/>
          </p:cNvSpPr>
          <p:nvPr>
            <p:ph sz="quarter" idx="4"/>
          </p:nvPr>
        </p:nvSpPr>
        <p:spPr>
          <a:xfrm>
            <a:off x="6029469" y="1586706"/>
            <a:ext cx="5183188" cy="3684588"/>
          </a:xfrm>
        </p:spPr>
        <p:txBody>
          <a:bodyPr>
            <a:normAutofit fontScale="62500" lnSpcReduction="20000"/>
          </a:bodyPr>
          <a:lstStyle/>
          <a:p>
            <a:r>
              <a:rPr lang="en-US" dirty="0"/>
              <a:t>Group B streptococcal pneumonia</a:t>
            </a:r>
          </a:p>
          <a:p>
            <a:r>
              <a:rPr lang="en-US" dirty="0"/>
              <a:t>Cyanotic congenital heart disease</a:t>
            </a:r>
          </a:p>
          <a:p>
            <a:r>
              <a:rPr lang="en-US" dirty="0"/>
              <a:t>Persistent pulmonary hypertension</a:t>
            </a:r>
          </a:p>
          <a:p>
            <a:r>
              <a:rPr lang="en-US" dirty="0"/>
              <a:t>Aspiration syndromes</a:t>
            </a:r>
          </a:p>
          <a:p>
            <a:r>
              <a:rPr lang="en-US" dirty="0"/>
              <a:t>Congenital anomalies of the lung</a:t>
            </a:r>
          </a:p>
          <a:p>
            <a:r>
              <a:rPr lang="en-US" dirty="0"/>
              <a:t>Air leak syndrome</a:t>
            </a:r>
          </a:p>
          <a:p>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Diagnosis</a:t>
            </a:r>
          </a:p>
        </p:txBody>
      </p:sp>
      <p:sp>
        <p:nvSpPr>
          <p:cNvPr id="3" name="Content Placeholder 2"/>
          <p:cNvSpPr>
            <a:spLocks noGrp="1"/>
          </p:cNvSpPr>
          <p:nvPr>
            <p:ph sz="half" idx="1"/>
          </p:nvPr>
        </p:nvSpPr>
        <p:spPr/>
        <p:txBody>
          <a:bodyPr>
            <a:normAutofit/>
          </a:bodyPr>
          <a:lstStyle/>
          <a:p>
            <a:pPr>
              <a:buNone/>
            </a:pPr>
            <a:r>
              <a:rPr lang="en-US" b="1" dirty="0"/>
              <a:t>Blood gas features</a:t>
            </a:r>
          </a:p>
          <a:p>
            <a:r>
              <a:rPr lang="en-US" dirty="0"/>
              <a:t>Acidosis</a:t>
            </a:r>
          </a:p>
          <a:p>
            <a:pPr lvl="1"/>
            <a:r>
              <a:rPr lang="en-US" dirty="0"/>
              <a:t>Metabolic (low HCO3, low Base Excess)</a:t>
            </a:r>
          </a:p>
          <a:p>
            <a:pPr lvl="1"/>
            <a:r>
              <a:rPr lang="en-US" dirty="0"/>
              <a:t>Respiratory (High pCO2)</a:t>
            </a:r>
          </a:p>
          <a:p>
            <a:r>
              <a:rPr lang="en-US" dirty="0" err="1"/>
              <a:t>Hypercarbia</a:t>
            </a:r>
            <a:endParaRPr lang="en-US" dirty="0"/>
          </a:p>
          <a:p>
            <a:pPr lvl="1"/>
            <a:r>
              <a:rPr lang="en-US" dirty="0"/>
              <a:t>Represents hypoventilation</a:t>
            </a:r>
          </a:p>
          <a:p>
            <a:r>
              <a:rPr lang="en-US" dirty="0"/>
              <a:t>Hypoxia</a:t>
            </a:r>
          </a:p>
          <a:p>
            <a:endParaRPr lang="en-US" dirty="0"/>
          </a:p>
        </p:txBody>
      </p:sp>
      <p:sp>
        <p:nvSpPr>
          <p:cNvPr id="4" name="Content Placeholder 3"/>
          <p:cNvSpPr>
            <a:spLocks noGrp="1"/>
          </p:cNvSpPr>
          <p:nvPr>
            <p:ph sz="half" idx="2"/>
          </p:nvPr>
        </p:nvSpPr>
        <p:spPr/>
        <p:txBody>
          <a:bodyPr>
            <a:normAutofit/>
          </a:bodyPr>
          <a:lstStyle/>
          <a:p>
            <a:pPr>
              <a:buNone/>
            </a:pPr>
            <a:r>
              <a:rPr lang="en-US" b="1" dirty="0"/>
              <a:t>Radiographic features</a:t>
            </a:r>
          </a:p>
          <a:p>
            <a:r>
              <a:rPr lang="en-US" dirty="0"/>
              <a:t>Poorly inflated lungs</a:t>
            </a:r>
          </a:p>
          <a:p>
            <a:endParaRPr lang="en-US" sz="1000" dirty="0"/>
          </a:p>
          <a:p>
            <a:r>
              <a:rPr lang="en-US" dirty="0"/>
              <a:t>Hazy background, ground glass pattern</a:t>
            </a:r>
          </a:p>
          <a:p>
            <a:endParaRPr lang="en-US" sz="1000" dirty="0"/>
          </a:p>
          <a:p>
            <a:r>
              <a:rPr lang="en-US" dirty="0" err="1"/>
              <a:t>Reticulo</a:t>
            </a:r>
            <a:r>
              <a:rPr lang="en-US" dirty="0"/>
              <a:t>-granular patter (clumps of collapsed alveoli</a:t>
            </a:r>
          </a:p>
          <a:p>
            <a:endParaRPr lang="en-US" sz="1000" dirty="0"/>
          </a:p>
          <a:p>
            <a:r>
              <a:rPr lang="en-US" dirty="0"/>
              <a:t>Air </a:t>
            </a:r>
            <a:r>
              <a:rPr lang="en-US" dirty="0" err="1"/>
              <a:t>bronchograms</a:t>
            </a:r>
            <a:endParaRPr lang="en-US" dirty="0"/>
          </a:p>
          <a:p>
            <a:pPr>
              <a:buNone/>
            </a:pPr>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l="23483" t="31989" r="25377" b="7401"/>
          <a:stretch>
            <a:fillRect/>
          </a:stretch>
        </p:blipFill>
        <p:spPr bwMode="auto">
          <a:xfrm>
            <a:off x="1752600" y="304800"/>
            <a:ext cx="8686800" cy="5791200"/>
          </a:xfrm>
          <a:prstGeom prst="rect">
            <a:avLst/>
          </a:prstGeom>
          <a:noFill/>
          <a:ln w="9525">
            <a:noFill/>
            <a:miter lim="800000"/>
            <a:headEnd/>
            <a:tailEnd/>
          </a:ln>
          <a:effec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l="22536" t="21887" r="30112" b="10768"/>
          <a:stretch>
            <a:fillRect/>
          </a:stretch>
        </p:blipFill>
        <p:spPr bwMode="auto">
          <a:xfrm>
            <a:off x="2057400" y="228600"/>
            <a:ext cx="8077200" cy="6461760"/>
          </a:xfrm>
          <a:prstGeom prst="rect">
            <a:avLst/>
          </a:prstGeom>
          <a:noFill/>
          <a:ln w="9525">
            <a:noFill/>
            <a:miter lim="800000"/>
            <a:headEnd/>
            <a:tailEnd/>
          </a:ln>
          <a:effec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Complications </a:t>
            </a:r>
          </a:p>
        </p:txBody>
      </p:sp>
      <p:sp>
        <p:nvSpPr>
          <p:cNvPr id="3" name="Content Placeholder 2"/>
          <p:cNvSpPr>
            <a:spLocks noGrp="1"/>
          </p:cNvSpPr>
          <p:nvPr>
            <p:ph sz="half" idx="1"/>
          </p:nvPr>
        </p:nvSpPr>
        <p:spPr/>
        <p:txBody>
          <a:bodyPr>
            <a:normAutofit fontScale="70000" lnSpcReduction="20000"/>
          </a:bodyPr>
          <a:lstStyle/>
          <a:p>
            <a:pPr>
              <a:lnSpc>
                <a:spcPct val="90000"/>
              </a:lnSpc>
            </a:pPr>
            <a:r>
              <a:rPr lang="en-US" dirty="0"/>
              <a:t>Air leak (pneumothorax, pneumomediastinum, pulmonary interstitial emphysema, pneumopericardium)</a:t>
            </a:r>
          </a:p>
          <a:p>
            <a:pPr>
              <a:lnSpc>
                <a:spcPct val="90000"/>
              </a:lnSpc>
            </a:pPr>
            <a:endParaRPr lang="en-US" sz="1100" dirty="0"/>
          </a:p>
          <a:p>
            <a:pPr>
              <a:lnSpc>
                <a:spcPct val="90000"/>
              </a:lnSpc>
            </a:pPr>
            <a:r>
              <a:rPr lang="en-US" dirty="0"/>
              <a:t>Metabolic acidosis</a:t>
            </a:r>
          </a:p>
          <a:p>
            <a:pPr>
              <a:lnSpc>
                <a:spcPct val="90000"/>
              </a:lnSpc>
            </a:pPr>
            <a:endParaRPr lang="en-US" sz="1100" dirty="0"/>
          </a:p>
          <a:p>
            <a:pPr>
              <a:lnSpc>
                <a:spcPct val="90000"/>
              </a:lnSpc>
            </a:pPr>
            <a:r>
              <a:rPr lang="en-US" dirty="0"/>
              <a:t>Hypotension</a:t>
            </a:r>
          </a:p>
          <a:p>
            <a:pPr>
              <a:lnSpc>
                <a:spcPct val="90000"/>
              </a:lnSpc>
            </a:pPr>
            <a:endParaRPr lang="en-US" sz="1100" dirty="0"/>
          </a:p>
          <a:p>
            <a:pPr>
              <a:lnSpc>
                <a:spcPct val="90000"/>
              </a:lnSpc>
            </a:pPr>
            <a:r>
              <a:rPr lang="en-US" dirty="0"/>
              <a:t>Hypoxia</a:t>
            </a:r>
          </a:p>
          <a:p>
            <a:pPr>
              <a:lnSpc>
                <a:spcPct val="90000"/>
              </a:lnSpc>
            </a:pPr>
            <a:endParaRPr lang="en-US" sz="1100" dirty="0"/>
          </a:p>
          <a:p>
            <a:pPr>
              <a:lnSpc>
                <a:spcPct val="90000"/>
              </a:lnSpc>
            </a:pPr>
            <a:r>
              <a:rPr lang="en-US" dirty="0"/>
              <a:t>Patent ductus arteriosus</a:t>
            </a:r>
          </a:p>
          <a:p>
            <a:pPr>
              <a:lnSpc>
                <a:spcPct val="90000"/>
              </a:lnSpc>
            </a:pPr>
            <a:endParaRPr lang="en-US" sz="1100" dirty="0"/>
          </a:p>
          <a:p>
            <a:pPr>
              <a:lnSpc>
                <a:spcPct val="90000"/>
              </a:lnSpc>
            </a:pPr>
            <a:r>
              <a:rPr lang="en-US" dirty="0"/>
              <a:t>Chronic lung disease</a:t>
            </a:r>
          </a:p>
          <a:p>
            <a:pPr>
              <a:lnSpc>
                <a:spcPct val="90000"/>
              </a:lnSpc>
            </a:pPr>
            <a:endParaRPr lang="en-US" sz="1100" dirty="0"/>
          </a:p>
          <a:p>
            <a:pPr>
              <a:lnSpc>
                <a:spcPct val="90000"/>
              </a:lnSpc>
            </a:pPr>
            <a:r>
              <a:rPr lang="en-US" dirty="0"/>
              <a:t>Other complications of prematurity (IVH, sepsis, NEC, ROP, etc)</a:t>
            </a:r>
          </a:p>
          <a:p>
            <a:endParaRPr lang="en-US" dirty="0"/>
          </a:p>
        </p:txBody>
      </p:sp>
      <p:sp>
        <p:nvSpPr>
          <p:cNvPr id="4" name="Content Placeholder 3">
            <a:extLst>
              <a:ext uri="{FF2B5EF4-FFF2-40B4-BE49-F238E27FC236}">
                <a16:creationId xmlns:a16="http://schemas.microsoft.com/office/drawing/2014/main" xmlns="" id="{2FC65BCF-E60C-4128-B1E5-129D5C08EE9E}"/>
              </a:ext>
            </a:extLst>
          </p:cNvPr>
          <p:cNvSpPr>
            <a:spLocks noGrp="1"/>
          </p:cNvSpPr>
          <p:nvPr>
            <p:ph sz="half" idx="2"/>
          </p:nvPr>
        </p:nvSpPr>
        <p:spPr/>
        <p:txBody>
          <a:bodyPr>
            <a:normAutofit fontScale="70000" lnSpcReduction="20000"/>
          </a:bodyPr>
          <a:lstStyle/>
          <a:p>
            <a:r>
              <a:rPr lang="en-US" dirty="0"/>
              <a:t>Bronchopulmonary dysplasia</a:t>
            </a:r>
          </a:p>
          <a:p>
            <a:r>
              <a:rPr lang="en-US" dirty="0"/>
              <a:t>Patent ductus arteriosus</a:t>
            </a:r>
          </a:p>
          <a:p>
            <a:r>
              <a:rPr lang="en-US" dirty="0"/>
              <a:t>Persistent fetal circulation</a:t>
            </a:r>
          </a:p>
          <a:p>
            <a:r>
              <a:rPr lang="en-US" dirty="0"/>
              <a:t>Air leak syndrome related to CPAP</a:t>
            </a:r>
          </a:p>
          <a:p>
            <a:r>
              <a:rPr lang="en-US" dirty="0"/>
              <a:t>Intra ventricular hemorrhage</a:t>
            </a:r>
          </a:p>
          <a:p>
            <a:r>
              <a:rPr lang="en-US" dirty="0"/>
              <a:t>Necrotizing enterocolitis</a:t>
            </a:r>
          </a:p>
          <a:p>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xmlns="" id="{41521219-5201-4A12-B790-79B53674B0CA}"/>
              </a:ext>
            </a:extLst>
          </p:cNvPr>
          <p:cNvSpPr>
            <a:spLocks noGrp="1"/>
          </p:cNvSpPr>
          <p:nvPr>
            <p:ph type="body" idx="1"/>
          </p:nvPr>
        </p:nvSpPr>
        <p:spPr>
          <a:xfrm>
            <a:off x="839788" y="668337"/>
            <a:ext cx="5157787" cy="823912"/>
          </a:xfrm>
        </p:spPr>
        <p:txBody>
          <a:bodyPr/>
          <a:lstStyle/>
          <a:p>
            <a:r>
              <a:rPr lang="en-US" dirty="0"/>
              <a:t>Prevention</a:t>
            </a:r>
          </a:p>
        </p:txBody>
      </p:sp>
      <p:sp>
        <p:nvSpPr>
          <p:cNvPr id="3" name="Content Placeholder 2"/>
          <p:cNvSpPr>
            <a:spLocks noGrp="1"/>
          </p:cNvSpPr>
          <p:nvPr>
            <p:ph sz="half" idx="2"/>
          </p:nvPr>
        </p:nvSpPr>
        <p:spPr>
          <a:xfrm>
            <a:off x="701243" y="1715366"/>
            <a:ext cx="5157787" cy="3684588"/>
          </a:xfrm>
        </p:spPr>
        <p:txBody>
          <a:bodyPr>
            <a:normAutofit fontScale="62500" lnSpcReduction="20000"/>
          </a:bodyPr>
          <a:lstStyle/>
          <a:p>
            <a:r>
              <a:rPr lang="en-US" dirty="0"/>
              <a:t>Avoidance of unnecessary or poorly timed early cesarean section(&lt; 39 wk) or induction of labor, </a:t>
            </a:r>
          </a:p>
          <a:p>
            <a:r>
              <a:rPr lang="en-US" dirty="0"/>
              <a:t>Appropriate management of high-risk pregnancy and labor (including administration of antenatal corticosteroids), </a:t>
            </a:r>
          </a:p>
          <a:p>
            <a:r>
              <a:rPr lang="en-US" dirty="0"/>
              <a:t>Prediction of pulmonary immaturity with possible in </a:t>
            </a:r>
            <a:r>
              <a:rPr lang="en-US" dirty="0" err="1"/>
              <a:t>utero</a:t>
            </a:r>
            <a:r>
              <a:rPr lang="en-US" dirty="0"/>
              <a:t> acceleration of maturation</a:t>
            </a:r>
          </a:p>
          <a:p>
            <a:r>
              <a:rPr lang="en-US" dirty="0"/>
              <a:t>Prevention of fetal asphyxia</a:t>
            </a:r>
          </a:p>
          <a:p>
            <a:r>
              <a:rPr lang="en-US" dirty="0"/>
              <a:t>Early CPAP at delivery room</a:t>
            </a:r>
          </a:p>
          <a:p>
            <a:r>
              <a:rPr lang="en-US" dirty="0"/>
              <a:t>Prophylactic or early rescue surfactant</a:t>
            </a:r>
          </a:p>
        </p:txBody>
      </p:sp>
      <p:sp>
        <p:nvSpPr>
          <p:cNvPr id="6" name="Text Placeholder 5">
            <a:extLst>
              <a:ext uri="{FF2B5EF4-FFF2-40B4-BE49-F238E27FC236}">
                <a16:creationId xmlns:a16="http://schemas.microsoft.com/office/drawing/2014/main" xmlns="" id="{07CEF33F-DEB4-446F-B549-02060C3A216E}"/>
              </a:ext>
            </a:extLst>
          </p:cNvPr>
          <p:cNvSpPr>
            <a:spLocks noGrp="1"/>
          </p:cNvSpPr>
          <p:nvPr>
            <p:ph type="body" sz="quarter" idx="3"/>
          </p:nvPr>
        </p:nvSpPr>
        <p:spPr>
          <a:xfrm>
            <a:off x="6194427" y="668337"/>
            <a:ext cx="5183188" cy="823912"/>
          </a:xfrm>
        </p:spPr>
        <p:txBody>
          <a:bodyPr/>
          <a:lstStyle/>
          <a:p>
            <a:r>
              <a:rPr lang="en-US" dirty="0"/>
              <a:t>Treatment</a:t>
            </a:r>
          </a:p>
        </p:txBody>
      </p:sp>
      <p:sp>
        <p:nvSpPr>
          <p:cNvPr id="7" name="Content Placeholder 6">
            <a:extLst>
              <a:ext uri="{FF2B5EF4-FFF2-40B4-BE49-F238E27FC236}">
                <a16:creationId xmlns:a16="http://schemas.microsoft.com/office/drawing/2014/main" xmlns="" id="{AFA5C13B-C654-4E84-A681-F12B686AC73E}"/>
              </a:ext>
            </a:extLst>
          </p:cNvPr>
          <p:cNvSpPr>
            <a:spLocks noGrp="1"/>
          </p:cNvSpPr>
          <p:nvPr>
            <p:ph sz="quarter" idx="4"/>
          </p:nvPr>
        </p:nvSpPr>
        <p:spPr>
          <a:xfrm>
            <a:off x="6096000" y="1715366"/>
            <a:ext cx="5183188" cy="4837834"/>
          </a:xfrm>
        </p:spPr>
        <p:txBody>
          <a:bodyPr>
            <a:normAutofit fontScale="62500" lnSpcReduction="20000"/>
          </a:bodyPr>
          <a:lstStyle/>
          <a:p>
            <a:pPr>
              <a:lnSpc>
                <a:spcPct val="80000"/>
              </a:lnSpc>
            </a:pPr>
            <a:r>
              <a:rPr lang="en-US" dirty="0"/>
              <a:t>Oxygen</a:t>
            </a:r>
          </a:p>
          <a:p>
            <a:pPr>
              <a:lnSpc>
                <a:spcPct val="80000"/>
              </a:lnSpc>
            </a:pPr>
            <a:endParaRPr lang="en-US" sz="1000" dirty="0"/>
          </a:p>
          <a:p>
            <a:pPr>
              <a:lnSpc>
                <a:spcPct val="80000"/>
              </a:lnSpc>
            </a:pPr>
            <a:r>
              <a:rPr lang="en-US" dirty="0"/>
              <a:t>Continuous positive airway pressure (CPAP)</a:t>
            </a:r>
          </a:p>
          <a:p>
            <a:pPr>
              <a:lnSpc>
                <a:spcPct val="80000"/>
              </a:lnSpc>
            </a:pPr>
            <a:endParaRPr lang="en-US" sz="1000" dirty="0"/>
          </a:p>
          <a:p>
            <a:pPr>
              <a:lnSpc>
                <a:spcPct val="80000"/>
              </a:lnSpc>
            </a:pPr>
            <a:r>
              <a:rPr lang="en-US" dirty="0"/>
              <a:t>Mechanical ventilation with positive end expiratory pressure (PEEP)</a:t>
            </a:r>
          </a:p>
          <a:p>
            <a:pPr>
              <a:lnSpc>
                <a:spcPct val="80000"/>
              </a:lnSpc>
            </a:pPr>
            <a:endParaRPr lang="en-US" sz="1000" dirty="0"/>
          </a:p>
          <a:p>
            <a:pPr>
              <a:lnSpc>
                <a:spcPct val="80000"/>
              </a:lnSpc>
            </a:pPr>
            <a:r>
              <a:rPr lang="en-US" dirty="0"/>
              <a:t>Surfactant  (endotracheal administration)</a:t>
            </a:r>
          </a:p>
          <a:p>
            <a:pPr>
              <a:lnSpc>
                <a:spcPct val="80000"/>
              </a:lnSpc>
            </a:pPr>
            <a:endParaRPr lang="en-US" sz="1000" dirty="0"/>
          </a:p>
          <a:p>
            <a:pPr>
              <a:lnSpc>
                <a:spcPct val="80000"/>
              </a:lnSpc>
            </a:pPr>
            <a:r>
              <a:rPr lang="en-US" dirty="0"/>
              <a:t>In severe cases, nitric oxide, high frequency ventilation</a:t>
            </a:r>
          </a:p>
          <a:p>
            <a:pPr>
              <a:lnSpc>
                <a:spcPct val="80000"/>
              </a:lnSpc>
            </a:pPr>
            <a:endParaRPr lang="en-US" sz="1000" dirty="0"/>
          </a:p>
          <a:p>
            <a:pPr>
              <a:lnSpc>
                <a:spcPct val="80000"/>
              </a:lnSpc>
            </a:pPr>
            <a:r>
              <a:rPr lang="en-US" dirty="0"/>
              <a:t>Aims of therapy:  </a:t>
            </a:r>
          </a:p>
          <a:p>
            <a:pPr lvl="1">
              <a:lnSpc>
                <a:spcPct val="80000"/>
              </a:lnSpc>
            </a:pPr>
            <a:r>
              <a:rPr lang="en-US" dirty="0"/>
              <a:t>pH	&gt;7.25</a:t>
            </a:r>
          </a:p>
          <a:p>
            <a:pPr lvl="1">
              <a:lnSpc>
                <a:spcPct val="80000"/>
              </a:lnSpc>
            </a:pPr>
            <a:r>
              <a:rPr lang="en-US" dirty="0"/>
              <a:t>pO2	50-70 mmHg</a:t>
            </a:r>
          </a:p>
          <a:p>
            <a:r>
              <a:rPr lang="en-US" dirty="0"/>
              <a:t>pCO2	50-60 mmHg (</a:t>
            </a:r>
            <a:r>
              <a:rPr lang="en-US" dirty="0" err="1"/>
              <a:t>moderateEarly</a:t>
            </a:r>
            <a:r>
              <a:rPr lang="en-US" dirty="0"/>
              <a:t> supportive treatment of hypoxia, acidosis, hypotension and hypothermia</a:t>
            </a:r>
          </a:p>
          <a:p>
            <a:r>
              <a:rPr lang="en-US" dirty="0"/>
              <a:t>Cause we can’t rule out infection initiation of antibiotics is warranted</a:t>
            </a:r>
          </a:p>
          <a:p>
            <a:pPr lvl="1">
              <a:lnSpc>
                <a:spcPct val="80000"/>
              </a:lnSpc>
            </a:pPr>
            <a:r>
              <a:rPr lang="en-US" dirty="0"/>
              <a:t> </a:t>
            </a:r>
            <a:r>
              <a:rPr lang="en-US" dirty="0" err="1"/>
              <a:t>hypercapnea</a:t>
            </a:r>
            <a:r>
              <a:rPr lang="en-US" dirty="0"/>
              <a:t>)</a:t>
            </a:r>
          </a:p>
          <a:p>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42F43E-3F90-47A7-BDCF-E5882603AE61}"/>
              </a:ext>
            </a:extLst>
          </p:cNvPr>
          <p:cNvSpPr>
            <a:spLocks noGrp="1"/>
          </p:cNvSpPr>
          <p:nvPr>
            <p:ph type="title"/>
          </p:nvPr>
        </p:nvSpPr>
        <p:spPr/>
        <p:txBody>
          <a:bodyPr/>
          <a:lstStyle/>
          <a:p>
            <a:r>
              <a:rPr lang="en-US" dirty="0">
                <a:solidFill>
                  <a:srgbClr val="FF0000"/>
                </a:solidFill>
              </a:rPr>
              <a:t>Complications of prematurity</a:t>
            </a:r>
          </a:p>
        </p:txBody>
      </p:sp>
      <p:sp>
        <p:nvSpPr>
          <p:cNvPr id="11" name="Text Placeholder 10">
            <a:extLst>
              <a:ext uri="{FF2B5EF4-FFF2-40B4-BE49-F238E27FC236}">
                <a16:creationId xmlns:a16="http://schemas.microsoft.com/office/drawing/2014/main" xmlns="" id="{9DB06498-FF05-4C00-98B4-E3E257D31514}"/>
              </a:ext>
            </a:extLst>
          </p:cNvPr>
          <p:cNvSpPr>
            <a:spLocks noGrp="1"/>
          </p:cNvSpPr>
          <p:nvPr>
            <p:ph type="body" idx="1"/>
          </p:nvPr>
        </p:nvSpPr>
        <p:spPr/>
        <p:txBody>
          <a:bodyPr/>
          <a:lstStyle/>
          <a:p>
            <a:r>
              <a:rPr lang="en-US" dirty="0"/>
              <a:t>Acute</a:t>
            </a:r>
          </a:p>
        </p:txBody>
      </p:sp>
      <p:sp>
        <p:nvSpPr>
          <p:cNvPr id="9" name="Content Placeholder 8">
            <a:extLst>
              <a:ext uri="{FF2B5EF4-FFF2-40B4-BE49-F238E27FC236}">
                <a16:creationId xmlns:a16="http://schemas.microsoft.com/office/drawing/2014/main" xmlns="" id="{1EA87EE9-67AF-469E-A65A-301CE11E894D}"/>
              </a:ext>
            </a:extLst>
          </p:cNvPr>
          <p:cNvSpPr>
            <a:spLocks noGrp="1"/>
          </p:cNvSpPr>
          <p:nvPr>
            <p:ph sz="half" idx="2"/>
          </p:nvPr>
        </p:nvSpPr>
        <p:spPr/>
        <p:txBody>
          <a:bodyPr>
            <a:normAutofit fontScale="92500" lnSpcReduction="20000"/>
          </a:bodyPr>
          <a:lstStyle/>
          <a:p>
            <a:r>
              <a:rPr lang="en-US" dirty="0"/>
              <a:t>Respiratory distress syndrome  (HMD)</a:t>
            </a:r>
          </a:p>
          <a:p>
            <a:r>
              <a:rPr lang="en-US" dirty="0"/>
              <a:t>Hypothermia</a:t>
            </a:r>
          </a:p>
          <a:p>
            <a:r>
              <a:rPr lang="en-US" dirty="0"/>
              <a:t>Hypoglycemia</a:t>
            </a:r>
          </a:p>
          <a:p>
            <a:r>
              <a:rPr lang="en-US" dirty="0"/>
              <a:t>Sepsis</a:t>
            </a:r>
          </a:p>
          <a:p>
            <a:r>
              <a:rPr lang="en-US" dirty="0"/>
              <a:t>Necrotizing enterocolitis</a:t>
            </a:r>
          </a:p>
          <a:p>
            <a:r>
              <a:rPr lang="en-US" dirty="0"/>
              <a:t>Intraventricular hemorrhage</a:t>
            </a:r>
          </a:p>
          <a:p>
            <a:r>
              <a:rPr lang="en-US" dirty="0"/>
              <a:t>Retinopathy of prematurity</a:t>
            </a:r>
          </a:p>
          <a:p>
            <a:r>
              <a:rPr lang="en-US" dirty="0"/>
              <a:t>Pathologic jaundice</a:t>
            </a:r>
          </a:p>
        </p:txBody>
      </p:sp>
      <p:sp>
        <p:nvSpPr>
          <p:cNvPr id="12" name="Text Placeholder 11">
            <a:extLst>
              <a:ext uri="{FF2B5EF4-FFF2-40B4-BE49-F238E27FC236}">
                <a16:creationId xmlns:a16="http://schemas.microsoft.com/office/drawing/2014/main" xmlns="" id="{9DC28E7E-C206-48AF-8B77-B02DF0D0E510}"/>
              </a:ext>
            </a:extLst>
          </p:cNvPr>
          <p:cNvSpPr>
            <a:spLocks noGrp="1"/>
          </p:cNvSpPr>
          <p:nvPr>
            <p:ph type="body" sz="quarter" idx="3"/>
          </p:nvPr>
        </p:nvSpPr>
        <p:spPr/>
        <p:txBody>
          <a:bodyPr/>
          <a:lstStyle/>
          <a:p>
            <a:r>
              <a:rPr lang="en-US" dirty="0"/>
              <a:t>Late onset</a:t>
            </a:r>
          </a:p>
        </p:txBody>
      </p:sp>
      <p:sp>
        <p:nvSpPr>
          <p:cNvPr id="13" name="Content Placeholder 12">
            <a:extLst>
              <a:ext uri="{FF2B5EF4-FFF2-40B4-BE49-F238E27FC236}">
                <a16:creationId xmlns:a16="http://schemas.microsoft.com/office/drawing/2014/main" xmlns="" id="{42A230D4-E7FF-459B-AC2B-6867B40F71F6}"/>
              </a:ext>
            </a:extLst>
          </p:cNvPr>
          <p:cNvSpPr>
            <a:spLocks noGrp="1"/>
          </p:cNvSpPr>
          <p:nvPr>
            <p:ph sz="quarter" idx="4"/>
          </p:nvPr>
        </p:nvSpPr>
        <p:spPr/>
        <p:txBody>
          <a:bodyPr>
            <a:normAutofit fontScale="92500" lnSpcReduction="20000"/>
          </a:bodyPr>
          <a:lstStyle/>
          <a:p>
            <a:r>
              <a:rPr lang="en-US" dirty="0"/>
              <a:t>Anemia of prematurity</a:t>
            </a:r>
          </a:p>
          <a:p>
            <a:r>
              <a:rPr lang="en-US" dirty="0"/>
              <a:t>Retinopathy of prematurity</a:t>
            </a:r>
          </a:p>
          <a:p>
            <a:r>
              <a:rPr lang="en-US" dirty="0"/>
              <a:t>Bronchopulmonary dysplasia</a:t>
            </a:r>
          </a:p>
          <a:p>
            <a:r>
              <a:rPr lang="en-US" dirty="0"/>
              <a:t>Developmental delay</a:t>
            </a:r>
          </a:p>
          <a:p>
            <a:r>
              <a:rPr lang="en-US" dirty="0"/>
              <a:t>Mental retardation</a:t>
            </a:r>
          </a:p>
          <a:p>
            <a:r>
              <a:rPr lang="en-US" dirty="0"/>
              <a:t>Hearing and vision deficit</a:t>
            </a:r>
          </a:p>
          <a:p>
            <a:r>
              <a:rPr lang="en-US" dirty="0"/>
              <a:t>Patent ductus arteriosus</a:t>
            </a:r>
          </a:p>
          <a:p>
            <a:endParaRPr lang="en-US" dirty="0"/>
          </a:p>
        </p:txBody>
      </p:sp>
      <p:sp>
        <p:nvSpPr>
          <p:cNvPr id="4" name="Slide Number Placeholder 3">
            <a:extLst>
              <a:ext uri="{FF2B5EF4-FFF2-40B4-BE49-F238E27FC236}">
                <a16:creationId xmlns:a16="http://schemas.microsoft.com/office/drawing/2014/main" xmlns="" id="{7DE2379A-BBC1-4553-9955-22E6314728C3}"/>
              </a:ext>
            </a:extLst>
          </p:cNvPr>
          <p:cNvSpPr>
            <a:spLocks noGrp="1"/>
          </p:cNvSpPr>
          <p:nvPr>
            <p:ph type="sldNum" sz="quarter" idx="12"/>
          </p:nvPr>
        </p:nvSpPr>
        <p:spPr/>
        <p:txBody>
          <a:bodyPr/>
          <a:lstStyle/>
          <a:p>
            <a:fld id="{70BDFE1C-33C9-4171-93AE-4B33857102B6}" type="slidenum">
              <a:rPr lang="en-US" smtClean="0"/>
              <a:t>73</a:t>
            </a:fld>
            <a:endParaRPr lang="en-US"/>
          </a:p>
        </p:txBody>
      </p:sp>
    </p:spTree>
    <p:extLst>
      <p:ext uri="{BB962C8B-B14F-4D97-AF65-F5344CB8AC3E}">
        <p14:creationId xmlns:p14="http://schemas.microsoft.com/office/powerpoint/2010/main" val="215600563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xmlns="" id="{3F8C67EF-E820-4889-B758-8036A0948E38}"/>
              </a:ext>
            </a:extLst>
          </p:cNvPr>
          <p:cNvSpPr>
            <a:spLocks noGrp="1"/>
          </p:cNvSpPr>
          <p:nvPr>
            <p:ph type="body" idx="1"/>
          </p:nvPr>
        </p:nvSpPr>
        <p:spPr>
          <a:xfrm>
            <a:off x="839787" y="668337"/>
            <a:ext cx="5157787" cy="823912"/>
          </a:xfrm>
        </p:spPr>
        <p:txBody>
          <a:bodyPr/>
          <a:lstStyle/>
          <a:p>
            <a:r>
              <a:rPr lang="en-US" dirty="0"/>
              <a:t>Management</a:t>
            </a:r>
          </a:p>
        </p:txBody>
      </p:sp>
      <p:sp>
        <p:nvSpPr>
          <p:cNvPr id="3" name="Content Placeholder 2"/>
          <p:cNvSpPr>
            <a:spLocks noGrp="1"/>
          </p:cNvSpPr>
          <p:nvPr>
            <p:ph sz="half" idx="2"/>
          </p:nvPr>
        </p:nvSpPr>
        <p:spPr>
          <a:xfrm>
            <a:off x="836612" y="1978602"/>
            <a:ext cx="5157787" cy="3684588"/>
          </a:xfrm>
        </p:spPr>
        <p:txBody>
          <a:bodyPr>
            <a:normAutofit fontScale="77500" lnSpcReduction="20000"/>
          </a:bodyPr>
          <a:lstStyle/>
          <a:p>
            <a:pPr>
              <a:buNone/>
            </a:pPr>
            <a:r>
              <a:rPr lang="en-US" dirty="0"/>
              <a:t>1. Manage HMD using CPAP, surfactant  </a:t>
            </a:r>
          </a:p>
          <a:p>
            <a:pPr>
              <a:buNone/>
            </a:pPr>
            <a:r>
              <a:rPr lang="en-US" dirty="0"/>
              <a:t>2. Treat hypoglycemia via 10% d/w then early priming of breast milk </a:t>
            </a:r>
          </a:p>
          <a:p>
            <a:pPr>
              <a:buNone/>
            </a:pPr>
            <a:r>
              <a:rPr lang="en-US" dirty="0"/>
              <a:t>3. Incubators to control body temperature</a:t>
            </a:r>
          </a:p>
          <a:p>
            <a:pPr>
              <a:buNone/>
            </a:pPr>
            <a:r>
              <a:rPr lang="en-US" dirty="0"/>
              <a:t>4. Follow for other complications like ROM, Jaundice, NEC, IVH and PDA</a:t>
            </a:r>
          </a:p>
          <a:p>
            <a:pPr>
              <a:buNone/>
            </a:pPr>
            <a:r>
              <a:rPr lang="en-US" dirty="0"/>
              <a:t>5. Advise mother to start KMC</a:t>
            </a:r>
          </a:p>
          <a:p>
            <a:pPr>
              <a:buNone/>
            </a:pPr>
            <a:r>
              <a:rPr lang="en-US" dirty="0"/>
              <a:t>6. Breast and preterm formula for optimal growth</a:t>
            </a:r>
          </a:p>
        </p:txBody>
      </p:sp>
      <p:sp>
        <p:nvSpPr>
          <p:cNvPr id="5" name="Text Placeholder 4">
            <a:extLst>
              <a:ext uri="{FF2B5EF4-FFF2-40B4-BE49-F238E27FC236}">
                <a16:creationId xmlns:a16="http://schemas.microsoft.com/office/drawing/2014/main" xmlns="" id="{0DD68FC6-48FB-41F0-8045-7CDBCDF1C8F1}"/>
              </a:ext>
            </a:extLst>
          </p:cNvPr>
          <p:cNvSpPr>
            <a:spLocks noGrp="1"/>
          </p:cNvSpPr>
          <p:nvPr>
            <p:ph type="body" sz="quarter" idx="3"/>
          </p:nvPr>
        </p:nvSpPr>
        <p:spPr>
          <a:xfrm>
            <a:off x="6194428" y="668337"/>
            <a:ext cx="5183188" cy="823912"/>
          </a:xfrm>
        </p:spPr>
        <p:txBody>
          <a:bodyPr/>
          <a:lstStyle/>
          <a:p>
            <a:r>
              <a:rPr lang="en-US" dirty="0"/>
              <a:t>Follow up</a:t>
            </a:r>
          </a:p>
        </p:txBody>
      </p:sp>
      <p:sp>
        <p:nvSpPr>
          <p:cNvPr id="6" name="Content Placeholder 5">
            <a:extLst>
              <a:ext uri="{FF2B5EF4-FFF2-40B4-BE49-F238E27FC236}">
                <a16:creationId xmlns:a16="http://schemas.microsoft.com/office/drawing/2014/main" xmlns="" id="{B94C89FA-09B4-4621-B726-89CB16F43063}"/>
              </a:ext>
            </a:extLst>
          </p:cNvPr>
          <p:cNvSpPr>
            <a:spLocks noGrp="1"/>
          </p:cNvSpPr>
          <p:nvPr>
            <p:ph sz="quarter" idx="4"/>
          </p:nvPr>
        </p:nvSpPr>
        <p:spPr>
          <a:xfrm>
            <a:off x="6194428" y="1978602"/>
            <a:ext cx="5183188" cy="3684588"/>
          </a:xfrm>
        </p:spPr>
        <p:txBody>
          <a:bodyPr>
            <a:normAutofit fontScale="77500" lnSpcReduction="20000"/>
          </a:bodyPr>
          <a:lstStyle/>
          <a:p>
            <a:r>
              <a:rPr lang="en-US" dirty="0"/>
              <a:t>Follow weight gain at least 15-20gm/kg/day</a:t>
            </a:r>
          </a:p>
          <a:p>
            <a:r>
              <a:rPr lang="en-US" dirty="0"/>
              <a:t>Follow for head circumference 1cm/</a:t>
            </a:r>
            <a:r>
              <a:rPr lang="en-US" dirty="0" err="1"/>
              <a:t>wk</a:t>
            </a:r>
            <a:endParaRPr lang="en-US" dirty="0"/>
          </a:p>
          <a:p>
            <a:r>
              <a:rPr lang="en-US" dirty="0" err="1"/>
              <a:t>Anthropometic</a:t>
            </a:r>
            <a:r>
              <a:rPr lang="en-US" dirty="0"/>
              <a:t> measurement using corrected age</a:t>
            </a:r>
          </a:p>
          <a:p>
            <a:r>
              <a:rPr lang="en-US" dirty="0"/>
              <a:t>Vision assessment</a:t>
            </a:r>
          </a:p>
          <a:p>
            <a:r>
              <a:rPr lang="en-US" dirty="0"/>
              <a:t>Hearing assessment</a:t>
            </a:r>
          </a:p>
          <a:p>
            <a:r>
              <a:rPr lang="en-US" dirty="0"/>
              <a:t>Brain ultrasound</a:t>
            </a:r>
          </a:p>
          <a:p>
            <a:r>
              <a:rPr lang="en-US" dirty="0"/>
              <a:t>Development assessment</a:t>
            </a:r>
          </a:p>
          <a:p>
            <a:r>
              <a:rPr lang="en-US" dirty="0"/>
              <a:t>Assess for anemia, rickets and bleeding tendencies</a:t>
            </a:r>
          </a:p>
          <a:p>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E9E68B-D538-4D23-9A31-831A9CD48518}"/>
              </a:ext>
            </a:extLst>
          </p:cNvPr>
          <p:cNvSpPr>
            <a:spLocks noGrp="1"/>
          </p:cNvSpPr>
          <p:nvPr>
            <p:ph type="title"/>
          </p:nvPr>
        </p:nvSpPr>
        <p:spPr/>
        <p:txBody>
          <a:bodyPr/>
          <a:lstStyle/>
          <a:p>
            <a:r>
              <a:rPr lang="en-US" dirty="0"/>
              <a:t>Complications of post term</a:t>
            </a:r>
          </a:p>
        </p:txBody>
      </p:sp>
      <p:sp>
        <p:nvSpPr>
          <p:cNvPr id="3" name="Text Placeholder 2">
            <a:extLst>
              <a:ext uri="{FF2B5EF4-FFF2-40B4-BE49-F238E27FC236}">
                <a16:creationId xmlns:a16="http://schemas.microsoft.com/office/drawing/2014/main" xmlns="" id="{1C3833AA-95C0-4FAD-95B8-5C53182B3AB8}"/>
              </a:ext>
            </a:extLst>
          </p:cNvPr>
          <p:cNvSpPr>
            <a:spLocks noGrp="1"/>
          </p:cNvSpPr>
          <p:nvPr>
            <p:ph type="body" idx="1"/>
          </p:nvPr>
        </p:nvSpPr>
        <p:spPr/>
        <p:txBody>
          <a:bodyPr/>
          <a:lstStyle/>
          <a:p>
            <a:endParaRPr lang="en-US"/>
          </a:p>
        </p:txBody>
      </p:sp>
      <p:sp>
        <p:nvSpPr>
          <p:cNvPr id="4" name="Content Placeholder 3">
            <a:extLst>
              <a:ext uri="{FF2B5EF4-FFF2-40B4-BE49-F238E27FC236}">
                <a16:creationId xmlns:a16="http://schemas.microsoft.com/office/drawing/2014/main" xmlns="" id="{D7A583AA-EB5E-4527-A2F5-E3886C9F11CD}"/>
              </a:ext>
            </a:extLst>
          </p:cNvPr>
          <p:cNvSpPr>
            <a:spLocks noGrp="1"/>
          </p:cNvSpPr>
          <p:nvPr>
            <p:ph sz="half" idx="2"/>
          </p:nvPr>
        </p:nvSpPr>
        <p:spPr/>
        <p:txBody>
          <a:bodyPr/>
          <a:lstStyle/>
          <a:p>
            <a:endParaRPr lang="en-US"/>
          </a:p>
        </p:txBody>
      </p:sp>
      <p:sp>
        <p:nvSpPr>
          <p:cNvPr id="5" name="Text Placeholder 4">
            <a:extLst>
              <a:ext uri="{FF2B5EF4-FFF2-40B4-BE49-F238E27FC236}">
                <a16:creationId xmlns:a16="http://schemas.microsoft.com/office/drawing/2014/main" xmlns="" id="{35FC42C6-9F51-4114-96D1-4406A17AEC31}"/>
              </a:ext>
            </a:extLst>
          </p:cNvPr>
          <p:cNvSpPr>
            <a:spLocks noGrp="1"/>
          </p:cNvSpPr>
          <p:nvPr>
            <p:ph type="body" sz="quarter" idx="3"/>
          </p:nvPr>
        </p:nvSpPr>
        <p:spPr/>
        <p:txBody>
          <a:bodyPr/>
          <a:lstStyle/>
          <a:p>
            <a:endParaRPr lang="en-US"/>
          </a:p>
        </p:txBody>
      </p:sp>
      <p:sp>
        <p:nvSpPr>
          <p:cNvPr id="6" name="Content Placeholder 5">
            <a:extLst>
              <a:ext uri="{FF2B5EF4-FFF2-40B4-BE49-F238E27FC236}">
                <a16:creationId xmlns:a16="http://schemas.microsoft.com/office/drawing/2014/main" xmlns="" id="{B1D17EF5-3675-48B5-B278-E2EA1A38065D}"/>
              </a:ext>
            </a:extLst>
          </p:cNvPr>
          <p:cNvSpPr>
            <a:spLocks noGrp="1"/>
          </p:cNvSpPr>
          <p:nvPr>
            <p:ph sz="quarter" idx="4"/>
          </p:nvPr>
        </p:nvSpPr>
        <p:spPr/>
        <p:txBody>
          <a:bodyPr/>
          <a:lstStyle/>
          <a:p>
            <a:endParaRPr lang="en-US"/>
          </a:p>
        </p:txBody>
      </p:sp>
      <p:sp>
        <p:nvSpPr>
          <p:cNvPr id="7" name="Slide Number Placeholder 6">
            <a:extLst>
              <a:ext uri="{FF2B5EF4-FFF2-40B4-BE49-F238E27FC236}">
                <a16:creationId xmlns:a16="http://schemas.microsoft.com/office/drawing/2014/main" xmlns="" id="{726D3771-4FE6-494D-95A9-C86215E02B18}"/>
              </a:ext>
            </a:extLst>
          </p:cNvPr>
          <p:cNvSpPr>
            <a:spLocks noGrp="1"/>
          </p:cNvSpPr>
          <p:nvPr>
            <p:ph type="sldNum" sz="quarter" idx="12"/>
          </p:nvPr>
        </p:nvSpPr>
        <p:spPr/>
        <p:txBody>
          <a:bodyPr/>
          <a:lstStyle/>
          <a:p>
            <a:fld id="{70BDFE1C-33C9-4171-93AE-4B33857102B6}" type="slidenum">
              <a:rPr lang="en-US" smtClean="0"/>
              <a:t>75</a:t>
            </a:fld>
            <a:endParaRPr lang="en-US"/>
          </a:p>
        </p:txBody>
      </p:sp>
    </p:spTree>
    <p:extLst>
      <p:ext uri="{BB962C8B-B14F-4D97-AF65-F5344CB8AC3E}">
        <p14:creationId xmlns:p14="http://schemas.microsoft.com/office/powerpoint/2010/main" val="173177346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42F43E-3F90-47A7-BDCF-E5882603AE61}"/>
              </a:ext>
            </a:extLst>
          </p:cNvPr>
          <p:cNvSpPr>
            <a:spLocks noGrp="1"/>
          </p:cNvSpPr>
          <p:nvPr>
            <p:ph type="title"/>
          </p:nvPr>
        </p:nvSpPr>
        <p:spPr/>
        <p:txBody>
          <a:bodyPr/>
          <a:lstStyle/>
          <a:p>
            <a:r>
              <a:rPr lang="en-US" dirty="0"/>
              <a:t>Fetal macrosomia</a:t>
            </a:r>
          </a:p>
        </p:txBody>
      </p:sp>
      <p:sp>
        <p:nvSpPr>
          <p:cNvPr id="3" name="Content Placeholder 2">
            <a:extLst>
              <a:ext uri="{FF2B5EF4-FFF2-40B4-BE49-F238E27FC236}">
                <a16:creationId xmlns:a16="http://schemas.microsoft.com/office/drawing/2014/main" xmlns="" id="{5F918645-F04B-4F07-9D66-B229FEE05EDE}"/>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xmlns="" id="{7DE2379A-BBC1-4553-9955-22E6314728C3}"/>
              </a:ext>
            </a:extLst>
          </p:cNvPr>
          <p:cNvSpPr>
            <a:spLocks noGrp="1"/>
          </p:cNvSpPr>
          <p:nvPr>
            <p:ph type="sldNum" sz="quarter" idx="12"/>
          </p:nvPr>
        </p:nvSpPr>
        <p:spPr/>
        <p:txBody>
          <a:bodyPr/>
          <a:lstStyle/>
          <a:p>
            <a:fld id="{70BDFE1C-33C9-4171-93AE-4B33857102B6}" type="slidenum">
              <a:rPr lang="en-US" smtClean="0"/>
              <a:t>76</a:t>
            </a:fld>
            <a:endParaRPr lang="en-US"/>
          </a:p>
        </p:txBody>
      </p:sp>
    </p:spTree>
    <p:extLst>
      <p:ext uri="{BB962C8B-B14F-4D97-AF65-F5344CB8AC3E}">
        <p14:creationId xmlns:p14="http://schemas.microsoft.com/office/powerpoint/2010/main" val="334753272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xmlns="" id="{2F61A10F-F5DC-4FC4-B3D7-0C40D1078558}"/>
              </a:ext>
            </a:extLst>
          </p:cNvPr>
          <p:cNvSpPr>
            <a:spLocks noGrp="1"/>
          </p:cNvSpPr>
          <p:nvPr>
            <p:ph type="title"/>
          </p:nvPr>
        </p:nvSpPr>
        <p:spPr/>
        <p:txBody>
          <a:bodyPr/>
          <a:lstStyle/>
          <a:p>
            <a:pPr eaLnBrk="1" hangingPunct="1"/>
            <a:r>
              <a:rPr lang="en-US" altLang="en-US" dirty="0"/>
              <a:t>Feeding practices </a:t>
            </a:r>
          </a:p>
        </p:txBody>
      </p:sp>
      <p:sp>
        <p:nvSpPr>
          <p:cNvPr id="25603" name="Content Placeholder 2">
            <a:extLst>
              <a:ext uri="{FF2B5EF4-FFF2-40B4-BE49-F238E27FC236}">
                <a16:creationId xmlns:a16="http://schemas.microsoft.com/office/drawing/2014/main" xmlns="" id="{FB5D767A-F4B8-4522-AAF3-D64C025E892D}"/>
              </a:ext>
            </a:extLst>
          </p:cNvPr>
          <p:cNvSpPr>
            <a:spLocks noGrp="1"/>
          </p:cNvSpPr>
          <p:nvPr>
            <p:ph sz="half" idx="1"/>
          </p:nvPr>
        </p:nvSpPr>
        <p:spPr/>
        <p:txBody>
          <a:bodyPr/>
          <a:lstStyle/>
          <a:p>
            <a:pPr eaLnBrk="1" hangingPunct="1"/>
            <a:r>
              <a:rPr lang="en-US" altLang="en-US" b="1" dirty="0"/>
              <a:t>Infant and young child feeding:</a:t>
            </a:r>
          </a:p>
          <a:p>
            <a:pPr lvl="1" eaLnBrk="1" hangingPunct="1">
              <a:buFont typeface="Wingdings" panose="05000000000000000000" pitchFamily="2" charset="2"/>
              <a:buChar char="Ø"/>
            </a:pPr>
            <a:r>
              <a:rPr lang="en-US" altLang="en-US" b="1" dirty="0"/>
              <a:t>Exclusive breast feeding:</a:t>
            </a:r>
          </a:p>
          <a:p>
            <a:pPr lvl="2" eaLnBrk="1" hangingPunct="1">
              <a:buFont typeface="Arial" panose="020B0604020202020204" pitchFamily="34" charset="0"/>
              <a:buChar char="•"/>
            </a:pPr>
            <a:r>
              <a:rPr lang="en-US" altLang="en-US" dirty="0"/>
              <a:t>the baby is given only breast milk and nothing else.</a:t>
            </a:r>
          </a:p>
          <a:p>
            <a:pPr lvl="2" eaLnBrk="1" hangingPunct="1">
              <a:buFont typeface="Wingdings 2" panose="05020102010507070707" pitchFamily="18" charset="2"/>
              <a:buNone/>
            </a:pPr>
            <a:endParaRPr lang="en-US" altLang="en-US" dirty="0"/>
          </a:p>
          <a:p>
            <a:pPr lvl="2" eaLnBrk="1" hangingPunct="1">
              <a:buFont typeface="Arial" panose="020B0604020202020204" pitchFamily="34" charset="0"/>
              <a:buChar char="•"/>
            </a:pPr>
            <a:r>
              <a:rPr lang="en-US" altLang="en-US" dirty="0"/>
              <a:t>Should be practiced during the first six month.</a:t>
            </a:r>
          </a:p>
          <a:p>
            <a:pPr lvl="2" eaLnBrk="1" hangingPunct="1">
              <a:buFont typeface="Wingdings 2" panose="05020102010507070707" pitchFamily="18" charset="2"/>
              <a:buNone/>
            </a:pPr>
            <a:endParaRPr lang="en-US" altLang="en-US" dirty="0"/>
          </a:p>
          <a:p>
            <a:pPr lvl="2" eaLnBrk="1" hangingPunct="1">
              <a:buFont typeface="Arial" panose="020B0604020202020204" pitchFamily="34" charset="0"/>
              <a:buChar char="•"/>
            </a:pPr>
            <a:r>
              <a:rPr lang="en-US" altLang="en-US" dirty="0"/>
              <a:t>Breast milk provides best and complete nourishment to the baby during the first six months.</a:t>
            </a:r>
          </a:p>
          <a:p>
            <a:pPr lvl="2" eaLnBrk="1" hangingPunct="1">
              <a:buFont typeface="Arial" panose="020B0604020202020204" pitchFamily="34" charset="0"/>
              <a:buChar char="•"/>
            </a:pPr>
            <a:endParaRPr lang="en-US" altLang="en-US" dirty="0"/>
          </a:p>
          <a:p>
            <a:pPr lvl="2" eaLnBrk="1" hangingPunct="1">
              <a:buFont typeface="Arial" panose="020B0604020202020204" pitchFamily="34" charset="0"/>
              <a:buChar char="•"/>
            </a:pPr>
            <a:endParaRPr lang="en-US" altLang="en-US" dirty="0"/>
          </a:p>
        </p:txBody>
      </p:sp>
      <p:graphicFrame>
        <p:nvGraphicFramePr>
          <p:cNvPr id="5" name="Content Placeholder 5">
            <a:extLst>
              <a:ext uri="{FF2B5EF4-FFF2-40B4-BE49-F238E27FC236}">
                <a16:creationId xmlns:a16="http://schemas.microsoft.com/office/drawing/2014/main" xmlns="" id="{35624B22-2F9A-4CAF-BC24-5CF38993C01E}"/>
              </a:ext>
            </a:extLst>
          </p:cNvPr>
          <p:cNvGraphicFramePr>
            <a:graphicFrameLocks noGrp="1"/>
          </p:cNvGraphicFramePr>
          <p:nvPr>
            <p:ph sz="half" idx="2"/>
            <p:extLst>
              <p:ext uri="{D42A27DB-BD31-4B8C-83A1-F6EECF244321}">
                <p14:modId xmlns:p14="http://schemas.microsoft.com/office/powerpoint/2010/main" val="894780008"/>
              </p:ext>
            </p:extLst>
          </p:nvPr>
        </p:nvGraphicFramePr>
        <p:xfrm>
          <a:off x="6172200" y="1876425"/>
          <a:ext cx="5008418" cy="3931920"/>
        </p:xfrm>
        <a:graphic>
          <a:graphicData uri="http://schemas.openxmlformats.org/drawingml/2006/table">
            <a:tbl>
              <a:tblPr firstRow="1" bandRow="1">
                <a:tableStyleId>{5C22544A-7EE6-4342-B048-85BDC9FD1C3A}</a:tableStyleId>
              </a:tblPr>
              <a:tblGrid>
                <a:gridCol w="2407893">
                  <a:extLst>
                    <a:ext uri="{9D8B030D-6E8A-4147-A177-3AD203B41FA5}">
                      <a16:colId xmlns:a16="http://schemas.microsoft.com/office/drawing/2014/main" xmlns="" val="20000"/>
                    </a:ext>
                  </a:extLst>
                </a:gridCol>
                <a:gridCol w="2600525">
                  <a:extLst>
                    <a:ext uri="{9D8B030D-6E8A-4147-A177-3AD203B41FA5}">
                      <a16:colId xmlns:a16="http://schemas.microsoft.com/office/drawing/2014/main" xmlns="" val="20001"/>
                    </a:ext>
                  </a:extLst>
                </a:gridCol>
              </a:tblGrid>
              <a:tr h="348355">
                <a:tc>
                  <a:txBody>
                    <a:bodyPr/>
                    <a:lstStyle/>
                    <a:p>
                      <a:r>
                        <a:rPr lang="en-US" dirty="0"/>
                        <a:t>Ingredient </a:t>
                      </a:r>
                    </a:p>
                  </a:txBody>
                  <a:tcPr/>
                </a:tc>
                <a:tc>
                  <a:txBody>
                    <a:bodyPr/>
                    <a:lstStyle/>
                    <a:p>
                      <a:r>
                        <a:rPr lang="en-US" dirty="0"/>
                        <a:t>amount</a:t>
                      </a:r>
                    </a:p>
                  </a:txBody>
                  <a:tcPr/>
                </a:tc>
                <a:extLst>
                  <a:ext uri="{0D108BD9-81ED-4DB2-BD59-A6C34878D82A}">
                    <a16:rowId xmlns:a16="http://schemas.microsoft.com/office/drawing/2014/main" xmlns="" val="10000"/>
                  </a:ext>
                </a:extLst>
              </a:tr>
              <a:tr h="348355">
                <a:tc>
                  <a:txBody>
                    <a:bodyPr/>
                    <a:lstStyle/>
                    <a:p>
                      <a:r>
                        <a:rPr lang="en-US" dirty="0"/>
                        <a:t>Calorie</a:t>
                      </a:r>
                      <a:r>
                        <a:rPr lang="en-US" baseline="0" dirty="0"/>
                        <a:t> </a:t>
                      </a:r>
                      <a:endParaRPr lang="en-US" dirty="0"/>
                    </a:p>
                  </a:txBody>
                  <a:tcPr/>
                </a:tc>
                <a:tc>
                  <a:txBody>
                    <a:bodyPr/>
                    <a:lstStyle/>
                    <a:p>
                      <a:r>
                        <a:rPr lang="en-US" dirty="0"/>
                        <a:t>67kcal/dl</a:t>
                      </a:r>
                    </a:p>
                  </a:txBody>
                  <a:tcPr/>
                </a:tc>
                <a:extLst>
                  <a:ext uri="{0D108BD9-81ED-4DB2-BD59-A6C34878D82A}">
                    <a16:rowId xmlns:a16="http://schemas.microsoft.com/office/drawing/2014/main" xmlns="" val="10001"/>
                  </a:ext>
                </a:extLst>
              </a:tr>
              <a:tr h="348355">
                <a:tc>
                  <a:txBody>
                    <a:bodyPr/>
                    <a:lstStyle/>
                    <a:p>
                      <a:r>
                        <a:rPr lang="en-US" dirty="0"/>
                        <a:t>Protein </a:t>
                      </a:r>
                    </a:p>
                  </a:txBody>
                  <a:tcPr/>
                </a:tc>
                <a:tc>
                  <a:txBody>
                    <a:bodyPr/>
                    <a:lstStyle/>
                    <a:p>
                      <a:r>
                        <a:rPr lang="en-US" dirty="0"/>
                        <a:t>1.8-3.1gm/dl</a:t>
                      </a:r>
                    </a:p>
                  </a:txBody>
                  <a:tcPr/>
                </a:tc>
                <a:extLst>
                  <a:ext uri="{0D108BD9-81ED-4DB2-BD59-A6C34878D82A}">
                    <a16:rowId xmlns:a16="http://schemas.microsoft.com/office/drawing/2014/main" xmlns="" val="10002"/>
                  </a:ext>
                </a:extLst>
              </a:tr>
              <a:tr h="348355">
                <a:tc>
                  <a:txBody>
                    <a:bodyPr/>
                    <a:lstStyle/>
                    <a:p>
                      <a:r>
                        <a:rPr lang="en-US" dirty="0"/>
                        <a:t>      whey</a:t>
                      </a:r>
                    </a:p>
                  </a:txBody>
                  <a:tcPr/>
                </a:tc>
                <a:tc>
                  <a:txBody>
                    <a:bodyPr/>
                    <a:lstStyle/>
                    <a:p>
                      <a:r>
                        <a:rPr lang="en-US" dirty="0"/>
                        <a:t>70%</a:t>
                      </a:r>
                    </a:p>
                  </a:txBody>
                  <a:tcPr/>
                </a:tc>
                <a:extLst>
                  <a:ext uri="{0D108BD9-81ED-4DB2-BD59-A6C34878D82A}">
                    <a16:rowId xmlns:a16="http://schemas.microsoft.com/office/drawing/2014/main" xmlns="" val="10003"/>
                  </a:ext>
                </a:extLst>
              </a:tr>
              <a:tr h="348355">
                <a:tc>
                  <a:txBody>
                    <a:bodyPr/>
                    <a:lstStyle/>
                    <a:p>
                      <a:r>
                        <a:rPr lang="en-US" dirty="0"/>
                        <a:t>       casein</a:t>
                      </a:r>
                    </a:p>
                  </a:txBody>
                  <a:tcPr/>
                </a:tc>
                <a:tc>
                  <a:txBody>
                    <a:bodyPr/>
                    <a:lstStyle/>
                    <a:p>
                      <a:r>
                        <a:rPr lang="en-US" dirty="0"/>
                        <a:t>30%</a:t>
                      </a:r>
                    </a:p>
                  </a:txBody>
                  <a:tcPr/>
                </a:tc>
                <a:extLst>
                  <a:ext uri="{0D108BD9-81ED-4DB2-BD59-A6C34878D82A}">
                    <a16:rowId xmlns:a16="http://schemas.microsoft.com/office/drawing/2014/main" xmlns="" val="10004"/>
                  </a:ext>
                </a:extLst>
              </a:tr>
              <a:tr h="348355">
                <a:tc>
                  <a:txBody>
                    <a:bodyPr/>
                    <a:lstStyle/>
                    <a:p>
                      <a:r>
                        <a:rPr lang="en-US" dirty="0"/>
                        <a:t>nucleotides</a:t>
                      </a:r>
                    </a:p>
                  </a:txBody>
                  <a:tcPr/>
                </a:tc>
                <a:tc>
                  <a:txBody>
                    <a:bodyPr/>
                    <a:lstStyle/>
                    <a:p>
                      <a:r>
                        <a:rPr lang="en-US" dirty="0"/>
                        <a:t>Present </a:t>
                      </a:r>
                    </a:p>
                  </a:txBody>
                  <a:tcPr/>
                </a:tc>
                <a:extLst>
                  <a:ext uri="{0D108BD9-81ED-4DB2-BD59-A6C34878D82A}">
                    <a16:rowId xmlns:a16="http://schemas.microsoft.com/office/drawing/2014/main" xmlns="" val="10005"/>
                  </a:ext>
                </a:extLst>
              </a:tr>
              <a:tr h="348355">
                <a:tc>
                  <a:txBody>
                    <a:bodyPr/>
                    <a:lstStyle/>
                    <a:p>
                      <a:r>
                        <a:rPr lang="en-US" dirty="0"/>
                        <a:t>Lipid </a:t>
                      </a:r>
                    </a:p>
                  </a:txBody>
                  <a:tcPr/>
                </a:tc>
                <a:tc>
                  <a:txBody>
                    <a:bodyPr/>
                    <a:lstStyle/>
                    <a:p>
                      <a:r>
                        <a:rPr lang="en-US" dirty="0"/>
                        <a:t>50% of the calorie in the milk</a:t>
                      </a:r>
                    </a:p>
                  </a:txBody>
                  <a:tcPr/>
                </a:tc>
                <a:extLst>
                  <a:ext uri="{0D108BD9-81ED-4DB2-BD59-A6C34878D82A}">
                    <a16:rowId xmlns:a16="http://schemas.microsoft.com/office/drawing/2014/main" xmlns="" val="10006"/>
                  </a:ext>
                </a:extLst>
              </a:tr>
              <a:tr h="348355">
                <a:tc>
                  <a:txBody>
                    <a:bodyPr/>
                    <a:lstStyle/>
                    <a:p>
                      <a:r>
                        <a:rPr lang="en-US" dirty="0"/>
                        <a:t>vitamins</a:t>
                      </a:r>
                    </a:p>
                  </a:txBody>
                  <a:tcPr/>
                </a:tc>
                <a:tc>
                  <a:txBody>
                    <a:bodyPr/>
                    <a:lstStyle/>
                    <a:p>
                      <a:endParaRPr lang="en-US" dirty="0"/>
                    </a:p>
                  </a:txBody>
                  <a:tcPr/>
                </a:tc>
                <a:extLst>
                  <a:ext uri="{0D108BD9-81ED-4DB2-BD59-A6C34878D82A}">
                    <a16:rowId xmlns:a16="http://schemas.microsoft.com/office/drawing/2014/main" xmlns="" val="10007"/>
                  </a:ext>
                </a:extLst>
              </a:tr>
              <a:tr h="348355">
                <a:tc>
                  <a:txBody>
                    <a:bodyPr/>
                    <a:lstStyle/>
                    <a:p>
                      <a:r>
                        <a:rPr lang="en-US" dirty="0"/>
                        <a:t>minerals</a:t>
                      </a:r>
                    </a:p>
                  </a:txBody>
                  <a:tcPr/>
                </a:tc>
                <a:tc>
                  <a:txBody>
                    <a:bodyPr/>
                    <a:lstStyle/>
                    <a:p>
                      <a:r>
                        <a:rPr lang="en-US" dirty="0"/>
                        <a:t>                                                                       </a:t>
                      </a:r>
                    </a:p>
                  </a:txBody>
                  <a:tcPr/>
                </a:tc>
                <a:extLst>
                  <a:ext uri="{0D108BD9-81ED-4DB2-BD59-A6C34878D82A}">
                    <a16:rowId xmlns:a16="http://schemas.microsoft.com/office/drawing/2014/main" xmlns="" val="10008"/>
                  </a:ext>
                </a:extLst>
              </a:tr>
              <a:tr h="348355">
                <a:tc>
                  <a:txBody>
                    <a:bodyPr/>
                    <a:lstStyle/>
                    <a:p>
                      <a:endParaRPr lang="en-US" dirty="0"/>
                    </a:p>
                  </a:txBody>
                  <a:tcPr/>
                </a:tc>
                <a:tc>
                  <a:txBody>
                    <a:bodyPr/>
                    <a:lstStyle/>
                    <a:p>
                      <a:endParaRPr lang="en-US" dirty="0"/>
                    </a:p>
                  </a:txBody>
                  <a:tcPr/>
                </a:tc>
                <a:extLst>
                  <a:ext uri="{0D108BD9-81ED-4DB2-BD59-A6C34878D82A}">
                    <a16:rowId xmlns:a16="http://schemas.microsoft.com/office/drawing/2014/main" xmlns="" val="10009"/>
                  </a:ext>
                </a:extLst>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xmlns="" id="{2F83096B-1092-462E-B13C-5AED6CB1578B}"/>
              </a:ext>
            </a:extLst>
          </p:cNvPr>
          <p:cNvSpPr>
            <a:spLocks noGrp="1"/>
          </p:cNvSpPr>
          <p:nvPr>
            <p:ph type="title"/>
          </p:nvPr>
        </p:nvSpPr>
        <p:spPr/>
        <p:txBody>
          <a:bodyPr/>
          <a:lstStyle/>
          <a:p>
            <a:pPr eaLnBrk="1" hangingPunct="1"/>
            <a:r>
              <a:rPr lang="en-US" altLang="en-US"/>
              <a:t>Feeding…</a:t>
            </a:r>
          </a:p>
        </p:txBody>
      </p:sp>
      <p:sp>
        <p:nvSpPr>
          <p:cNvPr id="3" name="Content Placeholder 2">
            <a:extLst>
              <a:ext uri="{FF2B5EF4-FFF2-40B4-BE49-F238E27FC236}">
                <a16:creationId xmlns:a16="http://schemas.microsoft.com/office/drawing/2014/main" xmlns="" id="{B8672F8D-BD2B-4D92-83E7-B785F53E13B9}"/>
              </a:ext>
            </a:extLst>
          </p:cNvPr>
          <p:cNvSpPr>
            <a:spLocks noGrp="1"/>
          </p:cNvSpPr>
          <p:nvPr>
            <p:ph sz="half" idx="1"/>
          </p:nvPr>
        </p:nvSpPr>
        <p:spPr/>
        <p:txBody>
          <a:bodyPr>
            <a:normAutofit fontScale="85000" lnSpcReduction="10000"/>
          </a:bodyPr>
          <a:lstStyle/>
          <a:p>
            <a:pPr marL="274320" indent="-274320">
              <a:buClr>
                <a:schemeClr val="accent3"/>
              </a:buClr>
              <a:buFont typeface="Wingdings 2"/>
              <a:buChar char=""/>
              <a:defRPr/>
            </a:pPr>
            <a:r>
              <a:rPr lang="en-US" b="1" dirty="0"/>
              <a:t>Advantage of breast milk:</a:t>
            </a:r>
          </a:p>
          <a:p>
            <a:pPr marL="640080" lvl="1" indent="-246888">
              <a:buFont typeface="Wingdings" pitchFamily="2" charset="2"/>
              <a:buChar char="Ø"/>
              <a:defRPr/>
            </a:pPr>
            <a:r>
              <a:rPr lang="en-US" dirty="0"/>
              <a:t>Improved gastrointestinal function, digestion, and absorption </a:t>
            </a:r>
          </a:p>
          <a:p>
            <a:pPr marL="640080" lvl="1" indent="-246888">
              <a:buFont typeface="Wingdings" pitchFamily="2" charset="2"/>
              <a:buChar char="Ø"/>
              <a:defRPr/>
            </a:pPr>
            <a:r>
              <a:rPr lang="en-US" dirty="0"/>
              <a:t>Improved cognitive and visual development</a:t>
            </a:r>
          </a:p>
          <a:p>
            <a:pPr marL="640080" lvl="1" indent="-246888">
              <a:buFont typeface="Wingdings" pitchFamily="2" charset="2"/>
              <a:buChar char="Ø"/>
              <a:defRPr/>
            </a:pPr>
            <a:r>
              <a:rPr lang="en-US" dirty="0"/>
              <a:t>Improved host defense</a:t>
            </a:r>
          </a:p>
          <a:p>
            <a:pPr marL="640080" lvl="1" indent="-246888">
              <a:buFont typeface="Wingdings" pitchFamily="2" charset="2"/>
              <a:buChar char="Ø"/>
              <a:defRPr/>
            </a:pPr>
            <a:r>
              <a:rPr lang="en-US" dirty="0"/>
              <a:t>Enhanced maternal psychological well-being and maternal-infant bonding.</a:t>
            </a:r>
          </a:p>
          <a:p>
            <a:pPr marL="640080" lvl="1" indent="-246888">
              <a:buFont typeface="Wingdings" pitchFamily="2" charset="2"/>
              <a:buChar char="Ø"/>
              <a:defRPr/>
            </a:pPr>
            <a:r>
              <a:rPr lang="en-US" dirty="0"/>
              <a:t>Increase the rate of gastric emptying .</a:t>
            </a:r>
          </a:p>
          <a:p>
            <a:pPr marL="640080" lvl="1" indent="-246888">
              <a:buFont typeface="Wingdings" pitchFamily="2" charset="2"/>
              <a:buChar char="Ø"/>
              <a:defRPr/>
            </a:pPr>
            <a:r>
              <a:rPr lang="en-US" dirty="0"/>
              <a:t>Increase the intestinal lactase activity in premature infants.</a:t>
            </a:r>
          </a:p>
          <a:p>
            <a:pPr marL="640080" lvl="1" indent="-246888">
              <a:buFont typeface="Wingdings" pitchFamily="2" charset="2"/>
              <a:buChar char="Ø"/>
              <a:defRPr/>
            </a:pPr>
            <a:r>
              <a:rPr lang="en-US" dirty="0"/>
              <a:t>Decrease the intestinal permeability early in life in premature infants .</a:t>
            </a:r>
          </a:p>
          <a:p>
            <a:pPr marL="640080" lvl="1" indent="-246888">
              <a:buFont typeface="Wingdings" pitchFamily="2" charset="2"/>
              <a:buChar char="Ø"/>
              <a:defRPr/>
            </a:pPr>
            <a:r>
              <a:rPr lang="en-US" dirty="0"/>
              <a:t>Decrease the risk of NEC in premature infants. </a:t>
            </a:r>
          </a:p>
          <a:p>
            <a:pPr marL="274320" indent="-274320">
              <a:buClr>
                <a:schemeClr val="accent3"/>
              </a:buClr>
              <a:buFont typeface="Wingdings 2"/>
              <a:buChar char=""/>
              <a:defRPr/>
            </a:pPr>
            <a:endParaRPr lang="en-US" dirty="0"/>
          </a:p>
        </p:txBody>
      </p:sp>
      <p:sp>
        <p:nvSpPr>
          <p:cNvPr id="2" name="Content Placeholder 1">
            <a:extLst>
              <a:ext uri="{FF2B5EF4-FFF2-40B4-BE49-F238E27FC236}">
                <a16:creationId xmlns:a16="http://schemas.microsoft.com/office/drawing/2014/main" xmlns="" id="{DA062EDC-77D6-4A64-BE32-A187440955D7}"/>
              </a:ext>
            </a:extLst>
          </p:cNvPr>
          <p:cNvSpPr>
            <a:spLocks noGrp="1"/>
          </p:cNvSpPr>
          <p:nvPr>
            <p:ph sz="half" idx="2"/>
          </p:nvPr>
        </p:nvSpPr>
        <p:spPr/>
        <p:txBody>
          <a:bodyPr>
            <a:normAutofit fontScale="85000" lnSpcReduction="10000"/>
          </a:bodyPr>
          <a:lstStyle/>
          <a:p>
            <a:pPr eaLnBrk="1" hangingPunct="1"/>
            <a:r>
              <a:rPr lang="en-US" altLang="en-US" b="1" dirty="0"/>
              <a:t>Advantage of breast milk(continued)</a:t>
            </a:r>
          </a:p>
          <a:p>
            <a:pPr lvl="1" eaLnBrk="1" hangingPunct="1">
              <a:buFont typeface="Wingdings" panose="05000000000000000000" pitchFamily="2" charset="2"/>
              <a:buChar char="Ø"/>
            </a:pPr>
            <a:r>
              <a:rPr lang="en-US" altLang="en-US" dirty="0"/>
              <a:t>Acceleration of uterine involution. </a:t>
            </a:r>
          </a:p>
          <a:p>
            <a:pPr lvl="1" eaLnBrk="1" hangingPunct="1">
              <a:buFont typeface="Wingdings" panose="05000000000000000000" pitchFamily="2" charset="2"/>
              <a:buChar char="Ø"/>
            </a:pPr>
            <a:r>
              <a:rPr lang="en-US" altLang="en-US" dirty="0"/>
              <a:t>Reduction of maternal response to stress </a:t>
            </a:r>
          </a:p>
          <a:p>
            <a:pPr lvl="1" eaLnBrk="1" hangingPunct="1">
              <a:buFont typeface="Wingdings" panose="05000000000000000000" pitchFamily="2" charset="2"/>
              <a:buChar char="Ø"/>
            </a:pPr>
            <a:r>
              <a:rPr lang="en-US" altLang="en-US" dirty="0"/>
              <a:t>Lower rates of maternal neglect and child abuse </a:t>
            </a:r>
          </a:p>
          <a:p>
            <a:pPr lvl="1" eaLnBrk="1" hangingPunct="1">
              <a:buFont typeface="Wingdings" panose="05000000000000000000" pitchFamily="2" charset="2"/>
              <a:buChar char="Ø"/>
            </a:pPr>
            <a:r>
              <a:rPr lang="en-US" altLang="en-US" dirty="0"/>
              <a:t>Enhanced weight loss after pregnancy. </a:t>
            </a:r>
          </a:p>
          <a:p>
            <a:pPr lvl="1" eaLnBrk="1" hangingPunct="1">
              <a:buFont typeface="Wingdings" panose="05000000000000000000" pitchFamily="2" charset="2"/>
              <a:buChar char="Ø"/>
            </a:pPr>
            <a:r>
              <a:rPr lang="en-US" altLang="en-US" dirty="0"/>
              <a:t>Prolongation of postpartum anovulation. </a:t>
            </a:r>
          </a:p>
          <a:p>
            <a:pPr lvl="1" eaLnBrk="1" hangingPunct="1">
              <a:buFont typeface="Wingdings" panose="05000000000000000000" pitchFamily="2" charset="2"/>
              <a:buChar char="Ø"/>
            </a:pPr>
            <a:r>
              <a:rPr lang="en-US" altLang="en-US" dirty="0"/>
              <a:t>Economic benefit.</a:t>
            </a:r>
          </a:p>
          <a:p>
            <a:pPr marL="0" indent="0">
              <a:buNone/>
            </a:pPr>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xmlns="" id="{467B885F-D0E8-4EE5-AB2E-AB6A69785B8C}"/>
              </a:ext>
            </a:extLst>
          </p:cNvPr>
          <p:cNvSpPr>
            <a:spLocks noGrp="1"/>
          </p:cNvSpPr>
          <p:nvPr>
            <p:ph type="title"/>
          </p:nvPr>
        </p:nvSpPr>
        <p:spPr/>
        <p:txBody>
          <a:bodyPr/>
          <a:lstStyle/>
          <a:p>
            <a:pPr eaLnBrk="1" hangingPunct="1"/>
            <a:r>
              <a:rPr lang="en-US" altLang="en-US"/>
              <a:t>Feeding…</a:t>
            </a:r>
          </a:p>
        </p:txBody>
      </p:sp>
      <p:sp>
        <p:nvSpPr>
          <p:cNvPr id="29699" name="Content Placeholder 2">
            <a:extLst>
              <a:ext uri="{FF2B5EF4-FFF2-40B4-BE49-F238E27FC236}">
                <a16:creationId xmlns:a16="http://schemas.microsoft.com/office/drawing/2014/main" xmlns="" id="{F0B7A683-AA1F-4863-AA56-4627F2C65207}"/>
              </a:ext>
            </a:extLst>
          </p:cNvPr>
          <p:cNvSpPr>
            <a:spLocks noGrp="1"/>
          </p:cNvSpPr>
          <p:nvPr>
            <p:ph sz="half" idx="1"/>
          </p:nvPr>
        </p:nvSpPr>
        <p:spPr/>
        <p:txBody>
          <a:bodyPr/>
          <a:lstStyle/>
          <a:p>
            <a:pPr eaLnBrk="1" hangingPunct="1"/>
            <a:r>
              <a:rPr lang="en-US" altLang="en-US" b="1"/>
              <a:t>Signs of good attachment in breast feeding:</a:t>
            </a:r>
          </a:p>
          <a:p>
            <a:pPr lvl="1" eaLnBrk="1" hangingPunct="1">
              <a:buFont typeface="Wingdings" panose="05000000000000000000" pitchFamily="2" charset="2"/>
              <a:buChar char="Ø"/>
            </a:pPr>
            <a:r>
              <a:rPr lang="en-US" altLang="en-US"/>
              <a:t>Mouth wide open</a:t>
            </a:r>
          </a:p>
          <a:p>
            <a:pPr lvl="1" eaLnBrk="1" hangingPunct="1">
              <a:buFont typeface="Wingdings 2" panose="05020102010507070707" pitchFamily="18" charset="2"/>
              <a:buNone/>
            </a:pPr>
            <a:endParaRPr lang="en-US" altLang="en-US"/>
          </a:p>
          <a:p>
            <a:pPr lvl="1" eaLnBrk="1" hangingPunct="1">
              <a:buFont typeface="Wingdings" panose="05000000000000000000" pitchFamily="2" charset="2"/>
              <a:buChar char="Ø"/>
            </a:pPr>
            <a:r>
              <a:rPr lang="en-US" altLang="en-US"/>
              <a:t>The lower lip is turned outward</a:t>
            </a:r>
          </a:p>
          <a:p>
            <a:pPr lvl="1" eaLnBrk="1" hangingPunct="1">
              <a:buFont typeface="Wingdings 2" panose="05020102010507070707" pitchFamily="18" charset="2"/>
              <a:buNone/>
            </a:pPr>
            <a:endParaRPr lang="en-US" altLang="en-US"/>
          </a:p>
          <a:p>
            <a:pPr lvl="1" eaLnBrk="1" hangingPunct="1">
              <a:buFont typeface="Wingdings" panose="05000000000000000000" pitchFamily="2" charset="2"/>
              <a:buChar char="Ø"/>
            </a:pPr>
            <a:r>
              <a:rPr lang="en-US" altLang="en-US"/>
              <a:t>The chin is touching the breast</a:t>
            </a:r>
          </a:p>
          <a:p>
            <a:pPr lvl="1" eaLnBrk="1" hangingPunct="1">
              <a:buFont typeface="Wingdings 2" panose="05020102010507070707" pitchFamily="18" charset="2"/>
              <a:buNone/>
            </a:pPr>
            <a:endParaRPr lang="en-US" altLang="en-US"/>
          </a:p>
          <a:p>
            <a:pPr lvl="1" eaLnBrk="1" hangingPunct="1">
              <a:buFont typeface="Wingdings" panose="05000000000000000000" pitchFamily="2" charset="2"/>
              <a:buChar char="Ø"/>
            </a:pPr>
            <a:r>
              <a:rPr lang="en-US" altLang="en-US"/>
              <a:t>More areola above than below</a:t>
            </a:r>
          </a:p>
          <a:p>
            <a:pPr eaLnBrk="1" hangingPunct="1"/>
            <a:endParaRPr lang="en-US" altLang="en-US"/>
          </a:p>
        </p:txBody>
      </p:sp>
      <p:sp>
        <p:nvSpPr>
          <p:cNvPr id="2" name="Content Placeholder 1">
            <a:extLst>
              <a:ext uri="{FF2B5EF4-FFF2-40B4-BE49-F238E27FC236}">
                <a16:creationId xmlns:a16="http://schemas.microsoft.com/office/drawing/2014/main" xmlns="" id="{A0C5E728-5823-43DD-BD1C-7F5FFA810118}"/>
              </a:ext>
            </a:extLst>
          </p:cNvPr>
          <p:cNvSpPr>
            <a:spLocks noGrp="1"/>
          </p:cNvSpPr>
          <p:nvPr>
            <p:ph sz="half" idx="2"/>
          </p:nvPr>
        </p:nvSpPr>
        <p:spPr/>
        <p:txBody>
          <a:bodyPr/>
          <a:lstStyle/>
          <a:p>
            <a:pPr eaLnBrk="1" hangingPunct="1"/>
            <a:r>
              <a:rPr lang="en-US" altLang="en-US" b="1" dirty="0"/>
              <a:t>Positions when breast feeding:</a:t>
            </a:r>
          </a:p>
          <a:p>
            <a:pPr lvl="1" eaLnBrk="1" hangingPunct="1">
              <a:buFont typeface="Wingdings" panose="05000000000000000000" pitchFamily="2" charset="2"/>
              <a:buChar char="Ø"/>
            </a:pPr>
            <a:r>
              <a:rPr lang="en-US" altLang="en-US" dirty="0"/>
              <a:t>The cradle hold</a:t>
            </a:r>
          </a:p>
          <a:p>
            <a:pPr lvl="1" eaLnBrk="1" hangingPunct="1">
              <a:buFont typeface="Wingdings" panose="05000000000000000000" pitchFamily="2" charset="2"/>
              <a:buChar char="Ø"/>
            </a:pPr>
            <a:r>
              <a:rPr lang="en-US" altLang="en-US" dirty="0"/>
              <a:t>The cross cradle hold</a:t>
            </a:r>
          </a:p>
          <a:p>
            <a:pPr lvl="1" eaLnBrk="1" hangingPunct="1">
              <a:buFont typeface="Wingdings" panose="05000000000000000000" pitchFamily="2" charset="2"/>
              <a:buChar char="Ø"/>
            </a:pPr>
            <a:r>
              <a:rPr lang="en-US" altLang="en-US" dirty="0"/>
              <a:t>The seated position</a:t>
            </a:r>
          </a:p>
          <a:p>
            <a:pPr eaLnBrk="1" hangingPunct="1"/>
            <a:r>
              <a:rPr lang="en-US" altLang="en-US" b="1" dirty="0"/>
              <a:t>Signs of good positioning:</a:t>
            </a:r>
          </a:p>
          <a:p>
            <a:pPr lvl="1" eaLnBrk="1" hangingPunct="1">
              <a:buFont typeface="Wingdings" panose="05000000000000000000" pitchFamily="2" charset="2"/>
              <a:buChar char="Ø"/>
            </a:pPr>
            <a:r>
              <a:rPr lang="en-US" altLang="en-US" dirty="0"/>
              <a:t>The baby's stomach should touch the mother’s abdomen.</a:t>
            </a:r>
          </a:p>
          <a:p>
            <a:pPr lvl="1" eaLnBrk="1" hangingPunct="1">
              <a:buFont typeface="Wingdings" panose="05000000000000000000" pitchFamily="2" charset="2"/>
              <a:buChar char="Ø"/>
            </a:pPr>
            <a:r>
              <a:rPr lang="en-US" altLang="en-US" dirty="0"/>
              <a:t> the baby’s body should be straight. </a:t>
            </a:r>
          </a:p>
          <a:p>
            <a:pPr lvl="1" eaLnBrk="1" hangingPunct="1">
              <a:buFont typeface="Wingdings" panose="05000000000000000000" pitchFamily="2" charset="2"/>
              <a:buChar char="Ø"/>
            </a:pPr>
            <a:r>
              <a:rPr lang="en-US" altLang="en-US" dirty="0"/>
              <a:t>The baby’s body has to be supported.</a:t>
            </a:r>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xmlns="" id="{EFE4F54B-35E7-4893-B61F-8F24E3BAAFD1}"/>
              </a:ext>
            </a:extLst>
          </p:cNvPr>
          <p:cNvSpPr>
            <a:spLocks noGrp="1"/>
          </p:cNvSpPr>
          <p:nvPr>
            <p:ph type="title"/>
          </p:nvPr>
        </p:nvSpPr>
        <p:spPr/>
        <p:txBody>
          <a:bodyPr/>
          <a:lstStyle/>
          <a:p>
            <a:pPr eaLnBrk="1" hangingPunct="1"/>
            <a:endParaRPr lang="en-US" altLang="en-US"/>
          </a:p>
        </p:txBody>
      </p:sp>
      <p:pic>
        <p:nvPicPr>
          <p:cNvPr id="31747" name="Picture 2">
            <a:extLst>
              <a:ext uri="{FF2B5EF4-FFF2-40B4-BE49-F238E27FC236}">
                <a16:creationId xmlns:a16="http://schemas.microsoft.com/office/drawing/2014/main" xmlns="" id="{852ECFAD-F38B-44B4-A2A0-562567F24D2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05284" y="172750"/>
            <a:ext cx="4136309" cy="3274578"/>
          </a:xfrm>
          <a:noFill/>
        </p:spPr>
      </p:pic>
      <p:pic>
        <p:nvPicPr>
          <p:cNvPr id="5" name="Picture 2">
            <a:extLst>
              <a:ext uri="{FF2B5EF4-FFF2-40B4-BE49-F238E27FC236}">
                <a16:creationId xmlns:a16="http://schemas.microsoft.com/office/drawing/2014/main" xmlns="" id="{FC02FE2B-8304-4393-B745-D945E66175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6561830" y="365126"/>
            <a:ext cx="4486342" cy="3280336"/>
          </a:xfrm>
          <a:prstGeom prst="rect">
            <a:avLst/>
          </a:prstGeom>
          <a:noFill/>
        </p:spPr>
      </p:pic>
      <p:pic>
        <p:nvPicPr>
          <p:cNvPr id="6" name="Picture 2">
            <a:extLst>
              <a:ext uri="{FF2B5EF4-FFF2-40B4-BE49-F238E27FC236}">
                <a16:creationId xmlns:a16="http://schemas.microsoft.com/office/drawing/2014/main" xmlns="" id="{4EA9FB6C-9C7D-4DC0-9225-15888F540C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605284" y="3639703"/>
            <a:ext cx="3670479" cy="2743200"/>
          </a:xfrm>
          <a:prstGeom prst="rect">
            <a:avLst/>
          </a:prstGeom>
          <a:noFill/>
        </p:spPr>
      </p:pic>
      <p:pic>
        <p:nvPicPr>
          <p:cNvPr id="7" name="Picture 2">
            <a:extLst>
              <a:ext uri="{FF2B5EF4-FFF2-40B4-BE49-F238E27FC236}">
                <a16:creationId xmlns:a16="http://schemas.microsoft.com/office/drawing/2014/main" xmlns="" id="{ABDEE79E-DA7E-41BC-B48F-2EE74B4C48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a:xfrm>
            <a:off x="6561830" y="3447328"/>
            <a:ext cx="4160520" cy="2971800"/>
          </a:xfrm>
          <a:prstGeom prst="rect">
            <a:avLst/>
          </a:prstGeom>
          <a:noFill/>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xmlns="" id="{49FC0394-AF59-476E-A4F1-AF7EC0DD4A98}"/>
              </a:ext>
            </a:extLst>
          </p:cNvPr>
          <p:cNvSpPr>
            <a:spLocks noGrp="1"/>
          </p:cNvSpPr>
          <p:nvPr>
            <p:ph type="title"/>
          </p:nvPr>
        </p:nvSpPr>
        <p:spPr/>
        <p:txBody>
          <a:bodyPr/>
          <a:lstStyle/>
          <a:p>
            <a:pPr eaLnBrk="1" hangingPunct="1"/>
            <a:r>
              <a:rPr lang="en-US" altLang="en-US"/>
              <a:t>Feeding…</a:t>
            </a:r>
          </a:p>
        </p:txBody>
      </p:sp>
      <p:sp>
        <p:nvSpPr>
          <p:cNvPr id="35843" name="Content Placeholder 2">
            <a:extLst>
              <a:ext uri="{FF2B5EF4-FFF2-40B4-BE49-F238E27FC236}">
                <a16:creationId xmlns:a16="http://schemas.microsoft.com/office/drawing/2014/main" xmlns="" id="{00E7383E-F477-4E08-A5D6-DFF258D454C2}"/>
              </a:ext>
            </a:extLst>
          </p:cNvPr>
          <p:cNvSpPr>
            <a:spLocks noGrp="1"/>
          </p:cNvSpPr>
          <p:nvPr>
            <p:ph sz="half" idx="1"/>
          </p:nvPr>
        </p:nvSpPr>
        <p:spPr/>
        <p:txBody>
          <a:bodyPr>
            <a:normAutofit fontScale="92500" lnSpcReduction="10000"/>
          </a:bodyPr>
          <a:lstStyle/>
          <a:p>
            <a:pPr eaLnBrk="1" hangingPunct="1"/>
            <a:r>
              <a:rPr lang="en-US" altLang="en-US" b="1"/>
              <a:t>Assessment of breast milk intake adequacy:</a:t>
            </a:r>
          </a:p>
          <a:p>
            <a:pPr lvl="1" eaLnBrk="1" hangingPunct="1">
              <a:buFont typeface="Wingdings" panose="05000000000000000000" pitchFamily="2" charset="2"/>
              <a:buChar char="Ø"/>
            </a:pPr>
            <a:r>
              <a:rPr lang="en-US" altLang="en-US"/>
              <a:t>nurses 8 to 12 times in 24 hours </a:t>
            </a:r>
          </a:p>
          <a:p>
            <a:pPr lvl="1" eaLnBrk="1" hangingPunct="1">
              <a:buFont typeface="Wingdings 2" panose="05020102010507070707" pitchFamily="18" charset="2"/>
              <a:buNone/>
            </a:pPr>
            <a:endParaRPr lang="en-US" altLang="en-US"/>
          </a:p>
          <a:p>
            <a:pPr lvl="1" eaLnBrk="1" hangingPunct="1">
              <a:buFont typeface="Wingdings" panose="05000000000000000000" pitchFamily="2" charset="2"/>
              <a:buChar char="Ø"/>
            </a:pPr>
            <a:r>
              <a:rPr lang="en-US" altLang="en-US"/>
              <a:t>Infant urinate six to eight times daily </a:t>
            </a:r>
          </a:p>
          <a:p>
            <a:pPr lvl="1" eaLnBrk="1" hangingPunct="1">
              <a:buFont typeface="Wingdings 2" panose="05020102010507070707" pitchFamily="18" charset="2"/>
              <a:buNone/>
            </a:pPr>
            <a:endParaRPr lang="en-US" altLang="en-US"/>
          </a:p>
          <a:p>
            <a:pPr lvl="1" eaLnBrk="1" hangingPunct="1">
              <a:buFont typeface="Wingdings" panose="05000000000000000000" pitchFamily="2" charset="2"/>
              <a:buChar char="Ø"/>
            </a:pPr>
            <a:r>
              <a:rPr lang="en-US" altLang="en-US"/>
              <a:t>Passes three or more pale yellow and seedy stools daily.</a:t>
            </a:r>
          </a:p>
          <a:p>
            <a:pPr lvl="1" eaLnBrk="1" hangingPunct="1">
              <a:buFont typeface="Wingdings 2" panose="05020102010507070707" pitchFamily="18" charset="2"/>
              <a:buNone/>
            </a:pPr>
            <a:endParaRPr lang="en-US" altLang="en-US"/>
          </a:p>
          <a:p>
            <a:pPr lvl="1" eaLnBrk="1" hangingPunct="1">
              <a:buFont typeface="Wingdings" panose="05000000000000000000" pitchFamily="2" charset="2"/>
              <a:buChar char="Ø"/>
            </a:pPr>
            <a:r>
              <a:rPr lang="en-US" altLang="en-US"/>
              <a:t>Will have adequate weight gain. </a:t>
            </a:r>
          </a:p>
        </p:txBody>
      </p:sp>
      <p:sp>
        <p:nvSpPr>
          <p:cNvPr id="2" name="Content Placeholder 1">
            <a:extLst>
              <a:ext uri="{FF2B5EF4-FFF2-40B4-BE49-F238E27FC236}">
                <a16:creationId xmlns:a16="http://schemas.microsoft.com/office/drawing/2014/main" xmlns="" id="{045C7EF3-20E4-4B93-A248-161432D0B6C9}"/>
              </a:ext>
            </a:extLst>
          </p:cNvPr>
          <p:cNvSpPr>
            <a:spLocks noGrp="1"/>
          </p:cNvSpPr>
          <p:nvPr>
            <p:ph sz="half" idx="2"/>
          </p:nvPr>
        </p:nvSpPr>
        <p:spPr/>
        <p:txBody>
          <a:bodyPr>
            <a:normAutofit fontScale="92500" lnSpcReduction="10000"/>
          </a:bodyPr>
          <a:lstStyle/>
          <a:p>
            <a:pPr eaLnBrk="1" hangingPunct="1"/>
            <a:r>
              <a:rPr lang="en-US" altLang="en-US" b="1" dirty="0"/>
              <a:t>Complementary feeding:</a:t>
            </a:r>
          </a:p>
          <a:p>
            <a:pPr lvl="1" eaLnBrk="1" hangingPunct="1">
              <a:buFont typeface="Wingdings" panose="05000000000000000000" pitchFamily="2" charset="2"/>
              <a:buChar char="Ø"/>
            </a:pPr>
            <a:r>
              <a:rPr lang="en-US" altLang="en-US" b="1" dirty="0"/>
              <a:t>Importance of complementary feeding:</a:t>
            </a:r>
          </a:p>
          <a:p>
            <a:pPr lvl="2" eaLnBrk="1" hangingPunct="1">
              <a:buFont typeface="Arial" panose="020B0604020202020204" pitchFamily="34" charset="0"/>
              <a:buChar char="•"/>
            </a:pPr>
            <a:r>
              <a:rPr lang="en-US" altLang="en-US" dirty="0"/>
              <a:t>Is essential from six months of age while continuing breast feeding.</a:t>
            </a:r>
          </a:p>
          <a:p>
            <a:pPr lvl="2" eaLnBrk="1" hangingPunct="1">
              <a:buFont typeface="Arial" panose="020B0604020202020204" pitchFamily="34" charset="0"/>
              <a:buChar char="•"/>
            </a:pPr>
            <a:endParaRPr lang="en-US" altLang="en-US" dirty="0"/>
          </a:p>
          <a:p>
            <a:pPr lvl="2" eaLnBrk="1" hangingPunct="1">
              <a:buFont typeface="Arial" panose="020B0604020202020204" pitchFamily="34" charset="0"/>
              <a:buChar char="•"/>
            </a:pPr>
            <a:r>
              <a:rPr lang="en-US" altLang="en-US" dirty="0"/>
              <a:t>The purpose is to complement breast milk to provide enough </a:t>
            </a:r>
            <a:r>
              <a:rPr lang="en-US" altLang="en-US" b="1" dirty="0"/>
              <a:t>energy,</a:t>
            </a:r>
            <a:r>
              <a:rPr lang="en-US" altLang="en-US" dirty="0"/>
              <a:t> </a:t>
            </a:r>
            <a:r>
              <a:rPr lang="en-US" altLang="en-US" b="1" dirty="0"/>
              <a:t>protein</a:t>
            </a:r>
            <a:r>
              <a:rPr lang="en-US" altLang="en-US" dirty="0"/>
              <a:t> and </a:t>
            </a:r>
            <a:r>
              <a:rPr lang="en-US" altLang="en-US" b="1" dirty="0"/>
              <a:t>other nutrients</a:t>
            </a:r>
            <a:r>
              <a:rPr lang="en-US" altLang="en-US" dirty="0"/>
              <a:t>.</a:t>
            </a:r>
          </a:p>
          <a:p>
            <a:pPr lvl="2" eaLnBrk="1" hangingPunct="1">
              <a:buFont typeface="Arial" panose="020B0604020202020204" pitchFamily="34" charset="0"/>
              <a:buChar char="•"/>
            </a:pPr>
            <a:endParaRPr lang="en-US" altLang="en-US" dirty="0"/>
          </a:p>
          <a:p>
            <a:pPr lvl="2" eaLnBrk="1" hangingPunct="1">
              <a:buFont typeface="Arial" panose="020B0604020202020204" pitchFamily="34" charset="0"/>
              <a:buChar char="•"/>
            </a:pPr>
            <a:r>
              <a:rPr lang="en-US" altLang="en-US" dirty="0"/>
              <a:t>Breast feeding has to be continued up to the </a:t>
            </a:r>
            <a:r>
              <a:rPr lang="en-US" altLang="en-US" b="1" dirty="0"/>
              <a:t>age of two years </a:t>
            </a:r>
            <a:r>
              <a:rPr lang="en-US" altLang="en-US" dirty="0"/>
              <a:t>or beyond.</a:t>
            </a:r>
          </a:p>
          <a:p>
            <a:pPr lvl="2" eaLnBrk="1" hangingPunct="1">
              <a:buFont typeface="Arial" panose="020B0604020202020204" pitchFamily="34" charset="0"/>
              <a:buChar char="•"/>
            </a:pPr>
            <a:r>
              <a:rPr lang="en-US" altLang="en-US" dirty="0"/>
              <a:t>Active feeding style for complementary feeding is important.</a:t>
            </a:r>
          </a:p>
          <a:p>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xmlns="" id="{46ECEC00-8799-4A54-9A55-5FB2C919CDE8}"/>
              </a:ext>
            </a:extLst>
          </p:cNvPr>
          <p:cNvSpPr>
            <a:spLocks noGrp="1"/>
          </p:cNvSpPr>
          <p:nvPr>
            <p:ph type="title"/>
          </p:nvPr>
        </p:nvSpPr>
        <p:spPr/>
        <p:txBody>
          <a:bodyPr/>
          <a:lstStyle/>
          <a:p>
            <a:pPr eaLnBrk="1" hangingPunct="1"/>
            <a:r>
              <a:rPr lang="en-US" altLang="en-US"/>
              <a:t>Feeding…</a:t>
            </a:r>
          </a:p>
        </p:txBody>
      </p:sp>
      <p:sp>
        <p:nvSpPr>
          <p:cNvPr id="37891" name="Content Placeholder 2">
            <a:extLst>
              <a:ext uri="{FF2B5EF4-FFF2-40B4-BE49-F238E27FC236}">
                <a16:creationId xmlns:a16="http://schemas.microsoft.com/office/drawing/2014/main" xmlns="" id="{06EA2E43-5B01-498F-93A7-42D0608C3A7F}"/>
              </a:ext>
            </a:extLst>
          </p:cNvPr>
          <p:cNvSpPr>
            <a:spLocks noGrp="1"/>
          </p:cNvSpPr>
          <p:nvPr>
            <p:ph sz="half" idx="1"/>
          </p:nvPr>
        </p:nvSpPr>
        <p:spPr/>
        <p:txBody>
          <a:bodyPr>
            <a:normAutofit fontScale="92500" lnSpcReduction="10000"/>
          </a:bodyPr>
          <a:lstStyle/>
          <a:p>
            <a:pPr eaLnBrk="1" hangingPunct="1"/>
            <a:r>
              <a:rPr lang="en-US" altLang="en-US" b="1"/>
              <a:t>First food for the baby:</a:t>
            </a:r>
          </a:p>
          <a:p>
            <a:pPr lvl="1" eaLnBrk="1" hangingPunct="1">
              <a:buFont typeface="Wingdings" panose="05000000000000000000" pitchFamily="2" charset="2"/>
              <a:buChar char="Ø"/>
            </a:pPr>
            <a:r>
              <a:rPr lang="en-US" altLang="en-US"/>
              <a:t>Cereal food is recommended</a:t>
            </a:r>
          </a:p>
          <a:p>
            <a:pPr lvl="1" eaLnBrk="1" hangingPunct="1">
              <a:buFont typeface="Wingdings 2" panose="05020102010507070707" pitchFamily="18" charset="2"/>
              <a:buNone/>
            </a:pPr>
            <a:endParaRPr lang="en-US" altLang="en-US"/>
          </a:p>
          <a:p>
            <a:pPr lvl="1" eaLnBrk="1" hangingPunct="1">
              <a:buFont typeface="Wingdings" panose="05000000000000000000" pitchFamily="2" charset="2"/>
              <a:buChar char="Ø"/>
            </a:pPr>
            <a:r>
              <a:rPr lang="en-US" altLang="en-US"/>
              <a:t>Porridge, milk, ground rice, fitfit, smashed potato, smashed vegetables, fruits… </a:t>
            </a:r>
          </a:p>
          <a:p>
            <a:pPr lvl="1" eaLnBrk="1" hangingPunct="1">
              <a:buFont typeface="Wingdings 2" panose="05020102010507070707" pitchFamily="18" charset="2"/>
              <a:buNone/>
            </a:pPr>
            <a:endParaRPr lang="en-US" altLang="en-US"/>
          </a:p>
          <a:p>
            <a:pPr lvl="1" eaLnBrk="1" hangingPunct="1">
              <a:buFont typeface="Wingdings" panose="05000000000000000000" pitchFamily="2" charset="2"/>
              <a:buChar char="Ø"/>
            </a:pPr>
            <a:r>
              <a:rPr lang="en-US" altLang="en-US"/>
              <a:t>Adding ghee or oil is good as it increases the energy value of the food.</a:t>
            </a:r>
          </a:p>
          <a:p>
            <a:pPr lvl="1" eaLnBrk="1" hangingPunct="1">
              <a:buFont typeface="Wingdings 2" panose="05020102010507070707" pitchFamily="18" charset="2"/>
              <a:buNone/>
            </a:pPr>
            <a:endParaRPr lang="en-US" altLang="en-US"/>
          </a:p>
          <a:p>
            <a:pPr lvl="1" eaLnBrk="1" hangingPunct="1">
              <a:buFont typeface="Wingdings" panose="05000000000000000000" pitchFamily="2" charset="2"/>
              <a:buChar char="Ø"/>
            </a:pPr>
            <a:r>
              <a:rPr lang="en-US" altLang="en-US"/>
              <a:t>Gradually egg, meat and fish can be introduced.</a:t>
            </a:r>
          </a:p>
        </p:txBody>
      </p:sp>
      <p:sp>
        <p:nvSpPr>
          <p:cNvPr id="2" name="Content Placeholder 1">
            <a:extLst>
              <a:ext uri="{FF2B5EF4-FFF2-40B4-BE49-F238E27FC236}">
                <a16:creationId xmlns:a16="http://schemas.microsoft.com/office/drawing/2014/main" xmlns="" id="{D4870EE8-343A-45A0-872F-F25BE91D9B91}"/>
              </a:ext>
            </a:extLst>
          </p:cNvPr>
          <p:cNvSpPr>
            <a:spLocks noGrp="1"/>
          </p:cNvSpPr>
          <p:nvPr>
            <p:ph sz="half" idx="2"/>
          </p:nvPr>
        </p:nvSpPr>
        <p:spPr/>
        <p:txBody>
          <a:bodyPr>
            <a:normAutofit fontScale="92500" lnSpcReduction="10000"/>
          </a:bodyPr>
          <a:lstStyle/>
          <a:p>
            <a:pPr eaLnBrk="1" hangingPunct="1"/>
            <a:r>
              <a:rPr lang="en-US" altLang="en-US" b="1" dirty="0"/>
              <a:t>Energy density of food can be increased by:</a:t>
            </a:r>
          </a:p>
          <a:p>
            <a:pPr eaLnBrk="1" hangingPunct="1">
              <a:buFont typeface="Wingdings 2" panose="05020102010507070707" pitchFamily="18" charset="2"/>
              <a:buNone/>
            </a:pPr>
            <a:endParaRPr lang="en-US" altLang="en-US" b="1" dirty="0"/>
          </a:p>
          <a:p>
            <a:pPr lvl="1" eaLnBrk="1" hangingPunct="1">
              <a:buFont typeface="Wingdings" panose="05000000000000000000" pitchFamily="2" charset="2"/>
              <a:buChar char="Ø"/>
            </a:pPr>
            <a:r>
              <a:rPr lang="en-US" altLang="en-US" dirty="0"/>
              <a:t>By adding ghee or oil to the food</a:t>
            </a:r>
          </a:p>
          <a:p>
            <a:pPr lvl="1" eaLnBrk="1" hangingPunct="1">
              <a:buFont typeface="Wingdings 2" panose="05020102010507070707" pitchFamily="18" charset="2"/>
              <a:buNone/>
            </a:pPr>
            <a:endParaRPr lang="en-US" altLang="en-US" dirty="0"/>
          </a:p>
          <a:p>
            <a:pPr lvl="1" eaLnBrk="1" hangingPunct="1">
              <a:buFont typeface="Wingdings" panose="05000000000000000000" pitchFamily="2" charset="2"/>
              <a:buChar char="Ø"/>
            </a:pPr>
            <a:r>
              <a:rPr lang="en-US" altLang="en-US" dirty="0"/>
              <a:t>By adding sugar to the food</a:t>
            </a:r>
          </a:p>
          <a:p>
            <a:pPr lvl="1" eaLnBrk="1" hangingPunct="1">
              <a:buFont typeface="Wingdings 2" panose="05020102010507070707" pitchFamily="18" charset="2"/>
              <a:buNone/>
            </a:pPr>
            <a:endParaRPr lang="en-US" altLang="en-US" dirty="0"/>
          </a:p>
          <a:p>
            <a:pPr lvl="1" eaLnBrk="1" hangingPunct="1">
              <a:buFont typeface="Wingdings" panose="05000000000000000000" pitchFamily="2" charset="2"/>
              <a:buChar char="Ø"/>
            </a:pPr>
            <a:r>
              <a:rPr lang="en-US" altLang="en-US" dirty="0"/>
              <a:t>By feeding thick mixtures</a:t>
            </a:r>
          </a:p>
          <a:p>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xmlns="" id="{5CFF223F-0F8A-4EC9-9C14-6A48B256450E}"/>
              </a:ext>
            </a:extLst>
          </p:cNvPr>
          <p:cNvSpPr>
            <a:spLocks noGrp="1"/>
          </p:cNvSpPr>
          <p:nvPr>
            <p:ph type="title"/>
          </p:nvPr>
        </p:nvSpPr>
        <p:spPr/>
        <p:txBody>
          <a:bodyPr/>
          <a:lstStyle/>
          <a:p>
            <a:pPr eaLnBrk="1" hangingPunct="1"/>
            <a:r>
              <a:rPr lang="en-US" altLang="en-US"/>
              <a:t>Feeding…</a:t>
            </a:r>
          </a:p>
        </p:txBody>
      </p:sp>
      <p:sp>
        <p:nvSpPr>
          <p:cNvPr id="39939" name="Content Placeholder 2">
            <a:extLst>
              <a:ext uri="{FF2B5EF4-FFF2-40B4-BE49-F238E27FC236}">
                <a16:creationId xmlns:a16="http://schemas.microsoft.com/office/drawing/2014/main" xmlns="" id="{E2E828AD-82CE-4805-A1EA-115D589A8C58}"/>
              </a:ext>
            </a:extLst>
          </p:cNvPr>
          <p:cNvSpPr>
            <a:spLocks noGrp="1"/>
          </p:cNvSpPr>
          <p:nvPr>
            <p:ph sz="half" idx="1"/>
          </p:nvPr>
        </p:nvSpPr>
        <p:spPr/>
        <p:txBody>
          <a:bodyPr/>
          <a:lstStyle/>
          <a:p>
            <a:pPr eaLnBrk="1" hangingPunct="1"/>
            <a:r>
              <a:rPr lang="en-US" altLang="en-US" b="1"/>
              <a:t>Frequency of feeding:</a:t>
            </a:r>
          </a:p>
          <a:p>
            <a:pPr eaLnBrk="1" hangingPunct="1">
              <a:buFont typeface="Wingdings 2" panose="05020102010507070707" pitchFamily="18" charset="2"/>
              <a:buNone/>
            </a:pPr>
            <a:endParaRPr lang="en-US" altLang="en-US" b="1"/>
          </a:p>
          <a:p>
            <a:pPr lvl="1" eaLnBrk="1" hangingPunct="1">
              <a:buFont typeface="Wingdings" panose="05000000000000000000" pitchFamily="2" charset="2"/>
              <a:buChar char="Ø"/>
            </a:pPr>
            <a:r>
              <a:rPr lang="en-US" altLang="en-US"/>
              <a:t>Infants and young children need to be fed 5-6 times a day in addition to breast feeding.</a:t>
            </a:r>
          </a:p>
          <a:p>
            <a:pPr lvl="1" eaLnBrk="1" hangingPunct="1">
              <a:buFont typeface="Wingdings 2" panose="05020102010507070707" pitchFamily="18" charset="2"/>
              <a:buNone/>
            </a:pPr>
            <a:endParaRPr lang="en-US" altLang="en-US"/>
          </a:p>
          <a:p>
            <a:pPr lvl="1" eaLnBrk="1" hangingPunct="1">
              <a:buFont typeface="Wingdings" panose="05000000000000000000" pitchFamily="2" charset="2"/>
              <a:buChar char="Ø"/>
            </a:pPr>
            <a:r>
              <a:rPr lang="en-US" altLang="en-US"/>
              <a:t>Inadequate feeding is the most common cause of malnutrition.</a:t>
            </a:r>
          </a:p>
        </p:txBody>
      </p:sp>
      <p:sp>
        <p:nvSpPr>
          <p:cNvPr id="2" name="Content Placeholder 1">
            <a:extLst>
              <a:ext uri="{FF2B5EF4-FFF2-40B4-BE49-F238E27FC236}">
                <a16:creationId xmlns:a16="http://schemas.microsoft.com/office/drawing/2014/main" xmlns="" id="{283C15FD-9C50-4E80-80D4-312194CE8D36}"/>
              </a:ext>
            </a:extLst>
          </p:cNvPr>
          <p:cNvSpPr>
            <a:spLocks noGrp="1"/>
          </p:cNvSpPr>
          <p:nvPr>
            <p:ph sz="half" idx="2"/>
          </p:nvPr>
        </p:nvSpPr>
        <p:spPr/>
        <p:txBody>
          <a:bodyPr/>
          <a:lstStyle/>
          <a:p>
            <a:pPr eaLnBrk="1" hangingPunct="1"/>
            <a:r>
              <a:rPr lang="en-US" altLang="en-US" b="1" dirty="0"/>
              <a:t>Feeding during and after illness:</a:t>
            </a:r>
          </a:p>
          <a:p>
            <a:pPr eaLnBrk="1" hangingPunct="1">
              <a:buFont typeface="Wingdings 2" panose="05020102010507070707" pitchFamily="18" charset="2"/>
              <a:buNone/>
            </a:pPr>
            <a:endParaRPr lang="en-US" altLang="en-US" b="1" dirty="0"/>
          </a:p>
          <a:p>
            <a:pPr lvl="1" eaLnBrk="1" hangingPunct="1">
              <a:buFont typeface="Wingdings" panose="05000000000000000000" pitchFamily="2" charset="2"/>
              <a:buChar char="Ø"/>
            </a:pPr>
            <a:r>
              <a:rPr lang="en-US" altLang="en-US" dirty="0"/>
              <a:t>One or two extra meals has to be given during this time.</a:t>
            </a:r>
          </a:p>
          <a:p>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B616FD-5F96-4031-A04D-1997E59A06AA}"/>
              </a:ext>
            </a:extLst>
          </p:cNvPr>
          <p:cNvSpPr>
            <a:spLocks noGrp="1"/>
          </p:cNvSpPr>
          <p:nvPr>
            <p:ph type="title"/>
          </p:nvPr>
        </p:nvSpPr>
        <p:spPr/>
        <p:txBody>
          <a:bodyPr/>
          <a:lstStyle/>
          <a:p>
            <a:r>
              <a:rPr lang="en-US" dirty="0">
                <a:solidFill>
                  <a:srgbClr val="FF0000"/>
                </a:solidFill>
              </a:rPr>
              <a:t>Neonatal hyperbilirubinemia</a:t>
            </a:r>
          </a:p>
        </p:txBody>
      </p:sp>
      <p:sp>
        <p:nvSpPr>
          <p:cNvPr id="3" name="Content Placeholder 2">
            <a:extLst>
              <a:ext uri="{FF2B5EF4-FFF2-40B4-BE49-F238E27FC236}">
                <a16:creationId xmlns:a16="http://schemas.microsoft.com/office/drawing/2014/main" xmlns="" id="{B51892AC-646C-45C3-A214-C2979B9C6079}"/>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xmlns="" id="{15556573-EB97-48AE-817F-B0D4A6B66609}"/>
              </a:ext>
            </a:extLst>
          </p:cNvPr>
          <p:cNvSpPr>
            <a:spLocks noGrp="1"/>
          </p:cNvSpPr>
          <p:nvPr>
            <p:ph type="sldNum" sz="quarter" idx="12"/>
          </p:nvPr>
        </p:nvSpPr>
        <p:spPr/>
        <p:txBody>
          <a:bodyPr/>
          <a:lstStyle/>
          <a:p>
            <a:fld id="{F010F31A-5B1D-4478-A180-CDC3128319F7}" type="slidenum">
              <a:rPr lang="en-US" smtClean="0"/>
              <a:t>84</a:t>
            </a:fld>
            <a:endParaRPr lang="en-US"/>
          </a:p>
        </p:txBody>
      </p:sp>
    </p:spTree>
    <p:extLst>
      <p:ext uri="{BB962C8B-B14F-4D97-AF65-F5344CB8AC3E}">
        <p14:creationId xmlns:p14="http://schemas.microsoft.com/office/powerpoint/2010/main" val="341524911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xmlns="" id="{4A197E4D-B8DB-4F95-AE1C-6516D6E0439E}"/>
              </a:ext>
            </a:extLst>
          </p:cNvPr>
          <p:cNvSpPr>
            <a:spLocks noGrp="1"/>
          </p:cNvSpPr>
          <p:nvPr>
            <p:ph type="body" idx="1"/>
          </p:nvPr>
        </p:nvSpPr>
        <p:spPr>
          <a:xfrm>
            <a:off x="839787" y="256381"/>
            <a:ext cx="5157787" cy="823912"/>
          </a:xfrm>
        </p:spPr>
        <p:txBody>
          <a:bodyPr/>
          <a:lstStyle/>
          <a:p>
            <a:r>
              <a:rPr lang="en-US" dirty="0"/>
              <a:t>Etiology</a:t>
            </a:r>
          </a:p>
        </p:txBody>
      </p:sp>
      <p:sp>
        <p:nvSpPr>
          <p:cNvPr id="3" name="Content Placeholder 2">
            <a:extLst>
              <a:ext uri="{FF2B5EF4-FFF2-40B4-BE49-F238E27FC236}">
                <a16:creationId xmlns:a16="http://schemas.microsoft.com/office/drawing/2014/main" xmlns="" id="{2059900A-E3BE-4770-B143-2A742DB47990}"/>
              </a:ext>
            </a:extLst>
          </p:cNvPr>
          <p:cNvSpPr>
            <a:spLocks noGrp="1"/>
          </p:cNvSpPr>
          <p:nvPr>
            <p:ph sz="half" idx="2"/>
          </p:nvPr>
        </p:nvSpPr>
        <p:spPr>
          <a:xfrm>
            <a:off x="836612" y="1586706"/>
            <a:ext cx="5157787" cy="3684588"/>
          </a:xfrm>
        </p:spPr>
        <p:txBody>
          <a:bodyPr>
            <a:normAutofit fontScale="92500" lnSpcReduction="10000"/>
          </a:bodyPr>
          <a:lstStyle/>
          <a:p>
            <a:pPr marL="274320" indent="-274320">
              <a:buClr>
                <a:schemeClr val="accent3"/>
              </a:buClr>
              <a:buFont typeface="Wingdings 2"/>
              <a:buChar char=""/>
              <a:defRPr/>
            </a:pPr>
            <a:r>
              <a:rPr lang="en-US" dirty="0"/>
              <a:t>Unconjugated </a:t>
            </a:r>
            <a:r>
              <a:rPr lang="en-US" dirty="0" err="1"/>
              <a:t>hyperbilirubinemia</a:t>
            </a:r>
            <a:r>
              <a:rPr lang="en-US" dirty="0"/>
              <a:t> may be caused by: </a:t>
            </a:r>
          </a:p>
          <a:p>
            <a:pPr marL="880110" lvl="1" indent="-514350">
              <a:buFont typeface="+mj-lt"/>
              <a:buAutoNum type="arabicPeriod"/>
              <a:defRPr/>
            </a:pPr>
            <a:r>
              <a:rPr lang="en-US" dirty="0">
                <a:solidFill>
                  <a:srgbClr val="FF0000"/>
                </a:solidFill>
              </a:rPr>
              <a:t>increased load of </a:t>
            </a:r>
            <a:r>
              <a:rPr lang="en-US" dirty="0" err="1">
                <a:solidFill>
                  <a:srgbClr val="FF0000"/>
                </a:solidFill>
              </a:rPr>
              <a:t>bilirubin</a:t>
            </a:r>
            <a:r>
              <a:rPr lang="en-US" dirty="0">
                <a:solidFill>
                  <a:srgbClr val="FF0000"/>
                </a:solidFill>
              </a:rPr>
              <a:t> to be metabolized by the liver </a:t>
            </a:r>
          </a:p>
          <a:p>
            <a:pPr marL="880110" lvl="1" indent="-514350">
              <a:buFont typeface="+mj-lt"/>
              <a:buAutoNum type="arabicPeriod"/>
              <a:defRPr/>
            </a:pPr>
            <a:r>
              <a:rPr lang="en-US" dirty="0">
                <a:solidFill>
                  <a:srgbClr val="FF0000"/>
                </a:solidFill>
              </a:rPr>
              <a:t>damage or reduced activity of the </a:t>
            </a:r>
            <a:r>
              <a:rPr lang="en-US" dirty="0" err="1">
                <a:solidFill>
                  <a:srgbClr val="FF0000"/>
                </a:solidFill>
              </a:rPr>
              <a:t>transferase</a:t>
            </a:r>
            <a:r>
              <a:rPr lang="en-US" dirty="0">
                <a:solidFill>
                  <a:srgbClr val="FF0000"/>
                </a:solidFill>
              </a:rPr>
              <a:t> enzyme </a:t>
            </a:r>
          </a:p>
          <a:p>
            <a:pPr marL="880110" lvl="1" indent="-514350">
              <a:buFont typeface="+mj-lt"/>
              <a:buAutoNum type="arabicPeriod"/>
              <a:defRPr/>
            </a:pPr>
            <a:r>
              <a:rPr lang="en-US" dirty="0">
                <a:solidFill>
                  <a:srgbClr val="FF0000"/>
                </a:solidFill>
              </a:rPr>
              <a:t>competing or blocking the </a:t>
            </a:r>
            <a:r>
              <a:rPr lang="en-US" dirty="0" err="1">
                <a:solidFill>
                  <a:srgbClr val="FF0000"/>
                </a:solidFill>
              </a:rPr>
              <a:t>transferase</a:t>
            </a:r>
            <a:r>
              <a:rPr lang="en-US" dirty="0">
                <a:solidFill>
                  <a:srgbClr val="FF0000"/>
                </a:solidFill>
              </a:rPr>
              <a:t> enzyme (drugs) </a:t>
            </a:r>
          </a:p>
          <a:p>
            <a:pPr marL="880110" lvl="1" indent="-514350">
              <a:buFont typeface="+mj-lt"/>
              <a:buAutoNum type="arabicPeriod"/>
              <a:defRPr/>
            </a:pPr>
            <a:r>
              <a:rPr lang="en-US" dirty="0">
                <a:solidFill>
                  <a:srgbClr val="FF0000"/>
                </a:solidFill>
              </a:rPr>
              <a:t>absence or decreased amounts of the enzyme (genetic defect, and prematurity). </a:t>
            </a:r>
          </a:p>
          <a:p>
            <a:pPr>
              <a:defRPr/>
            </a:pPr>
            <a:endParaRPr lang="en-US" dirty="0"/>
          </a:p>
        </p:txBody>
      </p:sp>
      <p:sp>
        <p:nvSpPr>
          <p:cNvPr id="5" name="Text Placeholder 4">
            <a:extLst>
              <a:ext uri="{FF2B5EF4-FFF2-40B4-BE49-F238E27FC236}">
                <a16:creationId xmlns:a16="http://schemas.microsoft.com/office/drawing/2014/main" xmlns="" id="{4E802E7C-C041-466B-80CD-7BD2E21F4149}"/>
              </a:ext>
            </a:extLst>
          </p:cNvPr>
          <p:cNvSpPr>
            <a:spLocks noGrp="1"/>
          </p:cNvSpPr>
          <p:nvPr>
            <p:ph type="body" sz="quarter" idx="3"/>
          </p:nvPr>
        </p:nvSpPr>
        <p:spPr>
          <a:xfrm>
            <a:off x="6169025" y="434254"/>
            <a:ext cx="5183188" cy="823912"/>
          </a:xfrm>
        </p:spPr>
        <p:txBody>
          <a:bodyPr/>
          <a:lstStyle/>
          <a:p>
            <a:r>
              <a:rPr lang="en-US" dirty="0"/>
              <a:t>Clinical feature</a:t>
            </a:r>
          </a:p>
        </p:txBody>
      </p:sp>
      <p:sp>
        <p:nvSpPr>
          <p:cNvPr id="6" name="Content Placeholder 5">
            <a:extLst>
              <a:ext uri="{FF2B5EF4-FFF2-40B4-BE49-F238E27FC236}">
                <a16:creationId xmlns:a16="http://schemas.microsoft.com/office/drawing/2014/main" xmlns="" id="{B1BDEDB4-9337-4F09-9920-9304693259B7}"/>
              </a:ext>
            </a:extLst>
          </p:cNvPr>
          <p:cNvSpPr>
            <a:spLocks noGrp="1"/>
          </p:cNvSpPr>
          <p:nvPr>
            <p:ph sz="quarter" idx="4"/>
          </p:nvPr>
        </p:nvSpPr>
        <p:spPr>
          <a:xfrm>
            <a:off x="6197603" y="1586706"/>
            <a:ext cx="5183188" cy="3684588"/>
          </a:xfrm>
        </p:spPr>
        <p:txBody>
          <a:bodyPr>
            <a:normAutofit fontScale="92500" lnSpcReduction="10000"/>
          </a:bodyPr>
          <a:lstStyle/>
          <a:p>
            <a:r>
              <a:rPr lang="en-US" altLang="en-US" dirty="0"/>
              <a:t>apparent in a cephalocaudal progression:</a:t>
            </a:r>
          </a:p>
          <a:p>
            <a:pPr lvl="1" eaLnBrk="1" hangingPunct="1">
              <a:buFont typeface="Wingdings" panose="05000000000000000000" pitchFamily="2" charset="2"/>
              <a:buChar char="Ø"/>
            </a:pPr>
            <a:r>
              <a:rPr lang="en-US" altLang="en-US" dirty="0"/>
              <a:t>jaundice of face  ≈5 mg/dL</a:t>
            </a:r>
          </a:p>
          <a:p>
            <a:pPr lvl="1" eaLnBrk="1" hangingPunct="1">
              <a:buFont typeface="Wingdings" panose="05000000000000000000" pitchFamily="2" charset="2"/>
              <a:buChar char="Ø"/>
            </a:pPr>
            <a:r>
              <a:rPr lang="en-US" altLang="en-US" dirty="0"/>
              <a:t>mid-abdomen ≈15 mg/dL</a:t>
            </a:r>
          </a:p>
          <a:p>
            <a:pPr lvl="1" eaLnBrk="1" hangingPunct="1">
              <a:buFont typeface="Wingdings" panose="05000000000000000000" pitchFamily="2" charset="2"/>
              <a:buChar char="Ø"/>
            </a:pPr>
            <a:r>
              <a:rPr lang="en-US" altLang="en-US" dirty="0"/>
              <a:t>soles, ≈20 mg/dL </a:t>
            </a:r>
          </a:p>
          <a:p>
            <a:pPr eaLnBrk="1" hangingPunct="1"/>
            <a:r>
              <a:rPr lang="en-US" altLang="en-US" dirty="0"/>
              <a:t>Infants may present with </a:t>
            </a:r>
            <a:r>
              <a:rPr lang="en-US" altLang="en-US" dirty="0">
                <a:solidFill>
                  <a:srgbClr val="FF0000"/>
                </a:solidFill>
              </a:rPr>
              <a:t>lethargy and poor feeding. </a:t>
            </a:r>
          </a:p>
          <a:p>
            <a:pPr eaLnBrk="1" hangingPunct="1"/>
            <a:r>
              <a:rPr lang="en-US" altLang="en-US" dirty="0"/>
              <a:t>without treatment, can progress to </a:t>
            </a:r>
            <a:r>
              <a:rPr lang="en-US" altLang="en-US" dirty="0">
                <a:solidFill>
                  <a:srgbClr val="FF0000"/>
                </a:solidFill>
              </a:rPr>
              <a:t>acute bilirubin encephalopathy (kernicterus).</a:t>
            </a:r>
          </a:p>
          <a:p>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xmlns="" id="{BD41A84E-AC77-44CF-A747-9CF472A5D40D}"/>
              </a:ext>
            </a:extLst>
          </p:cNvPr>
          <p:cNvSpPr>
            <a:spLocks noGrp="1"/>
          </p:cNvSpPr>
          <p:nvPr>
            <p:ph type="title"/>
          </p:nvPr>
        </p:nvSpPr>
        <p:spPr/>
        <p:txBody>
          <a:bodyPr/>
          <a:lstStyle/>
          <a:p>
            <a:pPr eaLnBrk="1" hangingPunct="1"/>
            <a:r>
              <a:rPr lang="en-US" altLang="en-US"/>
              <a:t>Classification of jaundice</a:t>
            </a:r>
          </a:p>
        </p:txBody>
      </p:sp>
      <p:graphicFrame>
        <p:nvGraphicFramePr>
          <p:cNvPr id="4" name="Content Placeholder 3">
            <a:extLst>
              <a:ext uri="{FF2B5EF4-FFF2-40B4-BE49-F238E27FC236}">
                <a16:creationId xmlns:a16="http://schemas.microsoft.com/office/drawing/2014/main" xmlns="" id="{11522F41-B9A8-431B-81EF-07D9BDBBF1F0}"/>
              </a:ext>
            </a:extLst>
          </p:cNvPr>
          <p:cNvGraphicFramePr>
            <a:graphicFrameLocks noGrp="1"/>
          </p:cNvGraphicFramePr>
          <p:nvPr>
            <p:ph idx="1"/>
          </p:nvPr>
        </p:nvGraphicFramePr>
        <p:xfrm>
          <a:off x="1600200" y="1935163"/>
          <a:ext cx="8991600" cy="2763838"/>
        </p:xfrm>
        <a:graphic>
          <a:graphicData uri="http://schemas.openxmlformats.org/drawingml/2006/table">
            <a:tbl>
              <a:tblPr firstRow="1" bandRow="1">
                <a:tableStyleId>{5C22544A-7EE6-4342-B048-85BDC9FD1C3A}</a:tableStyleId>
              </a:tblPr>
              <a:tblGrid>
                <a:gridCol w="4495800">
                  <a:extLst>
                    <a:ext uri="{9D8B030D-6E8A-4147-A177-3AD203B41FA5}">
                      <a16:colId xmlns:a16="http://schemas.microsoft.com/office/drawing/2014/main" xmlns="" val="20000"/>
                    </a:ext>
                  </a:extLst>
                </a:gridCol>
                <a:gridCol w="4495800">
                  <a:extLst>
                    <a:ext uri="{9D8B030D-6E8A-4147-A177-3AD203B41FA5}">
                      <a16:colId xmlns:a16="http://schemas.microsoft.com/office/drawing/2014/main" xmlns="" val="20001"/>
                    </a:ext>
                  </a:extLst>
                </a:gridCol>
              </a:tblGrid>
              <a:tr h="370883">
                <a:tc>
                  <a:txBody>
                    <a:bodyPr/>
                    <a:lstStyle/>
                    <a:p>
                      <a:r>
                        <a:rPr lang="en-US" sz="1800" dirty="0"/>
                        <a:t>Physiologic  jaundice</a:t>
                      </a:r>
                    </a:p>
                  </a:txBody>
                  <a:tcPr marT="45725" marB="45725"/>
                </a:tc>
                <a:tc>
                  <a:txBody>
                    <a:bodyPr/>
                    <a:lstStyle/>
                    <a:p>
                      <a:r>
                        <a:rPr lang="en-US" sz="1800" dirty="0"/>
                        <a:t>Pathologic  jaundice</a:t>
                      </a:r>
                    </a:p>
                  </a:txBody>
                  <a:tcPr marT="45725" marB="45725"/>
                </a:tc>
                <a:extLst>
                  <a:ext uri="{0D108BD9-81ED-4DB2-BD59-A6C34878D82A}">
                    <a16:rowId xmlns:a16="http://schemas.microsoft.com/office/drawing/2014/main" xmlns="" val="10000"/>
                  </a:ext>
                </a:extLst>
              </a:tr>
              <a:tr h="370883">
                <a:tc>
                  <a:txBody>
                    <a:bodyPr/>
                    <a:lstStyle/>
                    <a:p>
                      <a:r>
                        <a:rPr lang="en-US" sz="1800" dirty="0">
                          <a:solidFill>
                            <a:srgbClr val="FF0000"/>
                          </a:solidFill>
                        </a:rPr>
                        <a:t>Jaundice appearing</a:t>
                      </a:r>
                      <a:r>
                        <a:rPr lang="en-US" sz="1800" baseline="0" dirty="0">
                          <a:solidFill>
                            <a:srgbClr val="FF0000"/>
                          </a:solidFill>
                        </a:rPr>
                        <a:t> after 24hr</a:t>
                      </a:r>
                      <a:endParaRPr lang="en-US" sz="1800" dirty="0">
                        <a:solidFill>
                          <a:srgbClr val="FF0000"/>
                        </a:solidFill>
                      </a:endParaRPr>
                    </a:p>
                  </a:txBody>
                  <a:tcPr marT="45725" marB="45725"/>
                </a:tc>
                <a:tc>
                  <a:txBody>
                    <a:bodyPr/>
                    <a:lstStyle/>
                    <a:p>
                      <a:r>
                        <a:rPr lang="en-US" sz="1800" dirty="0">
                          <a:solidFill>
                            <a:srgbClr val="FF0000"/>
                          </a:solidFill>
                        </a:rPr>
                        <a:t>Appears in the first 24hrs of life</a:t>
                      </a:r>
                    </a:p>
                  </a:txBody>
                  <a:tcPr marT="45725" marB="45725"/>
                </a:tc>
                <a:extLst>
                  <a:ext uri="{0D108BD9-81ED-4DB2-BD59-A6C34878D82A}">
                    <a16:rowId xmlns:a16="http://schemas.microsoft.com/office/drawing/2014/main" xmlns="" val="10001"/>
                  </a:ext>
                </a:extLst>
              </a:tr>
              <a:tr h="370883">
                <a:tc>
                  <a:txBody>
                    <a:bodyPr/>
                    <a:lstStyle/>
                    <a:p>
                      <a:r>
                        <a:rPr lang="en-US" sz="1800" dirty="0">
                          <a:solidFill>
                            <a:srgbClr val="FF0000"/>
                          </a:solidFill>
                        </a:rPr>
                        <a:t>Rate of rise is &lt;5mg/dl/24hr</a:t>
                      </a:r>
                    </a:p>
                  </a:txBody>
                  <a:tcPr marT="45725" marB="45725"/>
                </a:tc>
                <a:tc>
                  <a:txBody>
                    <a:bodyPr/>
                    <a:lstStyle/>
                    <a:p>
                      <a:r>
                        <a:rPr lang="en-US" sz="1800" dirty="0">
                          <a:solidFill>
                            <a:srgbClr val="FF0000"/>
                          </a:solidFill>
                        </a:rPr>
                        <a:t>&gt;5mg/dl/24hr</a:t>
                      </a:r>
                      <a:r>
                        <a:rPr lang="en-US" sz="1800" baseline="0" dirty="0">
                          <a:solidFill>
                            <a:srgbClr val="FF0000"/>
                          </a:solidFill>
                        </a:rPr>
                        <a:t> rate of rise</a:t>
                      </a:r>
                      <a:endParaRPr lang="en-US" sz="1800" dirty="0">
                        <a:solidFill>
                          <a:srgbClr val="FF0000"/>
                        </a:solidFill>
                      </a:endParaRPr>
                    </a:p>
                  </a:txBody>
                  <a:tcPr marT="45725" marB="45725"/>
                </a:tc>
                <a:extLst>
                  <a:ext uri="{0D108BD9-81ED-4DB2-BD59-A6C34878D82A}">
                    <a16:rowId xmlns:a16="http://schemas.microsoft.com/office/drawing/2014/main" xmlns="" val="10002"/>
                  </a:ext>
                </a:extLst>
              </a:tr>
              <a:tr h="640153">
                <a:tc>
                  <a:txBody>
                    <a:bodyPr/>
                    <a:lstStyle/>
                    <a:p>
                      <a:r>
                        <a:rPr lang="en-US" sz="1800" dirty="0">
                          <a:solidFill>
                            <a:srgbClr val="FF0000"/>
                          </a:solidFill>
                        </a:rPr>
                        <a:t>TSB &lt;12mg/dl for term and &lt;15mg/dl for preterm</a:t>
                      </a:r>
                    </a:p>
                  </a:txBody>
                  <a:tcPr marT="45725" marB="45725"/>
                </a:tc>
                <a:tc>
                  <a:txBody>
                    <a:bodyPr/>
                    <a:lstStyle/>
                    <a:p>
                      <a:r>
                        <a:rPr lang="en-US" sz="1800" dirty="0">
                          <a:solidFill>
                            <a:srgbClr val="FF0000"/>
                          </a:solidFill>
                        </a:rPr>
                        <a:t>TSB is &gt;12mg/dl for term</a:t>
                      </a:r>
                      <a:r>
                        <a:rPr lang="en-US" sz="1800" baseline="0" dirty="0">
                          <a:solidFill>
                            <a:srgbClr val="FF0000"/>
                          </a:solidFill>
                        </a:rPr>
                        <a:t> and &gt;12mg/dl for preterm</a:t>
                      </a:r>
                      <a:endParaRPr lang="en-US" sz="1800" dirty="0">
                        <a:solidFill>
                          <a:srgbClr val="FF0000"/>
                        </a:solidFill>
                      </a:endParaRPr>
                    </a:p>
                  </a:txBody>
                  <a:tcPr marT="45725" marB="45725"/>
                </a:tc>
                <a:extLst>
                  <a:ext uri="{0D108BD9-81ED-4DB2-BD59-A6C34878D82A}">
                    <a16:rowId xmlns:a16="http://schemas.microsoft.com/office/drawing/2014/main" xmlns="" val="10003"/>
                  </a:ext>
                </a:extLst>
              </a:tr>
              <a:tr h="640153">
                <a:tc>
                  <a:txBody>
                    <a:bodyPr/>
                    <a:lstStyle/>
                    <a:p>
                      <a:r>
                        <a:rPr lang="en-US" sz="1800" dirty="0">
                          <a:solidFill>
                            <a:srgbClr val="FF0000"/>
                          </a:solidFill>
                        </a:rPr>
                        <a:t>Jaundice doesn’t persist more than 2weeks</a:t>
                      </a:r>
                    </a:p>
                  </a:txBody>
                  <a:tcPr marT="45725" marB="45725"/>
                </a:tc>
                <a:tc>
                  <a:txBody>
                    <a:bodyPr/>
                    <a:lstStyle/>
                    <a:p>
                      <a:r>
                        <a:rPr lang="en-US" sz="1800" dirty="0">
                          <a:solidFill>
                            <a:srgbClr val="FF0000"/>
                          </a:solidFill>
                        </a:rPr>
                        <a:t>Jaundice persists after</a:t>
                      </a:r>
                      <a:r>
                        <a:rPr lang="en-US" sz="1800" baseline="0" dirty="0">
                          <a:solidFill>
                            <a:srgbClr val="FF0000"/>
                          </a:solidFill>
                        </a:rPr>
                        <a:t> 2weeks                    </a:t>
                      </a:r>
                      <a:endParaRPr lang="en-US" sz="1800" dirty="0">
                        <a:solidFill>
                          <a:srgbClr val="FF0000"/>
                        </a:solidFill>
                      </a:endParaRPr>
                    </a:p>
                  </a:txBody>
                  <a:tcPr marT="45725" marB="45725"/>
                </a:tc>
                <a:extLst>
                  <a:ext uri="{0D108BD9-81ED-4DB2-BD59-A6C34878D82A}">
                    <a16:rowId xmlns:a16="http://schemas.microsoft.com/office/drawing/2014/main" xmlns="" val="10004"/>
                  </a:ext>
                </a:extLst>
              </a:tr>
              <a:tr h="370883">
                <a:tc>
                  <a:txBody>
                    <a:bodyPr/>
                    <a:lstStyle/>
                    <a:p>
                      <a:r>
                        <a:rPr lang="en-US" sz="1800" dirty="0">
                          <a:solidFill>
                            <a:srgbClr val="FF0000"/>
                          </a:solidFill>
                        </a:rPr>
                        <a:t>Direct </a:t>
                      </a:r>
                      <a:r>
                        <a:rPr lang="en-US" sz="1800" dirty="0" err="1">
                          <a:solidFill>
                            <a:srgbClr val="FF0000"/>
                          </a:solidFill>
                        </a:rPr>
                        <a:t>bilirubin</a:t>
                      </a:r>
                      <a:r>
                        <a:rPr lang="en-US" sz="1800" dirty="0">
                          <a:solidFill>
                            <a:srgbClr val="FF0000"/>
                          </a:solidFill>
                        </a:rPr>
                        <a:t> is &lt;2mg/dl</a:t>
                      </a:r>
                    </a:p>
                  </a:txBody>
                  <a:tcPr marT="45725" marB="45725"/>
                </a:tc>
                <a:tc>
                  <a:txBody>
                    <a:bodyPr/>
                    <a:lstStyle/>
                    <a:p>
                      <a:r>
                        <a:rPr lang="en-US" sz="1800" dirty="0">
                          <a:solidFill>
                            <a:srgbClr val="FF0000"/>
                          </a:solidFill>
                        </a:rPr>
                        <a:t>Direct </a:t>
                      </a:r>
                      <a:r>
                        <a:rPr lang="en-US" sz="1800" dirty="0" err="1">
                          <a:solidFill>
                            <a:srgbClr val="FF0000"/>
                          </a:solidFill>
                        </a:rPr>
                        <a:t>bilirubin</a:t>
                      </a:r>
                      <a:r>
                        <a:rPr lang="en-US" sz="1800" dirty="0">
                          <a:solidFill>
                            <a:srgbClr val="FF0000"/>
                          </a:solidFill>
                        </a:rPr>
                        <a:t> is &gt;2mg/dl</a:t>
                      </a:r>
                    </a:p>
                  </a:txBody>
                  <a:tcPr marT="45725" marB="45725"/>
                </a:tc>
                <a:extLst>
                  <a:ext uri="{0D108BD9-81ED-4DB2-BD59-A6C34878D82A}">
                    <a16:rowId xmlns:a16="http://schemas.microsoft.com/office/drawing/2014/main" xmlns="" val="10005"/>
                  </a:ext>
                </a:extLst>
              </a:tr>
            </a:tbl>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E6D279A-1D3A-4E99-ADD8-2BFD3AF3AF05}"/>
              </a:ext>
            </a:extLst>
          </p:cNvPr>
          <p:cNvSpPr>
            <a:spLocks noGrp="1"/>
          </p:cNvSpPr>
          <p:nvPr>
            <p:ph type="title"/>
          </p:nvPr>
        </p:nvSpPr>
        <p:spPr/>
        <p:txBody>
          <a:bodyPr>
            <a:normAutofit/>
          </a:bodyPr>
          <a:lstStyle/>
          <a:p>
            <a:pPr>
              <a:defRPr/>
            </a:pPr>
            <a:r>
              <a:rPr lang="en-US" dirty="0"/>
              <a:t>Differential diagnosis</a:t>
            </a:r>
          </a:p>
        </p:txBody>
      </p:sp>
      <p:sp>
        <p:nvSpPr>
          <p:cNvPr id="13315" name="Content Placeholder 2">
            <a:extLst>
              <a:ext uri="{FF2B5EF4-FFF2-40B4-BE49-F238E27FC236}">
                <a16:creationId xmlns:a16="http://schemas.microsoft.com/office/drawing/2014/main" xmlns="" id="{BDB15078-B297-4AC8-A215-D24AEBC52EBE}"/>
              </a:ext>
            </a:extLst>
          </p:cNvPr>
          <p:cNvSpPr>
            <a:spLocks noGrp="1"/>
          </p:cNvSpPr>
          <p:nvPr>
            <p:ph sz="half" idx="1"/>
          </p:nvPr>
        </p:nvSpPr>
        <p:spPr/>
        <p:txBody>
          <a:bodyPr/>
          <a:lstStyle/>
          <a:p>
            <a:pPr eaLnBrk="1" hangingPunct="1"/>
            <a:endParaRPr lang="en-US" altLang="en-US" dirty="0">
              <a:solidFill>
                <a:srgbClr val="FF0000"/>
              </a:solidFill>
            </a:endParaRPr>
          </a:p>
          <a:p>
            <a:pPr eaLnBrk="1" hangingPunct="1"/>
            <a:r>
              <a:rPr lang="en-US" altLang="en-US" dirty="0"/>
              <a:t>Jaundice with in the first week:</a:t>
            </a:r>
          </a:p>
          <a:p>
            <a:pPr lvl="1" eaLnBrk="1" hangingPunct="1">
              <a:buFont typeface="Wingdings" panose="05000000000000000000" pitchFamily="2" charset="2"/>
              <a:buChar char="Ø"/>
            </a:pPr>
            <a:r>
              <a:rPr lang="en-US" altLang="en-US" dirty="0"/>
              <a:t>erythroblastosis  fetalis</a:t>
            </a:r>
          </a:p>
          <a:p>
            <a:pPr lvl="1" eaLnBrk="1" hangingPunct="1">
              <a:buFont typeface="Wingdings" panose="05000000000000000000" pitchFamily="2" charset="2"/>
              <a:buChar char="Ø"/>
            </a:pPr>
            <a:r>
              <a:rPr lang="en-US" altLang="en-US" dirty="0"/>
              <a:t>concealed hemorrhage</a:t>
            </a:r>
          </a:p>
          <a:p>
            <a:pPr lvl="1" eaLnBrk="1" hangingPunct="1">
              <a:buFont typeface="Wingdings" panose="05000000000000000000" pitchFamily="2" charset="2"/>
              <a:buChar char="Ø"/>
            </a:pPr>
            <a:r>
              <a:rPr lang="en-US" altLang="en-US" dirty="0"/>
              <a:t>Sepsis</a:t>
            </a:r>
          </a:p>
          <a:p>
            <a:pPr lvl="1" eaLnBrk="1" hangingPunct="1">
              <a:buFont typeface="Wingdings" panose="05000000000000000000" pitchFamily="2" charset="2"/>
              <a:buChar char="Ø"/>
            </a:pPr>
            <a:r>
              <a:rPr lang="en-US" altLang="en-US" dirty="0"/>
              <a:t>congenital infections</a:t>
            </a:r>
          </a:p>
          <a:p>
            <a:pPr lvl="1" eaLnBrk="1" hangingPunct="1">
              <a:buFont typeface="Wingdings" panose="05000000000000000000" pitchFamily="2" charset="2"/>
              <a:buChar char="Ø"/>
            </a:pPr>
            <a:r>
              <a:rPr lang="en-US" altLang="en-US" dirty="0" err="1"/>
              <a:t>Crigler</a:t>
            </a:r>
            <a:r>
              <a:rPr lang="en-US" altLang="en-US" dirty="0"/>
              <a:t> Najjar syndrome</a:t>
            </a:r>
          </a:p>
          <a:p>
            <a:pPr lvl="1" eaLnBrk="1" hangingPunct="1">
              <a:buFont typeface="Wingdings" panose="05000000000000000000" pitchFamily="2" charset="2"/>
              <a:buChar char="Ø"/>
            </a:pPr>
            <a:r>
              <a:rPr lang="en-US" altLang="en-US" dirty="0"/>
              <a:t>polycythemia</a:t>
            </a:r>
          </a:p>
          <a:p>
            <a:pPr lvl="1" eaLnBrk="1" hangingPunct="1">
              <a:buFont typeface="Wingdings 2" panose="05020102010507070707" pitchFamily="18" charset="2"/>
              <a:buNone/>
            </a:pPr>
            <a:endParaRPr lang="en-US" altLang="en-US" dirty="0">
              <a:solidFill>
                <a:srgbClr val="FF0000"/>
              </a:solidFill>
            </a:endParaRPr>
          </a:p>
        </p:txBody>
      </p:sp>
      <p:sp>
        <p:nvSpPr>
          <p:cNvPr id="3" name="Content Placeholder 2">
            <a:extLst>
              <a:ext uri="{FF2B5EF4-FFF2-40B4-BE49-F238E27FC236}">
                <a16:creationId xmlns:a16="http://schemas.microsoft.com/office/drawing/2014/main" xmlns="" id="{7C27ABE0-710F-4D1B-A418-EC034C4126BE}"/>
              </a:ext>
            </a:extLst>
          </p:cNvPr>
          <p:cNvSpPr>
            <a:spLocks noGrp="1"/>
          </p:cNvSpPr>
          <p:nvPr>
            <p:ph sz="half" idx="2"/>
          </p:nvPr>
        </p:nvSpPr>
        <p:spPr/>
        <p:txBody>
          <a:bodyPr/>
          <a:lstStyle/>
          <a:p>
            <a:pPr marL="274320" indent="-274320">
              <a:buClr>
                <a:schemeClr val="accent3"/>
              </a:buClr>
              <a:buFont typeface="Wingdings 2"/>
              <a:buChar char=""/>
              <a:defRPr/>
            </a:pPr>
            <a:r>
              <a:rPr lang="en-US" i="1" dirty="0"/>
              <a:t>after</a:t>
            </a:r>
            <a:r>
              <a:rPr lang="en-US" dirty="0"/>
              <a:t> the 1st </a:t>
            </a:r>
            <a:r>
              <a:rPr lang="en-US" dirty="0" err="1"/>
              <a:t>wk</a:t>
            </a:r>
            <a:r>
              <a:rPr lang="en-US" dirty="0"/>
              <a:t> of life: </a:t>
            </a:r>
          </a:p>
          <a:p>
            <a:pPr marL="640080" lvl="1" indent="-246888">
              <a:buFont typeface="Wingdings" pitchFamily="2" charset="2"/>
              <a:buChar char="Ø"/>
              <a:defRPr/>
            </a:pPr>
            <a:r>
              <a:rPr lang="en-US" dirty="0"/>
              <a:t>breast milk jaundice</a:t>
            </a:r>
          </a:p>
          <a:p>
            <a:pPr marL="640080" lvl="1" indent="-246888">
              <a:buFont typeface="Wingdings" pitchFamily="2" charset="2"/>
              <a:buChar char="Ø"/>
              <a:defRPr/>
            </a:pPr>
            <a:r>
              <a:rPr lang="en-US" dirty="0"/>
              <a:t>Septicemia</a:t>
            </a:r>
          </a:p>
          <a:p>
            <a:pPr marL="640080" lvl="1" indent="-246888">
              <a:buFont typeface="Wingdings" pitchFamily="2" charset="2"/>
              <a:buChar char="Ø"/>
              <a:defRPr/>
            </a:pPr>
            <a:r>
              <a:rPr lang="en-US" dirty="0"/>
              <a:t>congenital atresia or paucity of the bile ducts</a:t>
            </a:r>
          </a:p>
          <a:p>
            <a:pPr marL="640080" lvl="1" indent="-246888">
              <a:buFont typeface="Wingdings" pitchFamily="2" charset="2"/>
              <a:buChar char="Ø"/>
              <a:defRPr/>
            </a:pPr>
            <a:r>
              <a:rPr lang="en-US" dirty="0"/>
              <a:t>Hepatitis</a:t>
            </a:r>
          </a:p>
          <a:p>
            <a:pPr marL="640080" lvl="1" indent="-246888">
              <a:buFont typeface="Wingdings" pitchFamily="2" charset="2"/>
              <a:buChar char="Ø"/>
              <a:defRPr/>
            </a:pPr>
            <a:r>
              <a:rPr lang="en-US" dirty="0"/>
              <a:t>Galactosemia</a:t>
            </a:r>
          </a:p>
          <a:p>
            <a:pPr marL="640080" lvl="1" indent="-246888">
              <a:buFont typeface="Wingdings" pitchFamily="2" charset="2"/>
              <a:buChar char="Ø"/>
              <a:defRPr/>
            </a:pPr>
            <a:r>
              <a:rPr lang="en-US" dirty="0"/>
              <a:t>Hypothyroidism</a:t>
            </a:r>
          </a:p>
          <a:p>
            <a:pPr marL="640080" lvl="1" indent="-246888">
              <a:buFont typeface="Wingdings" pitchFamily="2" charset="2"/>
              <a:buChar char="Ø"/>
              <a:defRPr/>
            </a:pPr>
            <a:r>
              <a:rPr lang="en-US" dirty="0"/>
              <a:t>RBC morphology and enzyme deficiencies</a:t>
            </a:r>
          </a:p>
          <a:p>
            <a:pPr marL="640080" lvl="1" indent="-246888">
              <a:buNone/>
              <a:defRPr/>
            </a:pPr>
            <a:r>
              <a:rPr lang="en-US" dirty="0"/>
              <a:t> </a:t>
            </a:r>
          </a:p>
          <a:p>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xmlns="" id="{7EF784B3-D3A3-4E33-84C0-2E4932380A5C}"/>
              </a:ext>
            </a:extLst>
          </p:cNvPr>
          <p:cNvSpPr>
            <a:spLocks noGrp="1"/>
          </p:cNvSpPr>
          <p:nvPr>
            <p:ph type="title"/>
          </p:nvPr>
        </p:nvSpPr>
        <p:spPr/>
        <p:txBody>
          <a:bodyPr/>
          <a:lstStyle/>
          <a:p>
            <a:r>
              <a:rPr lang="en-US" altLang="en-US"/>
              <a:t>Differential diagnosis...</a:t>
            </a:r>
          </a:p>
        </p:txBody>
      </p:sp>
      <p:sp>
        <p:nvSpPr>
          <p:cNvPr id="3" name="Content Placeholder 2">
            <a:extLst>
              <a:ext uri="{FF2B5EF4-FFF2-40B4-BE49-F238E27FC236}">
                <a16:creationId xmlns:a16="http://schemas.microsoft.com/office/drawing/2014/main" xmlns="" id="{1F715037-929F-471E-916D-EE8638A9A51A}"/>
              </a:ext>
            </a:extLst>
          </p:cNvPr>
          <p:cNvSpPr>
            <a:spLocks noGrp="1"/>
          </p:cNvSpPr>
          <p:nvPr>
            <p:ph sz="half" idx="1"/>
          </p:nvPr>
        </p:nvSpPr>
        <p:spPr/>
        <p:txBody>
          <a:bodyPr>
            <a:normAutofit lnSpcReduction="10000"/>
          </a:bodyPr>
          <a:lstStyle/>
          <a:p>
            <a:pPr marL="274320" indent="-274320">
              <a:buClr>
                <a:schemeClr val="accent3"/>
              </a:buClr>
              <a:buFont typeface="Wingdings 2"/>
              <a:buChar char=""/>
              <a:defRPr/>
            </a:pPr>
            <a:r>
              <a:rPr lang="en-US" dirty="0"/>
              <a:t>persistent jaundice during the first month of life:</a:t>
            </a:r>
          </a:p>
          <a:p>
            <a:pPr marL="640080" lvl="1" indent="-246888">
              <a:buFont typeface="Wingdings" pitchFamily="2" charset="2"/>
              <a:buChar char="Ø"/>
              <a:defRPr/>
            </a:pPr>
            <a:r>
              <a:rPr lang="en-US" dirty="0"/>
              <a:t>Hepatitis</a:t>
            </a:r>
          </a:p>
          <a:p>
            <a:pPr marL="640080" lvl="1" indent="-246888">
              <a:buFont typeface="Wingdings" pitchFamily="2" charset="2"/>
              <a:buChar char="Ø"/>
              <a:defRPr/>
            </a:pPr>
            <a:r>
              <a:rPr lang="en-US" dirty="0"/>
              <a:t>congenital infections</a:t>
            </a:r>
          </a:p>
          <a:p>
            <a:pPr marL="640080" lvl="1" indent="-246888">
              <a:buFont typeface="Wingdings" pitchFamily="2" charset="2"/>
              <a:buChar char="Ø"/>
              <a:defRPr/>
            </a:pPr>
            <a:r>
              <a:rPr lang="en-US" dirty="0"/>
              <a:t>congenital </a:t>
            </a:r>
            <a:r>
              <a:rPr lang="en-US" dirty="0" err="1"/>
              <a:t>atresia</a:t>
            </a:r>
            <a:r>
              <a:rPr lang="en-US" dirty="0"/>
              <a:t> of the bile ducts</a:t>
            </a:r>
          </a:p>
          <a:p>
            <a:pPr marL="640080" lvl="1" indent="-246888">
              <a:buFont typeface="Wingdings" pitchFamily="2" charset="2"/>
              <a:buChar char="Ø"/>
              <a:defRPr/>
            </a:pPr>
            <a:r>
              <a:rPr lang="en-US" dirty="0" err="1"/>
              <a:t>Galactosemia</a:t>
            </a:r>
            <a:r>
              <a:rPr lang="en-US" dirty="0"/>
              <a:t>(</a:t>
            </a:r>
            <a:r>
              <a:rPr lang="en-GB" sz="1200" dirty="0"/>
              <a:t>genetic disease (autosomal recessive) in which an enzyme needed to metabolize </a:t>
            </a:r>
            <a:r>
              <a:rPr lang="en-GB" sz="1200" dirty="0" err="1"/>
              <a:t>galactose</a:t>
            </a:r>
            <a:r>
              <a:rPr lang="en-GB" sz="1200" dirty="0"/>
              <a:t> is deficient or absent; typically develops shortly after birth)</a:t>
            </a:r>
            <a:endParaRPr lang="en-US" sz="1200" dirty="0"/>
          </a:p>
          <a:p>
            <a:pPr marL="640080" lvl="1" indent="-246888">
              <a:buFont typeface="Wingdings" pitchFamily="2" charset="2"/>
              <a:buChar char="Ø"/>
              <a:defRPr/>
            </a:pPr>
            <a:r>
              <a:rPr lang="en-US" dirty="0" err="1"/>
              <a:t>inspissated</a:t>
            </a:r>
            <a:r>
              <a:rPr lang="en-US" dirty="0"/>
              <a:t> bile syndrome following hemolytic disease of the newborn.</a:t>
            </a:r>
          </a:p>
          <a:p>
            <a:pPr>
              <a:defRPr/>
            </a:pPr>
            <a:endParaRPr lang="en-US" dirty="0">
              <a:solidFill>
                <a:srgbClr val="FF0000"/>
              </a:solidFill>
            </a:endParaRPr>
          </a:p>
        </p:txBody>
      </p:sp>
      <p:sp>
        <p:nvSpPr>
          <p:cNvPr id="2" name="Content Placeholder 1">
            <a:extLst>
              <a:ext uri="{FF2B5EF4-FFF2-40B4-BE49-F238E27FC236}">
                <a16:creationId xmlns:a16="http://schemas.microsoft.com/office/drawing/2014/main" xmlns="" id="{1CE62A67-8622-4A25-B795-318D46F924D1}"/>
              </a:ext>
            </a:extLst>
          </p:cNvPr>
          <p:cNvSpPr>
            <a:spLocks noGrp="1"/>
          </p:cNvSpPr>
          <p:nvPr>
            <p:ph sz="half" idx="2"/>
          </p:nvPr>
        </p:nvSpPr>
        <p:spPr/>
        <p:txBody>
          <a:bodyPr>
            <a:normAutofit lnSpcReduction="10000"/>
          </a:bodyPr>
          <a:lstStyle/>
          <a:p>
            <a:pPr marL="0" indent="0" eaLnBrk="1" hangingPunct="1">
              <a:buNone/>
            </a:pPr>
            <a:r>
              <a:rPr lang="en-US" altLang="en-US" dirty="0"/>
              <a:t>Investigations</a:t>
            </a:r>
          </a:p>
          <a:p>
            <a:pPr eaLnBrk="1" hangingPunct="1"/>
            <a:r>
              <a:rPr lang="en-US" altLang="en-US" dirty="0"/>
              <a:t>direct and total bilirubin  </a:t>
            </a:r>
          </a:p>
          <a:p>
            <a:pPr eaLnBrk="1" hangingPunct="1"/>
            <a:r>
              <a:rPr lang="en-US" altLang="en-US" dirty="0"/>
              <a:t>Hemoglobin/</a:t>
            </a:r>
            <a:r>
              <a:rPr lang="en-US" altLang="en-US" dirty="0" err="1"/>
              <a:t>hematocrite</a:t>
            </a:r>
            <a:endParaRPr lang="en-US" altLang="en-US" dirty="0"/>
          </a:p>
          <a:p>
            <a:pPr eaLnBrk="1" hangingPunct="1"/>
            <a:r>
              <a:rPr lang="en-US" altLang="en-US" dirty="0"/>
              <a:t>reticulocyte count</a:t>
            </a:r>
          </a:p>
          <a:p>
            <a:pPr eaLnBrk="1" hangingPunct="1"/>
            <a:r>
              <a:rPr lang="en-US" altLang="en-US" dirty="0"/>
              <a:t>blood type</a:t>
            </a:r>
          </a:p>
          <a:p>
            <a:pPr eaLnBrk="1" hangingPunct="1"/>
            <a:r>
              <a:rPr lang="en-US" altLang="en-US" dirty="0"/>
              <a:t>Coombs test</a:t>
            </a:r>
          </a:p>
          <a:p>
            <a:pPr eaLnBrk="1" hangingPunct="1"/>
            <a:r>
              <a:rPr lang="en-US" altLang="en-US" dirty="0"/>
              <a:t>peripheral blood smear</a:t>
            </a:r>
          </a:p>
          <a:p>
            <a:pPr eaLnBrk="1" hangingPunct="1"/>
            <a:r>
              <a:rPr lang="en-US" altLang="en-US" dirty="0"/>
              <a:t>If direct hyperbilirubinemia, investigate for underlying factors</a:t>
            </a:r>
          </a:p>
          <a:p>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BCE0E2-B9D6-4D03-8C57-BF8084EE849D}"/>
              </a:ext>
            </a:extLst>
          </p:cNvPr>
          <p:cNvSpPr>
            <a:spLocks noGrp="1"/>
          </p:cNvSpPr>
          <p:nvPr>
            <p:ph type="title"/>
          </p:nvPr>
        </p:nvSpPr>
        <p:spPr>
          <a:xfrm>
            <a:off x="1981200" y="0"/>
            <a:ext cx="8229600" cy="533400"/>
          </a:xfrm>
        </p:spPr>
        <p:txBody>
          <a:bodyPr>
            <a:normAutofit fontScale="90000"/>
          </a:bodyPr>
          <a:lstStyle/>
          <a:p>
            <a:pPr>
              <a:defRPr/>
            </a:pPr>
            <a:r>
              <a:rPr lang="en-US" dirty="0"/>
              <a:t>Differential diagnosis…</a:t>
            </a:r>
          </a:p>
        </p:txBody>
      </p:sp>
      <p:pic>
        <p:nvPicPr>
          <p:cNvPr id="16387" name="Picture 2">
            <a:extLst>
              <a:ext uri="{FF2B5EF4-FFF2-40B4-BE49-F238E27FC236}">
                <a16:creationId xmlns:a16="http://schemas.microsoft.com/office/drawing/2014/main" xmlns="" id="{3DD2A151-2742-4635-8785-BB04A81AF1D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514600" y="381000"/>
            <a:ext cx="7162800" cy="6477000"/>
          </a:xfrm>
          <a:noFill/>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xmlns="" id="{A1EB5703-B506-4A89-A75C-9204D2A4CBCF}"/>
              </a:ext>
            </a:extLst>
          </p:cNvPr>
          <p:cNvSpPr>
            <a:spLocks noGrp="1"/>
          </p:cNvSpPr>
          <p:nvPr>
            <p:ph type="title"/>
          </p:nvPr>
        </p:nvSpPr>
        <p:spPr/>
        <p:txBody>
          <a:bodyPr/>
          <a:lstStyle/>
          <a:p>
            <a:pPr eaLnBrk="1" hangingPunct="1"/>
            <a:r>
              <a:rPr lang="en-US" altLang="en-US" sz="4000"/>
              <a:t>Bilirubin associated with breast feeding</a:t>
            </a:r>
          </a:p>
        </p:txBody>
      </p:sp>
      <p:sp>
        <p:nvSpPr>
          <p:cNvPr id="19459" name="Content Placeholder 2">
            <a:extLst>
              <a:ext uri="{FF2B5EF4-FFF2-40B4-BE49-F238E27FC236}">
                <a16:creationId xmlns:a16="http://schemas.microsoft.com/office/drawing/2014/main" xmlns="" id="{F32A3B2B-73FA-434F-A986-AFF6AEADE51B}"/>
              </a:ext>
            </a:extLst>
          </p:cNvPr>
          <p:cNvSpPr>
            <a:spLocks noGrp="1"/>
          </p:cNvSpPr>
          <p:nvPr>
            <p:ph sz="half" idx="1"/>
          </p:nvPr>
        </p:nvSpPr>
        <p:spPr/>
        <p:txBody>
          <a:bodyPr>
            <a:normAutofit/>
          </a:bodyPr>
          <a:lstStyle/>
          <a:p>
            <a:pPr eaLnBrk="1" hangingPunct="1"/>
            <a:r>
              <a:rPr lang="en-US" altLang="en-US" b="1" dirty="0"/>
              <a:t>Breast </a:t>
            </a:r>
            <a:r>
              <a:rPr lang="en-US" altLang="en-US" b="1" u="sng" dirty="0">
                <a:solidFill>
                  <a:srgbClr val="FF0000"/>
                </a:solidFill>
              </a:rPr>
              <a:t>milk</a:t>
            </a:r>
            <a:r>
              <a:rPr lang="en-US" altLang="en-US" b="1" dirty="0"/>
              <a:t> jaundice:</a:t>
            </a:r>
          </a:p>
          <a:p>
            <a:pPr lvl="1" eaLnBrk="1" hangingPunct="1">
              <a:buFont typeface="Wingdings" panose="05000000000000000000" pitchFamily="2" charset="2"/>
              <a:buChar char="Ø"/>
            </a:pPr>
            <a:r>
              <a:rPr lang="en-US" altLang="en-US" dirty="0"/>
              <a:t>develops in an estimated 2% of breast-fed term infants after the 7th day of life.</a:t>
            </a:r>
          </a:p>
          <a:p>
            <a:pPr lvl="1" eaLnBrk="1" hangingPunct="1">
              <a:buFont typeface="Wingdings" panose="05000000000000000000" pitchFamily="2" charset="2"/>
              <a:buChar char="Ø"/>
            </a:pPr>
            <a:r>
              <a:rPr lang="en-US" altLang="en-US" dirty="0"/>
              <a:t>If nursing is discontinued, the serum bilirubin level falls rapidly.</a:t>
            </a:r>
          </a:p>
          <a:p>
            <a:pPr lvl="1" eaLnBrk="1" hangingPunct="1">
              <a:buFont typeface="Wingdings" panose="05000000000000000000" pitchFamily="2" charset="2"/>
              <a:buChar char="Ø"/>
            </a:pPr>
            <a:r>
              <a:rPr lang="en-US" altLang="en-US" dirty="0">
                <a:solidFill>
                  <a:srgbClr val="FF0000"/>
                </a:solidFill>
              </a:rPr>
              <a:t>may be attributed to the presence of glucuronidase in some breast milk.</a:t>
            </a:r>
          </a:p>
        </p:txBody>
      </p:sp>
      <p:sp>
        <p:nvSpPr>
          <p:cNvPr id="2" name="Content Placeholder 1">
            <a:extLst>
              <a:ext uri="{FF2B5EF4-FFF2-40B4-BE49-F238E27FC236}">
                <a16:creationId xmlns:a16="http://schemas.microsoft.com/office/drawing/2014/main" xmlns="" id="{496BEC12-D9E0-4F4E-B5D8-2A373D8AD87B}"/>
              </a:ext>
            </a:extLst>
          </p:cNvPr>
          <p:cNvSpPr>
            <a:spLocks noGrp="1"/>
          </p:cNvSpPr>
          <p:nvPr>
            <p:ph sz="half" idx="2"/>
          </p:nvPr>
        </p:nvSpPr>
        <p:spPr/>
        <p:txBody>
          <a:bodyPr>
            <a:normAutofit/>
          </a:bodyPr>
          <a:lstStyle/>
          <a:p>
            <a:r>
              <a:rPr lang="en-US" altLang="en-US" b="1" dirty="0"/>
              <a:t>Breast feeding jaundice:</a:t>
            </a:r>
          </a:p>
          <a:p>
            <a:pPr lvl="1">
              <a:buFont typeface="Wingdings" panose="05000000000000000000" pitchFamily="2" charset="2"/>
              <a:buChar char="Ø"/>
            </a:pPr>
            <a:r>
              <a:rPr lang="en-US" altLang="en-US" dirty="0"/>
              <a:t>occurs in the 1st week of life. </a:t>
            </a:r>
          </a:p>
          <a:p>
            <a:pPr lvl="1">
              <a:buFont typeface="Wingdings" panose="05000000000000000000" pitchFamily="2" charset="2"/>
              <a:buChar char="Ø"/>
            </a:pPr>
            <a:r>
              <a:rPr lang="en-US" altLang="en-US" dirty="0"/>
              <a:t>may be due </a:t>
            </a:r>
            <a:r>
              <a:rPr lang="en-US" altLang="en-US" dirty="0">
                <a:solidFill>
                  <a:srgbClr val="FF0000"/>
                </a:solidFill>
              </a:rPr>
              <a:t>to decreased milk intake with dehydration.</a:t>
            </a:r>
          </a:p>
          <a:p>
            <a:pPr lvl="1">
              <a:buFont typeface="Wingdings" panose="05000000000000000000" pitchFamily="2" charset="2"/>
              <a:buChar char="Ø"/>
            </a:pPr>
            <a:r>
              <a:rPr lang="en-US" altLang="en-US" dirty="0"/>
              <a:t>Frequent breast-feeding is the treatment.</a:t>
            </a:r>
          </a:p>
          <a:p>
            <a:endParaRPr 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BFCB1F-44CB-4AB4-8DEC-FDEC403356E6}"/>
              </a:ext>
            </a:extLst>
          </p:cNvPr>
          <p:cNvSpPr>
            <a:spLocks noGrp="1"/>
          </p:cNvSpPr>
          <p:nvPr>
            <p:ph type="title"/>
          </p:nvPr>
        </p:nvSpPr>
        <p:spPr/>
        <p:txBody>
          <a:bodyPr>
            <a:normAutofit/>
          </a:bodyPr>
          <a:lstStyle/>
          <a:p>
            <a:pPr>
              <a:defRPr/>
            </a:pPr>
            <a:r>
              <a:rPr lang="en-US" dirty="0"/>
              <a:t>Hemolytic disease of the newborn (</a:t>
            </a:r>
            <a:r>
              <a:rPr lang="en-US" dirty="0" err="1"/>
              <a:t>erythroblastosis</a:t>
            </a:r>
            <a:r>
              <a:rPr lang="en-US" dirty="0"/>
              <a:t> </a:t>
            </a:r>
            <a:r>
              <a:rPr lang="en-US" dirty="0" err="1"/>
              <a:t>fetalis</a:t>
            </a:r>
            <a:r>
              <a:rPr lang="en-US" dirty="0"/>
              <a:t>)</a:t>
            </a:r>
          </a:p>
        </p:txBody>
      </p:sp>
      <p:sp>
        <p:nvSpPr>
          <p:cNvPr id="20483" name="Content Placeholder 2">
            <a:extLst>
              <a:ext uri="{FF2B5EF4-FFF2-40B4-BE49-F238E27FC236}">
                <a16:creationId xmlns:a16="http://schemas.microsoft.com/office/drawing/2014/main" xmlns="" id="{5A72D520-672E-4C17-AD0F-5F6D0ABB0747}"/>
              </a:ext>
            </a:extLst>
          </p:cNvPr>
          <p:cNvSpPr>
            <a:spLocks noGrp="1"/>
          </p:cNvSpPr>
          <p:nvPr>
            <p:ph sz="half" idx="1"/>
          </p:nvPr>
        </p:nvSpPr>
        <p:spPr/>
        <p:txBody>
          <a:bodyPr>
            <a:normAutofit fontScale="92500" lnSpcReduction="20000"/>
          </a:bodyPr>
          <a:lstStyle/>
          <a:p>
            <a:pPr eaLnBrk="1" hangingPunct="1"/>
            <a:endParaRPr lang="en-US" altLang="en-US" dirty="0"/>
          </a:p>
          <a:p>
            <a:pPr eaLnBrk="1" hangingPunct="1"/>
            <a:r>
              <a:rPr lang="en-US" altLang="en-US" dirty="0"/>
              <a:t>caused by the </a:t>
            </a:r>
            <a:r>
              <a:rPr lang="en-US" altLang="en-US" dirty="0">
                <a:solidFill>
                  <a:srgbClr val="FF0000"/>
                </a:solidFill>
              </a:rPr>
              <a:t>transplacental passage of maternal antibody active against paternal RBC antigens of the infant.  </a:t>
            </a:r>
          </a:p>
        </p:txBody>
      </p:sp>
      <p:sp>
        <p:nvSpPr>
          <p:cNvPr id="3" name="Content Placeholder 2">
            <a:extLst>
              <a:ext uri="{FF2B5EF4-FFF2-40B4-BE49-F238E27FC236}">
                <a16:creationId xmlns:a16="http://schemas.microsoft.com/office/drawing/2014/main" xmlns="" id="{FE748A43-A1A3-4315-8F3F-B18A480E07E5}"/>
              </a:ext>
            </a:extLst>
          </p:cNvPr>
          <p:cNvSpPr>
            <a:spLocks noGrp="1"/>
          </p:cNvSpPr>
          <p:nvPr>
            <p:ph sz="half" idx="2"/>
          </p:nvPr>
        </p:nvSpPr>
        <p:spPr/>
        <p:txBody>
          <a:bodyPr>
            <a:normAutofit fontScale="92500" lnSpcReduction="20000"/>
          </a:bodyPr>
          <a:lstStyle/>
          <a:p>
            <a:pPr marL="274320" indent="-274320">
              <a:buClr>
                <a:schemeClr val="accent3"/>
              </a:buClr>
              <a:buFont typeface="Wingdings 2"/>
              <a:buChar char=""/>
              <a:defRPr/>
            </a:pPr>
            <a:r>
              <a:rPr lang="en-US" b="1" dirty="0"/>
              <a:t>Pathogenesis:</a:t>
            </a:r>
          </a:p>
          <a:p>
            <a:pPr marL="640080" lvl="1" indent="-246888">
              <a:buFont typeface="Wingdings" pitchFamily="2" charset="2"/>
              <a:buChar char="Ø"/>
              <a:defRPr/>
            </a:pPr>
            <a:r>
              <a:rPr lang="en-US" dirty="0"/>
              <a:t>When </a:t>
            </a:r>
            <a:r>
              <a:rPr lang="en-US" dirty="0">
                <a:solidFill>
                  <a:srgbClr val="FF0000"/>
                </a:solidFill>
              </a:rPr>
              <a:t>Rh-positive blood is infused into an Rh-negative woman</a:t>
            </a:r>
            <a:r>
              <a:rPr lang="en-US" dirty="0"/>
              <a:t>, antibody formation against D antigen may be induced in the unsensitized Rh-negative recipient mother. </a:t>
            </a:r>
          </a:p>
          <a:p>
            <a:pPr marL="640080" lvl="1" indent="-246888">
              <a:buFont typeface="Wingdings" pitchFamily="2" charset="2"/>
              <a:buChar char="Ø"/>
              <a:defRPr/>
            </a:pPr>
            <a:r>
              <a:rPr lang="en-US" dirty="0">
                <a:solidFill>
                  <a:srgbClr val="FF0000"/>
                </a:solidFill>
              </a:rPr>
              <a:t>IgG antibody readily crosses the placenta to cause hemolytic manifestations.</a:t>
            </a:r>
          </a:p>
          <a:p>
            <a:pPr marL="640080" lvl="1" indent="-246888">
              <a:buFont typeface="Wingdings" pitchFamily="2" charset="2"/>
              <a:buChar char="Ø"/>
              <a:defRPr/>
            </a:pPr>
            <a:r>
              <a:rPr lang="en-US" dirty="0"/>
              <a:t>Hemolytic disease </a:t>
            </a:r>
            <a:r>
              <a:rPr lang="en-US" dirty="0">
                <a:solidFill>
                  <a:srgbClr val="FF0000"/>
                </a:solidFill>
              </a:rPr>
              <a:t>rarely occurs during a first pregnancy because transfusion of Rh-positive fetal blood into an Rh-negative mother occurs </a:t>
            </a:r>
            <a:r>
              <a:rPr lang="en-US" u="sng" dirty="0">
                <a:solidFill>
                  <a:srgbClr val="FF0000"/>
                </a:solidFill>
              </a:rPr>
              <a:t>near the time of delivery</a:t>
            </a:r>
            <a:r>
              <a:rPr lang="en-US" dirty="0">
                <a:solidFill>
                  <a:srgbClr val="FF0000"/>
                </a:solidFill>
              </a:rPr>
              <a:t>.</a:t>
            </a:r>
          </a:p>
          <a:p>
            <a:pPr marL="640080" lvl="1" indent="-246888">
              <a:buFont typeface="Wingdings" pitchFamily="2" charset="2"/>
              <a:buChar char="Ø"/>
              <a:defRPr/>
            </a:pPr>
            <a:r>
              <a:rPr lang="en-US" dirty="0"/>
              <a:t>The severity of Rh illness worsens with successive pregnancies.</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xmlns="" id="{FC036D34-F7DC-4478-81E2-2828514C42C0}"/>
              </a:ext>
            </a:extLst>
          </p:cNvPr>
          <p:cNvSpPr>
            <a:spLocks noGrp="1"/>
          </p:cNvSpPr>
          <p:nvPr>
            <p:ph type="title"/>
          </p:nvPr>
        </p:nvSpPr>
        <p:spPr/>
        <p:txBody>
          <a:bodyPr/>
          <a:lstStyle/>
          <a:p>
            <a:pPr eaLnBrk="1" hangingPunct="1"/>
            <a:r>
              <a:rPr lang="en-US" altLang="en-US"/>
              <a:t>Rh incompatibility…</a:t>
            </a:r>
          </a:p>
        </p:txBody>
      </p:sp>
      <p:sp>
        <p:nvSpPr>
          <p:cNvPr id="22531" name="Content Placeholder 2">
            <a:extLst>
              <a:ext uri="{FF2B5EF4-FFF2-40B4-BE49-F238E27FC236}">
                <a16:creationId xmlns:a16="http://schemas.microsoft.com/office/drawing/2014/main" xmlns="" id="{97779C71-5217-4C9F-A260-FA68A5B6D0E3}"/>
              </a:ext>
            </a:extLst>
          </p:cNvPr>
          <p:cNvSpPr>
            <a:spLocks noGrp="1"/>
          </p:cNvSpPr>
          <p:nvPr>
            <p:ph sz="half" idx="1"/>
          </p:nvPr>
        </p:nvSpPr>
        <p:spPr/>
        <p:txBody>
          <a:bodyPr>
            <a:normAutofit fontScale="92500"/>
          </a:bodyPr>
          <a:lstStyle/>
          <a:p>
            <a:pPr eaLnBrk="1" hangingPunct="1"/>
            <a:r>
              <a:rPr lang="en-US" altLang="en-US" b="1" dirty="0"/>
              <a:t>Clinical features:</a:t>
            </a:r>
          </a:p>
          <a:p>
            <a:pPr lvl="1" eaLnBrk="1" hangingPunct="1">
              <a:buFont typeface="Wingdings" panose="05000000000000000000" pitchFamily="2" charset="2"/>
              <a:buChar char="Ø"/>
            </a:pPr>
            <a:r>
              <a:rPr lang="en-US" altLang="en-US" dirty="0"/>
              <a:t>Severity ranges from mild hemolysis to severe anemia.</a:t>
            </a:r>
          </a:p>
          <a:p>
            <a:pPr lvl="1" eaLnBrk="1" hangingPunct="1">
              <a:buFont typeface="Wingdings" panose="05000000000000000000" pitchFamily="2" charset="2"/>
              <a:buChar char="Ø"/>
            </a:pPr>
            <a:r>
              <a:rPr lang="en-US" altLang="en-US" dirty="0"/>
              <a:t>Jaundice on the first day of life.</a:t>
            </a:r>
          </a:p>
          <a:p>
            <a:pPr lvl="1" eaLnBrk="1" hangingPunct="1">
              <a:buFont typeface="Wingdings" panose="05000000000000000000" pitchFamily="2" charset="2"/>
              <a:buChar char="Ø"/>
            </a:pPr>
            <a:r>
              <a:rPr lang="en-US" altLang="en-US" dirty="0"/>
              <a:t>Enlargement of liver and spleen.  </a:t>
            </a:r>
          </a:p>
          <a:p>
            <a:pPr lvl="1" eaLnBrk="1" hangingPunct="1">
              <a:buFont typeface="Wingdings" panose="05000000000000000000" pitchFamily="2" charset="2"/>
              <a:buChar char="Ø"/>
            </a:pPr>
            <a:r>
              <a:rPr lang="en-US" altLang="en-US" dirty="0"/>
              <a:t> anemia </a:t>
            </a:r>
          </a:p>
          <a:p>
            <a:pPr lvl="1" eaLnBrk="1" hangingPunct="1">
              <a:buFont typeface="Wingdings" panose="05000000000000000000" pitchFamily="2" charset="2"/>
              <a:buChar char="Ø"/>
            </a:pPr>
            <a:r>
              <a:rPr lang="en-US" altLang="en-US" dirty="0"/>
              <a:t>signs of cardiac decompensation </a:t>
            </a:r>
          </a:p>
          <a:p>
            <a:pPr lvl="1" eaLnBrk="1" hangingPunct="1">
              <a:buFont typeface="Wingdings" panose="05000000000000000000" pitchFamily="2" charset="2"/>
              <a:buChar char="Ø"/>
            </a:pPr>
            <a:r>
              <a:rPr lang="en-US" altLang="en-US" dirty="0"/>
              <a:t> anasarca </a:t>
            </a:r>
          </a:p>
          <a:p>
            <a:pPr lvl="1" eaLnBrk="1" hangingPunct="1">
              <a:buFont typeface="Wingdings" panose="05000000000000000000" pitchFamily="2" charset="2"/>
              <a:buChar char="Ø"/>
            </a:pPr>
            <a:r>
              <a:rPr lang="en-US" altLang="en-US" b="1" dirty="0">
                <a:solidFill>
                  <a:srgbClr val="FF0000"/>
                </a:solidFill>
              </a:rPr>
              <a:t>hydrops fetalis- </a:t>
            </a:r>
            <a:r>
              <a:rPr lang="en-US" altLang="en-US" dirty="0">
                <a:solidFill>
                  <a:srgbClr val="FF0000"/>
                </a:solidFill>
              </a:rPr>
              <a:t>excessive abnormal fluid in two or more fetal compartments.  </a:t>
            </a:r>
          </a:p>
        </p:txBody>
      </p:sp>
      <p:sp>
        <p:nvSpPr>
          <p:cNvPr id="2" name="Content Placeholder 1">
            <a:extLst>
              <a:ext uri="{FF2B5EF4-FFF2-40B4-BE49-F238E27FC236}">
                <a16:creationId xmlns:a16="http://schemas.microsoft.com/office/drawing/2014/main" xmlns="" id="{80B887E1-7B74-46E0-989F-6C7B7B6EFA44}"/>
              </a:ext>
            </a:extLst>
          </p:cNvPr>
          <p:cNvSpPr>
            <a:spLocks noGrp="1"/>
          </p:cNvSpPr>
          <p:nvPr>
            <p:ph sz="half" idx="2"/>
          </p:nvPr>
        </p:nvSpPr>
        <p:spPr/>
        <p:txBody>
          <a:bodyPr>
            <a:normAutofit fontScale="92500"/>
          </a:bodyPr>
          <a:lstStyle/>
          <a:p>
            <a:pPr marL="393192" lvl="1" indent="0">
              <a:buNone/>
              <a:defRPr/>
            </a:pPr>
            <a:r>
              <a:rPr lang="en-US" dirty="0" err="1"/>
              <a:t>Investigatin</a:t>
            </a:r>
            <a:endParaRPr lang="en-US" dirty="0"/>
          </a:p>
          <a:p>
            <a:pPr marL="640080" lvl="1" indent="-246888">
              <a:buFont typeface="Wingdings" pitchFamily="2" charset="2"/>
              <a:buChar char="Ø"/>
              <a:defRPr/>
            </a:pPr>
            <a:r>
              <a:rPr lang="en-US" dirty="0"/>
              <a:t>direct Coombs test is usually positive </a:t>
            </a:r>
          </a:p>
          <a:p>
            <a:pPr marL="640080" lvl="1" indent="-246888">
              <a:buFont typeface="Wingdings" pitchFamily="2" charset="2"/>
              <a:buChar char="Ø"/>
              <a:defRPr/>
            </a:pPr>
            <a:endParaRPr lang="en-US" dirty="0"/>
          </a:p>
          <a:p>
            <a:pPr marL="640080" lvl="1" indent="-246888">
              <a:buFont typeface="Wingdings" pitchFamily="2" charset="2"/>
              <a:buChar char="Ø"/>
              <a:defRPr/>
            </a:pPr>
            <a:r>
              <a:rPr lang="en-US" dirty="0"/>
              <a:t>Anemia </a:t>
            </a:r>
          </a:p>
          <a:p>
            <a:pPr marL="640080" lvl="1" indent="-246888">
              <a:buFont typeface="Wingdings" pitchFamily="2" charset="2"/>
              <a:buChar char="Ø"/>
              <a:defRPr/>
            </a:pPr>
            <a:endParaRPr lang="en-US" dirty="0"/>
          </a:p>
          <a:p>
            <a:pPr marL="640080" lvl="1" indent="-246888">
              <a:buFont typeface="Wingdings" pitchFamily="2" charset="2"/>
              <a:buChar char="Ø"/>
              <a:defRPr/>
            </a:pPr>
            <a:r>
              <a:rPr lang="en-US" dirty="0"/>
              <a:t>blood smear - polychromasia and reticulocyte count is increased. </a:t>
            </a:r>
          </a:p>
          <a:p>
            <a:pPr marL="640080" lvl="1" indent="-246888">
              <a:buFont typeface="Wingdings" pitchFamily="2" charset="2"/>
              <a:buChar char="Ø"/>
              <a:defRPr/>
            </a:pPr>
            <a:endParaRPr lang="en-US" dirty="0"/>
          </a:p>
          <a:p>
            <a:pPr marL="640080" lvl="1" indent="-246888">
              <a:buFont typeface="Wingdings" pitchFamily="2" charset="2"/>
              <a:buChar char="Ø"/>
              <a:defRPr/>
            </a:pPr>
            <a:r>
              <a:rPr lang="en-US" dirty="0"/>
              <a:t>Thrombocytopenia- in severe cases</a:t>
            </a:r>
          </a:p>
          <a:p>
            <a:pPr marL="640080" lvl="1" indent="-246888">
              <a:buFont typeface="Wingdings" pitchFamily="2" charset="2"/>
              <a:buChar char="Ø"/>
              <a:defRPr/>
            </a:pPr>
            <a:endParaRPr lang="en-US" dirty="0"/>
          </a:p>
          <a:p>
            <a:pPr marL="640080" lvl="1" indent="-246888">
              <a:buFont typeface="Wingdings" pitchFamily="2" charset="2"/>
              <a:buChar char="Ø"/>
              <a:defRPr/>
            </a:pPr>
            <a:r>
              <a:rPr lang="en-US" dirty="0"/>
              <a:t>Cord bilirubin is generally between 3 and 5 mg/dL</a:t>
            </a:r>
          </a:p>
          <a:p>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xmlns="" id="{4902A2DA-85CF-496D-BC14-5A8E63DB3F0D}"/>
              </a:ext>
            </a:extLst>
          </p:cNvPr>
          <p:cNvSpPr>
            <a:spLocks noGrp="1"/>
          </p:cNvSpPr>
          <p:nvPr>
            <p:ph type="title"/>
          </p:nvPr>
        </p:nvSpPr>
        <p:spPr/>
        <p:txBody>
          <a:bodyPr/>
          <a:lstStyle/>
          <a:p>
            <a:pPr eaLnBrk="1" hangingPunct="1"/>
            <a:r>
              <a:rPr lang="en-US" altLang="en-US"/>
              <a:t>Rh incompatibility…</a:t>
            </a:r>
          </a:p>
        </p:txBody>
      </p:sp>
      <p:sp>
        <p:nvSpPr>
          <p:cNvPr id="24579" name="Content Placeholder 2">
            <a:extLst>
              <a:ext uri="{FF2B5EF4-FFF2-40B4-BE49-F238E27FC236}">
                <a16:creationId xmlns:a16="http://schemas.microsoft.com/office/drawing/2014/main" xmlns="" id="{DEF54587-7692-4E9E-8E6B-23ED6B40A812}"/>
              </a:ext>
            </a:extLst>
          </p:cNvPr>
          <p:cNvSpPr>
            <a:spLocks noGrp="1"/>
          </p:cNvSpPr>
          <p:nvPr>
            <p:ph sz="half" idx="1"/>
          </p:nvPr>
        </p:nvSpPr>
        <p:spPr/>
        <p:txBody>
          <a:bodyPr>
            <a:normAutofit lnSpcReduction="10000"/>
          </a:bodyPr>
          <a:lstStyle/>
          <a:p>
            <a:pPr eaLnBrk="1" hangingPunct="1"/>
            <a:r>
              <a:rPr lang="en-US" altLang="en-US" b="1" dirty="0"/>
              <a:t>Antenatal diagnosis:</a:t>
            </a:r>
          </a:p>
          <a:p>
            <a:pPr eaLnBrk="1" hangingPunct="1"/>
            <a:endParaRPr lang="en-US" altLang="en-US" b="1" dirty="0"/>
          </a:p>
          <a:p>
            <a:pPr lvl="1" eaLnBrk="1" hangingPunct="1">
              <a:buFont typeface="Wingdings" panose="05000000000000000000" pitchFamily="2" charset="2"/>
              <a:buChar char="Ø"/>
            </a:pPr>
            <a:r>
              <a:rPr lang="en-US" altLang="en-US" dirty="0"/>
              <a:t>Maternal sensitization</a:t>
            </a:r>
          </a:p>
          <a:p>
            <a:pPr lvl="1" eaLnBrk="1" hangingPunct="1">
              <a:buFont typeface="Wingdings" panose="05000000000000000000" pitchFamily="2" charset="2"/>
              <a:buChar char="Ø"/>
            </a:pPr>
            <a:endParaRPr lang="en-US" altLang="en-US" dirty="0"/>
          </a:p>
          <a:p>
            <a:pPr lvl="1" eaLnBrk="1" hangingPunct="1">
              <a:buFont typeface="Wingdings" panose="05000000000000000000" pitchFamily="2" charset="2"/>
              <a:buChar char="Ø"/>
            </a:pPr>
            <a:r>
              <a:rPr lang="en-US" altLang="en-US" dirty="0"/>
              <a:t>Doppler ultrasonography of the middle cerebral artery</a:t>
            </a:r>
          </a:p>
          <a:p>
            <a:pPr lvl="1" eaLnBrk="1" hangingPunct="1">
              <a:buFont typeface="Wingdings" panose="05000000000000000000" pitchFamily="2" charset="2"/>
              <a:buChar char="Ø"/>
            </a:pPr>
            <a:endParaRPr lang="en-US" altLang="en-US" dirty="0"/>
          </a:p>
          <a:p>
            <a:pPr lvl="1" eaLnBrk="1" hangingPunct="1">
              <a:buFont typeface="Wingdings" panose="05000000000000000000" pitchFamily="2" charset="2"/>
              <a:buChar char="Ø"/>
            </a:pPr>
            <a:r>
              <a:rPr lang="en-US" altLang="en-US" dirty="0"/>
              <a:t>percutaneous umbilical blood sampling (PUBS)</a:t>
            </a:r>
          </a:p>
          <a:p>
            <a:pPr lvl="1" eaLnBrk="1" hangingPunct="1">
              <a:buFont typeface="Wingdings" panose="05000000000000000000" pitchFamily="2" charset="2"/>
              <a:buChar char="Ø"/>
            </a:pPr>
            <a:endParaRPr lang="en-US" altLang="en-US" dirty="0"/>
          </a:p>
          <a:p>
            <a:pPr lvl="1" eaLnBrk="1" hangingPunct="1">
              <a:buFont typeface="Wingdings" panose="05000000000000000000" pitchFamily="2" charset="2"/>
              <a:buChar char="Ø"/>
            </a:pPr>
            <a:r>
              <a:rPr lang="en-US" altLang="en-US" dirty="0"/>
              <a:t>U/S signs of hydrops</a:t>
            </a:r>
          </a:p>
          <a:p>
            <a:pPr eaLnBrk="1" hangingPunct="1"/>
            <a:endParaRPr lang="en-US" altLang="en-US" dirty="0"/>
          </a:p>
        </p:txBody>
      </p:sp>
      <p:sp>
        <p:nvSpPr>
          <p:cNvPr id="2" name="Content Placeholder 1">
            <a:extLst>
              <a:ext uri="{FF2B5EF4-FFF2-40B4-BE49-F238E27FC236}">
                <a16:creationId xmlns:a16="http://schemas.microsoft.com/office/drawing/2014/main" xmlns="" id="{E24DF2B5-B830-4462-A004-B3FA33769436}"/>
              </a:ext>
            </a:extLst>
          </p:cNvPr>
          <p:cNvSpPr>
            <a:spLocks noGrp="1"/>
          </p:cNvSpPr>
          <p:nvPr>
            <p:ph sz="half" idx="2"/>
          </p:nvPr>
        </p:nvSpPr>
        <p:spPr/>
        <p:txBody>
          <a:bodyPr>
            <a:normAutofit lnSpcReduction="10000"/>
          </a:bodyPr>
          <a:lstStyle/>
          <a:p>
            <a:pPr lvl="1" eaLnBrk="1" hangingPunct="1">
              <a:buFont typeface="Wingdings" panose="05000000000000000000" pitchFamily="2" charset="2"/>
              <a:buChar char="Ø"/>
            </a:pPr>
            <a:r>
              <a:rPr lang="en-US" altLang="en-US" dirty="0"/>
              <a:t>Unborn infant- transfusion</a:t>
            </a:r>
          </a:p>
          <a:p>
            <a:pPr lvl="1" eaLnBrk="1" hangingPunct="1">
              <a:buFont typeface="Wingdings 2" panose="05020102010507070707" pitchFamily="18" charset="2"/>
              <a:buNone/>
            </a:pPr>
            <a:endParaRPr lang="en-US" altLang="en-US" dirty="0"/>
          </a:p>
          <a:p>
            <a:pPr lvl="1" eaLnBrk="1" hangingPunct="1">
              <a:buFont typeface="Wingdings" panose="05000000000000000000" pitchFamily="2" charset="2"/>
              <a:buChar char="Ø"/>
            </a:pPr>
            <a:r>
              <a:rPr lang="en-US" altLang="en-US" dirty="0"/>
              <a:t>Live born infant:</a:t>
            </a:r>
          </a:p>
          <a:p>
            <a:pPr lvl="2" eaLnBrk="1" hangingPunct="1">
              <a:buFont typeface="Wingdings" panose="05000000000000000000" pitchFamily="2" charset="2"/>
              <a:buChar char="ü"/>
            </a:pPr>
            <a:r>
              <a:rPr lang="en-US" altLang="en-US" dirty="0"/>
              <a:t>If severe hemolytic anemia- immediate resuscitation and supportive therapy, temperature stabilization, and monitoring.</a:t>
            </a:r>
          </a:p>
          <a:p>
            <a:pPr lvl="2" eaLnBrk="1" hangingPunct="1">
              <a:buFont typeface="Wingdings" panose="05000000000000000000" pitchFamily="2" charset="2"/>
              <a:buChar char="ü"/>
            </a:pPr>
            <a:r>
              <a:rPr lang="en-US" altLang="en-US" dirty="0"/>
              <a:t>exchange transfusion</a:t>
            </a:r>
          </a:p>
          <a:p>
            <a:pPr lvl="2" eaLnBrk="1" hangingPunct="1">
              <a:buFont typeface="Wingdings" panose="05000000000000000000" pitchFamily="2" charset="2"/>
              <a:buChar char="ü"/>
            </a:pPr>
            <a:r>
              <a:rPr lang="en-US" altLang="en-US" dirty="0"/>
              <a:t>Phototherapy</a:t>
            </a:r>
          </a:p>
          <a:p>
            <a:pPr lvl="2" eaLnBrk="1" hangingPunct="1">
              <a:buFont typeface="Wingdings" panose="05000000000000000000" pitchFamily="2" charset="2"/>
              <a:buChar char="ü"/>
            </a:pPr>
            <a:r>
              <a:rPr lang="en-US" altLang="en-US" dirty="0"/>
              <a:t>IVIG</a:t>
            </a:r>
          </a:p>
          <a:p>
            <a:endParaRPr 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xmlns="" id="{666C6AE7-B70A-43D5-BF75-8C92D1EAA831}"/>
              </a:ext>
            </a:extLst>
          </p:cNvPr>
          <p:cNvSpPr>
            <a:spLocks noGrp="1"/>
          </p:cNvSpPr>
          <p:nvPr>
            <p:ph type="title"/>
          </p:nvPr>
        </p:nvSpPr>
        <p:spPr/>
        <p:txBody>
          <a:bodyPr/>
          <a:lstStyle/>
          <a:p>
            <a:pPr eaLnBrk="1" hangingPunct="1"/>
            <a:r>
              <a:rPr lang="en-US" altLang="en-US"/>
              <a:t>Rh incompatibility…</a:t>
            </a:r>
          </a:p>
        </p:txBody>
      </p:sp>
      <p:sp>
        <p:nvSpPr>
          <p:cNvPr id="26627" name="Content Placeholder 2">
            <a:extLst>
              <a:ext uri="{FF2B5EF4-FFF2-40B4-BE49-F238E27FC236}">
                <a16:creationId xmlns:a16="http://schemas.microsoft.com/office/drawing/2014/main" xmlns="" id="{F1729D8C-10BC-4197-8CEB-D0869D1B9DF8}"/>
              </a:ext>
            </a:extLst>
          </p:cNvPr>
          <p:cNvSpPr>
            <a:spLocks noGrp="1"/>
          </p:cNvSpPr>
          <p:nvPr>
            <p:ph sz="half" idx="1"/>
          </p:nvPr>
        </p:nvSpPr>
        <p:spPr/>
        <p:txBody>
          <a:bodyPr/>
          <a:lstStyle/>
          <a:p>
            <a:pPr eaLnBrk="1" hangingPunct="1"/>
            <a:r>
              <a:rPr lang="en-US" altLang="en-US" b="1"/>
              <a:t>Prevention of Rh sensitization:</a:t>
            </a:r>
          </a:p>
          <a:p>
            <a:pPr eaLnBrk="1" hangingPunct="1"/>
            <a:endParaRPr lang="en-US" altLang="en-US"/>
          </a:p>
          <a:p>
            <a:pPr lvl="1" eaLnBrk="1" hangingPunct="1">
              <a:buFont typeface="Wingdings" panose="05000000000000000000" pitchFamily="2" charset="2"/>
              <a:buChar char="Ø"/>
            </a:pPr>
            <a:r>
              <a:rPr lang="en-US" altLang="en-US"/>
              <a:t>Sensitization reduced to less than 1% by the IM injection of </a:t>
            </a:r>
            <a:r>
              <a:rPr lang="en-US" altLang="en-US">
                <a:solidFill>
                  <a:srgbClr val="FF0000"/>
                </a:solidFill>
              </a:rPr>
              <a:t>300 ug of human anti-D globulin.</a:t>
            </a:r>
          </a:p>
          <a:p>
            <a:pPr lvl="1" eaLnBrk="1" hangingPunct="1">
              <a:buFont typeface="Wingdings" panose="05000000000000000000" pitchFamily="2" charset="2"/>
              <a:buChar char="Ø"/>
            </a:pPr>
            <a:endParaRPr lang="en-US" altLang="en-US"/>
          </a:p>
          <a:p>
            <a:pPr lvl="1" eaLnBrk="1" hangingPunct="1">
              <a:buFont typeface="Wingdings" panose="05000000000000000000" pitchFamily="2" charset="2"/>
              <a:buChar char="Ø"/>
            </a:pPr>
            <a:r>
              <a:rPr lang="en-US" altLang="en-US"/>
              <a:t>anti-D administration at 28-32 wk and again at birth (40 wk) is more effective than a single dose.</a:t>
            </a:r>
          </a:p>
        </p:txBody>
      </p:sp>
      <p:sp>
        <p:nvSpPr>
          <p:cNvPr id="2" name="Content Placeholder 1">
            <a:extLst>
              <a:ext uri="{FF2B5EF4-FFF2-40B4-BE49-F238E27FC236}">
                <a16:creationId xmlns:a16="http://schemas.microsoft.com/office/drawing/2014/main" xmlns="" id="{E4C24B82-6D04-42EA-8C6C-3B5E66D2704F}"/>
              </a:ext>
            </a:extLst>
          </p:cNvPr>
          <p:cNvSpPr>
            <a:spLocks noGrp="1"/>
          </p:cNvSpPr>
          <p:nvPr>
            <p:ph sz="half" idx="2"/>
          </p:nvPr>
        </p:nvSpPr>
        <p:spPr/>
        <p:txBody>
          <a:bodyPr/>
          <a:lstStyle/>
          <a:p>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xmlns="" id="{3AC5A1B6-F195-4E8E-946F-9A78574700E4}"/>
              </a:ext>
            </a:extLst>
          </p:cNvPr>
          <p:cNvSpPr>
            <a:spLocks noGrp="1"/>
          </p:cNvSpPr>
          <p:nvPr>
            <p:ph type="title"/>
          </p:nvPr>
        </p:nvSpPr>
        <p:spPr/>
        <p:txBody>
          <a:bodyPr/>
          <a:lstStyle/>
          <a:p>
            <a:pPr eaLnBrk="1" hangingPunct="1"/>
            <a:r>
              <a:rPr lang="en-US" altLang="en-US"/>
              <a:t>ABO incompatibility</a:t>
            </a:r>
          </a:p>
        </p:txBody>
      </p:sp>
      <p:sp>
        <p:nvSpPr>
          <p:cNvPr id="27651" name="Content Placeholder 2">
            <a:extLst>
              <a:ext uri="{FF2B5EF4-FFF2-40B4-BE49-F238E27FC236}">
                <a16:creationId xmlns:a16="http://schemas.microsoft.com/office/drawing/2014/main" xmlns="" id="{72C8B506-F8CF-420A-BA4D-9E1F31CC1444}"/>
              </a:ext>
            </a:extLst>
          </p:cNvPr>
          <p:cNvSpPr>
            <a:spLocks noGrp="1"/>
          </p:cNvSpPr>
          <p:nvPr>
            <p:ph sz="half" idx="1"/>
          </p:nvPr>
        </p:nvSpPr>
        <p:spPr/>
        <p:txBody>
          <a:bodyPr>
            <a:normAutofit fontScale="77500" lnSpcReduction="20000"/>
          </a:bodyPr>
          <a:lstStyle/>
          <a:p>
            <a:pPr eaLnBrk="1" hangingPunct="1"/>
            <a:r>
              <a:rPr lang="en-US" altLang="en-US" dirty="0"/>
              <a:t>is the most common cause of hemolytic disease. </a:t>
            </a:r>
          </a:p>
          <a:p>
            <a:pPr eaLnBrk="1" hangingPunct="1"/>
            <a:endParaRPr lang="en-US" altLang="en-US" dirty="0"/>
          </a:p>
          <a:p>
            <a:pPr eaLnBrk="1" hangingPunct="1"/>
            <a:r>
              <a:rPr lang="en-US" altLang="en-US" dirty="0"/>
              <a:t>results in milder disease than Rh incompatibility does.</a:t>
            </a:r>
          </a:p>
          <a:p>
            <a:pPr eaLnBrk="1" hangingPunct="1"/>
            <a:endParaRPr lang="en-US" altLang="en-US" dirty="0"/>
          </a:p>
          <a:p>
            <a:pPr eaLnBrk="1" hangingPunct="1"/>
            <a:r>
              <a:rPr lang="en-US" altLang="en-US" dirty="0"/>
              <a:t>Low antigenicity of the ABO factors in the fetus and newborn infant may account for the low incidence of severe ABO hemolytic disease. </a:t>
            </a:r>
          </a:p>
          <a:p>
            <a:pPr eaLnBrk="1" hangingPunct="1"/>
            <a:endParaRPr lang="en-US" altLang="en-US" dirty="0"/>
          </a:p>
          <a:p>
            <a:pPr eaLnBrk="1" hangingPunct="1"/>
            <a:r>
              <a:rPr lang="en-US" altLang="en-US" dirty="0"/>
              <a:t>the mother is type O and the infant is type A or B.</a:t>
            </a:r>
          </a:p>
        </p:txBody>
      </p:sp>
      <p:sp>
        <p:nvSpPr>
          <p:cNvPr id="2" name="Content Placeholder 1">
            <a:extLst>
              <a:ext uri="{FF2B5EF4-FFF2-40B4-BE49-F238E27FC236}">
                <a16:creationId xmlns:a16="http://schemas.microsoft.com/office/drawing/2014/main" xmlns="" id="{FF231FF2-2BE4-4D35-AE58-F9059248342E}"/>
              </a:ext>
            </a:extLst>
          </p:cNvPr>
          <p:cNvSpPr>
            <a:spLocks noGrp="1"/>
          </p:cNvSpPr>
          <p:nvPr>
            <p:ph sz="half" idx="2"/>
          </p:nvPr>
        </p:nvSpPr>
        <p:spPr/>
        <p:txBody>
          <a:bodyPr>
            <a:normAutofit fontScale="77500" lnSpcReduction="20000"/>
          </a:bodyPr>
          <a:lstStyle/>
          <a:p>
            <a:pPr eaLnBrk="1" hangingPunct="1"/>
            <a:r>
              <a:rPr lang="en-US" altLang="en-US" b="1" dirty="0"/>
              <a:t>Clinical feature:</a:t>
            </a:r>
          </a:p>
          <a:p>
            <a:pPr lvl="1" eaLnBrk="1" hangingPunct="1">
              <a:buFont typeface="Wingdings" panose="05000000000000000000" pitchFamily="2" charset="2"/>
              <a:buChar char="Ø"/>
            </a:pPr>
            <a:r>
              <a:rPr lang="en-US" altLang="en-US" dirty="0"/>
              <a:t>Most cases are mild </a:t>
            </a:r>
          </a:p>
          <a:p>
            <a:pPr lvl="1" eaLnBrk="1" hangingPunct="1">
              <a:buFont typeface="Wingdings" panose="05000000000000000000" pitchFamily="2" charset="2"/>
              <a:buChar char="Ø"/>
            </a:pPr>
            <a:endParaRPr lang="en-US" altLang="en-US" dirty="0"/>
          </a:p>
          <a:p>
            <a:pPr lvl="1" eaLnBrk="1" hangingPunct="1">
              <a:buFont typeface="Wingdings" panose="05000000000000000000" pitchFamily="2" charset="2"/>
              <a:buChar char="Ø"/>
            </a:pPr>
            <a:r>
              <a:rPr lang="en-US" altLang="en-US" dirty="0"/>
              <a:t>infant is not generally affected at birth </a:t>
            </a:r>
          </a:p>
          <a:p>
            <a:pPr lvl="1" eaLnBrk="1" hangingPunct="1">
              <a:buFont typeface="Wingdings" panose="05000000000000000000" pitchFamily="2" charset="2"/>
              <a:buChar char="Ø"/>
            </a:pPr>
            <a:endParaRPr lang="en-US" altLang="en-US" dirty="0"/>
          </a:p>
          <a:p>
            <a:pPr lvl="1" eaLnBrk="1" hangingPunct="1">
              <a:buFont typeface="Wingdings" panose="05000000000000000000" pitchFamily="2" charset="2"/>
              <a:buChar char="Ø"/>
            </a:pPr>
            <a:r>
              <a:rPr lang="en-US" altLang="en-US" dirty="0"/>
              <a:t> hydrops fetalis is </a:t>
            </a:r>
            <a:r>
              <a:rPr lang="en-US" altLang="en-US" b="1" u="sng" dirty="0"/>
              <a:t>extremely rare</a:t>
            </a:r>
          </a:p>
          <a:p>
            <a:pPr lvl="1" eaLnBrk="1" hangingPunct="1">
              <a:buFont typeface="Wingdings" panose="05000000000000000000" pitchFamily="2" charset="2"/>
              <a:buChar char="Ø"/>
            </a:pPr>
            <a:endParaRPr lang="en-US" altLang="en-US" dirty="0"/>
          </a:p>
          <a:p>
            <a:pPr lvl="1" eaLnBrk="1" hangingPunct="1">
              <a:buFont typeface="Wingdings" panose="05000000000000000000" pitchFamily="2" charset="2"/>
              <a:buChar char="Ø"/>
            </a:pPr>
            <a:r>
              <a:rPr lang="en-US" altLang="en-US" dirty="0"/>
              <a:t>Rarely, it may become severe, and symptoms and signs of kernicterus develop rapidly.</a:t>
            </a:r>
          </a:p>
          <a:p>
            <a:pPr eaLnBrk="1" hangingPunct="1"/>
            <a:r>
              <a:rPr lang="en-US" altLang="en-US" b="1" dirty="0"/>
              <a:t>Treatment:</a:t>
            </a:r>
          </a:p>
          <a:p>
            <a:pPr lvl="1" eaLnBrk="1" hangingPunct="1">
              <a:buFont typeface="Wingdings" panose="05000000000000000000" pitchFamily="2" charset="2"/>
              <a:buChar char="Ø"/>
            </a:pPr>
            <a:r>
              <a:rPr lang="en-US" altLang="en-US" dirty="0"/>
              <a:t>Phototherapy</a:t>
            </a:r>
          </a:p>
          <a:p>
            <a:pPr lvl="1" eaLnBrk="1" hangingPunct="1">
              <a:buFont typeface="Wingdings" panose="05000000000000000000" pitchFamily="2" charset="2"/>
              <a:buChar char="Ø"/>
            </a:pPr>
            <a:endParaRPr lang="en-US" altLang="en-US" dirty="0"/>
          </a:p>
          <a:p>
            <a:pPr lvl="1" eaLnBrk="1" hangingPunct="1">
              <a:buFont typeface="Wingdings" panose="05000000000000000000" pitchFamily="2" charset="2"/>
              <a:buChar char="Ø"/>
            </a:pPr>
            <a:r>
              <a:rPr lang="en-US" altLang="en-US" dirty="0"/>
              <a:t>IVIG</a:t>
            </a:r>
          </a:p>
          <a:p>
            <a:pPr lvl="1" eaLnBrk="1" hangingPunct="1">
              <a:buFont typeface="Wingdings" panose="05000000000000000000" pitchFamily="2" charset="2"/>
              <a:buChar char="Ø"/>
            </a:pPr>
            <a:endParaRPr lang="en-US" altLang="en-US" dirty="0"/>
          </a:p>
          <a:p>
            <a:pPr lvl="1" eaLnBrk="1" hangingPunct="1">
              <a:buFont typeface="Wingdings" panose="05000000000000000000" pitchFamily="2" charset="2"/>
              <a:buChar char="Ø"/>
            </a:pPr>
            <a:r>
              <a:rPr lang="en-US" altLang="en-US" dirty="0"/>
              <a:t>Exchange transfusion</a:t>
            </a:r>
          </a:p>
          <a:p>
            <a:endParaRPr 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sz="2800" b="1" u="sng" dirty="0"/>
          </a:p>
        </p:txBody>
      </p:sp>
      <p:sp>
        <p:nvSpPr>
          <p:cNvPr id="3" name="Content Placeholder 2"/>
          <p:cNvSpPr>
            <a:spLocks noGrp="1"/>
          </p:cNvSpPr>
          <p:nvPr>
            <p:ph sz="half" idx="1"/>
          </p:nvPr>
        </p:nvSpPr>
        <p:spPr/>
        <p:txBody>
          <a:bodyPr>
            <a:normAutofit fontScale="92500" lnSpcReduction="10000"/>
          </a:bodyPr>
          <a:lstStyle/>
          <a:p>
            <a:pPr marL="0" indent="0">
              <a:buNone/>
            </a:pPr>
            <a:r>
              <a:rPr lang="en-US" b="1" u="sng" dirty="0"/>
              <a:t>Complications associated with phototherapy</a:t>
            </a:r>
          </a:p>
          <a:p>
            <a:r>
              <a:rPr lang="en-US" b="1" dirty="0"/>
              <a:t>loose stools, </a:t>
            </a:r>
            <a:r>
              <a:rPr lang="en-US" dirty="0"/>
              <a:t>erythematous macular rash, purpuric rash </a:t>
            </a:r>
          </a:p>
          <a:p>
            <a:r>
              <a:rPr lang="en-US" dirty="0"/>
              <a:t>overheating, dehydration ,hypothermia from exposure, and </a:t>
            </a:r>
          </a:p>
          <a:p>
            <a:r>
              <a:rPr lang="en-US" dirty="0"/>
              <a:t> bronze baby syndrome</a:t>
            </a:r>
            <a:r>
              <a:rPr lang="en-US" i="1" dirty="0"/>
              <a:t> </a:t>
            </a:r>
            <a:endParaRPr lang="en-US" dirty="0"/>
          </a:p>
          <a:p>
            <a:r>
              <a:rPr lang="en-US" dirty="0"/>
              <a:t>Before phototherapy is initiated, the infant’s eyes should be covered</a:t>
            </a:r>
          </a:p>
          <a:p>
            <a:r>
              <a:rPr lang="en-US" dirty="0"/>
              <a:t>Body temperature should be monitored</a:t>
            </a:r>
          </a:p>
          <a:p>
            <a:pPr>
              <a:buNone/>
            </a:pPr>
            <a:endParaRPr lang="en-US" dirty="0"/>
          </a:p>
        </p:txBody>
      </p:sp>
      <p:sp>
        <p:nvSpPr>
          <p:cNvPr id="4" name="Content Placeholder 3">
            <a:extLst>
              <a:ext uri="{FF2B5EF4-FFF2-40B4-BE49-F238E27FC236}">
                <a16:creationId xmlns:a16="http://schemas.microsoft.com/office/drawing/2014/main" xmlns="" id="{0F7BD14C-BF1D-487A-8585-B9875758F6A2}"/>
              </a:ext>
            </a:extLst>
          </p:cNvPr>
          <p:cNvSpPr>
            <a:spLocks noGrp="1"/>
          </p:cNvSpPr>
          <p:nvPr>
            <p:ph sz="half" idx="2"/>
          </p:nvPr>
        </p:nvSpPr>
        <p:spPr/>
        <p:txBody>
          <a:bodyPr>
            <a:normAutofit fontScale="92500" lnSpcReduction="10000"/>
          </a:bodyPr>
          <a:lstStyle/>
          <a:p>
            <a:pPr marL="0" indent="0">
              <a:buNone/>
            </a:pPr>
            <a:r>
              <a:rPr lang="en-US" b="1" u="sng" dirty="0"/>
              <a:t>Potential complications from exchange transfusion</a:t>
            </a:r>
            <a:endParaRPr lang="en-US" u="sng" dirty="0"/>
          </a:p>
          <a:p>
            <a:pPr lvl="1"/>
            <a:r>
              <a:rPr lang="en-US" dirty="0"/>
              <a:t>metabolic acidosis, electrolyte abnormalities, hypoglycemia, hypocalcemia, </a:t>
            </a:r>
          </a:p>
          <a:p>
            <a:pPr lvl="1"/>
            <a:r>
              <a:rPr lang="en-US" dirty="0"/>
              <a:t>thrombocytopenia, volume overload, arrhythmias,</a:t>
            </a:r>
          </a:p>
          <a:p>
            <a:pPr lvl="1"/>
            <a:r>
              <a:rPr lang="en-US" dirty="0"/>
              <a:t> NEC, infection, graft-versus-host disease, and death. </a:t>
            </a:r>
          </a:p>
          <a:p>
            <a:endParaRPr lang="en-US" dirty="0"/>
          </a:p>
          <a:p>
            <a:endParaRPr 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25A454-C2B9-41E3-9CF5-C3B26905A0D6}"/>
              </a:ext>
            </a:extLst>
          </p:cNvPr>
          <p:cNvSpPr>
            <a:spLocks noGrp="1"/>
          </p:cNvSpPr>
          <p:nvPr>
            <p:ph type="title"/>
          </p:nvPr>
        </p:nvSpPr>
        <p:spPr/>
        <p:txBody>
          <a:bodyPr/>
          <a:lstStyle/>
          <a:p>
            <a:r>
              <a:rPr lang="en-US" dirty="0"/>
              <a:t>Hemorrhagic disease of the new born</a:t>
            </a:r>
          </a:p>
        </p:txBody>
      </p:sp>
      <p:sp>
        <p:nvSpPr>
          <p:cNvPr id="3" name="Content Placeholder 2">
            <a:extLst>
              <a:ext uri="{FF2B5EF4-FFF2-40B4-BE49-F238E27FC236}">
                <a16:creationId xmlns:a16="http://schemas.microsoft.com/office/drawing/2014/main" xmlns="" id="{B08E7589-70A3-44C4-A529-4E770974FBEE}"/>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xmlns="" id="{BB7015DA-7B37-43A6-B197-E1FBFDFC50D4}"/>
              </a:ext>
            </a:extLst>
          </p:cNvPr>
          <p:cNvSpPr>
            <a:spLocks noGrp="1"/>
          </p:cNvSpPr>
          <p:nvPr>
            <p:ph type="sldNum" sz="quarter" idx="12"/>
          </p:nvPr>
        </p:nvSpPr>
        <p:spPr/>
        <p:txBody>
          <a:bodyPr/>
          <a:lstStyle/>
          <a:p>
            <a:fld id="{F010F31A-5B1D-4478-A180-CDC3128319F7}" type="slidenum">
              <a:rPr lang="en-US" smtClean="0"/>
              <a:t>97</a:t>
            </a:fld>
            <a:endParaRPr lang="en-US"/>
          </a:p>
        </p:txBody>
      </p:sp>
    </p:spTree>
    <p:extLst>
      <p:ext uri="{BB962C8B-B14F-4D97-AF65-F5344CB8AC3E}">
        <p14:creationId xmlns:p14="http://schemas.microsoft.com/office/powerpoint/2010/main" val="121476145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5F9D81B4-7AA1-4254-BDCB-54CDD1EA757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CF319C97-A3BB-4862-BD18-DBC5E7C6C364}"/>
              </a:ext>
            </a:extLst>
          </p:cNvPr>
          <p:cNvSpPr>
            <a:spLocks noGrp="1"/>
          </p:cNvSpPr>
          <p:nvPr>
            <p:ph sz="half" idx="1"/>
          </p:nvPr>
        </p:nvSpPr>
        <p:spPr/>
        <p:txBody>
          <a:bodyPr>
            <a:normAutofit fontScale="77500" lnSpcReduction="20000"/>
          </a:bodyPr>
          <a:lstStyle/>
          <a:p>
            <a:r>
              <a:rPr lang="en-US" sz="2400" b="0" i="0" dirty="0">
                <a:effectLst/>
                <a:latin typeface="Times New Roman" panose="02020603050405020304" pitchFamily="18" charset="0"/>
                <a:cs typeface="Times New Roman" panose="02020603050405020304" pitchFamily="18" charset="0"/>
              </a:rPr>
              <a:t>Hemorrhagic Diseases of the Newborn/HDN</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 Temporary coagulation defect due to vitamin K deficiency</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causing spontaneous hemorrhage</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Pathophysiology of HDN</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o Deficiency of Vitamin K-dependent factors (II, VII, IX, X)</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o Common during the 1st 48-72hrs</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o Vitamin K deficiency occurs due to:</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 Poor source from the mother (placental, Breast milk)</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 Absence of bacterial flora in the newborn’s intestine</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 Immaturity of newborn’s liver</a:t>
            </a:r>
            <a:r>
              <a:rPr lang="en-US" sz="3600" dirty="0">
                <a:latin typeface="Times New Roman" panose="02020603050405020304" pitchFamily="18" charset="0"/>
                <a:cs typeface="Times New Roman" panose="02020603050405020304" pitchFamily="18" charset="0"/>
              </a:rPr>
              <a:t> </a:t>
            </a:r>
            <a:br>
              <a:rPr lang="en-US" sz="3600" dirty="0">
                <a:latin typeface="Times New Roman" panose="02020603050405020304" pitchFamily="18" charset="0"/>
                <a:cs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xmlns="" id="{9A11F5D7-FB76-4656-89BD-9F7FFE88B09A}"/>
              </a:ext>
            </a:extLst>
          </p:cNvPr>
          <p:cNvSpPr>
            <a:spLocks noGrp="1"/>
          </p:cNvSpPr>
          <p:nvPr>
            <p:ph sz="half" idx="2"/>
          </p:nvPr>
        </p:nvSpPr>
        <p:spPr/>
        <p:txBody>
          <a:bodyPr>
            <a:normAutofit fontScale="77500" lnSpcReduction="20000"/>
          </a:bodyPr>
          <a:lstStyle/>
          <a:p>
            <a:r>
              <a:rPr lang="en-US" sz="2800" b="0" i="0" dirty="0">
                <a:solidFill>
                  <a:srgbClr val="0000FF"/>
                </a:solidFill>
                <a:effectLst/>
                <a:latin typeface="Times New Roman" panose="02020603050405020304" pitchFamily="18" charset="0"/>
                <a:cs typeface="Times New Roman" panose="02020603050405020304" pitchFamily="18" charset="0"/>
              </a:rPr>
              <a:t>Investigations</a:t>
            </a:r>
            <a:br>
              <a:rPr lang="en-US" sz="2800" b="0" i="0" dirty="0">
                <a:solidFill>
                  <a:srgbClr val="0000FF"/>
                </a:solidFill>
                <a:effectLst/>
                <a:latin typeface="Times New Roman" panose="02020603050405020304" pitchFamily="18" charset="0"/>
                <a:cs typeface="Times New Roman" panose="02020603050405020304" pitchFamily="18" charset="0"/>
              </a:rPr>
            </a:br>
            <a:r>
              <a:rPr lang="en-US" sz="2800" b="0" i="0" dirty="0">
                <a:solidFill>
                  <a:srgbClr val="000000"/>
                </a:solidFill>
                <a:effectLst/>
                <a:latin typeface="Times New Roman" panose="02020603050405020304" pitchFamily="18" charset="0"/>
                <a:cs typeface="Times New Roman" panose="02020603050405020304" pitchFamily="18" charset="0"/>
              </a:rPr>
              <a:t>• Prothrombin Time(PT)--</a:t>
            </a:r>
            <a:r>
              <a:rPr lang="en-US" sz="2800" b="0" i="0" dirty="0" err="1">
                <a:solidFill>
                  <a:srgbClr val="000000"/>
                </a:solidFill>
                <a:effectLst/>
                <a:latin typeface="Times New Roman" panose="02020603050405020304" pitchFamily="18" charset="0"/>
                <a:cs typeface="Times New Roman" panose="02020603050405020304" pitchFamily="18" charset="0"/>
              </a:rPr>
              <a:t>proplnged</a:t>
            </a:r>
            <a:r>
              <a:rPr lang="en-US" sz="2800" b="0" i="0" dirty="0">
                <a:solidFill>
                  <a:srgbClr val="000000"/>
                </a:solidFill>
                <a:effectLst/>
                <a:latin typeface="Times New Roman" panose="02020603050405020304" pitchFamily="18" charset="0"/>
                <a:cs typeface="Times New Roman" panose="02020603050405020304" pitchFamily="18" charset="0"/>
              </a:rPr>
              <a:t/>
            </a:r>
            <a:br>
              <a:rPr lang="en-US" sz="2800" b="0" i="0" dirty="0">
                <a:solidFill>
                  <a:srgbClr val="000000"/>
                </a:solidFill>
                <a:effectLst/>
                <a:latin typeface="Times New Roman" panose="02020603050405020304" pitchFamily="18" charset="0"/>
                <a:cs typeface="Times New Roman" panose="02020603050405020304" pitchFamily="18" charset="0"/>
              </a:rPr>
            </a:br>
            <a:r>
              <a:rPr lang="en-US" sz="2800" b="0" i="0" dirty="0">
                <a:solidFill>
                  <a:srgbClr val="000000"/>
                </a:solidFill>
                <a:effectLst/>
                <a:latin typeface="Times New Roman" panose="02020603050405020304" pitchFamily="18" charset="0"/>
                <a:cs typeface="Times New Roman" panose="02020603050405020304" pitchFamily="18" charset="0"/>
              </a:rPr>
              <a:t>• </a:t>
            </a:r>
            <a:r>
              <a:rPr lang="en-US" sz="2800" b="0" i="0" dirty="0" err="1">
                <a:solidFill>
                  <a:srgbClr val="000000"/>
                </a:solidFill>
                <a:effectLst/>
                <a:latin typeface="Times New Roman" panose="02020603050405020304" pitchFamily="18" charset="0"/>
                <a:cs typeface="Times New Roman" panose="02020603050405020304" pitchFamily="18" charset="0"/>
              </a:rPr>
              <a:t>aPTT</a:t>
            </a:r>
            <a:r>
              <a:rPr lang="en-US" sz="2800" b="0" i="0" dirty="0">
                <a:solidFill>
                  <a:srgbClr val="000000"/>
                </a:solidFill>
                <a:effectLst/>
                <a:latin typeface="Times New Roman" panose="02020603050405020304" pitchFamily="18" charset="0"/>
                <a:cs typeface="Times New Roman" panose="02020603050405020304" pitchFamily="18" charset="0"/>
              </a:rPr>
              <a:t>--prolonged</a:t>
            </a:r>
            <a:br>
              <a:rPr lang="en-US" sz="2800" b="0" i="0" dirty="0">
                <a:solidFill>
                  <a:srgbClr val="000000"/>
                </a:solidFill>
                <a:effectLst/>
                <a:latin typeface="Times New Roman" panose="02020603050405020304" pitchFamily="18" charset="0"/>
                <a:cs typeface="Times New Roman" panose="02020603050405020304" pitchFamily="18" charset="0"/>
              </a:rPr>
            </a:br>
            <a:r>
              <a:rPr lang="en-US" sz="2800" b="0" i="0" dirty="0">
                <a:solidFill>
                  <a:srgbClr val="000000"/>
                </a:solidFill>
                <a:effectLst/>
                <a:latin typeface="Times New Roman" panose="02020603050405020304" pitchFamily="18" charset="0"/>
                <a:cs typeface="Times New Roman" panose="02020603050405020304" pitchFamily="18" charset="0"/>
              </a:rPr>
              <a:t>• Clotting time—prolonged</a:t>
            </a:r>
            <a:br>
              <a:rPr lang="en-US" sz="2800" b="0" i="0" dirty="0">
                <a:solidFill>
                  <a:srgbClr val="000000"/>
                </a:solidFill>
                <a:effectLst/>
                <a:latin typeface="Times New Roman" panose="02020603050405020304" pitchFamily="18" charset="0"/>
                <a:cs typeface="Times New Roman" panose="02020603050405020304" pitchFamily="18" charset="0"/>
              </a:rPr>
            </a:br>
            <a:r>
              <a:rPr lang="en-US" sz="2800" b="0" i="0" dirty="0">
                <a:solidFill>
                  <a:srgbClr val="000000"/>
                </a:solidFill>
                <a:effectLst/>
                <a:latin typeface="Times New Roman" panose="02020603050405020304" pitchFamily="18" charset="0"/>
                <a:cs typeface="Times New Roman" panose="02020603050405020304" pitchFamily="18" charset="0"/>
              </a:rPr>
              <a:t>• Reduced vitamin k –dependent factors</a:t>
            </a:r>
            <a:br>
              <a:rPr lang="en-US" sz="2800" b="0" i="0" dirty="0">
                <a:solidFill>
                  <a:srgbClr val="000000"/>
                </a:solidFill>
                <a:effectLst/>
                <a:latin typeface="Times New Roman" panose="02020603050405020304" pitchFamily="18" charset="0"/>
                <a:cs typeface="Times New Roman" panose="02020603050405020304" pitchFamily="18" charset="0"/>
              </a:rPr>
            </a:br>
            <a:r>
              <a:rPr lang="en-US" sz="2800" b="0" i="0" dirty="0">
                <a:solidFill>
                  <a:srgbClr val="000000"/>
                </a:solidFill>
                <a:effectLst/>
                <a:latin typeface="Times New Roman" panose="02020603050405020304" pitchFamily="18" charset="0"/>
                <a:cs typeface="Times New Roman" panose="02020603050405020304" pitchFamily="18" charset="0"/>
              </a:rPr>
              <a:t>• Normal BT, Platelet and fibrinogen</a:t>
            </a:r>
            <a:br>
              <a:rPr lang="en-US" sz="2800" b="0" i="0" dirty="0">
                <a:solidFill>
                  <a:srgbClr val="000000"/>
                </a:solidFill>
                <a:effectLst/>
                <a:latin typeface="Times New Roman" panose="02020603050405020304" pitchFamily="18" charset="0"/>
                <a:cs typeface="Times New Roman" panose="02020603050405020304" pitchFamily="18" charset="0"/>
              </a:rPr>
            </a:br>
            <a:r>
              <a:rPr lang="en-US" sz="2800" b="0" i="0" dirty="0">
                <a:solidFill>
                  <a:srgbClr val="0000FF"/>
                </a:solidFill>
                <a:effectLst/>
                <a:latin typeface="Times New Roman" panose="02020603050405020304" pitchFamily="18" charset="0"/>
                <a:cs typeface="Times New Roman" panose="02020603050405020304" pitchFamily="18" charset="0"/>
              </a:rPr>
              <a:t>Treatment</a:t>
            </a:r>
            <a:br>
              <a:rPr lang="en-US" sz="2800" b="0" i="0" dirty="0">
                <a:solidFill>
                  <a:srgbClr val="0000FF"/>
                </a:solidFill>
                <a:effectLst/>
                <a:latin typeface="Times New Roman" panose="02020603050405020304" pitchFamily="18" charset="0"/>
                <a:cs typeface="Times New Roman" panose="02020603050405020304" pitchFamily="18" charset="0"/>
              </a:rPr>
            </a:br>
            <a:r>
              <a:rPr lang="en-US" sz="2800" b="0" i="0" dirty="0">
                <a:solidFill>
                  <a:srgbClr val="000000"/>
                </a:solidFill>
                <a:effectLst/>
                <a:latin typeface="Times New Roman" panose="02020603050405020304" pitchFamily="18" charset="0"/>
                <a:cs typeface="Times New Roman" panose="02020603050405020304" pitchFamily="18" charset="0"/>
              </a:rPr>
              <a:t>o Vitamin K 1mg </a:t>
            </a:r>
            <a:r>
              <a:rPr lang="en-US" sz="2800" b="0" i="0" dirty="0" err="1">
                <a:solidFill>
                  <a:srgbClr val="000000"/>
                </a:solidFill>
                <a:effectLst/>
                <a:latin typeface="Times New Roman" panose="02020603050405020304" pitchFamily="18" charset="0"/>
                <a:cs typeface="Times New Roman" panose="02020603050405020304" pitchFamily="18" charset="0"/>
              </a:rPr>
              <a:t>Im</a:t>
            </a:r>
            <a:r>
              <a:rPr lang="en-US" sz="2800" b="0" i="0" dirty="0">
                <a:solidFill>
                  <a:srgbClr val="000000"/>
                </a:solidFill>
                <a:effectLst/>
                <a:latin typeface="Times New Roman" panose="02020603050405020304" pitchFamily="18" charset="0"/>
                <a:cs typeface="Times New Roman" panose="02020603050405020304" pitchFamily="18" charset="0"/>
              </a:rPr>
              <a:t> at birth (prophylaxis)</a:t>
            </a:r>
            <a:br>
              <a:rPr lang="en-US" sz="2800" b="0" i="0" dirty="0">
                <a:solidFill>
                  <a:srgbClr val="000000"/>
                </a:solidFill>
                <a:effectLst/>
                <a:latin typeface="Times New Roman" panose="02020603050405020304" pitchFamily="18" charset="0"/>
                <a:cs typeface="Times New Roman" panose="02020603050405020304" pitchFamily="18" charset="0"/>
              </a:rPr>
            </a:br>
            <a:r>
              <a:rPr lang="en-US" sz="2800" b="0" i="0" dirty="0">
                <a:solidFill>
                  <a:srgbClr val="000000"/>
                </a:solidFill>
                <a:effectLst/>
                <a:latin typeface="Times New Roman" panose="02020603050405020304" pitchFamily="18" charset="0"/>
                <a:cs typeface="Times New Roman" panose="02020603050405020304" pitchFamily="18" charset="0"/>
              </a:rPr>
              <a:t>o Vitamin K 1-5mg (IV slow infusion)—therapeutic</a:t>
            </a:r>
            <a:br>
              <a:rPr lang="en-US" sz="2800" b="0" i="0" dirty="0">
                <a:solidFill>
                  <a:srgbClr val="000000"/>
                </a:solidFill>
                <a:effectLst/>
                <a:latin typeface="Times New Roman" panose="02020603050405020304" pitchFamily="18" charset="0"/>
                <a:cs typeface="Times New Roman" panose="02020603050405020304" pitchFamily="18" charset="0"/>
              </a:rPr>
            </a:br>
            <a:r>
              <a:rPr lang="en-US" sz="2800" b="0" i="0" dirty="0">
                <a:solidFill>
                  <a:srgbClr val="000000"/>
                </a:solidFill>
                <a:effectLst/>
                <a:latin typeface="Times New Roman" panose="02020603050405020304" pitchFamily="18" charset="0"/>
                <a:cs typeface="Times New Roman" panose="02020603050405020304" pitchFamily="18" charset="0"/>
              </a:rPr>
              <a:t>o Plasma transfusion (severe cases)</a:t>
            </a:r>
            <a:br>
              <a:rPr lang="en-US" sz="2800" b="0" i="0" dirty="0">
                <a:solidFill>
                  <a:srgbClr val="000000"/>
                </a:solidFill>
                <a:effectLst/>
                <a:latin typeface="Times New Roman" panose="02020603050405020304" pitchFamily="18" charset="0"/>
                <a:cs typeface="Times New Roman" panose="02020603050405020304" pitchFamily="18" charset="0"/>
              </a:rPr>
            </a:br>
            <a:r>
              <a:rPr lang="en-US" sz="2800" b="0" i="0" dirty="0">
                <a:solidFill>
                  <a:srgbClr val="0000FF"/>
                </a:solidFill>
                <a:effectLst/>
                <a:latin typeface="Times New Roman" panose="02020603050405020304" pitchFamily="18" charset="0"/>
                <a:cs typeface="Times New Roman" panose="02020603050405020304" pitchFamily="18" charset="0"/>
              </a:rPr>
              <a:t>Complications</a:t>
            </a:r>
            <a:br>
              <a:rPr lang="en-US" sz="2800" b="0" i="0" dirty="0">
                <a:solidFill>
                  <a:srgbClr val="0000FF"/>
                </a:solidFill>
                <a:effectLst/>
                <a:latin typeface="Times New Roman" panose="02020603050405020304" pitchFamily="18" charset="0"/>
                <a:cs typeface="Times New Roman" panose="02020603050405020304" pitchFamily="18" charset="0"/>
              </a:rPr>
            </a:br>
            <a:r>
              <a:rPr lang="en-US" sz="2800" b="0" i="0" dirty="0">
                <a:solidFill>
                  <a:srgbClr val="000000"/>
                </a:solidFill>
                <a:effectLst/>
                <a:latin typeface="Times New Roman" panose="02020603050405020304" pitchFamily="18" charset="0"/>
                <a:cs typeface="Times New Roman" panose="02020603050405020304" pitchFamily="18" charset="0"/>
              </a:rPr>
              <a:t>Intracranial Bleeding (serious)</a:t>
            </a:r>
            <a:r>
              <a:rPr lang="en-US" sz="4000" dirty="0">
                <a:latin typeface="Times New Roman" panose="02020603050405020304" pitchFamily="18" charset="0"/>
                <a:cs typeface="Times New Roman" panose="02020603050405020304" pitchFamily="18" charset="0"/>
              </a:rPr>
              <a:t> </a:t>
            </a:r>
            <a:br>
              <a:rPr lang="en-US" sz="4000" dirty="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xmlns="" id="{A9877BB1-6E63-4FE9-92C3-CF1DF827A3E3}"/>
              </a:ext>
            </a:extLst>
          </p:cNvPr>
          <p:cNvSpPr>
            <a:spLocks noGrp="1"/>
          </p:cNvSpPr>
          <p:nvPr>
            <p:ph type="sldNum" sz="quarter" idx="12"/>
          </p:nvPr>
        </p:nvSpPr>
        <p:spPr/>
        <p:txBody>
          <a:bodyPr/>
          <a:lstStyle/>
          <a:p>
            <a:fld id="{70BDFE1C-33C9-4171-93AE-4B33857102B6}" type="slidenum">
              <a:rPr lang="en-US" smtClean="0"/>
              <a:t>98</a:t>
            </a:fld>
            <a:endParaRPr lang="en-US"/>
          </a:p>
        </p:txBody>
      </p:sp>
    </p:spTree>
    <p:extLst>
      <p:ext uri="{BB962C8B-B14F-4D97-AF65-F5344CB8AC3E}">
        <p14:creationId xmlns:p14="http://schemas.microsoft.com/office/powerpoint/2010/main" val="372669250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A3EB91-8168-4835-A979-E0D5D26810D5}"/>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xmlns="" id="{45142697-FBD9-4B5D-866A-2DEAF8C98AF7}"/>
              </a:ext>
            </a:extLst>
          </p:cNvPr>
          <p:cNvPicPr>
            <a:picLocks noGrp="1" noChangeAspect="1"/>
          </p:cNvPicPr>
          <p:nvPr>
            <p:ph idx="1"/>
          </p:nvPr>
        </p:nvPicPr>
        <p:blipFill>
          <a:blip r:embed="rId2"/>
          <a:stretch>
            <a:fillRect/>
          </a:stretch>
        </p:blipFill>
        <p:spPr>
          <a:xfrm>
            <a:off x="1565863" y="1870364"/>
            <a:ext cx="9060274" cy="4012117"/>
          </a:xfrm>
        </p:spPr>
      </p:pic>
      <p:sp>
        <p:nvSpPr>
          <p:cNvPr id="4" name="Slide Number Placeholder 3">
            <a:extLst>
              <a:ext uri="{FF2B5EF4-FFF2-40B4-BE49-F238E27FC236}">
                <a16:creationId xmlns:a16="http://schemas.microsoft.com/office/drawing/2014/main" xmlns="" id="{3493EB83-719A-4E00-80D5-05341B44C4DB}"/>
              </a:ext>
            </a:extLst>
          </p:cNvPr>
          <p:cNvSpPr>
            <a:spLocks noGrp="1"/>
          </p:cNvSpPr>
          <p:nvPr>
            <p:ph type="sldNum" sz="quarter" idx="12"/>
          </p:nvPr>
        </p:nvSpPr>
        <p:spPr/>
        <p:txBody>
          <a:bodyPr/>
          <a:lstStyle/>
          <a:p>
            <a:fld id="{F010F31A-5B1D-4478-A180-CDC3128319F7}" type="slidenum">
              <a:rPr lang="en-US" smtClean="0"/>
              <a:t>99</a:t>
            </a:fld>
            <a:endParaRPr lang="en-US"/>
          </a:p>
        </p:txBody>
      </p:sp>
    </p:spTree>
    <p:extLst>
      <p:ext uri="{BB962C8B-B14F-4D97-AF65-F5344CB8AC3E}">
        <p14:creationId xmlns:p14="http://schemas.microsoft.com/office/powerpoint/2010/main" val="354472590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Neonatal Seizures</a:t>
            </a:r>
            <a:br>
              <a:rPr lang="en-US" dirty="0"/>
            </a:br>
            <a:endParaRPr lang="en-US" dirty="0"/>
          </a:p>
        </p:txBody>
      </p:sp>
      <p:sp>
        <p:nvSpPr>
          <p:cNvPr id="3" name="Subtitle 2"/>
          <p:cNvSpPr>
            <a:spLocks noGrp="1"/>
          </p:cNvSpPr>
          <p:nvPr>
            <p:ph type="subTitle" idx="1"/>
          </p:nvPr>
        </p:nvSpPr>
        <p:spPr/>
        <p:txBody>
          <a:bodyPr>
            <a:normAutofit/>
          </a:bodyPr>
          <a:lstStyle/>
          <a:p>
            <a:endParaRPr lang="en-US" dirty="0"/>
          </a:p>
        </p:txBody>
      </p:sp>
    </p:spTree>
    <p:extLst>
      <p:ext uri="{BB962C8B-B14F-4D97-AF65-F5344CB8AC3E}">
        <p14:creationId xmlns:p14="http://schemas.microsoft.com/office/powerpoint/2010/main" val="133706059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TYPES OF NEONATAL SEIZURES</a:t>
            </a:r>
            <a:br>
              <a:rPr lang="en-US" dirty="0"/>
            </a:br>
            <a:endParaRPr lang="en-US" dirty="0"/>
          </a:p>
        </p:txBody>
      </p:sp>
      <p:sp>
        <p:nvSpPr>
          <p:cNvPr id="3" name="Content Placeholder 2"/>
          <p:cNvSpPr>
            <a:spLocks noGrp="1"/>
          </p:cNvSpPr>
          <p:nvPr>
            <p:ph sz="half" idx="1"/>
          </p:nvPr>
        </p:nvSpPr>
        <p:spPr/>
        <p:txBody>
          <a:bodyPr>
            <a:normAutofit/>
          </a:bodyPr>
          <a:lstStyle/>
          <a:p>
            <a:pPr>
              <a:buClr>
                <a:srgbClr val="C00000"/>
              </a:buClr>
            </a:pPr>
            <a:r>
              <a:rPr lang="en-US" dirty="0"/>
              <a:t>There are </a:t>
            </a:r>
            <a:r>
              <a:rPr lang="en-US" b="1" dirty="0"/>
              <a:t>5 main neonatal seizure </a:t>
            </a:r>
            <a:r>
              <a:rPr lang="en-US" dirty="0"/>
              <a:t>types:</a:t>
            </a:r>
          </a:p>
          <a:p>
            <a:pPr lvl="1">
              <a:buClr>
                <a:srgbClr val="FF0000"/>
              </a:buClr>
            </a:pPr>
            <a:r>
              <a:rPr lang="en-US" dirty="0"/>
              <a:t> subtle </a:t>
            </a:r>
          </a:p>
          <a:p>
            <a:pPr lvl="1">
              <a:buClr>
                <a:srgbClr val="FF0000"/>
              </a:buClr>
            </a:pPr>
            <a:r>
              <a:rPr lang="en-US" dirty="0" err="1"/>
              <a:t>clonic</a:t>
            </a:r>
            <a:r>
              <a:rPr lang="en-US" dirty="0"/>
              <a:t> </a:t>
            </a:r>
          </a:p>
          <a:p>
            <a:pPr lvl="1">
              <a:buClr>
                <a:srgbClr val="FF0000"/>
              </a:buClr>
            </a:pPr>
            <a:r>
              <a:rPr lang="en-US" dirty="0"/>
              <a:t>tonic </a:t>
            </a:r>
          </a:p>
          <a:p>
            <a:pPr lvl="1">
              <a:buClr>
                <a:srgbClr val="FF0000"/>
              </a:buClr>
            </a:pPr>
            <a:r>
              <a:rPr lang="en-US" dirty="0"/>
              <a:t>spasms</a:t>
            </a:r>
          </a:p>
          <a:p>
            <a:pPr lvl="1">
              <a:buClr>
                <a:srgbClr val="FF0000"/>
              </a:buClr>
            </a:pPr>
            <a:r>
              <a:rPr lang="en-US" dirty="0"/>
              <a:t>myoclonic. </a:t>
            </a:r>
          </a:p>
        </p:txBody>
      </p:sp>
      <p:sp>
        <p:nvSpPr>
          <p:cNvPr id="4" name="Content Placeholder 3">
            <a:extLst>
              <a:ext uri="{FF2B5EF4-FFF2-40B4-BE49-F238E27FC236}">
                <a16:creationId xmlns:a16="http://schemas.microsoft.com/office/drawing/2014/main" xmlns="" id="{0806956E-C4E4-435D-840F-DDB1245F2EC2}"/>
              </a:ext>
            </a:extLst>
          </p:cNvPr>
          <p:cNvSpPr>
            <a:spLocks noGrp="1"/>
          </p:cNvSpPr>
          <p:nvPr>
            <p:ph sz="half" idx="2"/>
          </p:nvPr>
        </p:nvSpPr>
        <p:spPr/>
        <p:txBody>
          <a:bodyPr>
            <a:normAutofit/>
          </a:bodyPr>
          <a:lstStyle/>
          <a:p>
            <a:r>
              <a:rPr lang="en-US" dirty="0"/>
              <a:t>As a rule seizures, associated with electrographic discharges (epileptic seizures) are, </a:t>
            </a:r>
          </a:p>
          <a:p>
            <a:pPr lvl="1">
              <a:buClr>
                <a:srgbClr val="C00000"/>
              </a:buClr>
            </a:pPr>
            <a:r>
              <a:rPr lang="en-US" sz="3558" b="1" dirty="0"/>
              <a:t>Spasms </a:t>
            </a:r>
          </a:p>
          <a:p>
            <a:pPr lvl="1">
              <a:buClr>
                <a:srgbClr val="C00000"/>
              </a:buClr>
            </a:pPr>
            <a:r>
              <a:rPr lang="en-US" sz="3558" b="1" dirty="0"/>
              <a:t>focal </a:t>
            </a:r>
            <a:r>
              <a:rPr lang="en-US" sz="3558" b="1" dirty="0" err="1"/>
              <a:t>clonic</a:t>
            </a:r>
            <a:r>
              <a:rPr lang="en-US" sz="3558" b="1" dirty="0"/>
              <a:t> </a:t>
            </a:r>
          </a:p>
          <a:p>
            <a:pPr lvl="1">
              <a:buClr>
                <a:srgbClr val="C00000"/>
              </a:buClr>
            </a:pPr>
            <a:r>
              <a:rPr lang="en-US" sz="3558" b="1" dirty="0"/>
              <a:t>focal tonic </a:t>
            </a:r>
          </a:p>
          <a:p>
            <a:pPr lvl="1">
              <a:buClr>
                <a:srgbClr val="C00000"/>
              </a:buClr>
            </a:pPr>
            <a:r>
              <a:rPr lang="en-US" sz="3558" b="1" dirty="0"/>
              <a:t>generalized myoclonic </a:t>
            </a:r>
          </a:p>
          <a:p>
            <a:endParaRPr lang="en-US" dirty="0"/>
          </a:p>
        </p:txBody>
      </p:sp>
    </p:spTree>
    <p:extLst>
      <p:ext uri="{BB962C8B-B14F-4D97-AF65-F5344CB8AC3E}">
        <p14:creationId xmlns:p14="http://schemas.microsoft.com/office/powerpoint/2010/main" val="397910118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42DD513F-8EBB-4C74-95C3-D1AA8586EE56}"/>
              </a:ext>
            </a:extLst>
          </p:cNvPr>
          <p:cNvSpPr>
            <a:spLocks noGrp="1"/>
          </p:cNvSpPr>
          <p:nvPr>
            <p:ph type="title"/>
          </p:nvPr>
        </p:nvSpPr>
        <p:spPr/>
        <p:txBody>
          <a:bodyPr/>
          <a:lstStyle/>
          <a:p>
            <a:endParaRPr lang="en-US"/>
          </a:p>
        </p:txBody>
      </p:sp>
      <p:sp>
        <p:nvSpPr>
          <p:cNvPr id="3" name="Content Placeholder 2"/>
          <p:cNvSpPr>
            <a:spLocks noGrp="1"/>
          </p:cNvSpPr>
          <p:nvPr>
            <p:ph sz="half" idx="1"/>
          </p:nvPr>
        </p:nvSpPr>
        <p:spPr/>
        <p:txBody>
          <a:bodyPr>
            <a:normAutofit fontScale="85000" lnSpcReduction="20000"/>
          </a:bodyPr>
          <a:lstStyle/>
          <a:p>
            <a:pPr algn="ctr">
              <a:buNone/>
            </a:pPr>
            <a:r>
              <a:rPr lang="en-US" b="1" u="sng" dirty="0">
                <a:solidFill>
                  <a:srgbClr val="7030A0"/>
                </a:solidFill>
              </a:rPr>
              <a:t>Subtle Seizures</a:t>
            </a:r>
          </a:p>
          <a:p>
            <a:r>
              <a:rPr lang="en-US" dirty="0"/>
              <a:t>Subtle seizures include </a:t>
            </a:r>
          </a:p>
          <a:p>
            <a:pPr lvl="1">
              <a:buFont typeface="Wingdings" pitchFamily="2" charset="2"/>
              <a:buChar char="v"/>
            </a:pPr>
            <a:r>
              <a:rPr lang="en-US" dirty="0"/>
              <a:t>transient eye deviations, </a:t>
            </a:r>
          </a:p>
          <a:p>
            <a:pPr lvl="1">
              <a:buFont typeface="Wingdings" pitchFamily="2" charset="2"/>
              <a:buChar char="v"/>
            </a:pPr>
            <a:r>
              <a:rPr lang="en-US" dirty="0" err="1"/>
              <a:t>nystagmus</a:t>
            </a:r>
            <a:r>
              <a:rPr lang="en-US" dirty="0"/>
              <a:t> </a:t>
            </a:r>
          </a:p>
          <a:p>
            <a:pPr lvl="1">
              <a:buFont typeface="Wingdings" pitchFamily="2" charset="2"/>
              <a:buChar char="v"/>
            </a:pPr>
            <a:r>
              <a:rPr lang="en-US" dirty="0"/>
              <a:t>blinking</a:t>
            </a:r>
          </a:p>
          <a:p>
            <a:pPr lvl="1">
              <a:buFont typeface="Wingdings" pitchFamily="2" charset="2"/>
              <a:buChar char="v"/>
            </a:pPr>
            <a:r>
              <a:rPr lang="en-US" dirty="0"/>
              <a:t>mouthing, </a:t>
            </a:r>
          </a:p>
          <a:p>
            <a:pPr lvl="1">
              <a:buFont typeface="Wingdings" pitchFamily="2" charset="2"/>
              <a:buChar char="v"/>
            </a:pPr>
            <a:r>
              <a:rPr lang="en-US" dirty="0"/>
              <a:t>abnormal extremity movements (rowing, swimming, bicycling, pedaling, and stepping), </a:t>
            </a:r>
          </a:p>
          <a:p>
            <a:pPr lvl="1">
              <a:buFont typeface="Wingdings" pitchFamily="2" charset="2"/>
              <a:buChar char="v"/>
            </a:pPr>
            <a:r>
              <a:rPr lang="en-US" dirty="0"/>
              <a:t>fluctuations in heart rate,</a:t>
            </a:r>
          </a:p>
          <a:p>
            <a:pPr lvl="1">
              <a:buFont typeface="Wingdings" pitchFamily="2" charset="2"/>
              <a:buChar char="v"/>
            </a:pPr>
            <a:r>
              <a:rPr lang="en-US" dirty="0"/>
              <a:t> hypertension episodes, and </a:t>
            </a:r>
          </a:p>
          <a:p>
            <a:pPr lvl="1">
              <a:buFont typeface="Wingdings" pitchFamily="2" charset="2"/>
              <a:buChar char="v"/>
            </a:pPr>
            <a:r>
              <a:rPr lang="en-US" dirty="0"/>
              <a:t>apnea. </a:t>
            </a:r>
          </a:p>
          <a:p>
            <a:r>
              <a:rPr lang="en-US" dirty="0"/>
              <a:t>Subtle seizures occur more commonly in </a:t>
            </a:r>
            <a:r>
              <a:rPr lang="en-US" b="1" u="sng" dirty="0">
                <a:solidFill>
                  <a:srgbClr val="7030A0"/>
                </a:solidFill>
              </a:rPr>
              <a:t>premature than in full-term infants.</a:t>
            </a:r>
          </a:p>
        </p:txBody>
      </p:sp>
      <p:sp>
        <p:nvSpPr>
          <p:cNvPr id="5" name="Content Placeholder 4">
            <a:extLst>
              <a:ext uri="{FF2B5EF4-FFF2-40B4-BE49-F238E27FC236}">
                <a16:creationId xmlns:a16="http://schemas.microsoft.com/office/drawing/2014/main" xmlns="" id="{C72EDE20-53DF-4896-BC1A-B312A87B281F}"/>
              </a:ext>
            </a:extLst>
          </p:cNvPr>
          <p:cNvSpPr>
            <a:spLocks noGrp="1"/>
          </p:cNvSpPr>
          <p:nvPr>
            <p:ph sz="half" idx="2"/>
          </p:nvPr>
        </p:nvSpPr>
        <p:spPr/>
        <p:txBody>
          <a:bodyPr>
            <a:normAutofit fontScale="85000" lnSpcReduction="20000"/>
          </a:bodyPr>
          <a:lstStyle/>
          <a:p>
            <a:endParaRPr lang="en-US"/>
          </a:p>
        </p:txBody>
      </p:sp>
    </p:spTree>
    <p:extLst>
      <p:ext uri="{BB962C8B-B14F-4D97-AF65-F5344CB8AC3E}">
        <p14:creationId xmlns:p14="http://schemas.microsoft.com/office/powerpoint/2010/main" val="115662064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6043B212-0C12-4DFA-9FB9-7D6C2F5380FF}"/>
              </a:ext>
            </a:extLst>
          </p:cNvPr>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b="1" u="sng" dirty="0">
                <a:solidFill>
                  <a:srgbClr val="C00000"/>
                </a:solidFill>
              </a:rPr>
              <a:t>Seizures </a:t>
            </a:r>
            <a:r>
              <a:rPr lang="en-US" b="1" u="sng" dirty="0" err="1">
                <a:solidFill>
                  <a:srgbClr val="C00000"/>
                </a:solidFill>
              </a:rPr>
              <a:t>vs</a:t>
            </a:r>
            <a:r>
              <a:rPr lang="en-US" b="1" u="sng" dirty="0">
                <a:solidFill>
                  <a:srgbClr val="C00000"/>
                </a:solidFill>
              </a:rPr>
              <a:t> Jitteriness</a:t>
            </a:r>
          </a:p>
          <a:p>
            <a:r>
              <a:rPr lang="en-US" dirty="0"/>
              <a:t>Jitteriness can be defined as rapid motor activities, such as a tremor or shake</a:t>
            </a:r>
          </a:p>
          <a:p>
            <a:r>
              <a:rPr lang="en-US" dirty="0"/>
              <a:t> can be ended by flexion or holding the limb. </a:t>
            </a:r>
          </a:p>
          <a:p>
            <a:r>
              <a:rPr lang="en-US" dirty="0"/>
              <a:t>Seizures, on the other hand, generally </a:t>
            </a:r>
            <a:r>
              <a:rPr lang="en-US" b="1" u="sng" dirty="0">
                <a:solidFill>
                  <a:srgbClr val="C00000"/>
                </a:solidFill>
                <a:effectLst>
                  <a:outerShdw blurRad="38100" dist="38100" dir="2700000" algn="tl">
                    <a:srgbClr val="000000">
                      <a:alpha val="43137"/>
                    </a:srgbClr>
                  </a:outerShdw>
                </a:effectLst>
              </a:rPr>
              <a:t>do not </a:t>
            </a:r>
            <a:r>
              <a:rPr lang="en-US" dirty="0"/>
              <a:t>end with </a:t>
            </a:r>
            <a:r>
              <a:rPr lang="en-US" b="1" dirty="0">
                <a:solidFill>
                  <a:srgbClr val="C00000"/>
                </a:solidFill>
              </a:rPr>
              <a:t>tactile or motor </a:t>
            </a:r>
            <a:r>
              <a:rPr lang="en-US" dirty="0"/>
              <a:t>suppression.</a:t>
            </a:r>
          </a:p>
          <a:p>
            <a:r>
              <a:rPr lang="en-US" dirty="0"/>
              <a:t>Jitteriness, unlike most seizures, is usually </a:t>
            </a:r>
            <a:r>
              <a:rPr lang="en-US" b="1" dirty="0">
                <a:solidFill>
                  <a:srgbClr val="C00000"/>
                </a:solidFill>
              </a:rPr>
              <a:t>induced by a stimulus</a:t>
            </a:r>
            <a:r>
              <a:rPr lang="en-US" dirty="0"/>
              <a:t>. </a:t>
            </a:r>
          </a:p>
          <a:p>
            <a:r>
              <a:rPr lang="en-US" dirty="0"/>
              <a:t>Also unlike jitteriness, seizures often </a:t>
            </a:r>
            <a:r>
              <a:rPr lang="en-US" b="1" dirty="0">
                <a:solidFill>
                  <a:srgbClr val="00B050"/>
                </a:solidFill>
              </a:rPr>
              <a:t>involve eye deviation and autonomic changes</a:t>
            </a:r>
          </a:p>
        </p:txBody>
      </p:sp>
    </p:spTree>
    <p:extLst>
      <p:ext uri="{BB962C8B-B14F-4D97-AF65-F5344CB8AC3E}">
        <p14:creationId xmlns:p14="http://schemas.microsoft.com/office/powerpoint/2010/main" val="46999770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b="1" u="sng" dirty="0"/>
              <a:t/>
            </a:r>
            <a:br>
              <a:rPr lang="en-US" sz="4400" b="1" u="sng" dirty="0"/>
            </a:br>
            <a:r>
              <a:rPr lang="en-US" sz="4400" b="1" u="sng" dirty="0"/>
              <a:t/>
            </a:r>
            <a:br>
              <a:rPr lang="en-US" sz="4400" b="1" u="sng" dirty="0"/>
            </a:br>
            <a:r>
              <a:rPr lang="en-US" sz="4400" b="1" dirty="0"/>
              <a:t>Treatment</a:t>
            </a:r>
            <a:r>
              <a:rPr lang="en-US" b="1" u="sng" dirty="0"/>
              <a:t/>
            </a:r>
            <a:br>
              <a:rPr lang="en-US" b="1" u="sng" dirty="0"/>
            </a:br>
            <a:r>
              <a:rPr lang="en-US" dirty="0"/>
              <a:t/>
            </a:r>
            <a:br>
              <a:rPr lang="en-US" dirty="0"/>
            </a:br>
            <a:endParaRPr lang="en-US" dirty="0"/>
          </a:p>
        </p:txBody>
      </p:sp>
      <p:sp>
        <p:nvSpPr>
          <p:cNvPr id="3" name="Content Placeholder 2"/>
          <p:cNvSpPr>
            <a:spLocks noGrp="1"/>
          </p:cNvSpPr>
          <p:nvPr>
            <p:ph sz="half" idx="1"/>
          </p:nvPr>
        </p:nvSpPr>
        <p:spPr/>
        <p:txBody>
          <a:bodyPr>
            <a:normAutofit fontScale="92500" lnSpcReduction="10000"/>
          </a:bodyPr>
          <a:lstStyle/>
          <a:p>
            <a:r>
              <a:rPr lang="en-US" dirty="0"/>
              <a:t>A mainstay in the therapy of neonatal seizures is </a:t>
            </a:r>
          </a:p>
          <a:p>
            <a:pPr lvl="1">
              <a:buClr>
                <a:schemeClr val="accent1">
                  <a:lumMod val="75000"/>
                </a:schemeClr>
              </a:buClr>
              <a:buFont typeface="Wingdings" pitchFamily="2" charset="2"/>
              <a:buChar char="F"/>
            </a:pPr>
            <a:r>
              <a:rPr lang="en-US" dirty="0"/>
              <a:t>the diagnosis </a:t>
            </a:r>
          </a:p>
          <a:p>
            <a:pPr lvl="1">
              <a:buClr>
                <a:schemeClr val="accent1">
                  <a:lumMod val="75000"/>
                </a:schemeClr>
              </a:buClr>
              <a:buFont typeface="Wingdings" pitchFamily="2" charset="2"/>
              <a:buChar char="F"/>
            </a:pPr>
            <a:r>
              <a:rPr lang="en-US" dirty="0"/>
              <a:t>treatment of the underlying etiology (e.g., hypoglycemia, hypocalcemia, meningitis, drug withdrawal, trauma), whenever one can be identified</a:t>
            </a:r>
          </a:p>
          <a:p>
            <a:endParaRPr lang="en-US" dirty="0"/>
          </a:p>
        </p:txBody>
      </p:sp>
      <p:sp>
        <p:nvSpPr>
          <p:cNvPr id="4" name="Content Placeholder 3">
            <a:extLst>
              <a:ext uri="{FF2B5EF4-FFF2-40B4-BE49-F238E27FC236}">
                <a16:creationId xmlns:a16="http://schemas.microsoft.com/office/drawing/2014/main" xmlns="" id="{37062708-2E9D-4075-AC65-BC6EE667AABC}"/>
              </a:ext>
            </a:extLst>
          </p:cNvPr>
          <p:cNvSpPr>
            <a:spLocks noGrp="1"/>
          </p:cNvSpPr>
          <p:nvPr>
            <p:ph sz="half" idx="2"/>
          </p:nvPr>
        </p:nvSpPr>
        <p:spPr/>
        <p:txBody>
          <a:bodyPr>
            <a:normAutofit fontScale="92500" lnSpcReduction="10000"/>
          </a:bodyPr>
          <a:lstStyle/>
          <a:p>
            <a:r>
              <a:rPr lang="en-US" dirty="0"/>
              <a:t>Phenobarbital is considered by many as the </a:t>
            </a:r>
            <a:r>
              <a:rPr lang="en-US" b="1" u="sng" dirty="0">
                <a:solidFill>
                  <a:srgbClr val="C00000"/>
                </a:solidFill>
              </a:rPr>
              <a:t>first choice long-acting </a:t>
            </a:r>
            <a:r>
              <a:rPr lang="en-US" dirty="0"/>
              <a:t>drug in neonatal seizures. </a:t>
            </a:r>
          </a:p>
          <a:p>
            <a:r>
              <a:rPr lang="en-US" dirty="0"/>
              <a:t>The usual loading dose is 20 mg/kg.</a:t>
            </a:r>
          </a:p>
          <a:p>
            <a:r>
              <a:rPr lang="en-US" dirty="0"/>
              <a:t>For ongoing seizures, if a total loading dose of </a:t>
            </a:r>
            <a:r>
              <a:rPr lang="en-US" b="1" u="sng" dirty="0">
                <a:solidFill>
                  <a:srgbClr val="C00000"/>
                </a:solidFill>
              </a:rPr>
              <a:t>40 mg/kg </a:t>
            </a:r>
            <a:r>
              <a:rPr lang="en-US" dirty="0"/>
              <a:t>of phenobarbital was not effective, </a:t>
            </a:r>
          </a:p>
          <a:p>
            <a:endParaRPr lang="en-US" dirty="0"/>
          </a:p>
          <a:p>
            <a:r>
              <a:rPr lang="en-US" dirty="0"/>
              <a:t>then a loading dose of 15-20 mg/kg of phenytoin can be administered intravenously. </a:t>
            </a:r>
          </a:p>
          <a:p>
            <a:endParaRPr lang="en-US" dirty="0"/>
          </a:p>
        </p:txBody>
      </p:sp>
    </p:spTree>
    <p:extLst>
      <p:ext uri="{BB962C8B-B14F-4D97-AF65-F5344CB8AC3E}">
        <p14:creationId xmlns:p14="http://schemas.microsoft.com/office/powerpoint/2010/main" val="413368303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Duration of Therapy</a:t>
            </a:r>
          </a:p>
        </p:txBody>
      </p:sp>
      <p:pic>
        <p:nvPicPr>
          <p:cNvPr id="4" name="Picture 2"/>
          <p:cNvPicPr>
            <a:picLocks noGrp="1" noChangeAspect="1" noChangeArrowheads="1"/>
          </p:cNvPicPr>
          <p:nvPr>
            <p:ph idx="1"/>
          </p:nvPr>
        </p:nvPicPr>
        <p:blipFill>
          <a:blip r:embed="rId2"/>
          <a:srcRect/>
          <a:stretch>
            <a:fillRect/>
          </a:stretch>
        </p:blipFill>
        <p:spPr bwMode="auto">
          <a:xfrm>
            <a:off x="1260446" y="1599640"/>
            <a:ext cx="9011714" cy="4983722"/>
          </a:xfrm>
          <a:prstGeom prst="rect">
            <a:avLst/>
          </a:prstGeom>
          <a:noFill/>
          <a:ln w="9525">
            <a:noFill/>
            <a:miter lim="800000"/>
            <a:headEnd/>
            <a:tailEnd/>
          </a:ln>
          <a:effectLst/>
        </p:spPr>
      </p:pic>
    </p:spTree>
    <p:extLst>
      <p:ext uri="{BB962C8B-B14F-4D97-AF65-F5344CB8AC3E}">
        <p14:creationId xmlns:p14="http://schemas.microsoft.com/office/powerpoint/2010/main" val="290693570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Management </a:t>
            </a:r>
          </a:p>
        </p:txBody>
      </p:sp>
      <p:sp>
        <p:nvSpPr>
          <p:cNvPr id="3" name="Content Placeholder 2"/>
          <p:cNvSpPr>
            <a:spLocks noGrp="1"/>
          </p:cNvSpPr>
          <p:nvPr>
            <p:ph idx="1"/>
          </p:nvPr>
        </p:nvSpPr>
        <p:spPr/>
        <p:txBody>
          <a:bodyPr/>
          <a:lstStyle/>
          <a:p>
            <a:r>
              <a:rPr lang="en-US" sz="2692" dirty="0"/>
              <a:t>The goal is </a:t>
            </a:r>
            <a:r>
              <a:rPr lang="en-US" sz="2692" b="1" dirty="0">
                <a:effectLst>
                  <a:outerShdw blurRad="38100" dist="38100" dir="2700000" algn="tl">
                    <a:srgbClr val="000000">
                      <a:alpha val="43137"/>
                    </a:srgbClr>
                  </a:outerShdw>
                </a:effectLst>
              </a:rPr>
              <a:t>to stop electrographic seizure </a:t>
            </a:r>
            <a:r>
              <a:rPr lang="en-US" sz="2692" dirty="0"/>
              <a:t>activity before reducing the therapy</a:t>
            </a:r>
          </a:p>
          <a:p>
            <a:r>
              <a:rPr lang="en-US" sz="2692" dirty="0"/>
              <a:t>Principles of management</a:t>
            </a:r>
          </a:p>
          <a:p>
            <a:pPr marL="1004481" lvl="1" indent="-494548">
              <a:buFont typeface="+mj-lt"/>
              <a:buAutoNum type="arabicPeriod"/>
            </a:pPr>
            <a:r>
              <a:rPr lang="en-US" sz="2692" dirty="0"/>
              <a:t>Treat life threatening conditions</a:t>
            </a:r>
          </a:p>
          <a:p>
            <a:pPr marL="1004481" lvl="1" indent="-494548">
              <a:buFont typeface="+mj-lt"/>
              <a:buAutoNum type="arabicPeriod"/>
            </a:pPr>
            <a:r>
              <a:rPr lang="en-US" sz="2692" dirty="0"/>
              <a:t>Treat the acute seizure</a:t>
            </a:r>
          </a:p>
          <a:p>
            <a:pPr marL="1004481" lvl="1" indent="-494548">
              <a:buFont typeface="+mj-lt"/>
              <a:buAutoNum type="arabicPeriod"/>
            </a:pPr>
            <a:r>
              <a:rPr lang="en-US" sz="2692" dirty="0"/>
              <a:t>Treat the underlying cause</a:t>
            </a:r>
          </a:p>
          <a:p>
            <a:pPr marL="1004481" lvl="1" indent="-494548">
              <a:buFont typeface="+mj-lt"/>
              <a:buAutoNum type="arabicPeriod"/>
            </a:pPr>
            <a:r>
              <a:rPr lang="en-US" sz="2692" dirty="0"/>
              <a:t>Prevent recurrence</a:t>
            </a:r>
          </a:p>
          <a:p>
            <a:pPr marL="1004481" lvl="1" indent="-494548">
              <a:buFont typeface="+mj-lt"/>
              <a:buAutoNum type="arabicPeriod"/>
            </a:pPr>
            <a:r>
              <a:rPr lang="en-US" sz="2692" dirty="0"/>
              <a:t>Prevent and treat systemic complications</a:t>
            </a:r>
          </a:p>
          <a:p>
            <a:endParaRPr lang="en-US" sz="2692" dirty="0"/>
          </a:p>
        </p:txBody>
      </p:sp>
    </p:spTree>
    <p:extLst>
      <p:ext uri="{BB962C8B-B14F-4D97-AF65-F5344CB8AC3E}">
        <p14:creationId xmlns:p14="http://schemas.microsoft.com/office/powerpoint/2010/main" val="354180392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A66CD1-284A-4AE3-9610-09507059972E}"/>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xmlns="" id="{F3C644B6-CB28-4943-8D7D-1430E60C61AC}"/>
              </a:ext>
            </a:extLst>
          </p:cNvPr>
          <p:cNvPicPr>
            <a:picLocks noGrp="1" noChangeAspect="1"/>
          </p:cNvPicPr>
          <p:nvPr>
            <p:ph idx="1"/>
          </p:nvPr>
        </p:nvPicPr>
        <p:blipFill>
          <a:blip r:embed="rId2"/>
          <a:stretch>
            <a:fillRect/>
          </a:stretch>
        </p:blipFill>
        <p:spPr>
          <a:xfrm>
            <a:off x="3297382" y="631332"/>
            <a:ext cx="5555673" cy="5545631"/>
          </a:xfrm>
        </p:spPr>
      </p:pic>
      <p:sp>
        <p:nvSpPr>
          <p:cNvPr id="4" name="Slide Number Placeholder 3">
            <a:extLst>
              <a:ext uri="{FF2B5EF4-FFF2-40B4-BE49-F238E27FC236}">
                <a16:creationId xmlns:a16="http://schemas.microsoft.com/office/drawing/2014/main" xmlns="" id="{E7E3D53D-84CA-4496-AAF2-76D6FE127E75}"/>
              </a:ext>
            </a:extLst>
          </p:cNvPr>
          <p:cNvSpPr>
            <a:spLocks noGrp="1"/>
          </p:cNvSpPr>
          <p:nvPr>
            <p:ph type="sldNum" sz="quarter" idx="12"/>
          </p:nvPr>
        </p:nvSpPr>
        <p:spPr/>
        <p:txBody>
          <a:bodyPr/>
          <a:lstStyle/>
          <a:p>
            <a:fld id="{F010F31A-5B1D-4478-A180-CDC3128319F7}" type="slidenum">
              <a:rPr lang="en-US" smtClean="0"/>
              <a:t>107</a:t>
            </a:fld>
            <a:endParaRPr lang="en-US"/>
          </a:p>
        </p:txBody>
      </p:sp>
    </p:spTree>
    <p:extLst>
      <p:ext uri="{BB962C8B-B14F-4D97-AF65-F5344CB8AC3E}">
        <p14:creationId xmlns:p14="http://schemas.microsoft.com/office/powerpoint/2010/main" val="171549891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72FAE1-B853-4D21-A15F-FCD9EA97AA5F}"/>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xmlns="" id="{4656C2CB-9026-480F-A321-8B9504FEBE39}"/>
              </a:ext>
            </a:extLst>
          </p:cNvPr>
          <p:cNvPicPr>
            <a:picLocks noGrp="1" noChangeAspect="1"/>
          </p:cNvPicPr>
          <p:nvPr>
            <p:ph idx="1"/>
          </p:nvPr>
        </p:nvPicPr>
        <p:blipFill>
          <a:blip r:embed="rId2"/>
          <a:stretch>
            <a:fillRect/>
          </a:stretch>
        </p:blipFill>
        <p:spPr>
          <a:xfrm>
            <a:off x="3190951" y="1027906"/>
            <a:ext cx="5810097" cy="5068599"/>
          </a:xfrm>
        </p:spPr>
      </p:pic>
      <p:sp>
        <p:nvSpPr>
          <p:cNvPr id="4" name="Slide Number Placeholder 3">
            <a:extLst>
              <a:ext uri="{FF2B5EF4-FFF2-40B4-BE49-F238E27FC236}">
                <a16:creationId xmlns:a16="http://schemas.microsoft.com/office/drawing/2014/main" xmlns="" id="{D27367F0-BC8C-4DE2-8771-378C5E2DA31A}"/>
              </a:ext>
            </a:extLst>
          </p:cNvPr>
          <p:cNvSpPr>
            <a:spLocks noGrp="1"/>
          </p:cNvSpPr>
          <p:nvPr>
            <p:ph type="sldNum" sz="quarter" idx="12"/>
          </p:nvPr>
        </p:nvSpPr>
        <p:spPr/>
        <p:txBody>
          <a:bodyPr/>
          <a:lstStyle/>
          <a:p>
            <a:fld id="{F010F31A-5B1D-4478-A180-CDC3128319F7}" type="slidenum">
              <a:rPr lang="en-US" smtClean="0"/>
              <a:t>108</a:t>
            </a:fld>
            <a:endParaRPr lang="en-US"/>
          </a:p>
        </p:txBody>
      </p:sp>
    </p:spTree>
    <p:extLst>
      <p:ext uri="{BB962C8B-B14F-4D97-AF65-F5344CB8AC3E}">
        <p14:creationId xmlns:p14="http://schemas.microsoft.com/office/powerpoint/2010/main" val="140561092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AC08B6-E611-4D72-9F6F-3DAB1C98A6DB}"/>
              </a:ext>
            </a:extLst>
          </p:cNvPr>
          <p:cNvSpPr>
            <a:spLocks noGrp="1"/>
          </p:cNvSpPr>
          <p:nvPr>
            <p:ph type="title"/>
          </p:nvPr>
        </p:nvSpPr>
        <p:spPr/>
        <p:txBody>
          <a:bodyPr/>
          <a:lstStyle/>
          <a:p>
            <a:r>
              <a:rPr lang="en-US" dirty="0"/>
              <a:t>Cleft lip and palate</a:t>
            </a:r>
          </a:p>
        </p:txBody>
      </p:sp>
      <p:sp>
        <p:nvSpPr>
          <p:cNvPr id="3" name="Content Placeholder 2">
            <a:extLst>
              <a:ext uri="{FF2B5EF4-FFF2-40B4-BE49-F238E27FC236}">
                <a16:creationId xmlns:a16="http://schemas.microsoft.com/office/drawing/2014/main" xmlns="" id="{D192E4DD-57AB-4267-9299-9FDA11A31307}"/>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xmlns="" id="{59793525-3A49-4C38-AF1C-DF9F6AF62E9D}"/>
              </a:ext>
            </a:extLst>
          </p:cNvPr>
          <p:cNvSpPr>
            <a:spLocks noGrp="1"/>
          </p:cNvSpPr>
          <p:nvPr>
            <p:ph type="sldNum" sz="quarter" idx="12"/>
          </p:nvPr>
        </p:nvSpPr>
        <p:spPr/>
        <p:txBody>
          <a:bodyPr/>
          <a:lstStyle/>
          <a:p>
            <a:fld id="{F010F31A-5B1D-4478-A180-CDC3128319F7}" type="slidenum">
              <a:rPr lang="en-US" smtClean="0"/>
              <a:t>109</a:t>
            </a:fld>
            <a:endParaRPr lang="en-US"/>
          </a:p>
        </p:txBody>
      </p:sp>
    </p:spTree>
    <p:extLst>
      <p:ext uri="{BB962C8B-B14F-4D97-AF65-F5344CB8AC3E}">
        <p14:creationId xmlns:p14="http://schemas.microsoft.com/office/powerpoint/2010/main" val="120925507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xmlns="" id="{22A1E548-7E20-4B01-8A07-FA5AA549FE5E}"/>
              </a:ext>
            </a:extLst>
          </p:cNvPr>
          <p:cNvSpPr>
            <a:spLocks noGrp="1"/>
          </p:cNvSpPr>
          <p:nvPr>
            <p:ph type="title"/>
          </p:nvPr>
        </p:nvSpPr>
        <p:spPr/>
        <p:txBody>
          <a:bodyPr/>
          <a:lstStyle/>
          <a:p>
            <a:pPr eaLnBrk="1" hangingPunct="1"/>
            <a:r>
              <a:rPr lang="en-US" altLang="en-US" sz="4000" b="1"/>
              <a:t>Cleft Lip and Palate</a:t>
            </a:r>
          </a:p>
        </p:txBody>
      </p:sp>
      <p:sp>
        <p:nvSpPr>
          <p:cNvPr id="11267" name="Content Placeholder 2">
            <a:extLst>
              <a:ext uri="{FF2B5EF4-FFF2-40B4-BE49-F238E27FC236}">
                <a16:creationId xmlns:a16="http://schemas.microsoft.com/office/drawing/2014/main" xmlns="" id="{BAC026D4-004B-43FE-B83F-DDBA11CEA57C}"/>
              </a:ext>
            </a:extLst>
          </p:cNvPr>
          <p:cNvSpPr>
            <a:spLocks noGrp="1"/>
          </p:cNvSpPr>
          <p:nvPr>
            <p:ph sz="half" idx="2"/>
          </p:nvPr>
        </p:nvSpPr>
        <p:spPr>
          <a:xfrm>
            <a:off x="836612" y="1701945"/>
            <a:ext cx="5157787" cy="3684588"/>
          </a:xfrm>
        </p:spPr>
        <p:txBody>
          <a:bodyPr>
            <a:normAutofit fontScale="77500" lnSpcReduction="20000"/>
          </a:bodyPr>
          <a:lstStyle/>
          <a:p>
            <a:pPr eaLnBrk="1" hangingPunct="1">
              <a:buFont typeface="Wingdings" panose="05000000000000000000" pitchFamily="2" charset="2"/>
              <a:buChar char="n"/>
            </a:pPr>
            <a:r>
              <a:rPr lang="en-US" altLang="en-US" b="1" dirty="0"/>
              <a:t>Clefts of the lip and palate are distinct entities closely related embryologically, functionally, and genetically. </a:t>
            </a:r>
          </a:p>
          <a:p>
            <a:pPr eaLnBrk="1" hangingPunct="1">
              <a:buFont typeface="Wingdings" panose="05000000000000000000" pitchFamily="2" charset="2"/>
              <a:buChar char="n"/>
            </a:pPr>
            <a:r>
              <a:rPr lang="en-US" altLang="en-US" b="1" dirty="0"/>
              <a:t>A cleft lip or palate is an abnormal separation in the oral-facial region that happens because tissue of the mouth or lip does not form correctly in fetal development</a:t>
            </a:r>
            <a:r>
              <a:rPr lang="en-US" altLang="en-US" dirty="0"/>
              <a:t>.</a:t>
            </a:r>
          </a:p>
          <a:p>
            <a:pPr eaLnBrk="1" hangingPunct="1">
              <a:buFont typeface="Wingdings" panose="05000000000000000000" pitchFamily="2" charset="2"/>
              <a:buChar char="n"/>
            </a:pPr>
            <a:r>
              <a:rPr lang="en-US" altLang="en-US" b="1" dirty="0"/>
              <a:t>resulting in a failure of the medial nasal and maxillary processes to join.</a:t>
            </a:r>
          </a:p>
          <a:p>
            <a:pPr eaLnBrk="1" hangingPunct="1">
              <a:buFont typeface="Wingdings" panose="05000000000000000000" pitchFamily="2" charset="2"/>
              <a:buChar char="n"/>
            </a:pPr>
            <a:r>
              <a:rPr lang="en-US" altLang="en-US" b="1" dirty="0"/>
              <a:t>Cleft of the palate appears to represent failure of the palatal shelves to approximate or fuse</a:t>
            </a:r>
          </a:p>
        </p:txBody>
      </p:sp>
      <p:sp>
        <p:nvSpPr>
          <p:cNvPr id="4" name="Content Placeholder 3">
            <a:extLst>
              <a:ext uri="{FF2B5EF4-FFF2-40B4-BE49-F238E27FC236}">
                <a16:creationId xmlns:a16="http://schemas.microsoft.com/office/drawing/2014/main" xmlns="" id="{890CEDFD-A0D8-4055-A84F-F8816A406332}"/>
              </a:ext>
            </a:extLst>
          </p:cNvPr>
          <p:cNvSpPr>
            <a:spLocks noGrp="1"/>
          </p:cNvSpPr>
          <p:nvPr>
            <p:ph sz="quarter" idx="4"/>
          </p:nvPr>
        </p:nvSpPr>
        <p:spPr>
          <a:xfrm>
            <a:off x="6096000" y="1690688"/>
            <a:ext cx="5183188" cy="3684588"/>
          </a:xfrm>
        </p:spPr>
        <p:txBody>
          <a:bodyPr>
            <a:normAutofit fontScale="77500" lnSpcReduction="20000"/>
          </a:bodyPr>
          <a:lstStyle/>
          <a:p>
            <a:pPr marL="320040" indent="-320040">
              <a:buFont typeface="Wingdings" pitchFamily="124" charset="2"/>
              <a:buChar char="n"/>
              <a:defRPr/>
            </a:pPr>
            <a:r>
              <a:rPr lang="en-US" b="1" dirty="0"/>
              <a:t> </a:t>
            </a:r>
            <a:r>
              <a:rPr lang="en-US" sz="2400" b="1" dirty="0"/>
              <a:t>The incidence of cleft lip with or without cleft palate is ≈1/750 white births; </a:t>
            </a:r>
          </a:p>
          <a:p>
            <a:pPr marL="320040" indent="-320040">
              <a:buFont typeface="Wingdings" pitchFamily="124" charset="2"/>
              <a:buChar char="n"/>
              <a:defRPr/>
            </a:pPr>
            <a:r>
              <a:rPr lang="en-US" sz="2400" b="1" dirty="0"/>
              <a:t>the incidence of cleft palate alone is ≈1/2,500 white births. </a:t>
            </a:r>
          </a:p>
          <a:p>
            <a:pPr marL="320040" indent="-320040">
              <a:buFont typeface="Wingdings" pitchFamily="124" charset="2"/>
              <a:buChar char="n"/>
              <a:defRPr/>
            </a:pPr>
            <a:r>
              <a:rPr lang="en-US" sz="2400" b="1" dirty="0"/>
              <a:t>Clefts of the lip are more common in males. </a:t>
            </a:r>
          </a:p>
          <a:p>
            <a:pPr marL="320040" indent="-320040">
              <a:buFont typeface="Wingdings" pitchFamily="124" charset="2"/>
              <a:buChar char="n"/>
              <a:defRPr/>
            </a:pPr>
            <a:r>
              <a:rPr lang="en-US" sz="2400" b="1" dirty="0"/>
              <a:t>Possible causes include </a:t>
            </a:r>
          </a:p>
          <a:p>
            <a:pPr marL="640080" lvl="1" indent="-274320">
              <a:buFont typeface="Wingdings" pitchFamily="124" charset="2"/>
              <a:buChar char="n"/>
              <a:defRPr/>
            </a:pPr>
            <a:r>
              <a:rPr lang="en-US" sz="2000" b="1" dirty="0"/>
              <a:t>maternal drug exposure, </a:t>
            </a:r>
          </a:p>
          <a:p>
            <a:pPr marL="640080" lvl="1" indent="-274320">
              <a:buFont typeface="Wingdings" pitchFamily="124" charset="2"/>
              <a:buChar char="n"/>
              <a:defRPr/>
            </a:pPr>
            <a:r>
              <a:rPr lang="en-US" sz="2000" b="1" dirty="0"/>
              <a:t>a syndrome-malformation complex, or </a:t>
            </a:r>
          </a:p>
          <a:p>
            <a:pPr marL="640080" lvl="1" indent="-274320">
              <a:buFont typeface="Wingdings" pitchFamily="124" charset="2"/>
              <a:buChar char="n"/>
              <a:defRPr/>
            </a:pPr>
            <a:r>
              <a:rPr lang="en-US" sz="2000" b="1" dirty="0"/>
              <a:t>genetic factors. </a:t>
            </a:r>
          </a:p>
          <a:p>
            <a:pPr marL="914717" lvl="2" indent="-274320">
              <a:buFont typeface="Wingdings" panose="05000000000000000000" pitchFamily="2" charset="2"/>
              <a:buChar char="Ø"/>
              <a:defRPr/>
            </a:pPr>
            <a:r>
              <a:rPr lang="en-US" sz="1700" b="1" dirty="0"/>
              <a:t>the recurrence risk is 50%. </a:t>
            </a:r>
          </a:p>
          <a:p>
            <a:endParaRPr lang="en-US" dirty="0"/>
          </a:p>
        </p:txBody>
      </p:sp>
      <p:sp>
        <p:nvSpPr>
          <p:cNvPr id="11268" name="Date Placeholder 3">
            <a:extLst>
              <a:ext uri="{FF2B5EF4-FFF2-40B4-BE49-F238E27FC236}">
                <a16:creationId xmlns:a16="http://schemas.microsoft.com/office/drawing/2014/main" xmlns="" id="{5CB7B2C3-5665-488C-B565-B350A5629213}"/>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8BA413D9-4915-4A41-B759-EA1C3B5745CA}" type="datetime1">
              <a:rPr lang="en-US" altLang="en-US" smtClean="0">
                <a:solidFill>
                  <a:schemeClr val="tx2"/>
                </a:solidFill>
              </a:rPr>
              <a:pPr/>
              <a:t>11/26/2020</a:t>
            </a:fld>
            <a:endParaRPr lang="en-US" altLang="en-US">
              <a:solidFill>
                <a:schemeClr val="tx2"/>
              </a:solidFill>
            </a:endParaRPr>
          </a:p>
        </p:txBody>
      </p:sp>
      <p:sp>
        <p:nvSpPr>
          <p:cNvPr id="11269" name="Footer Placeholder 5">
            <a:extLst>
              <a:ext uri="{FF2B5EF4-FFF2-40B4-BE49-F238E27FC236}">
                <a16:creationId xmlns:a16="http://schemas.microsoft.com/office/drawing/2014/main" xmlns="" id="{D02124D9-7BFF-4317-9BD8-AF920CE09A2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a:solidFill>
                  <a:schemeClr val="tx2"/>
                </a:solidFill>
              </a:rPr>
              <a:t>GI anomalies</a:t>
            </a:r>
          </a:p>
        </p:txBody>
      </p:sp>
      <p:sp>
        <p:nvSpPr>
          <p:cNvPr id="5" name="Slide Number Placeholder 4">
            <a:extLst>
              <a:ext uri="{FF2B5EF4-FFF2-40B4-BE49-F238E27FC236}">
                <a16:creationId xmlns:a16="http://schemas.microsoft.com/office/drawing/2014/main" xmlns="" id="{7ACCAC9A-C6BE-43BE-929D-5F9CAF9B5DB9}"/>
              </a:ext>
            </a:extLst>
          </p:cNvPr>
          <p:cNvSpPr>
            <a:spLocks noGrp="1"/>
          </p:cNvSpPr>
          <p:nvPr>
            <p:ph type="sldNum" sz="quarter" idx="12"/>
          </p:nvPr>
        </p:nvSpPr>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nSpc>
                <a:spcPct val="80000"/>
              </a:lnSpc>
            </a:pPr>
            <a:fld id="{D92153D8-5A95-453F-89EC-5CDC6F48D194}" type="slidenum">
              <a:rPr lang="en-US" altLang="en-US">
                <a:solidFill>
                  <a:srgbClr val="FFFFFF"/>
                </a:solidFill>
              </a:rPr>
              <a:pPr>
                <a:lnSpc>
                  <a:spcPct val="80000"/>
                </a:lnSpc>
              </a:pPr>
              <a:t>110</a:t>
            </a:fld>
            <a:endParaRPr lang="en-US" altLang="en-US">
              <a:solidFill>
                <a:srgbClr val="FFFFFF"/>
              </a:solidFill>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Date Placeholder 7">
            <a:extLst>
              <a:ext uri="{FF2B5EF4-FFF2-40B4-BE49-F238E27FC236}">
                <a16:creationId xmlns:a16="http://schemas.microsoft.com/office/drawing/2014/main" xmlns="" id="{43E04274-2272-42B8-BAC0-F07CC24CED90}"/>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0196767E-4F29-4BDC-BCED-2C25C35DE314}" type="datetime1">
              <a:rPr lang="en-US" altLang="en-US" smtClean="0">
                <a:solidFill>
                  <a:schemeClr val="tx2"/>
                </a:solidFill>
              </a:rPr>
              <a:pPr/>
              <a:t>11/26/2020</a:t>
            </a:fld>
            <a:endParaRPr lang="en-US" altLang="en-US">
              <a:solidFill>
                <a:schemeClr val="tx2"/>
              </a:solidFill>
            </a:endParaRPr>
          </a:p>
        </p:txBody>
      </p:sp>
      <p:sp>
        <p:nvSpPr>
          <p:cNvPr id="13317" name="Footer Placeholder 9">
            <a:extLst>
              <a:ext uri="{FF2B5EF4-FFF2-40B4-BE49-F238E27FC236}">
                <a16:creationId xmlns:a16="http://schemas.microsoft.com/office/drawing/2014/main" xmlns="" id="{A2AB211B-D8A2-4423-AC45-D1C890B9436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a:solidFill>
                  <a:schemeClr val="tx2"/>
                </a:solidFill>
              </a:rPr>
              <a:t>GI anomalies</a:t>
            </a:r>
          </a:p>
        </p:txBody>
      </p:sp>
      <p:sp>
        <p:nvSpPr>
          <p:cNvPr id="9" name="Slide Number Placeholder 8">
            <a:extLst>
              <a:ext uri="{FF2B5EF4-FFF2-40B4-BE49-F238E27FC236}">
                <a16:creationId xmlns:a16="http://schemas.microsoft.com/office/drawing/2014/main" xmlns="" id="{99041335-3A7A-4E9A-84FD-3D89A03E1A8B}"/>
              </a:ext>
            </a:extLst>
          </p:cNvPr>
          <p:cNvSpPr>
            <a:spLocks noGrp="1"/>
          </p:cNvSpPr>
          <p:nvPr>
            <p:ph type="sldNum" sz="quarter" idx="12"/>
          </p:nvPr>
        </p:nvSpPr>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nSpc>
                <a:spcPct val="80000"/>
              </a:lnSpc>
            </a:pPr>
            <a:fld id="{5139D762-AA33-4073-BAB0-29CA42060C32}" type="slidenum">
              <a:rPr lang="en-US" altLang="en-US">
                <a:solidFill>
                  <a:srgbClr val="FFFFFF"/>
                </a:solidFill>
              </a:rPr>
              <a:pPr>
                <a:lnSpc>
                  <a:spcPct val="80000"/>
                </a:lnSpc>
              </a:pPr>
              <a:t>111</a:t>
            </a:fld>
            <a:endParaRPr lang="en-US" altLang="en-US">
              <a:solidFill>
                <a:srgbClr val="FFFFFF"/>
              </a:solidFill>
            </a:endParaRPr>
          </a:p>
        </p:txBody>
      </p:sp>
      <p:sp>
        <p:nvSpPr>
          <p:cNvPr id="13314" name="Title 1">
            <a:extLst>
              <a:ext uri="{FF2B5EF4-FFF2-40B4-BE49-F238E27FC236}">
                <a16:creationId xmlns:a16="http://schemas.microsoft.com/office/drawing/2014/main" xmlns="" id="{76125C33-0AEA-46C4-BB2C-DFCC639677D4}"/>
              </a:ext>
            </a:extLst>
          </p:cNvPr>
          <p:cNvSpPr>
            <a:spLocks noGrp="1"/>
          </p:cNvSpPr>
          <p:nvPr>
            <p:ph type="title" idx="4294967295"/>
          </p:nvPr>
        </p:nvSpPr>
        <p:spPr>
          <a:xfrm>
            <a:off x="0" y="365125"/>
            <a:ext cx="10515600" cy="1325563"/>
          </a:xfrm>
        </p:spPr>
        <p:txBody>
          <a:bodyPr/>
          <a:lstStyle/>
          <a:p>
            <a:pPr eaLnBrk="1" hangingPunct="1"/>
            <a:r>
              <a:rPr lang="en-US" altLang="en-US" b="1">
                <a:solidFill>
                  <a:schemeClr val="tx1"/>
                </a:solidFill>
              </a:rPr>
              <a:t>Cleft Lip and Palate…</a:t>
            </a:r>
            <a:endParaRPr lang="en-US" altLang="en-US"/>
          </a:p>
        </p:txBody>
      </p:sp>
      <p:pic>
        <p:nvPicPr>
          <p:cNvPr id="13319" name="Picture 3">
            <a:extLst>
              <a:ext uri="{FF2B5EF4-FFF2-40B4-BE49-F238E27FC236}">
                <a16:creationId xmlns:a16="http://schemas.microsoft.com/office/drawing/2014/main" xmlns="" id="{E5EEF507-BF76-4D08-87CA-4CB3D7F124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4655" y="4464314"/>
            <a:ext cx="2897620" cy="2393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0" name="ipfR6fARU0O7s4lIM:" descr="medical_afrin">
            <a:extLst>
              <a:ext uri="{FF2B5EF4-FFF2-40B4-BE49-F238E27FC236}">
                <a16:creationId xmlns:a16="http://schemas.microsoft.com/office/drawing/2014/main" xmlns="" id="{B7A62C8B-DDAF-40D6-A9DD-0BCFE86DC7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45967" y="4268410"/>
            <a:ext cx="3279153" cy="2453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1" name="ipf-1Xrj6rf4BZbEM:" descr="new_front2">
            <a:extLst>
              <a:ext uri="{FF2B5EF4-FFF2-40B4-BE49-F238E27FC236}">
                <a16:creationId xmlns:a16="http://schemas.microsoft.com/office/drawing/2014/main" xmlns="" id="{62CBE6E0-2907-4F5A-B379-82B794C311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202" y="1494487"/>
            <a:ext cx="3881195" cy="2925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2" name="Picture 6">
            <a:extLst>
              <a:ext uri="{FF2B5EF4-FFF2-40B4-BE49-F238E27FC236}">
                <a16:creationId xmlns:a16="http://schemas.microsoft.com/office/drawing/2014/main" xmlns="" id="{F1C5C327-D80E-4E30-A4B1-A388745473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6868" y="1566518"/>
            <a:ext cx="3585491" cy="2781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xmlns="" id="{B4ED5196-0FBE-4DFC-B447-0A6422258E40}"/>
              </a:ext>
            </a:extLst>
          </p:cNvPr>
          <p:cNvSpPr>
            <a:spLocks noGrp="1"/>
          </p:cNvSpPr>
          <p:nvPr>
            <p:ph type="title"/>
          </p:nvPr>
        </p:nvSpPr>
        <p:spPr/>
        <p:txBody>
          <a:bodyPr>
            <a:normAutofit/>
          </a:bodyPr>
          <a:lstStyle/>
          <a:p>
            <a:pPr eaLnBrk="1" hangingPunct="1"/>
            <a:r>
              <a:rPr lang="en-US" altLang="en-US" sz="4000" b="1" dirty="0"/>
              <a:t>Cleft Lip and Palate:</a:t>
            </a:r>
            <a:endParaRPr lang="en-US" altLang="en-US" b="1" dirty="0">
              <a:solidFill>
                <a:schemeClr val="tx1"/>
              </a:solidFill>
            </a:endParaRPr>
          </a:p>
        </p:txBody>
      </p:sp>
      <p:sp>
        <p:nvSpPr>
          <p:cNvPr id="4" name="Text Placeholder 3">
            <a:extLst>
              <a:ext uri="{FF2B5EF4-FFF2-40B4-BE49-F238E27FC236}">
                <a16:creationId xmlns:a16="http://schemas.microsoft.com/office/drawing/2014/main" xmlns="" id="{053B154A-2450-4D8E-898E-5B6044CA6BE4}"/>
              </a:ext>
            </a:extLst>
          </p:cNvPr>
          <p:cNvSpPr>
            <a:spLocks noGrp="1"/>
          </p:cNvSpPr>
          <p:nvPr>
            <p:ph type="body" idx="1"/>
          </p:nvPr>
        </p:nvSpPr>
        <p:spPr/>
        <p:txBody>
          <a:bodyPr/>
          <a:lstStyle/>
          <a:p>
            <a:r>
              <a:rPr lang="en-US" dirty="0"/>
              <a:t>Clinical features</a:t>
            </a:r>
          </a:p>
        </p:txBody>
      </p:sp>
      <p:sp>
        <p:nvSpPr>
          <p:cNvPr id="3" name="Content Placeholder 2">
            <a:extLst>
              <a:ext uri="{FF2B5EF4-FFF2-40B4-BE49-F238E27FC236}">
                <a16:creationId xmlns:a16="http://schemas.microsoft.com/office/drawing/2014/main" xmlns="" id="{E85CB0D5-26AF-4BB3-8841-F22FBCCB2A8D}"/>
              </a:ext>
            </a:extLst>
          </p:cNvPr>
          <p:cNvSpPr>
            <a:spLocks noGrp="1"/>
          </p:cNvSpPr>
          <p:nvPr>
            <p:ph sz="half" idx="2"/>
          </p:nvPr>
        </p:nvSpPr>
        <p:spPr/>
        <p:txBody>
          <a:bodyPr>
            <a:normAutofit fontScale="47500" lnSpcReduction="20000"/>
          </a:bodyPr>
          <a:lstStyle/>
          <a:p>
            <a:pPr marL="640080" lvl="1" indent="-274320">
              <a:defRPr/>
            </a:pPr>
            <a:r>
              <a:rPr lang="en-AU" sz="4500" dirty="0"/>
              <a:t>Functional Impairment</a:t>
            </a:r>
          </a:p>
          <a:p>
            <a:pPr marL="1416050" lvl="2">
              <a:buFont typeface="Wingdings"/>
              <a:buChar char=""/>
              <a:defRPr/>
            </a:pPr>
            <a:r>
              <a:rPr lang="en-AU" sz="4500" dirty="0"/>
              <a:t>Suckling, Swallowing, Speech, Hearing, Malocclusion</a:t>
            </a:r>
            <a:endParaRPr lang="en-US" sz="4500" dirty="0"/>
          </a:p>
          <a:p>
            <a:pPr marL="640080" lvl="1" indent="-274320">
              <a:buFont typeface="Wingdings" pitchFamily="124" charset="2"/>
              <a:buChar char="n"/>
              <a:defRPr/>
            </a:pPr>
            <a:r>
              <a:rPr lang="en-US" sz="4500" dirty="0"/>
              <a:t>Separation of the lip </a:t>
            </a:r>
          </a:p>
          <a:p>
            <a:pPr marL="640080" lvl="1" indent="-274320">
              <a:buFont typeface="Wingdings" pitchFamily="124" charset="2"/>
              <a:buChar char="n"/>
              <a:defRPr/>
            </a:pPr>
            <a:r>
              <a:rPr lang="en-US" sz="4500" dirty="0"/>
              <a:t>Separation of the palate (roof of the mouth)</a:t>
            </a:r>
          </a:p>
          <a:p>
            <a:pPr marL="640080" lvl="1" indent="-274320">
              <a:buFont typeface="Wingdings" pitchFamily="124" charset="2"/>
              <a:buChar char="n"/>
              <a:defRPr/>
            </a:pPr>
            <a:r>
              <a:rPr lang="en-US" sz="4500" dirty="0"/>
              <a:t>Nasal distortion</a:t>
            </a:r>
          </a:p>
          <a:p>
            <a:pPr marL="640080" lvl="1" indent="-274320">
              <a:buFont typeface="Wingdings" pitchFamily="124" charset="2"/>
              <a:buChar char="n"/>
              <a:defRPr/>
            </a:pPr>
            <a:r>
              <a:rPr lang="en-US" sz="4500" dirty="0"/>
              <a:t>Recurring ear infections </a:t>
            </a:r>
          </a:p>
          <a:p>
            <a:pPr marL="640080" lvl="1" indent="-274320">
              <a:buFont typeface="Wingdings" pitchFamily="124" charset="2"/>
              <a:buChar char="n"/>
              <a:defRPr/>
            </a:pPr>
            <a:r>
              <a:rPr lang="en-US" sz="4500" dirty="0"/>
              <a:t>Failure to gain weight</a:t>
            </a:r>
          </a:p>
          <a:p>
            <a:pPr marL="640080" lvl="1" indent="-274320">
              <a:buFont typeface="Wingdings" pitchFamily="124" charset="2"/>
              <a:buChar char="n"/>
              <a:defRPr/>
            </a:pPr>
            <a:r>
              <a:rPr lang="en-US" sz="4500" dirty="0"/>
              <a:t>Nasal regurgitation when bottle feeding</a:t>
            </a:r>
          </a:p>
          <a:p>
            <a:pPr marL="640080" lvl="1" indent="-274320">
              <a:buFont typeface="Wingdings" pitchFamily="124" charset="2"/>
              <a:buChar char="n"/>
              <a:defRPr/>
            </a:pPr>
            <a:r>
              <a:rPr lang="en-US" sz="4500" dirty="0"/>
              <a:t>Poor speech </a:t>
            </a:r>
          </a:p>
          <a:p>
            <a:pPr marL="640080" lvl="1" indent="-274320">
              <a:buFont typeface="Wingdings" pitchFamily="124" charset="2"/>
              <a:buChar char="n"/>
              <a:defRPr/>
            </a:pPr>
            <a:r>
              <a:rPr lang="en-US" sz="4500" dirty="0"/>
              <a:t>Misaligned teeth </a:t>
            </a:r>
          </a:p>
          <a:p>
            <a:pPr marL="640080" lvl="1" indent="-274320">
              <a:buFont typeface="Wingdings" pitchFamily="124" charset="2"/>
              <a:buChar char="n"/>
              <a:defRPr/>
            </a:pPr>
            <a:r>
              <a:rPr lang="en-US" sz="4500" dirty="0"/>
              <a:t>Growth retardation </a:t>
            </a:r>
          </a:p>
          <a:p>
            <a:pPr marL="320040" indent="-320040">
              <a:buFont typeface="Wingdings" pitchFamily="124" charset="2"/>
              <a:buChar char="n"/>
              <a:defRPr/>
            </a:pPr>
            <a:endParaRPr lang="en-US" dirty="0"/>
          </a:p>
        </p:txBody>
      </p:sp>
      <p:sp>
        <p:nvSpPr>
          <p:cNvPr id="6" name="Text Placeholder 5">
            <a:extLst>
              <a:ext uri="{FF2B5EF4-FFF2-40B4-BE49-F238E27FC236}">
                <a16:creationId xmlns:a16="http://schemas.microsoft.com/office/drawing/2014/main" xmlns="" id="{E50C88CD-7E7B-4CF6-9265-5C3E26273083}"/>
              </a:ext>
            </a:extLst>
          </p:cNvPr>
          <p:cNvSpPr>
            <a:spLocks noGrp="1"/>
          </p:cNvSpPr>
          <p:nvPr>
            <p:ph type="body" sz="quarter" idx="3"/>
          </p:nvPr>
        </p:nvSpPr>
        <p:spPr/>
        <p:txBody>
          <a:bodyPr/>
          <a:lstStyle/>
          <a:p>
            <a:endParaRPr lang="en-US" dirty="0"/>
          </a:p>
        </p:txBody>
      </p:sp>
      <p:sp>
        <p:nvSpPr>
          <p:cNvPr id="7" name="Content Placeholder 6">
            <a:extLst>
              <a:ext uri="{FF2B5EF4-FFF2-40B4-BE49-F238E27FC236}">
                <a16:creationId xmlns:a16="http://schemas.microsoft.com/office/drawing/2014/main" xmlns="" id="{973160B9-C4D9-40BD-954B-CD5B6F4369D3}"/>
              </a:ext>
            </a:extLst>
          </p:cNvPr>
          <p:cNvSpPr>
            <a:spLocks noGrp="1"/>
          </p:cNvSpPr>
          <p:nvPr>
            <p:ph sz="quarter" idx="4"/>
          </p:nvPr>
        </p:nvSpPr>
        <p:spPr/>
        <p:txBody>
          <a:bodyPr/>
          <a:lstStyle/>
          <a:p>
            <a:pPr lvl="1" eaLnBrk="1" hangingPunct="1">
              <a:buFont typeface="Wingdings" panose="05000000000000000000" pitchFamily="2" charset="2"/>
              <a:buChar char="n"/>
            </a:pPr>
            <a:r>
              <a:rPr lang="en-US" altLang="en-US" dirty="0"/>
              <a:t>Ear infections</a:t>
            </a:r>
          </a:p>
          <a:p>
            <a:pPr lvl="1" eaLnBrk="1" hangingPunct="1">
              <a:buFont typeface="Wingdings" panose="05000000000000000000" pitchFamily="2" charset="2"/>
              <a:buChar char="n"/>
            </a:pPr>
            <a:r>
              <a:rPr lang="en-US" altLang="en-US" dirty="0"/>
              <a:t>Hearing loss</a:t>
            </a:r>
          </a:p>
          <a:p>
            <a:pPr lvl="1" eaLnBrk="1" hangingPunct="1">
              <a:buFont typeface="Wingdings" panose="05000000000000000000" pitchFamily="2" charset="2"/>
              <a:buChar char="n"/>
            </a:pPr>
            <a:r>
              <a:rPr lang="en-US" altLang="en-US" dirty="0"/>
              <a:t>Dental cavities</a:t>
            </a:r>
          </a:p>
          <a:p>
            <a:pPr lvl="1" eaLnBrk="1" hangingPunct="1">
              <a:buFont typeface="Wingdings" panose="05000000000000000000" pitchFamily="2" charset="2"/>
              <a:buChar char="n"/>
            </a:pPr>
            <a:r>
              <a:rPr lang="en-US" altLang="en-US" dirty="0"/>
              <a:t>Displaced teeth </a:t>
            </a:r>
          </a:p>
          <a:p>
            <a:pPr lvl="1" eaLnBrk="1" hangingPunct="1">
              <a:buFont typeface="Wingdings" panose="05000000000000000000" pitchFamily="2" charset="2"/>
              <a:buChar char="n"/>
            </a:pPr>
            <a:r>
              <a:rPr lang="en-US" altLang="en-US" dirty="0"/>
              <a:t>Poor speech</a:t>
            </a:r>
          </a:p>
          <a:p>
            <a:pPr lvl="1" eaLnBrk="1" hangingPunct="1">
              <a:buFont typeface="Wingdings" panose="05000000000000000000" pitchFamily="2" charset="2"/>
              <a:buChar char="n"/>
            </a:pPr>
            <a:r>
              <a:rPr lang="en-US" altLang="en-US" dirty="0"/>
              <a:t>Lip deformities</a:t>
            </a:r>
          </a:p>
          <a:p>
            <a:pPr lvl="1" eaLnBrk="1" hangingPunct="1">
              <a:buFont typeface="Wingdings" panose="05000000000000000000" pitchFamily="2" charset="2"/>
              <a:buChar char="n"/>
            </a:pPr>
            <a:r>
              <a:rPr lang="en-US" altLang="en-US" dirty="0"/>
              <a:t>Nasal deformities</a:t>
            </a:r>
          </a:p>
          <a:p>
            <a:pPr eaLnBrk="1" hangingPunct="1">
              <a:buFont typeface="Wingdings" panose="05000000000000000000" pitchFamily="2" charset="2"/>
              <a:buChar char="n"/>
            </a:pPr>
            <a:endParaRPr lang="en-US" altLang="en-US" dirty="0"/>
          </a:p>
          <a:p>
            <a:endParaRPr lang="en-US" dirty="0"/>
          </a:p>
        </p:txBody>
      </p:sp>
      <p:sp>
        <p:nvSpPr>
          <p:cNvPr id="14340" name="Date Placeholder 3">
            <a:extLst>
              <a:ext uri="{FF2B5EF4-FFF2-40B4-BE49-F238E27FC236}">
                <a16:creationId xmlns:a16="http://schemas.microsoft.com/office/drawing/2014/main" xmlns="" id="{5D89C081-C16A-4DF7-B996-4F2ACF5DF8FC}"/>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FA44D3C5-3199-4213-AD5E-9BE4695638F7}" type="datetime1">
              <a:rPr lang="en-US" altLang="en-US" smtClean="0">
                <a:solidFill>
                  <a:schemeClr val="tx2"/>
                </a:solidFill>
              </a:rPr>
              <a:pPr/>
              <a:t>11/26/2020</a:t>
            </a:fld>
            <a:endParaRPr lang="en-US" altLang="en-US">
              <a:solidFill>
                <a:schemeClr val="tx2"/>
              </a:solidFill>
            </a:endParaRPr>
          </a:p>
        </p:txBody>
      </p:sp>
      <p:sp>
        <p:nvSpPr>
          <p:cNvPr id="14341" name="Footer Placeholder 5">
            <a:extLst>
              <a:ext uri="{FF2B5EF4-FFF2-40B4-BE49-F238E27FC236}">
                <a16:creationId xmlns:a16="http://schemas.microsoft.com/office/drawing/2014/main" xmlns="" id="{AC3A644D-F55E-42C9-BC5E-EF4E01A89816}"/>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a:solidFill>
                  <a:schemeClr val="tx2"/>
                </a:solidFill>
              </a:rPr>
              <a:t>GI anomalies</a:t>
            </a:r>
          </a:p>
        </p:txBody>
      </p:sp>
      <p:sp>
        <p:nvSpPr>
          <p:cNvPr id="5" name="Slide Number Placeholder 4">
            <a:extLst>
              <a:ext uri="{FF2B5EF4-FFF2-40B4-BE49-F238E27FC236}">
                <a16:creationId xmlns:a16="http://schemas.microsoft.com/office/drawing/2014/main" xmlns="" id="{266C0077-355A-49D2-B895-0E2B583D127C}"/>
              </a:ext>
            </a:extLst>
          </p:cNvPr>
          <p:cNvSpPr>
            <a:spLocks noGrp="1"/>
          </p:cNvSpPr>
          <p:nvPr>
            <p:ph type="sldNum" sz="quarter" idx="12"/>
          </p:nvPr>
        </p:nvSpPr>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nSpc>
                <a:spcPct val="80000"/>
              </a:lnSpc>
            </a:pPr>
            <a:fld id="{EBD4E1E1-D9B1-48DE-9515-3C2FC5F58E2C}" type="slidenum">
              <a:rPr lang="en-US" altLang="en-US">
                <a:solidFill>
                  <a:srgbClr val="FFFFFF"/>
                </a:solidFill>
              </a:rPr>
              <a:pPr>
                <a:lnSpc>
                  <a:spcPct val="80000"/>
                </a:lnSpc>
              </a:pPr>
              <a:t>112</a:t>
            </a:fld>
            <a:endParaRPr lang="en-US" altLang="en-US">
              <a:solidFill>
                <a:srgbClr val="FFFFFF"/>
              </a:solidFill>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xmlns="" id="{82BD526C-867E-4BB1-B417-84965E3C7DCD}"/>
              </a:ext>
            </a:extLst>
          </p:cNvPr>
          <p:cNvSpPr>
            <a:spLocks noGrp="1"/>
          </p:cNvSpPr>
          <p:nvPr>
            <p:ph type="title"/>
          </p:nvPr>
        </p:nvSpPr>
        <p:spPr/>
        <p:txBody>
          <a:bodyPr/>
          <a:lstStyle/>
          <a:p>
            <a:pPr eaLnBrk="1" hangingPunct="1"/>
            <a:r>
              <a:rPr lang="en-US" altLang="en-US"/>
              <a:t>  </a:t>
            </a:r>
          </a:p>
        </p:txBody>
      </p:sp>
      <p:pic>
        <p:nvPicPr>
          <p:cNvPr id="12291" name="Picture 5" descr="3">
            <a:extLst>
              <a:ext uri="{FF2B5EF4-FFF2-40B4-BE49-F238E27FC236}">
                <a16:creationId xmlns:a16="http://schemas.microsoft.com/office/drawing/2014/main" xmlns="" id="{B7B4A831-D7EE-4A34-996F-E0B8E2B38614}"/>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a:xfrm>
            <a:off x="510997" y="1427451"/>
            <a:ext cx="4830188" cy="4498975"/>
          </a:xfrm>
          <a:noFill/>
        </p:spPr>
      </p:pic>
      <p:sp>
        <p:nvSpPr>
          <p:cNvPr id="3" name="Text Placeholder 2">
            <a:extLst>
              <a:ext uri="{FF2B5EF4-FFF2-40B4-BE49-F238E27FC236}">
                <a16:creationId xmlns:a16="http://schemas.microsoft.com/office/drawing/2014/main" xmlns="" id="{05202945-3D89-45BF-9B49-641DD4C82327}"/>
              </a:ext>
            </a:extLst>
          </p:cNvPr>
          <p:cNvSpPr>
            <a:spLocks noGrp="1"/>
          </p:cNvSpPr>
          <p:nvPr>
            <p:ph type="body" sz="quarter" idx="3"/>
          </p:nvPr>
        </p:nvSpPr>
        <p:spPr>
          <a:xfrm>
            <a:off x="6019006" y="411452"/>
            <a:ext cx="5183188" cy="823912"/>
          </a:xfrm>
        </p:spPr>
        <p:txBody>
          <a:bodyPr/>
          <a:lstStyle/>
          <a:p>
            <a:r>
              <a:rPr lang="en-US" dirty="0"/>
              <a:t>Treatment</a:t>
            </a:r>
          </a:p>
        </p:txBody>
      </p:sp>
      <p:sp>
        <p:nvSpPr>
          <p:cNvPr id="4" name="Content Placeholder 3">
            <a:extLst>
              <a:ext uri="{FF2B5EF4-FFF2-40B4-BE49-F238E27FC236}">
                <a16:creationId xmlns:a16="http://schemas.microsoft.com/office/drawing/2014/main" xmlns="" id="{5EF175A8-F0D3-4D3F-BC7D-4C26B9B4917B}"/>
              </a:ext>
            </a:extLst>
          </p:cNvPr>
          <p:cNvSpPr>
            <a:spLocks noGrp="1"/>
          </p:cNvSpPr>
          <p:nvPr>
            <p:ph sz="quarter" idx="4"/>
          </p:nvPr>
        </p:nvSpPr>
        <p:spPr>
          <a:xfrm>
            <a:off x="6019006" y="1281691"/>
            <a:ext cx="5336382" cy="4907972"/>
          </a:xfrm>
        </p:spPr>
        <p:txBody>
          <a:bodyPr>
            <a:normAutofit fontScale="77500" lnSpcReduction="20000"/>
          </a:bodyPr>
          <a:lstStyle/>
          <a:p>
            <a:pPr marL="320040" indent="-320040">
              <a:buFont typeface="Wingdings" pitchFamily="124" charset="2"/>
              <a:buChar char="n"/>
              <a:defRPr/>
            </a:pPr>
            <a:r>
              <a:rPr lang="en-US" b="1" dirty="0"/>
              <a:t>Feeding</a:t>
            </a:r>
          </a:p>
          <a:p>
            <a:pPr marL="640080" lvl="1" indent="-274320">
              <a:buFont typeface="Wingdings" pitchFamily="124" charset="2"/>
              <a:buChar char="n"/>
              <a:defRPr/>
            </a:pPr>
            <a:r>
              <a:rPr lang="en-US" b="1" dirty="0"/>
              <a:t> use of soft artificial nipples with large openings, a squeezable bottle (</a:t>
            </a:r>
            <a:r>
              <a:rPr lang="en-US" b="1" i="1" dirty="0">
                <a:solidFill>
                  <a:srgbClr val="FF0000"/>
                </a:solidFill>
              </a:rPr>
              <a:t>Mead Johnson bottle!)</a:t>
            </a:r>
          </a:p>
          <a:p>
            <a:pPr marL="320040" indent="-320040">
              <a:buFont typeface="Wingdings" pitchFamily="124" charset="2"/>
              <a:buChar char="n"/>
              <a:defRPr/>
            </a:pPr>
            <a:r>
              <a:rPr lang="en-US" b="1" dirty="0"/>
              <a:t>Surgical closure of the cleft lip </a:t>
            </a:r>
          </a:p>
          <a:p>
            <a:pPr marL="640080" lvl="1" indent="-274320">
              <a:buFont typeface="Wingdings" pitchFamily="124" charset="2"/>
              <a:buChar char="n"/>
              <a:defRPr/>
            </a:pPr>
            <a:r>
              <a:rPr lang="en-US" b="1" dirty="0"/>
              <a:t>by 3 </a:t>
            </a:r>
            <a:r>
              <a:rPr lang="en-US" b="1" dirty="0" err="1"/>
              <a:t>mo</a:t>
            </a:r>
            <a:r>
              <a:rPr lang="en-US" b="1" dirty="0"/>
              <a:t> of age, when the infant has shown satisfactory weight gain </a:t>
            </a:r>
          </a:p>
          <a:p>
            <a:pPr marL="640080" lvl="1" indent="-274320">
              <a:buFont typeface="Wingdings" pitchFamily="124" charset="2"/>
              <a:buChar char="n"/>
              <a:defRPr/>
            </a:pPr>
            <a:r>
              <a:rPr lang="en-US" b="1" dirty="0"/>
              <a:t>The initial repair may be revised at 4 or 5 </a:t>
            </a:r>
            <a:r>
              <a:rPr lang="en-US" b="1" dirty="0" err="1"/>
              <a:t>yr</a:t>
            </a:r>
            <a:r>
              <a:rPr lang="en-US" b="1" dirty="0"/>
              <a:t> of age</a:t>
            </a:r>
          </a:p>
          <a:p>
            <a:pPr marL="640080" lvl="1" indent="-274320">
              <a:buFont typeface="Wingdings" pitchFamily="124" charset="2"/>
              <a:buChar char="n"/>
              <a:defRPr/>
            </a:pPr>
            <a:r>
              <a:rPr lang="en-US" b="1" dirty="0"/>
              <a:t>Nasal surgery can also be performed at the time of the lip repair. </a:t>
            </a:r>
          </a:p>
          <a:p>
            <a:pPr marL="320040" indent="-320040">
              <a:buFont typeface="Wingdings" pitchFamily="124" charset="2"/>
              <a:buChar char="n"/>
              <a:defRPr/>
            </a:pPr>
            <a:r>
              <a:rPr lang="en-US" b="1" dirty="0"/>
              <a:t>Cleft palate</a:t>
            </a:r>
          </a:p>
          <a:p>
            <a:pPr marL="640080" lvl="1" indent="-274320">
              <a:buFont typeface="Wingdings" pitchFamily="124" charset="2"/>
              <a:buChar char="n"/>
              <a:defRPr/>
            </a:pPr>
            <a:r>
              <a:rPr lang="en-US" b="1" dirty="0"/>
              <a:t>The goals of surgery are the union of the cleft segments, intelligible and pleasant speech, reduction of nasal regurgitation, and avoidance of injury to the growing maxilla</a:t>
            </a:r>
          </a:p>
          <a:p>
            <a:pPr marL="640080" lvl="1" indent="-274320">
              <a:buFont typeface="Wingdings" pitchFamily="124" charset="2"/>
              <a:buChar char="n"/>
              <a:defRPr/>
            </a:pPr>
            <a:r>
              <a:rPr lang="en-US" b="1" dirty="0"/>
              <a:t>the timing of surgical correction should be individualized but advised to be done before 1 year to enhance normal speech development</a:t>
            </a:r>
            <a:endParaRPr lang="en-US" dirty="0"/>
          </a:p>
          <a:p>
            <a:endParaRPr lang="en-US" dirty="0"/>
          </a:p>
        </p:txBody>
      </p:sp>
      <p:sp>
        <p:nvSpPr>
          <p:cNvPr id="12292" name="Date Placeholder 3">
            <a:extLst>
              <a:ext uri="{FF2B5EF4-FFF2-40B4-BE49-F238E27FC236}">
                <a16:creationId xmlns:a16="http://schemas.microsoft.com/office/drawing/2014/main" xmlns="" id="{E962C799-1A1A-4EC7-B64C-59762BA9C736}"/>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6F713E7C-5E67-475D-9F7A-9AC59018F264}" type="datetime1">
              <a:rPr lang="en-US" altLang="en-US" smtClean="0">
                <a:solidFill>
                  <a:schemeClr val="tx2"/>
                </a:solidFill>
              </a:rPr>
              <a:pPr/>
              <a:t>11/26/2020</a:t>
            </a:fld>
            <a:endParaRPr lang="en-US" altLang="en-US">
              <a:solidFill>
                <a:schemeClr val="tx2"/>
              </a:solidFill>
            </a:endParaRPr>
          </a:p>
        </p:txBody>
      </p:sp>
      <p:sp>
        <p:nvSpPr>
          <p:cNvPr id="12293" name="Footer Placeholder 5">
            <a:extLst>
              <a:ext uri="{FF2B5EF4-FFF2-40B4-BE49-F238E27FC236}">
                <a16:creationId xmlns:a16="http://schemas.microsoft.com/office/drawing/2014/main" xmlns="" id="{781DBF89-53F2-450B-81D9-054367237A46}"/>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a:solidFill>
                  <a:schemeClr val="tx2"/>
                </a:solidFill>
              </a:rPr>
              <a:t>GI anomalies</a:t>
            </a:r>
          </a:p>
        </p:txBody>
      </p:sp>
      <p:sp>
        <p:nvSpPr>
          <p:cNvPr id="5" name="Slide Number Placeholder 4">
            <a:extLst>
              <a:ext uri="{FF2B5EF4-FFF2-40B4-BE49-F238E27FC236}">
                <a16:creationId xmlns:a16="http://schemas.microsoft.com/office/drawing/2014/main" xmlns="" id="{F66EF81B-294F-49AB-BD85-2027DE66B60F}"/>
              </a:ext>
            </a:extLst>
          </p:cNvPr>
          <p:cNvSpPr>
            <a:spLocks noGrp="1"/>
          </p:cNvSpPr>
          <p:nvPr>
            <p:ph type="sldNum" sz="quarter" idx="12"/>
          </p:nvPr>
        </p:nvSpPr>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nSpc>
                <a:spcPct val="80000"/>
              </a:lnSpc>
            </a:pPr>
            <a:fld id="{1CF0C4B0-EB20-48A6-97BA-ADD93F238DF8}" type="slidenum">
              <a:rPr lang="en-US" altLang="en-US">
                <a:solidFill>
                  <a:srgbClr val="FFFFFF"/>
                </a:solidFill>
              </a:rPr>
              <a:pPr>
                <a:lnSpc>
                  <a:spcPct val="80000"/>
                </a:lnSpc>
              </a:pPr>
              <a:t>113</a:t>
            </a:fld>
            <a:endParaRPr lang="en-US" altLang="en-US">
              <a:solidFill>
                <a:srgbClr val="FFFFFF"/>
              </a:solidFill>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xmlns="" id="{F18BC821-895A-460D-BF89-94C92C30AEBD}"/>
              </a:ext>
            </a:extLst>
          </p:cNvPr>
          <p:cNvSpPr>
            <a:spLocks noGrp="1" noRot="1" noChangeArrowheads="1"/>
          </p:cNvSpPr>
          <p:nvPr>
            <p:ph type="title"/>
          </p:nvPr>
        </p:nvSpPr>
        <p:spPr/>
        <p:txBody>
          <a:bodyPr/>
          <a:lstStyle/>
          <a:p>
            <a:pPr eaLnBrk="1" hangingPunct="1"/>
            <a:r>
              <a:rPr lang="en-US" altLang="en-US" sz="3600" b="1" dirty="0"/>
              <a:t>Tracheoesophageal Fistula</a:t>
            </a:r>
          </a:p>
        </p:txBody>
      </p:sp>
      <p:sp>
        <p:nvSpPr>
          <p:cNvPr id="17411" name="Rectangle 3">
            <a:extLst>
              <a:ext uri="{FF2B5EF4-FFF2-40B4-BE49-F238E27FC236}">
                <a16:creationId xmlns:a16="http://schemas.microsoft.com/office/drawing/2014/main" xmlns="" id="{C02D1778-91CA-45B0-917C-10F1077B01CC}"/>
              </a:ext>
            </a:extLst>
          </p:cNvPr>
          <p:cNvSpPr>
            <a:spLocks noGrp="1" noChangeArrowheads="1"/>
          </p:cNvSpPr>
          <p:nvPr>
            <p:ph sz="half" idx="1"/>
          </p:nvPr>
        </p:nvSpPr>
        <p:spPr/>
        <p:txBody>
          <a:bodyPr>
            <a:normAutofit fontScale="92500" lnSpcReduction="20000"/>
          </a:bodyPr>
          <a:lstStyle/>
          <a:p>
            <a:pPr eaLnBrk="1" hangingPunct="1">
              <a:buFont typeface="Wingdings" panose="05000000000000000000" pitchFamily="2" charset="2"/>
              <a:buChar char="Ø"/>
            </a:pPr>
            <a:r>
              <a:rPr lang="en-US" altLang="en-US" dirty="0"/>
              <a:t>Incidence</a:t>
            </a:r>
          </a:p>
          <a:p>
            <a:pPr lvl="1" eaLnBrk="1" hangingPunct="1">
              <a:buClr>
                <a:schemeClr val="tx1"/>
              </a:buClr>
              <a:buFont typeface="Wingdings" panose="05000000000000000000" pitchFamily="2" charset="2"/>
              <a:buChar char="§"/>
            </a:pPr>
            <a:r>
              <a:rPr lang="en-US" altLang="en-US" dirty="0"/>
              <a:t>EA and TEF are relatively common congenital anomalies</a:t>
            </a:r>
          </a:p>
          <a:p>
            <a:pPr lvl="1" eaLnBrk="1" hangingPunct="1">
              <a:buClr>
                <a:schemeClr val="tx1"/>
              </a:buClr>
              <a:buFont typeface="Wingdings" panose="05000000000000000000" pitchFamily="2" charset="2"/>
              <a:buChar char="§"/>
            </a:pPr>
            <a:r>
              <a:rPr lang="en-US" altLang="en-US" dirty="0">
                <a:latin typeface="Calibri" panose="020F0502020204030204" pitchFamily="34" charset="0"/>
                <a:cs typeface="Calibri" panose="020F0502020204030204" pitchFamily="34" charset="0"/>
              </a:rPr>
              <a:t>˜</a:t>
            </a:r>
            <a:r>
              <a:rPr lang="en-US" altLang="en-US" dirty="0"/>
              <a:t>1 in 4500 live births</a:t>
            </a:r>
          </a:p>
          <a:p>
            <a:pPr lvl="1" eaLnBrk="1" hangingPunct="1">
              <a:buClr>
                <a:schemeClr val="tx1"/>
              </a:buClr>
              <a:buFont typeface="Wingdings" panose="05000000000000000000" pitchFamily="2" charset="2"/>
              <a:buChar char="§"/>
            </a:pPr>
            <a:r>
              <a:rPr lang="en-US" altLang="en-US" dirty="0"/>
              <a:t>Male=Female</a:t>
            </a:r>
          </a:p>
          <a:p>
            <a:pPr lvl="1" eaLnBrk="1" hangingPunct="1">
              <a:buClr>
                <a:schemeClr val="tx1"/>
              </a:buClr>
              <a:buFont typeface="Wingdings" panose="05000000000000000000" pitchFamily="2" charset="2"/>
              <a:buChar char="§"/>
            </a:pPr>
            <a:r>
              <a:rPr lang="en-US" altLang="en-US" dirty="0"/>
              <a:t>0.5% - 2% increase risk in newborns with one affected sibling</a:t>
            </a:r>
          </a:p>
          <a:p>
            <a:pPr lvl="1" eaLnBrk="1" hangingPunct="1">
              <a:buClr>
                <a:schemeClr val="tx1"/>
              </a:buClr>
              <a:buFont typeface="Wingdings" panose="05000000000000000000" pitchFamily="2" charset="2"/>
              <a:buChar char="§"/>
            </a:pPr>
            <a:r>
              <a:rPr lang="en-US" altLang="en-US" dirty="0"/>
              <a:t>Risk increases to 20% if more than one sibling is affected</a:t>
            </a:r>
          </a:p>
          <a:p>
            <a:pPr eaLnBrk="1" hangingPunct="1">
              <a:buFont typeface="Wingdings" panose="05000000000000000000" pitchFamily="2" charset="2"/>
              <a:buNone/>
            </a:pPr>
            <a:endParaRPr lang="en-US" altLang="en-US" dirty="0"/>
          </a:p>
        </p:txBody>
      </p:sp>
      <p:sp>
        <p:nvSpPr>
          <p:cNvPr id="2" name="Content Placeholder 1">
            <a:extLst>
              <a:ext uri="{FF2B5EF4-FFF2-40B4-BE49-F238E27FC236}">
                <a16:creationId xmlns:a16="http://schemas.microsoft.com/office/drawing/2014/main" xmlns="" id="{0412AE94-669B-4B56-992A-BB3A16347780}"/>
              </a:ext>
            </a:extLst>
          </p:cNvPr>
          <p:cNvSpPr>
            <a:spLocks noGrp="1"/>
          </p:cNvSpPr>
          <p:nvPr>
            <p:ph sz="half" idx="2"/>
          </p:nvPr>
        </p:nvSpPr>
        <p:spPr/>
        <p:txBody>
          <a:bodyPr>
            <a:normAutofit fontScale="92500" lnSpcReduction="20000"/>
          </a:bodyPr>
          <a:lstStyle/>
          <a:p>
            <a:pPr marL="0" indent="0">
              <a:buNone/>
              <a:defRPr/>
            </a:pPr>
            <a:r>
              <a:rPr lang="en-US" dirty="0"/>
              <a:t>Embryologically,</a:t>
            </a:r>
          </a:p>
          <a:p>
            <a:pPr marL="320040" indent="-320040">
              <a:buFont typeface="Wingdings" pitchFamily="124" charset="2"/>
              <a:buChar char="n"/>
              <a:defRPr/>
            </a:pPr>
            <a:r>
              <a:rPr lang="en-US" dirty="0"/>
              <a:t>Derived from primitive foregut</a:t>
            </a:r>
          </a:p>
          <a:p>
            <a:pPr marL="320040" indent="-320040">
              <a:buFont typeface="Wingdings" pitchFamily="124" charset="2"/>
              <a:buChar char="n"/>
              <a:defRPr/>
            </a:pPr>
            <a:r>
              <a:rPr lang="en-US" dirty="0"/>
              <a:t>4thweek of gestation tracheoesophageal diverticulum forms from the laryngotracheal groove</a:t>
            </a:r>
          </a:p>
          <a:p>
            <a:pPr marL="320040" indent="-320040">
              <a:buFont typeface="Wingdings" pitchFamily="124" charset="2"/>
              <a:buChar char="n"/>
              <a:defRPr/>
            </a:pPr>
            <a:r>
              <a:rPr lang="en-US" dirty="0"/>
              <a:t>Tracheoesophageal septum develops during 4th-5thweeks –muscular + submucosal layer of T + E formed</a:t>
            </a:r>
          </a:p>
          <a:p>
            <a:pPr marL="320040" indent="-320040">
              <a:buFont typeface="Wingdings" pitchFamily="124" charset="2"/>
              <a:buChar char="n"/>
              <a:defRPr/>
            </a:pPr>
            <a:r>
              <a:rPr lang="en-US" dirty="0"/>
              <a:t>Elongates with descent of heart and lung</a:t>
            </a:r>
          </a:p>
          <a:p>
            <a:pPr marL="320040" indent="-320040">
              <a:buFont typeface="Wingdings" pitchFamily="124" charset="2"/>
              <a:buChar char="n"/>
              <a:defRPr/>
            </a:pPr>
            <a:r>
              <a:rPr lang="en-US" dirty="0"/>
              <a:t>7thweek reaches final length</a:t>
            </a:r>
          </a:p>
          <a:p>
            <a:endParaRPr lang="en-US" dirty="0"/>
          </a:p>
        </p:txBody>
      </p:sp>
      <p:sp>
        <p:nvSpPr>
          <p:cNvPr id="17412" name="Date Placeholder 3">
            <a:extLst>
              <a:ext uri="{FF2B5EF4-FFF2-40B4-BE49-F238E27FC236}">
                <a16:creationId xmlns:a16="http://schemas.microsoft.com/office/drawing/2014/main" xmlns="" id="{E41C0DAF-AA70-46FB-9158-E5621D0FEB9F}"/>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125FCDD9-ABDF-4498-AF25-ED68482A3E4A}" type="datetime1">
              <a:rPr lang="en-US" altLang="en-US" smtClean="0">
                <a:solidFill>
                  <a:schemeClr val="tx2"/>
                </a:solidFill>
              </a:rPr>
              <a:pPr/>
              <a:t>11/26/2020</a:t>
            </a:fld>
            <a:endParaRPr lang="en-US" altLang="en-US">
              <a:solidFill>
                <a:schemeClr val="tx2"/>
              </a:solidFill>
            </a:endParaRPr>
          </a:p>
        </p:txBody>
      </p:sp>
      <p:sp>
        <p:nvSpPr>
          <p:cNvPr id="17413" name="Footer Placeholder 5">
            <a:extLst>
              <a:ext uri="{FF2B5EF4-FFF2-40B4-BE49-F238E27FC236}">
                <a16:creationId xmlns:a16="http://schemas.microsoft.com/office/drawing/2014/main" xmlns="" id="{FE6D2963-3D36-4A22-AB20-BF6B8B00B7DA}"/>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a:solidFill>
                  <a:schemeClr val="tx2"/>
                </a:solidFill>
              </a:rPr>
              <a:t>GI anomalies</a:t>
            </a:r>
          </a:p>
        </p:txBody>
      </p:sp>
      <p:sp>
        <p:nvSpPr>
          <p:cNvPr id="5" name="Slide Number Placeholder 4">
            <a:extLst>
              <a:ext uri="{FF2B5EF4-FFF2-40B4-BE49-F238E27FC236}">
                <a16:creationId xmlns:a16="http://schemas.microsoft.com/office/drawing/2014/main" xmlns="" id="{3BA56FC3-0DAE-487E-9F8F-F4AE00B677B4}"/>
              </a:ext>
            </a:extLst>
          </p:cNvPr>
          <p:cNvSpPr>
            <a:spLocks noGrp="1"/>
          </p:cNvSpPr>
          <p:nvPr>
            <p:ph type="sldNum" sz="quarter" idx="12"/>
          </p:nvPr>
        </p:nvSpPr>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nSpc>
                <a:spcPct val="80000"/>
              </a:lnSpc>
            </a:pPr>
            <a:fld id="{F15CAEDE-4F9E-4C55-B64D-529BA7611939}" type="slidenum">
              <a:rPr lang="en-US" altLang="en-US">
                <a:solidFill>
                  <a:srgbClr val="FFFFFF"/>
                </a:solidFill>
              </a:rPr>
              <a:pPr>
                <a:lnSpc>
                  <a:spcPct val="80000"/>
                </a:lnSpc>
              </a:pPr>
              <a:t>114</a:t>
            </a:fld>
            <a:endParaRPr lang="en-US" altLang="en-US">
              <a:solidFill>
                <a:srgbClr val="FFFFFF"/>
              </a:solidFill>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xmlns="" id="{4E986F83-2B82-4F7A-B42A-3D46C05632F1}"/>
              </a:ext>
            </a:extLst>
          </p:cNvPr>
          <p:cNvSpPr>
            <a:spLocks noGrp="1"/>
          </p:cNvSpPr>
          <p:nvPr>
            <p:ph type="title"/>
          </p:nvPr>
        </p:nvSpPr>
        <p:spPr>
          <a:xfrm>
            <a:off x="2136775" y="228600"/>
            <a:ext cx="8153400" cy="990600"/>
          </a:xfrm>
        </p:spPr>
        <p:txBody>
          <a:bodyPr/>
          <a:lstStyle/>
          <a:p>
            <a:pPr eaLnBrk="1" hangingPunct="1"/>
            <a:r>
              <a:rPr lang="en-US" altLang="en-US"/>
              <a:t>  </a:t>
            </a:r>
            <a:r>
              <a:rPr lang="en-US" altLang="en-US" sz="4000" b="1"/>
              <a:t>Types of tracheoesophageal abn</a:t>
            </a:r>
            <a:r>
              <a:rPr lang="en-US" altLang="en-US"/>
              <a:t>.</a:t>
            </a:r>
          </a:p>
        </p:txBody>
      </p:sp>
      <p:pic>
        <p:nvPicPr>
          <p:cNvPr id="19459" name="Content Placeholder 4" descr="HTML Help">
            <a:extLst>
              <a:ext uri="{FF2B5EF4-FFF2-40B4-BE49-F238E27FC236}">
                <a16:creationId xmlns:a16="http://schemas.microsoft.com/office/drawing/2014/main" xmlns="" id="{8A8B1D41-47CE-4DB2-B3A8-3F90171B0C39}"/>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rcRect l="21198" t="44916" r="23729" b="20668"/>
          <a:stretch>
            <a:fillRect/>
          </a:stretch>
        </p:blipFill>
        <p:spPr>
          <a:xfrm>
            <a:off x="1649414" y="1600200"/>
            <a:ext cx="8789987" cy="4953000"/>
          </a:xfrm>
        </p:spPr>
      </p:pic>
      <p:sp>
        <p:nvSpPr>
          <p:cNvPr id="19460" name="Date Placeholder 3">
            <a:extLst>
              <a:ext uri="{FF2B5EF4-FFF2-40B4-BE49-F238E27FC236}">
                <a16:creationId xmlns:a16="http://schemas.microsoft.com/office/drawing/2014/main" xmlns="" id="{5915D8D9-C9C3-411B-BD33-1DCF745C5D51}"/>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E8A43F39-FB91-4F3C-865B-96FE00B160CC}" type="datetime1">
              <a:rPr lang="en-US" altLang="en-US" smtClean="0">
                <a:solidFill>
                  <a:schemeClr val="tx2"/>
                </a:solidFill>
              </a:rPr>
              <a:pPr/>
              <a:t>11/26/2020</a:t>
            </a:fld>
            <a:endParaRPr lang="en-US" altLang="en-US">
              <a:solidFill>
                <a:schemeClr val="tx2"/>
              </a:solidFill>
            </a:endParaRPr>
          </a:p>
        </p:txBody>
      </p:sp>
      <p:sp>
        <p:nvSpPr>
          <p:cNvPr id="19461" name="Footer Placeholder 5">
            <a:extLst>
              <a:ext uri="{FF2B5EF4-FFF2-40B4-BE49-F238E27FC236}">
                <a16:creationId xmlns:a16="http://schemas.microsoft.com/office/drawing/2014/main" xmlns="" id="{19CC6869-76DD-4514-9A8A-F302074D0E29}"/>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a:solidFill>
                  <a:schemeClr val="tx2"/>
                </a:solidFill>
              </a:rPr>
              <a:t>GI anomalies</a:t>
            </a:r>
          </a:p>
        </p:txBody>
      </p:sp>
      <p:sp>
        <p:nvSpPr>
          <p:cNvPr id="5" name="Slide Number Placeholder 4">
            <a:extLst>
              <a:ext uri="{FF2B5EF4-FFF2-40B4-BE49-F238E27FC236}">
                <a16:creationId xmlns:a16="http://schemas.microsoft.com/office/drawing/2014/main" xmlns="" id="{EF0AA048-F21C-4700-849B-35132FABC5E9}"/>
              </a:ext>
            </a:extLst>
          </p:cNvPr>
          <p:cNvSpPr>
            <a:spLocks noGrp="1"/>
          </p:cNvSpPr>
          <p:nvPr>
            <p:ph type="sldNum" sz="quarter" idx="12"/>
          </p:nvPr>
        </p:nvSpPr>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nSpc>
                <a:spcPct val="80000"/>
              </a:lnSpc>
            </a:pPr>
            <a:fld id="{DCB5CA4D-6CC5-486D-B9DE-10EC197F3E07}" type="slidenum">
              <a:rPr lang="en-US" altLang="en-US">
                <a:solidFill>
                  <a:srgbClr val="FFFFFF"/>
                </a:solidFill>
              </a:rPr>
              <a:pPr>
                <a:lnSpc>
                  <a:spcPct val="80000"/>
                </a:lnSpc>
              </a:pPr>
              <a:t>115</a:t>
            </a:fld>
            <a:endParaRPr lang="en-US" altLang="en-US">
              <a:solidFill>
                <a:srgbClr val="FFFFFF"/>
              </a:solidFill>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xmlns="" id="{FA6C8955-541C-40EF-9CCA-5E05BACEA139}"/>
              </a:ext>
            </a:extLst>
          </p:cNvPr>
          <p:cNvSpPr>
            <a:spLocks noGrp="1" noRot="1" noChangeArrowheads="1"/>
          </p:cNvSpPr>
          <p:nvPr>
            <p:ph type="title"/>
          </p:nvPr>
        </p:nvSpPr>
        <p:spPr/>
        <p:txBody>
          <a:bodyPr/>
          <a:lstStyle/>
          <a:p>
            <a:pPr eaLnBrk="1" hangingPunct="1"/>
            <a:r>
              <a:rPr lang="en-US" altLang="en-US" sz="4000" b="1"/>
              <a:t>Types of tracheoesophageal abn</a:t>
            </a:r>
            <a:r>
              <a:rPr lang="en-US" altLang="en-US" sz="4000"/>
              <a:t>.</a:t>
            </a:r>
          </a:p>
        </p:txBody>
      </p:sp>
      <p:sp>
        <p:nvSpPr>
          <p:cNvPr id="20483" name="Rectangle 3">
            <a:extLst>
              <a:ext uri="{FF2B5EF4-FFF2-40B4-BE49-F238E27FC236}">
                <a16:creationId xmlns:a16="http://schemas.microsoft.com/office/drawing/2014/main" xmlns="" id="{D4BD5831-0C53-4A70-BB25-FFA75944070C}"/>
              </a:ext>
            </a:extLst>
          </p:cNvPr>
          <p:cNvSpPr>
            <a:spLocks noGrp="1" noChangeArrowheads="1"/>
          </p:cNvSpPr>
          <p:nvPr>
            <p:ph sz="half" idx="1"/>
          </p:nvPr>
        </p:nvSpPr>
        <p:spPr/>
        <p:txBody>
          <a:bodyPr/>
          <a:lstStyle/>
          <a:p>
            <a:pPr eaLnBrk="1" hangingPunct="1">
              <a:buFont typeface="Wingdings" panose="05000000000000000000" pitchFamily="2" charset="2"/>
              <a:buChar char="Ø"/>
            </a:pPr>
            <a:r>
              <a:rPr lang="en-US" altLang="en-US"/>
              <a:t>85% are Distal TEF</a:t>
            </a:r>
          </a:p>
          <a:p>
            <a:pPr eaLnBrk="1" hangingPunct="1">
              <a:buFont typeface="Wingdings" panose="05000000000000000000" pitchFamily="2" charset="2"/>
              <a:buChar char="Ø"/>
            </a:pPr>
            <a:r>
              <a:rPr lang="en-US" altLang="en-US"/>
              <a:t>8% are Pure atresia</a:t>
            </a:r>
          </a:p>
          <a:p>
            <a:pPr eaLnBrk="1" hangingPunct="1">
              <a:buFont typeface="Wingdings" panose="05000000000000000000" pitchFamily="2" charset="2"/>
              <a:buChar char="Ø"/>
            </a:pPr>
            <a:r>
              <a:rPr lang="en-US" altLang="en-US"/>
              <a:t>4% are H-type fistula</a:t>
            </a:r>
          </a:p>
          <a:p>
            <a:pPr eaLnBrk="1" hangingPunct="1">
              <a:buFont typeface="Wingdings" panose="05000000000000000000" pitchFamily="2" charset="2"/>
              <a:buChar char="Ø"/>
            </a:pPr>
            <a:r>
              <a:rPr lang="en-US" altLang="en-US"/>
              <a:t>Proximal fistula is the least  common</a:t>
            </a:r>
          </a:p>
        </p:txBody>
      </p:sp>
      <p:sp>
        <p:nvSpPr>
          <p:cNvPr id="2" name="Content Placeholder 1">
            <a:extLst>
              <a:ext uri="{FF2B5EF4-FFF2-40B4-BE49-F238E27FC236}">
                <a16:creationId xmlns:a16="http://schemas.microsoft.com/office/drawing/2014/main" xmlns="" id="{33D32CC9-044A-45D2-BF3E-6470C2D61878}"/>
              </a:ext>
            </a:extLst>
          </p:cNvPr>
          <p:cNvSpPr>
            <a:spLocks noGrp="1"/>
          </p:cNvSpPr>
          <p:nvPr>
            <p:ph sz="half" idx="2"/>
          </p:nvPr>
        </p:nvSpPr>
        <p:spPr/>
        <p:txBody>
          <a:bodyPr/>
          <a:lstStyle/>
          <a:p>
            <a:endParaRPr lang="en-US"/>
          </a:p>
        </p:txBody>
      </p:sp>
      <p:sp>
        <p:nvSpPr>
          <p:cNvPr id="20484" name="Date Placeholder 3">
            <a:extLst>
              <a:ext uri="{FF2B5EF4-FFF2-40B4-BE49-F238E27FC236}">
                <a16:creationId xmlns:a16="http://schemas.microsoft.com/office/drawing/2014/main" xmlns="" id="{A7DA2C37-6B50-43BC-B6D8-1850E9E47CD9}"/>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4D6C7D2B-DA7C-4D9D-93EE-6CE5AACECEC4}" type="datetime1">
              <a:rPr lang="en-US" altLang="en-US" smtClean="0">
                <a:solidFill>
                  <a:schemeClr val="tx2"/>
                </a:solidFill>
              </a:rPr>
              <a:pPr/>
              <a:t>11/26/2020</a:t>
            </a:fld>
            <a:endParaRPr lang="en-US" altLang="en-US">
              <a:solidFill>
                <a:schemeClr val="tx2"/>
              </a:solidFill>
            </a:endParaRPr>
          </a:p>
        </p:txBody>
      </p:sp>
      <p:sp>
        <p:nvSpPr>
          <p:cNvPr id="20485" name="Footer Placeholder 5">
            <a:extLst>
              <a:ext uri="{FF2B5EF4-FFF2-40B4-BE49-F238E27FC236}">
                <a16:creationId xmlns:a16="http://schemas.microsoft.com/office/drawing/2014/main" xmlns="" id="{4AD693E7-0566-4DD8-8989-1D6BC65B3B07}"/>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a:solidFill>
                  <a:schemeClr val="tx2"/>
                </a:solidFill>
              </a:rPr>
              <a:t>GI anomalies</a:t>
            </a:r>
          </a:p>
        </p:txBody>
      </p:sp>
      <p:sp>
        <p:nvSpPr>
          <p:cNvPr id="5" name="Slide Number Placeholder 4">
            <a:extLst>
              <a:ext uri="{FF2B5EF4-FFF2-40B4-BE49-F238E27FC236}">
                <a16:creationId xmlns:a16="http://schemas.microsoft.com/office/drawing/2014/main" xmlns="" id="{26386875-F3F4-4F1E-8EB1-254CD3C79B23}"/>
              </a:ext>
            </a:extLst>
          </p:cNvPr>
          <p:cNvSpPr>
            <a:spLocks noGrp="1"/>
          </p:cNvSpPr>
          <p:nvPr>
            <p:ph type="sldNum" sz="quarter" idx="12"/>
          </p:nvPr>
        </p:nvSpPr>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nSpc>
                <a:spcPct val="80000"/>
              </a:lnSpc>
            </a:pPr>
            <a:fld id="{B29F6163-DD27-43F7-A616-EC80AE6607E8}" type="slidenum">
              <a:rPr lang="en-US" altLang="en-US">
                <a:solidFill>
                  <a:srgbClr val="FFFFFF"/>
                </a:solidFill>
              </a:rPr>
              <a:pPr>
                <a:lnSpc>
                  <a:spcPct val="80000"/>
                </a:lnSpc>
              </a:pPr>
              <a:t>116</a:t>
            </a:fld>
            <a:endParaRPr lang="en-US" altLang="en-US">
              <a:solidFill>
                <a:srgbClr val="FFFFFF"/>
              </a:solidFill>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xmlns="" id="{4F1B74B9-2889-4B2D-9F9E-237CAA725E98}"/>
              </a:ext>
            </a:extLst>
          </p:cNvPr>
          <p:cNvSpPr>
            <a:spLocks noChangeArrowheads="1"/>
          </p:cNvSpPr>
          <p:nvPr/>
        </p:nvSpPr>
        <p:spPr bwMode="auto">
          <a:xfrm>
            <a:off x="1905000" y="228601"/>
            <a:ext cx="8382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r>
              <a:rPr lang="en-US" altLang="en-US" sz="2400" b="1">
                <a:latin typeface="Arial" panose="020B0604020202020204" pitchFamily="34" charset="0"/>
              </a:rPr>
              <a:t>Associated Anomalies </a:t>
            </a:r>
            <a:br>
              <a:rPr lang="en-US" altLang="en-US" sz="2400" b="1">
                <a:latin typeface="Arial" panose="020B0604020202020204" pitchFamily="34" charset="0"/>
              </a:rPr>
            </a:br>
            <a:r>
              <a:rPr lang="en-US" altLang="en-US" sz="2400" b="1">
                <a:latin typeface="Arial" panose="020B0604020202020204" pitchFamily="34" charset="0"/>
              </a:rPr>
              <a:t>VACTERL: vertebral, anal, cardiac, TE,  renal,  limb</a:t>
            </a:r>
          </a:p>
        </p:txBody>
      </p:sp>
      <p:pic>
        <p:nvPicPr>
          <p:cNvPr id="21507" name="Picture 3">
            <a:extLst>
              <a:ext uri="{FF2B5EF4-FFF2-40B4-BE49-F238E27FC236}">
                <a16:creationId xmlns:a16="http://schemas.microsoft.com/office/drawing/2014/main" xmlns="" id="{39514DB0-12C4-4613-9C30-448392281B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1371600"/>
            <a:ext cx="37338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Text Box 4">
            <a:extLst>
              <a:ext uri="{FF2B5EF4-FFF2-40B4-BE49-F238E27FC236}">
                <a16:creationId xmlns:a16="http://schemas.microsoft.com/office/drawing/2014/main" xmlns="" id="{DAABF304-DA82-427C-983B-AEEA0912DD58}"/>
              </a:ext>
            </a:extLst>
          </p:cNvPr>
          <p:cNvSpPr txBox="1">
            <a:spLocks noChangeArrowheads="1"/>
          </p:cNvSpPr>
          <p:nvPr/>
        </p:nvSpPr>
        <p:spPr bwMode="auto">
          <a:xfrm>
            <a:off x="1752600" y="1219201"/>
            <a:ext cx="4267200" cy="637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eaLnBrk="1" hangingPunct="1">
              <a:spcBef>
                <a:spcPct val="50000"/>
              </a:spcBef>
              <a:buClr>
                <a:schemeClr val="hlink"/>
              </a:buClr>
              <a:buFont typeface="Wingdings" panose="05000000000000000000" pitchFamily="2" charset="2"/>
              <a:buChar char="Ø"/>
            </a:pPr>
            <a:r>
              <a:rPr lang="en-US" altLang="en-US" sz="2400">
                <a:latin typeface="Arial" panose="020B0604020202020204" pitchFamily="34" charset="0"/>
              </a:rPr>
              <a:t>Congenital heart disease is associated with higher mortality</a:t>
            </a:r>
          </a:p>
          <a:p>
            <a:pPr lvl="1" eaLnBrk="1" hangingPunct="1">
              <a:spcBef>
                <a:spcPct val="50000"/>
              </a:spcBef>
              <a:buClr>
                <a:schemeClr val="tx1"/>
              </a:buClr>
              <a:buFont typeface="Wingdings" panose="05000000000000000000" pitchFamily="2" charset="2"/>
              <a:buChar char="§"/>
            </a:pPr>
            <a:r>
              <a:rPr lang="en-US" altLang="en-US" sz="2400">
                <a:latin typeface="Arial" panose="020B0604020202020204" pitchFamily="34" charset="0"/>
              </a:rPr>
              <a:t>VSD is most common</a:t>
            </a:r>
          </a:p>
          <a:p>
            <a:pPr lvl="1" eaLnBrk="1" hangingPunct="1">
              <a:spcBef>
                <a:spcPct val="50000"/>
              </a:spcBef>
              <a:buClr>
                <a:schemeClr val="tx1"/>
              </a:buClr>
              <a:buFont typeface="Wingdings" panose="05000000000000000000" pitchFamily="2" charset="2"/>
              <a:buChar char="§"/>
            </a:pPr>
            <a:r>
              <a:rPr lang="en-US" altLang="en-US" sz="2400">
                <a:latin typeface="Arial" panose="020B0604020202020204" pitchFamily="34" charset="0"/>
              </a:rPr>
              <a:t>ASD</a:t>
            </a:r>
          </a:p>
          <a:p>
            <a:pPr lvl="1" eaLnBrk="1" hangingPunct="1">
              <a:spcBef>
                <a:spcPct val="50000"/>
              </a:spcBef>
              <a:buClr>
                <a:schemeClr val="tx1"/>
              </a:buClr>
              <a:buFont typeface="Wingdings" panose="05000000000000000000" pitchFamily="2" charset="2"/>
              <a:buChar char="§"/>
            </a:pPr>
            <a:r>
              <a:rPr lang="en-US" altLang="en-US" sz="2400">
                <a:latin typeface="Arial" panose="020B0604020202020204" pitchFamily="34" charset="0"/>
              </a:rPr>
              <a:t>Tetralogy of Fallot</a:t>
            </a:r>
          </a:p>
          <a:p>
            <a:pPr lvl="1" eaLnBrk="1" hangingPunct="1">
              <a:spcBef>
                <a:spcPct val="50000"/>
              </a:spcBef>
              <a:buClr>
                <a:schemeClr val="tx1"/>
              </a:buClr>
              <a:buFont typeface="Wingdings" panose="05000000000000000000" pitchFamily="2" charset="2"/>
              <a:buChar char="§"/>
            </a:pPr>
            <a:r>
              <a:rPr lang="en-US" altLang="en-US" sz="2400">
                <a:latin typeface="Arial" panose="020B0604020202020204" pitchFamily="34" charset="0"/>
              </a:rPr>
              <a:t>PDA</a:t>
            </a:r>
          </a:p>
          <a:p>
            <a:pPr eaLnBrk="1" hangingPunct="1">
              <a:spcBef>
                <a:spcPct val="50000"/>
              </a:spcBef>
            </a:pPr>
            <a:endParaRPr lang="en-US" altLang="en-US" sz="2400">
              <a:latin typeface="Arial" panose="020B0604020202020204" pitchFamily="34" charset="0"/>
            </a:endParaRPr>
          </a:p>
          <a:p>
            <a:pPr eaLnBrk="1" hangingPunct="1">
              <a:spcBef>
                <a:spcPct val="50000"/>
              </a:spcBef>
              <a:buClr>
                <a:schemeClr val="hlink"/>
              </a:buClr>
              <a:buFont typeface="Wingdings" panose="05000000000000000000" pitchFamily="2" charset="2"/>
              <a:buChar char="Ø"/>
            </a:pPr>
            <a:r>
              <a:rPr lang="en-US" altLang="en-US" sz="2400">
                <a:latin typeface="Arial" panose="020B0604020202020204" pitchFamily="34" charset="0"/>
              </a:rPr>
              <a:t>Echocardiogram – important to determine position of aortic arch</a:t>
            </a:r>
          </a:p>
          <a:p>
            <a:pPr eaLnBrk="1" hangingPunct="1">
              <a:spcBef>
                <a:spcPct val="50000"/>
              </a:spcBef>
              <a:buClr>
                <a:schemeClr val="hlink"/>
              </a:buClr>
              <a:buFont typeface="Wingdings" panose="05000000000000000000" pitchFamily="2" charset="2"/>
              <a:buChar char="Ø"/>
            </a:pPr>
            <a:endParaRPr lang="en-US" altLang="en-US" sz="2400">
              <a:latin typeface="Arial" panose="020B0604020202020204" pitchFamily="34" charset="0"/>
            </a:endParaRPr>
          </a:p>
          <a:p>
            <a:pPr eaLnBrk="1" hangingPunct="1">
              <a:spcBef>
                <a:spcPct val="50000"/>
              </a:spcBef>
            </a:pPr>
            <a:endParaRPr lang="en-US" altLang="en-US" sz="2400">
              <a:latin typeface="Arial" panose="020B0604020202020204" pitchFamily="34" charset="0"/>
            </a:endParaRPr>
          </a:p>
        </p:txBody>
      </p:sp>
      <p:sp>
        <p:nvSpPr>
          <p:cNvPr id="21509" name="Date Placeholder 4">
            <a:extLst>
              <a:ext uri="{FF2B5EF4-FFF2-40B4-BE49-F238E27FC236}">
                <a16:creationId xmlns:a16="http://schemas.microsoft.com/office/drawing/2014/main" xmlns="" id="{3E0DCB2B-F226-4E39-9BE6-406142C5D483}"/>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4135EE14-4C41-4DB2-B6C0-54E299C7B24D}" type="datetime1">
              <a:rPr lang="en-US" altLang="en-US" smtClean="0">
                <a:solidFill>
                  <a:schemeClr val="tx2"/>
                </a:solidFill>
              </a:rPr>
              <a:pPr/>
              <a:t>11/26/2020</a:t>
            </a:fld>
            <a:endParaRPr lang="en-US" altLang="en-US">
              <a:solidFill>
                <a:schemeClr val="tx2"/>
              </a:solidFill>
            </a:endParaRPr>
          </a:p>
        </p:txBody>
      </p:sp>
      <p:sp>
        <p:nvSpPr>
          <p:cNvPr id="21510" name="Footer Placeholder 6">
            <a:extLst>
              <a:ext uri="{FF2B5EF4-FFF2-40B4-BE49-F238E27FC236}">
                <a16:creationId xmlns:a16="http://schemas.microsoft.com/office/drawing/2014/main" xmlns="" id="{58A37DEC-EA9D-435F-8F5F-6CB97189405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a:solidFill>
                  <a:schemeClr val="tx2"/>
                </a:solidFill>
              </a:rPr>
              <a:t>GI anomalies</a:t>
            </a:r>
          </a:p>
        </p:txBody>
      </p:sp>
      <p:sp>
        <p:nvSpPr>
          <p:cNvPr id="21511" name="Slide Number Placeholder 5">
            <a:extLst>
              <a:ext uri="{FF2B5EF4-FFF2-40B4-BE49-F238E27FC236}">
                <a16:creationId xmlns:a16="http://schemas.microsoft.com/office/drawing/2014/main" xmlns="" id="{FFE27705-FAFA-4995-9D4C-F3AEA662D0E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E8970BD3-C970-479C-B7D6-38FAC42CBE46}" type="slidenum">
              <a:rPr lang="en-US" altLang="en-US">
                <a:solidFill>
                  <a:schemeClr val="tx2"/>
                </a:solidFill>
              </a:rPr>
              <a:pPr/>
              <a:t>117</a:t>
            </a:fld>
            <a:endParaRPr lang="en-US" altLang="en-US">
              <a:solidFill>
                <a:schemeClr val="tx2"/>
              </a:solidFill>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xmlns="" id="{C198E972-D72D-4D06-92D5-DCF867592904}"/>
              </a:ext>
            </a:extLst>
          </p:cNvPr>
          <p:cNvSpPr>
            <a:spLocks noGrp="1" noRot="1" noChangeArrowheads="1"/>
          </p:cNvSpPr>
          <p:nvPr>
            <p:ph type="title"/>
          </p:nvPr>
        </p:nvSpPr>
        <p:spPr/>
        <p:txBody>
          <a:bodyPr>
            <a:normAutofit/>
          </a:bodyPr>
          <a:lstStyle/>
          <a:p>
            <a:pPr>
              <a:defRPr/>
            </a:pPr>
            <a:r>
              <a:rPr lang="en-US" dirty="0"/>
              <a:t>   </a:t>
            </a:r>
          </a:p>
        </p:txBody>
      </p:sp>
      <p:sp>
        <p:nvSpPr>
          <p:cNvPr id="112643" name="Rectangle 3">
            <a:extLst>
              <a:ext uri="{FF2B5EF4-FFF2-40B4-BE49-F238E27FC236}">
                <a16:creationId xmlns:a16="http://schemas.microsoft.com/office/drawing/2014/main" xmlns="" id="{2371CFF2-4D98-4045-830E-8C0E6EBEAB00}"/>
              </a:ext>
            </a:extLst>
          </p:cNvPr>
          <p:cNvSpPr>
            <a:spLocks noGrp="1" noChangeArrowheads="1"/>
          </p:cNvSpPr>
          <p:nvPr>
            <p:ph sz="half" idx="1"/>
          </p:nvPr>
        </p:nvSpPr>
        <p:spPr/>
        <p:txBody>
          <a:bodyPr>
            <a:normAutofit lnSpcReduction="10000"/>
          </a:bodyPr>
          <a:lstStyle/>
          <a:p>
            <a:pPr marL="640080" lvl="1" indent="-274320">
              <a:buClr>
                <a:schemeClr val="tx1"/>
              </a:buClr>
              <a:buFont typeface="Wingdings" pitchFamily="124" charset="2"/>
              <a:buChar char="§"/>
              <a:defRPr/>
            </a:pPr>
            <a:r>
              <a:rPr lang="en-US" b="1" dirty="0"/>
              <a:t>Prenatally</a:t>
            </a:r>
          </a:p>
          <a:p>
            <a:pPr lvl="2">
              <a:buClr>
                <a:schemeClr val="tx1"/>
              </a:buClr>
              <a:buFont typeface="Times" pitchFamily="124" charset="0"/>
              <a:buChar char="•"/>
              <a:defRPr/>
            </a:pPr>
            <a:r>
              <a:rPr lang="en-US" sz="2400" b="1" dirty="0"/>
              <a:t>Predictive value of prenatal ultrasound ~20-40%</a:t>
            </a:r>
          </a:p>
          <a:p>
            <a:pPr lvl="2">
              <a:buClr>
                <a:schemeClr val="tx1"/>
              </a:buClr>
              <a:buFont typeface="Times" pitchFamily="124" charset="0"/>
              <a:buChar char="•"/>
              <a:defRPr/>
            </a:pPr>
            <a:r>
              <a:rPr lang="en-US" sz="2400" b="1" dirty="0" err="1"/>
              <a:t>Polyhydramnios</a:t>
            </a:r>
            <a:r>
              <a:rPr lang="en-US" sz="2400" b="1" dirty="0"/>
              <a:t> (2/3 cases)</a:t>
            </a:r>
          </a:p>
          <a:p>
            <a:pPr lvl="2">
              <a:buClr>
                <a:schemeClr val="tx1"/>
              </a:buClr>
              <a:buFont typeface="Times" pitchFamily="124" charset="0"/>
              <a:buChar char="•"/>
              <a:defRPr/>
            </a:pPr>
            <a:r>
              <a:rPr lang="en-US" sz="2400" b="1" dirty="0"/>
              <a:t>Small or absent stomach bubble </a:t>
            </a:r>
          </a:p>
        </p:txBody>
      </p:sp>
      <p:sp>
        <p:nvSpPr>
          <p:cNvPr id="2" name="Content Placeholder 1">
            <a:extLst>
              <a:ext uri="{FF2B5EF4-FFF2-40B4-BE49-F238E27FC236}">
                <a16:creationId xmlns:a16="http://schemas.microsoft.com/office/drawing/2014/main" xmlns="" id="{5E15E782-F813-42A6-B9A3-3BAA23AAA8B7}"/>
              </a:ext>
            </a:extLst>
          </p:cNvPr>
          <p:cNvSpPr>
            <a:spLocks noGrp="1"/>
          </p:cNvSpPr>
          <p:nvPr>
            <p:ph sz="half" idx="2"/>
          </p:nvPr>
        </p:nvSpPr>
        <p:spPr/>
        <p:txBody>
          <a:bodyPr>
            <a:normAutofit lnSpcReduction="10000"/>
          </a:bodyPr>
          <a:lstStyle/>
          <a:p>
            <a:pPr marL="640080" lvl="1" indent="-274320">
              <a:buClr>
                <a:schemeClr val="tx1"/>
              </a:buClr>
              <a:buFont typeface="Wingdings" pitchFamily="124" charset="2"/>
              <a:buChar char="§"/>
              <a:defRPr/>
            </a:pPr>
            <a:r>
              <a:rPr lang="en-US" b="1" dirty="0"/>
              <a:t>Postnatal-</a:t>
            </a:r>
          </a:p>
          <a:p>
            <a:pPr lvl="2">
              <a:buClr>
                <a:schemeClr val="tx1"/>
              </a:buClr>
              <a:buFont typeface="Times" pitchFamily="124" charset="0"/>
              <a:buChar char="•"/>
              <a:defRPr/>
            </a:pPr>
            <a:r>
              <a:rPr lang="en-US" sz="2400" b="1" dirty="0"/>
              <a:t>Most infants are symptomatic within the first few hours of life</a:t>
            </a:r>
          </a:p>
          <a:p>
            <a:pPr lvl="2">
              <a:buClr>
                <a:schemeClr val="tx1"/>
              </a:buClr>
              <a:buFont typeface="Times" pitchFamily="124" charset="0"/>
              <a:buChar char="•"/>
              <a:defRPr/>
            </a:pPr>
            <a:r>
              <a:rPr lang="en-US" sz="2400" b="1" dirty="0"/>
              <a:t>Excessive salivation</a:t>
            </a:r>
          </a:p>
          <a:p>
            <a:pPr lvl="2">
              <a:buClr>
                <a:schemeClr val="tx1"/>
              </a:buClr>
              <a:buFont typeface="Times" pitchFamily="124" charset="0"/>
              <a:buChar char="•"/>
              <a:defRPr/>
            </a:pPr>
            <a:r>
              <a:rPr lang="en-US" sz="2400" b="1" dirty="0"/>
              <a:t>Regurgitation of first feed</a:t>
            </a:r>
          </a:p>
          <a:p>
            <a:pPr lvl="2">
              <a:buClr>
                <a:schemeClr val="tx1"/>
              </a:buClr>
              <a:buFont typeface="Times" pitchFamily="124" charset="0"/>
              <a:buChar char="•"/>
              <a:defRPr/>
            </a:pPr>
            <a:r>
              <a:rPr lang="en-US" sz="2400" b="1" dirty="0"/>
              <a:t>Cyanosis with/without feeds</a:t>
            </a:r>
          </a:p>
          <a:p>
            <a:pPr lvl="2">
              <a:buClr>
                <a:schemeClr val="tx1"/>
              </a:buClr>
              <a:buFont typeface="Times" pitchFamily="124" charset="0"/>
              <a:buChar char="•"/>
              <a:defRPr/>
            </a:pPr>
            <a:r>
              <a:rPr lang="en-US" sz="2400" b="1" dirty="0"/>
              <a:t>Respiratory distress</a:t>
            </a:r>
          </a:p>
          <a:p>
            <a:pPr lvl="2">
              <a:buClr>
                <a:schemeClr val="tx1"/>
              </a:buClr>
              <a:buFont typeface="Times" pitchFamily="124" charset="0"/>
              <a:buChar char="•"/>
              <a:defRPr/>
            </a:pPr>
            <a:r>
              <a:rPr lang="en-US" sz="2400" b="1" dirty="0"/>
              <a:t>Inability to pass a catheter into the stomach</a:t>
            </a:r>
          </a:p>
          <a:p>
            <a:pPr lvl="2">
              <a:buClr>
                <a:schemeClr val="tx1"/>
              </a:buClr>
              <a:buFont typeface="Times" pitchFamily="124" charset="0"/>
              <a:buChar char="•"/>
              <a:defRPr/>
            </a:pPr>
            <a:r>
              <a:rPr lang="en-US" sz="2400" b="1" dirty="0"/>
              <a:t>Gastric distention (with distal fistula)</a:t>
            </a:r>
          </a:p>
          <a:p>
            <a:endParaRPr lang="en-US" dirty="0"/>
          </a:p>
        </p:txBody>
      </p:sp>
      <p:sp>
        <p:nvSpPr>
          <p:cNvPr id="23556" name="Date Placeholder 3">
            <a:extLst>
              <a:ext uri="{FF2B5EF4-FFF2-40B4-BE49-F238E27FC236}">
                <a16:creationId xmlns:a16="http://schemas.microsoft.com/office/drawing/2014/main" xmlns="" id="{CEE49641-5638-473F-9D98-EC13C7375B36}"/>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17182EA6-E8E7-4170-8553-8158AD60EA11}" type="datetime1">
              <a:rPr lang="en-US" altLang="en-US" smtClean="0">
                <a:solidFill>
                  <a:schemeClr val="tx2"/>
                </a:solidFill>
              </a:rPr>
              <a:pPr/>
              <a:t>11/26/2020</a:t>
            </a:fld>
            <a:endParaRPr lang="en-US" altLang="en-US">
              <a:solidFill>
                <a:schemeClr val="tx2"/>
              </a:solidFill>
            </a:endParaRPr>
          </a:p>
        </p:txBody>
      </p:sp>
      <p:sp>
        <p:nvSpPr>
          <p:cNvPr id="5" name="Slide Number Placeholder 4">
            <a:extLst>
              <a:ext uri="{FF2B5EF4-FFF2-40B4-BE49-F238E27FC236}">
                <a16:creationId xmlns:a16="http://schemas.microsoft.com/office/drawing/2014/main" xmlns="" id="{D526E443-6C3F-4A37-950D-E61A4E549E8D}"/>
              </a:ext>
            </a:extLst>
          </p:cNvPr>
          <p:cNvSpPr>
            <a:spLocks noGrp="1"/>
          </p:cNvSpPr>
          <p:nvPr>
            <p:ph type="sldNum" sz="quarter" idx="4294967295"/>
          </p:nvPr>
        </p:nvSpPr>
        <p:spPr>
          <a:xfrm>
            <a:off x="0" y="6356350"/>
            <a:ext cx="4114800" cy="365125"/>
          </a:xfrm>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nSpc>
                <a:spcPct val="80000"/>
              </a:lnSpc>
            </a:pPr>
            <a:fld id="{A11BC718-70B9-4040-AEF3-916B1DD88FB9}" type="slidenum">
              <a:rPr lang="en-US" altLang="en-US">
                <a:solidFill>
                  <a:srgbClr val="FFFFFF"/>
                </a:solidFill>
              </a:rPr>
              <a:pPr>
                <a:lnSpc>
                  <a:spcPct val="80000"/>
                </a:lnSpc>
              </a:pPr>
              <a:t>118</a:t>
            </a:fld>
            <a:endParaRPr lang="en-US" altLang="en-US">
              <a:solidFill>
                <a:srgbClr val="FFFFFF"/>
              </a:solidFill>
            </a:endParaRPr>
          </a:p>
        </p:txBody>
      </p:sp>
      <p:sp>
        <p:nvSpPr>
          <p:cNvPr id="23558" name="Footer Placeholder 5">
            <a:extLst>
              <a:ext uri="{FF2B5EF4-FFF2-40B4-BE49-F238E27FC236}">
                <a16:creationId xmlns:a16="http://schemas.microsoft.com/office/drawing/2014/main" xmlns="" id="{920A5B3D-DD15-4844-AFDF-99D15400BC42}"/>
              </a:ext>
            </a:extLst>
          </p:cNvPr>
          <p:cNvSpPr>
            <a:spLocks noGrp="1"/>
          </p:cNvSpPr>
          <p:nvPr>
            <p:ph type="ftr" sz="quarter" idx="4294967295"/>
          </p:nvPr>
        </p:nvSpPr>
        <p:spPr bwMode="auto">
          <a:xfrm>
            <a:off x="9448800" y="63563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a:solidFill>
                  <a:schemeClr val="tx2"/>
                </a:solidFill>
              </a:rPr>
              <a:t>GI anomalies</a:t>
            </a:r>
          </a:p>
        </p:txBody>
      </p:sp>
      <p:sp>
        <p:nvSpPr>
          <p:cNvPr id="23559" name="Rectangle 6">
            <a:extLst>
              <a:ext uri="{FF2B5EF4-FFF2-40B4-BE49-F238E27FC236}">
                <a16:creationId xmlns:a16="http://schemas.microsoft.com/office/drawing/2014/main" xmlns="" id="{58A3A15B-D3DE-44D6-8945-06324B0C6AFD}"/>
              </a:ext>
            </a:extLst>
          </p:cNvPr>
          <p:cNvSpPr>
            <a:spLocks noChangeArrowheads="1"/>
          </p:cNvSpPr>
          <p:nvPr/>
        </p:nvSpPr>
        <p:spPr bwMode="auto">
          <a:xfrm>
            <a:off x="1905000" y="533401"/>
            <a:ext cx="76962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19088" indent="-319088">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spcBef>
                <a:spcPts val="700"/>
              </a:spcBef>
              <a:buClr>
                <a:srgbClr val="DD8047"/>
              </a:buClr>
              <a:buSzPct val="60000"/>
            </a:pPr>
            <a:r>
              <a:rPr lang="en-US" altLang="en-US" sz="4000" b="1">
                <a:solidFill>
                  <a:srgbClr val="000000"/>
                </a:solidFill>
                <a:latin typeface="Tw Cen MT" panose="020B0602020104020603" pitchFamily="34" charset="0"/>
              </a:rPr>
              <a:t>Clinical Features of TEF</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xmlns="" id="{8EE27888-A2E7-424E-9E9A-7CFCE39A7227}"/>
              </a:ext>
            </a:extLst>
          </p:cNvPr>
          <p:cNvSpPr>
            <a:spLocks noGrp="1" noRot="1" noChangeArrowheads="1"/>
          </p:cNvSpPr>
          <p:nvPr>
            <p:ph type="title"/>
          </p:nvPr>
        </p:nvSpPr>
        <p:spPr>
          <a:xfrm>
            <a:off x="1981200" y="304800"/>
            <a:ext cx="8229600" cy="990600"/>
          </a:xfrm>
        </p:spPr>
        <p:txBody>
          <a:bodyPr>
            <a:normAutofit fontScale="90000"/>
          </a:bodyPr>
          <a:lstStyle/>
          <a:p>
            <a:pPr>
              <a:defRPr/>
            </a:pPr>
            <a:r>
              <a:rPr lang="en-US" b="1" dirty="0">
                <a:solidFill>
                  <a:schemeClr val="tx1"/>
                </a:solidFill>
              </a:rPr>
              <a:t> </a:t>
            </a:r>
            <a:br>
              <a:rPr lang="en-US" b="1" dirty="0">
                <a:solidFill>
                  <a:schemeClr val="tx1"/>
                </a:solidFill>
              </a:rPr>
            </a:br>
            <a:r>
              <a:rPr lang="en-US" b="1" dirty="0">
                <a:solidFill>
                  <a:schemeClr val="tx1"/>
                </a:solidFill>
              </a:rPr>
              <a:t>Diagnosis of TEF</a:t>
            </a:r>
            <a:br>
              <a:rPr lang="en-US" b="1" dirty="0">
                <a:solidFill>
                  <a:schemeClr val="tx1"/>
                </a:solidFill>
              </a:rPr>
            </a:br>
            <a:endParaRPr lang="en-US" b="1" dirty="0">
              <a:solidFill>
                <a:schemeClr val="tx1"/>
              </a:solidFill>
            </a:endParaRPr>
          </a:p>
        </p:txBody>
      </p:sp>
      <p:sp>
        <p:nvSpPr>
          <p:cNvPr id="24579" name="Rectangle 3">
            <a:extLst>
              <a:ext uri="{FF2B5EF4-FFF2-40B4-BE49-F238E27FC236}">
                <a16:creationId xmlns:a16="http://schemas.microsoft.com/office/drawing/2014/main" xmlns="" id="{72C6670D-A047-4CC5-8816-62501801D2FB}"/>
              </a:ext>
            </a:extLst>
          </p:cNvPr>
          <p:cNvSpPr>
            <a:spLocks noGrp="1" noChangeArrowheads="1"/>
          </p:cNvSpPr>
          <p:nvPr>
            <p:ph sz="quarter" idx="1"/>
          </p:nvPr>
        </p:nvSpPr>
        <p:spPr>
          <a:xfrm>
            <a:off x="1981200" y="1219200"/>
            <a:ext cx="8229600" cy="5257800"/>
          </a:xfrm>
        </p:spPr>
        <p:txBody>
          <a:bodyPr/>
          <a:lstStyle/>
          <a:p>
            <a:pPr eaLnBrk="1" hangingPunct="1">
              <a:buFont typeface="Wingdings" panose="05000000000000000000" pitchFamily="2" charset="2"/>
              <a:buNone/>
            </a:pPr>
            <a:endParaRPr lang="en-US" altLang="en-US"/>
          </a:p>
          <a:p>
            <a:pPr lvl="1" eaLnBrk="1" hangingPunct="1">
              <a:buClr>
                <a:schemeClr val="tx1"/>
              </a:buClr>
              <a:buFont typeface="Wingdings" panose="05000000000000000000" pitchFamily="2" charset="2"/>
              <a:buChar char="§"/>
            </a:pPr>
            <a:r>
              <a:rPr lang="en-US" altLang="en-US" b="1"/>
              <a:t>Failure to pass NG tube (not the H type)</a:t>
            </a:r>
          </a:p>
          <a:p>
            <a:pPr lvl="1" eaLnBrk="1" hangingPunct="1">
              <a:buClr>
                <a:schemeClr val="tx1"/>
              </a:buClr>
              <a:buFont typeface="Wingdings" panose="05000000000000000000" pitchFamily="2" charset="2"/>
              <a:buChar char="§"/>
            </a:pPr>
            <a:r>
              <a:rPr lang="en-US" altLang="en-US" b="1"/>
              <a:t>CXR- tube coiled in upper esophagus</a:t>
            </a:r>
          </a:p>
          <a:p>
            <a:pPr lvl="1" eaLnBrk="1" hangingPunct="1">
              <a:buClr>
                <a:schemeClr val="tx1"/>
              </a:buClr>
              <a:buFont typeface="Wingdings" panose="05000000000000000000" pitchFamily="2" charset="2"/>
              <a:buChar char="§"/>
            </a:pPr>
            <a:r>
              <a:rPr lang="en-US" altLang="en-US" b="1"/>
              <a:t>“Pouchogram” with air </a:t>
            </a:r>
          </a:p>
          <a:p>
            <a:pPr lvl="1" eaLnBrk="1" hangingPunct="1">
              <a:buClr>
                <a:schemeClr val="tx1"/>
              </a:buClr>
              <a:buFont typeface="Wingdings" panose="05000000000000000000" pitchFamily="2" charset="2"/>
              <a:buChar char="§"/>
            </a:pPr>
            <a:r>
              <a:rPr lang="en-US" altLang="en-US" b="1"/>
              <a:t>Distal air on AXR confirms the presence of a fistula</a:t>
            </a:r>
          </a:p>
          <a:p>
            <a:pPr lvl="1" eaLnBrk="1" hangingPunct="1">
              <a:buClr>
                <a:schemeClr val="tx1"/>
              </a:buClr>
              <a:buFont typeface="Wingdings" panose="05000000000000000000" pitchFamily="2" charset="2"/>
              <a:buChar char="§"/>
            </a:pPr>
            <a:r>
              <a:rPr lang="en-US" altLang="en-US" b="1"/>
              <a:t>H-type fistulas are often diagnosed later </a:t>
            </a:r>
          </a:p>
          <a:p>
            <a:pPr lvl="2" eaLnBrk="1" hangingPunct="1">
              <a:buClr>
                <a:schemeClr val="tx1"/>
              </a:buClr>
              <a:buFont typeface="Wingdings" panose="05000000000000000000" pitchFamily="2" charset="2"/>
              <a:buChar char="§"/>
            </a:pPr>
            <a:r>
              <a:rPr lang="en-US" altLang="en-US">
                <a:latin typeface="Arial" panose="020B0604020202020204" pitchFamily="34" charset="0"/>
              </a:rPr>
              <a:t>May present with recurrent pneumonia</a:t>
            </a:r>
          </a:p>
          <a:p>
            <a:pPr lvl="2" eaLnBrk="1" hangingPunct="1">
              <a:buClr>
                <a:schemeClr val="tx1"/>
              </a:buClr>
              <a:buFont typeface="Wingdings" panose="05000000000000000000" pitchFamily="2" charset="2"/>
              <a:buChar char="§"/>
            </a:pPr>
            <a:r>
              <a:rPr lang="en-US" altLang="en-US">
                <a:latin typeface="Arial" panose="020B0604020202020204" pitchFamily="34" charset="0"/>
              </a:rPr>
              <a:t>Delay in diagnosis ranged from 26 days to 4 years.</a:t>
            </a:r>
          </a:p>
          <a:p>
            <a:pPr eaLnBrk="1" hangingPunct="1"/>
            <a:endParaRPr lang="en-US" altLang="en-US">
              <a:latin typeface="Arial" panose="020B0604020202020204" pitchFamily="34" charset="0"/>
            </a:endParaRPr>
          </a:p>
          <a:p>
            <a:pPr lvl="2" eaLnBrk="1" hangingPunct="1">
              <a:buClr>
                <a:schemeClr val="tx1"/>
              </a:buClr>
              <a:buFont typeface="Wingdings" panose="05000000000000000000" pitchFamily="2" charset="2"/>
              <a:buChar char="§"/>
            </a:pPr>
            <a:endParaRPr lang="en-US" altLang="en-US" b="1"/>
          </a:p>
        </p:txBody>
      </p:sp>
      <p:sp>
        <p:nvSpPr>
          <p:cNvPr id="24580" name="Date Placeholder 3">
            <a:extLst>
              <a:ext uri="{FF2B5EF4-FFF2-40B4-BE49-F238E27FC236}">
                <a16:creationId xmlns:a16="http://schemas.microsoft.com/office/drawing/2014/main" xmlns="" id="{77557F2E-39F2-4E9A-8AF0-7AB13C6C649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93CF8083-20CA-4AC6-ACA7-ED61BD10A13C}" type="datetime1">
              <a:rPr lang="en-US" altLang="en-US" smtClean="0">
                <a:solidFill>
                  <a:schemeClr val="tx2"/>
                </a:solidFill>
              </a:rPr>
              <a:pPr/>
              <a:t>11/26/2020</a:t>
            </a:fld>
            <a:endParaRPr lang="en-US" altLang="en-US">
              <a:solidFill>
                <a:schemeClr val="tx2"/>
              </a:solidFill>
            </a:endParaRPr>
          </a:p>
        </p:txBody>
      </p:sp>
      <p:sp>
        <p:nvSpPr>
          <p:cNvPr id="24581" name="Footer Placeholder 5">
            <a:extLst>
              <a:ext uri="{FF2B5EF4-FFF2-40B4-BE49-F238E27FC236}">
                <a16:creationId xmlns:a16="http://schemas.microsoft.com/office/drawing/2014/main" xmlns="" id="{6454E46D-689C-4F41-A6F6-C61E77967448}"/>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a:solidFill>
                  <a:schemeClr val="tx2"/>
                </a:solidFill>
              </a:rPr>
              <a:t>GI anomalies</a:t>
            </a:r>
          </a:p>
        </p:txBody>
      </p:sp>
      <p:sp>
        <p:nvSpPr>
          <p:cNvPr id="5" name="Slide Number Placeholder 4">
            <a:extLst>
              <a:ext uri="{FF2B5EF4-FFF2-40B4-BE49-F238E27FC236}">
                <a16:creationId xmlns:a16="http://schemas.microsoft.com/office/drawing/2014/main" xmlns="" id="{15036144-BE03-48F7-9817-4FB4DA4A23AA}"/>
              </a:ext>
            </a:extLst>
          </p:cNvPr>
          <p:cNvSpPr>
            <a:spLocks noGrp="1"/>
          </p:cNvSpPr>
          <p:nvPr>
            <p:ph type="sldNum" sz="quarter" idx="12"/>
          </p:nvPr>
        </p:nvSpPr>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nSpc>
                <a:spcPct val="80000"/>
              </a:lnSpc>
            </a:pPr>
            <a:fld id="{A22F4236-57C3-490A-924B-63B421A2079E}" type="slidenum">
              <a:rPr lang="en-US" altLang="en-US">
                <a:solidFill>
                  <a:srgbClr val="FFFFFF"/>
                </a:solidFill>
              </a:rPr>
              <a:pPr>
                <a:lnSpc>
                  <a:spcPct val="80000"/>
                </a:lnSpc>
              </a:pPr>
              <a:t>119</a:t>
            </a:fld>
            <a:endParaRPr lang="en-US" altLang="en-US">
              <a:solidFill>
                <a:srgbClr val="FFFFFF"/>
              </a:solidFill>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a:extLst>
              <a:ext uri="{FF2B5EF4-FFF2-40B4-BE49-F238E27FC236}">
                <a16:creationId xmlns:a16="http://schemas.microsoft.com/office/drawing/2014/main" xmlns="" id="{5679BAEB-3612-44F3-8A88-745A3F64AD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390651"/>
            <a:ext cx="3924300" cy="47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3" name="Picture 3">
            <a:extLst>
              <a:ext uri="{FF2B5EF4-FFF2-40B4-BE49-F238E27FC236}">
                <a16:creationId xmlns:a16="http://schemas.microsoft.com/office/drawing/2014/main" xmlns="" id="{FB0CFB40-36B0-4351-A89B-C88B37DD7B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05476" y="1390651"/>
            <a:ext cx="4962525" cy="47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4" name="Text Box 4">
            <a:extLst>
              <a:ext uri="{FF2B5EF4-FFF2-40B4-BE49-F238E27FC236}">
                <a16:creationId xmlns:a16="http://schemas.microsoft.com/office/drawing/2014/main" xmlns="" id="{23898224-88C6-4465-ADA1-BE9C0006A0C7}"/>
              </a:ext>
            </a:extLst>
          </p:cNvPr>
          <p:cNvSpPr txBox="1">
            <a:spLocks noChangeArrowheads="1"/>
          </p:cNvSpPr>
          <p:nvPr/>
        </p:nvSpPr>
        <p:spPr bwMode="auto">
          <a:xfrm>
            <a:off x="1738313" y="-36513"/>
            <a:ext cx="8610600" cy="457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spcBef>
                <a:spcPct val="50000"/>
              </a:spcBef>
            </a:pPr>
            <a:r>
              <a:rPr lang="en-US" altLang="en-US" sz="2400" b="1">
                <a:latin typeface="Arial" panose="020B0604020202020204" pitchFamily="34" charset="0"/>
              </a:rPr>
              <a:t>Diagnosis</a:t>
            </a:r>
          </a:p>
        </p:txBody>
      </p:sp>
      <p:sp>
        <p:nvSpPr>
          <p:cNvPr id="25605" name="Text Box 5">
            <a:extLst>
              <a:ext uri="{FF2B5EF4-FFF2-40B4-BE49-F238E27FC236}">
                <a16:creationId xmlns:a16="http://schemas.microsoft.com/office/drawing/2014/main" xmlns="" id="{13E60E71-7004-44A0-BC6F-A9940E9B8AA2}"/>
              </a:ext>
            </a:extLst>
          </p:cNvPr>
          <p:cNvSpPr txBox="1">
            <a:spLocks noChangeArrowheads="1"/>
          </p:cNvSpPr>
          <p:nvPr/>
        </p:nvSpPr>
        <p:spPr bwMode="auto">
          <a:xfrm>
            <a:off x="1511300" y="481013"/>
            <a:ext cx="4191000"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eaLnBrk="1" hangingPunct="1">
              <a:lnSpc>
                <a:spcPct val="80000"/>
              </a:lnSpc>
              <a:spcBef>
                <a:spcPct val="20000"/>
              </a:spcBef>
            </a:pPr>
            <a:r>
              <a:rPr lang="en-US" altLang="en-US">
                <a:latin typeface="Arial" panose="020B0604020202020204" pitchFamily="34" charset="0"/>
              </a:rPr>
              <a:t>Confirm with AP chest x-ray that demonstrates the catheter curled in the upper esophageal pouch.</a:t>
            </a:r>
          </a:p>
          <a:p>
            <a:pPr eaLnBrk="1" hangingPunct="1">
              <a:spcBef>
                <a:spcPct val="50000"/>
              </a:spcBef>
            </a:pPr>
            <a:endParaRPr lang="en-US" altLang="en-US">
              <a:latin typeface="Arial" panose="020B0604020202020204" pitchFamily="34" charset="0"/>
            </a:endParaRPr>
          </a:p>
        </p:txBody>
      </p:sp>
      <p:sp>
        <p:nvSpPr>
          <p:cNvPr id="25606" name="Text Box 6">
            <a:extLst>
              <a:ext uri="{FF2B5EF4-FFF2-40B4-BE49-F238E27FC236}">
                <a16:creationId xmlns:a16="http://schemas.microsoft.com/office/drawing/2014/main" xmlns="" id="{BCB49AB3-F87E-4083-BC31-D448739F4344}"/>
              </a:ext>
            </a:extLst>
          </p:cNvPr>
          <p:cNvSpPr txBox="1">
            <a:spLocks noChangeArrowheads="1"/>
          </p:cNvSpPr>
          <p:nvPr/>
        </p:nvSpPr>
        <p:spPr bwMode="auto">
          <a:xfrm>
            <a:off x="5705475" y="420688"/>
            <a:ext cx="4648200"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eaLnBrk="1" hangingPunct="1">
              <a:lnSpc>
                <a:spcPct val="80000"/>
              </a:lnSpc>
              <a:spcBef>
                <a:spcPct val="20000"/>
              </a:spcBef>
              <a:buFontTx/>
              <a:buChar char="•"/>
            </a:pPr>
            <a:r>
              <a:rPr lang="en-US" altLang="en-US">
                <a:latin typeface="Arial" panose="020B0604020202020204" pitchFamily="34" charset="0"/>
              </a:rPr>
              <a:t>Abdominal XR can help distinguish esophageal blind pouch (no gastric air) from distal TEF (gastric air)</a:t>
            </a:r>
          </a:p>
          <a:p>
            <a:pPr eaLnBrk="1" hangingPunct="1">
              <a:spcBef>
                <a:spcPct val="50000"/>
              </a:spcBef>
            </a:pPr>
            <a:endParaRPr lang="en-US" altLang="en-US">
              <a:latin typeface="Arial" panose="020B0604020202020204" pitchFamily="34" charset="0"/>
            </a:endParaRPr>
          </a:p>
        </p:txBody>
      </p:sp>
      <p:sp>
        <p:nvSpPr>
          <p:cNvPr id="25607" name="Text Box 7">
            <a:extLst>
              <a:ext uri="{FF2B5EF4-FFF2-40B4-BE49-F238E27FC236}">
                <a16:creationId xmlns:a16="http://schemas.microsoft.com/office/drawing/2014/main" xmlns="" id="{8E6F590B-D48B-45EF-B379-E822C6F92F1C}"/>
              </a:ext>
            </a:extLst>
          </p:cNvPr>
          <p:cNvSpPr txBox="1">
            <a:spLocks noChangeArrowheads="1"/>
          </p:cNvSpPr>
          <p:nvPr/>
        </p:nvSpPr>
        <p:spPr bwMode="auto">
          <a:xfrm>
            <a:off x="5867400" y="6811963"/>
            <a:ext cx="48006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eaLnBrk="1" hangingPunct="1">
              <a:lnSpc>
                <a:spcPct val="80000"/>
              </a:lnSpc>
              <a:spcBef>
                <a:spcPct val="20000"/>
              </a:spcBef>
            </a:pPr>
            <a:endParaRPr lang="en-US" altLang="en-US">
              <a:latin typeface="Arial" panose="020B0604020202020204" pitchFamily="34" charset="0"/>
            </a:endParaRPr>
          </a:p>
          <a:p>
            <a:pPr eaLnBrk="1" hangingPunct="1">
              <a:spcBef>
                <a:spcPct val="50000"/>
              </a:spcBef>
            </a:pPr>
            <a:endParaRPr lang="en-US" altLang="en-US">
              <a:latin typeface="Arial" panose="020B0604020202020204" pitchFamily="34" charset="0"/>
            </a:endParaRPr>
          </a:p>
        </p:txBody>
      </p:sp>
      <p:sp>
        <p:nvSpPr>
          <p:cNvPr id="25608" name="Date Placeholder 7">
            <a:extLst>
              <a:ext uri="{FF2B5EF4-FFF2-40B4-BE49-F238E27FC236}">
                <a16:creationId xmlns:a16="http://schemas.microsoft.com/office/drawing/2014/main" xmlns="" id="{9F1525B4-EDB7-4039-9336-1B680B3B5B76}"/>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D8DEBC88-9725-4F61-B4CA-805C1F201FF6}" type="datetime1">
              <a:rPr lang="en-US" altLang="en-US" smtClean="0">
                <a:solidFill>
                  <a:schemeClr val="tx2"/>
                </a:solidFill>
              </a:rPr>
              <a:pPr/>
              <a:t>11/26/2020</a:t>
            </a:fld>
            <a:endParaRPr lang="en-US" altLang="en-US">
              <a:solidFill>
                <a:schemeClr val="tx2"/>
              </a:solidFill>
            </a:endParaRPr>
          </a:p>
        </p:txBody>
      </p:sp>
      <p:sp>
        <p:nvSpPr>
          <p:cNvPr id="25609" name="Footer Placeholder 9">
            <a:extLst>
              <a:ext uri="{FF2B5EF4-FFF2-40B4-BE49-F238E27FC236}">
                <a16:creationId xmlns:a16="http://schemas.microsoft.com/office/drawing/2014/main" xmlns="" id="{4E162764-BBD5-483E-984C-F6959258216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a:solidFill>
                  <a:schemeClr val="tx2"/>
                </a:solidFill>
              </a:rPr>
              <a:t>GI anomalies</a:t>
            </a:r>
          </a:p>
        </p:txBody>
      </p:sp>
      <p:sp>
        <p:nvSpPr>
          <p:cNvPr id="25610" name="Slide Number Placeholder 8">
            <a:extLst>
              <a:ext uri="{FF2B5EF4-FFF2-40B4-BE49-F238E27FC236}">
                <a16:creationId xmlns:a16="http://schemas.microsoft.com/office/drawing/2014/main" xmlns="" id="{5987E734-673C-4EC6-A01F-5E4770AA4A0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82D5C144-83F6-47B7-8DCA-A45183CDBB34}" type="slidenum">
              <a:rPr lang="en-US" altLang="en-US">
                <a:solidFill>
                  <a:schemeClr val="tx2"/>
                </a:solidFill>
              </a:rPr>
              <a:pPr/>
              <a:t>120</a:t>
            </a:fld>
            <a:endParaRPr lang="en-US" altLang="en-US">
              <a:solidFill>
                <a:schemeClr val="tx2"/>
              </a:solidFill>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a:extLst>
              <a:ext uri="{FF2B5EF4-FFF2-40B4-BE49-F238E27FC236}">
                <a16:creationId xmlns:a16="http://schemas.microsoft.com/office/drawing/2014/main" xmlns="" id="{38544D79-E59A-4404-B7DF-0629A96C5C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914401"/>
            <a:ext cx="3829050" cy="561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Text Box 3">
            <a:extLst>
              <a:ext uri="{FF2B5EF4-FFF2-40B4-BE49-F238E27FC236}">
                <a16:creationId xmlns:a16="http://schemas.microsoft.com/office/drawing/2014/main" xmlns="" id="{CC1C487D-4987-4267-9EF1-24C306D93894}"/>
              </a:ext>
            </a:extLst>
          </p:cNvPr>
          <p:cNvSpPr txBox="1">
            <a:spLocks noChangeArrowheads="1"/>
          </p:cNvSpPr>
          <p:nvPr/>
        </p:nvSpPr>
        <p:spPr bwMode="auto">
          <a:xfrm>
            <a:off x="1905000" y="1447800"/>
            <a:ext cx="4038600" cy="551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eaLnBrk="1" hangingPunct="1">
              <a:lnSpc>
                <a:spcPct val="80000"/>
              </a:lnSpc>
              <a:spcBef>
                <a:spcPct val="20000"/>
              </a:spcBef>
            </a:pPr>
            <a:r>
              <a:rPr lang="en-US" altLang="en-US" sz="2800">
                <a:latin typeface="Arial" panose="020B0604020202020204" pitchFamily="34" charset="0"/>
              </a:rPr>
              <a:t>When diagnosis is uncertain or proximal TEF is suspected, a small amount of water-soluble contrast material can be injected into the esophageal pouch under fluoroscopic guidance (must remove contrast material immediately to avoid regurgitation and aspiration)</a:t>
            </a:r>
          </a:p>
          <a:p>
            <a:pPr eaLnBrk="1" hangingPunct="1">
              <a:spcBef>
                <a:spcPct val="50000"/>
              </a:spcBef>
            </a:pPr>
            <a:endParaRPr lang="en-US" altLang="en-US" sz="2800">
              <a:latin typeface="Arial" panose="020B0604020202020204" pitchFamily="34" charset="0"/>
            </a:endParaRPr>
          </a:p>
        </p:txBody>
      </p:sp>
      <p:sp>
        <p:nvSpPr>
          <p:cNvPr id="26628" name="Text Box 4">
            <a:extLst>
              <a:ext uri="{FF2B5EF4-FFF2-40B4-BE49-F238E27FC236}">
                <a16:creationId xmlns:a16="http://schemas.microsoft.com/office/drawing/2014/main" xmlns="" id="{DF668B17-9B40-4836-B78C-EA654B7EF46D}"/>
              </a:ext>
            </a:extLst>
          </p:cNvPr>
          <p:cNvSpPr txBox="1">
            <a:spLocks noChangeArrowheads="1"/>
          </p:cNvSpPr>
          <p:nvPr/>
        </p:nvSpPr>
        <p:spPr bwMode="auto">
          <a:xfrm>
            <a:off x="1828800" y="228600"/>
            <a:ext cx="8382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spcBef>
                <a:spcPct val="50000"/>
              </a:spcBef>
            </a:pPr>
            <a:r>
              <a:rPr lang="en-US" altLang="en-US" sz="3200">
                <a:latin typeface="Arial" panose="020B0604020202020204" pitchFamily="34" charset="0"/>
              </a:rPr>
              <a:t>Diagnosis</a:t>
            </a:r>
          </a:p>
        </p:txBody>
      </p:sp>
      <p:sp>
        <p:nvSpPr>
          <p:cNvPr id="26629" name="Date Placeholder 4">
            <a:extLst>
              <a:ext uri="{FF2B5EF4-FFF2-40B4-BE49-F238E27FC236}">
                <a16:creationId xmlns:a16="http://schemas.microsoft.com/office/drawing/2014/main" xmlns="" id="{4C4991EA-B5AB-4A52-853D-5BBFE35AC8EA}"/>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928D616-A772-4A41-8BA1-7549DEBBBEC6}" type="datetime1">
              <a:rPr lang="en-US" altLang="en-US" smtClean="0">
                <a:solidFill>
                  <a:schemeClr val="tx2"/>
                </a:solidFill>
              </a:rPr>
              <a:pPr/>
              <a:t>11/26/2020</a:t>
            </a:fld>
            <a:endParaRPr lang="en-US" altLang="en-US">
              <a:solidFill>
                <a:schemeClr val="tx2"/>
              </a:solidFill>
            </a:endParaRPr>
          </a:p>
        </p:txBody>
      </p:sp>
      <p:sp>
        <p:nvSpPr>
          <p:cNvPr id="26630" name="Footer Placeholder 6">
            <a:extLst>
              <a:ext uri="{FF2B5EF4-FFF2-40B4-BE49-F238E27FC236}">
                <a16:creationId xmlns:a16="http://schemas.microsoft.com/office/drawing/2014/main" xmlns="" id="{8A838F02-02AF-4A51-BDCD-AFAEED8F24C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a:solidFill>
                  <a:schemeClr val="tx2"/>
                </a:solidFill>
              </a:rPr>
              <a:t>GI anomalies</a:t>
            </a:r>
          </a:p>
        </p:txBody>
      </p:sp>
      <p:sp>
        <p:nvSpPr>
          <p:cNvPr id="26631" name="Slide Number Placeholder 5">
            <a:extLst>
              <a:ext uri="{FF2B5EF4-FFF2-40B4-BE49-F238E27FC236}">
                <a16:creationId xmlns:a16="http://schemas.microsoft.com/office/drawing/2014/main" xmlns="" id="{8DB90039-D7BB-48F4-BB80-52FE5B48CB5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FF3769C8-2F0E-4B4C-AB84-6B8C0F0A4467}" type="slidenum">
              <a:rPr lang="en-US" altLang="en-US">
                <a:solidFill>
                  <a:schemeClr val="tx2"/>
                </a:solidFill>
              </a:rPr>
              <a:pPr/>
              <a:t>121</a:t>
            </a:fld>
            <a:endParaRPr lang="en-US" altLang="en-US">
              <a:solidFill>
                <a:schemeClr val="tx2"/>
              </a:solidFill>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a:extLst>
              <a:ext uri="{FF2B5EF4-FFF2-40B4-BE49-F238E27FC236}">
                <a16:creationId xmlns:a16="http://schemas.microsoft.com/office/drawing/2014/main" xmlns="" id="{BA2A09CF-70A6-42CE-B6E0-B7DA3F92FE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762000"/>
            <a:ext cx="5715000" cy="590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Text Box 3">
            <a:extLst>
              <a:ext uri="{FF2B5EF4-FFF2-40B4-BE49-F238E27FC236}">
                <a16:creationId xmlns:a16="http://schemas.microsoft.com/office/drawing/2014/main" xmlns="" id="{365CFF6C-9C4B-47F1-8FE3-960F120C2AB7}"/>
              </a:ext>
            </a:extLst>
          </p:cNvPr>
          <p:cNvSpPr txBox="1">
            <a:spLocks noChangeArrowheads="1"/>
          </p:cNvSpPr>
          <p:nvPr/>
        </p:nvSpPr>
        <p:spPr bwMode="auto">
          <a:xfrm>
            <a:off x="1905000" y="228600"/>
            <a:ext cx="845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spcBef>
                <a:spcPct val="50000"/>
              </a:spcBef>
            </a:pPr>
            <a:r>
              <a:rPr lang="en-US" altLang="en-US" sz="2400" b="1">
                <a:latin typeface="Arial" panose="020B0604020202020204" pitchFamily="34" charset="0"/>
              </a:rPr>
              <a:t>Diagnosis- Type E “H type” TEF</a:t>
            </a:r>
          </a:p>
        </p:txBody>
      </p:sp>
      <p:sp>
        <p:nvSpPr>
          <p:cNvPr id="27652" name="Date Placeholder 3">
            <a:extLst>
              <a:ext uri="{FF2B5EF4-FFF2-40B4-BE49-F238E27FC236}">
                <a16:creationId xmlns:a16="http://schemas.microsoft.com/office/drawing/2014/main" xmlns="" id="{BFA098E9-8756-4647-8BD0-15853FA54D55}"/>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DF8D806-3BB1-45B3-9CB2-67FC1C8E617C}" type="datetime1">
              <a:rPr lang="en-US" altLang="en-US" smtClean="0">
                <a:solidFill>
                  <a:schemeClr val="tx2"/>
                </a:solidFill>
              </a:rPr>
              <a:pPr/>
              <a:t>11/26/2020</a:t>
            </a:fld>
            <a:endParaRPr lang="en-US" altLang="en-US">
              <a:solidFill>
                <a:schemeClr val="tx2"/>
              </a:solidFill>
            </a:endParaRPr>
          </a:p>
        </p:txBody>
      </p:sp>
      <p:sp>
        <p:nvSpPr>
          <p:cNvPr id="27653" name="Footer Placeholder 5">
            <a:extLst>
              <a:ext uri="{FF2B5EF4-FFF2-40B4-BE49-F238E27FC236}">
                <a16:creationId xmlns:a16="http://schemas.microsoft.com/office/drawing/2014/main" xmlns="" id="{3FA3C6F8-7BCE-4BBF-8506-7F61E46D824D}"/>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a:solidFill>
                  <a:schemeClr val="tx2"/>
                </a:solidFill>
              </a:rPr>
              <a:t>GI anomalies</a:t>
            </a:r>
          </a:p>
        </p:txBody>
      </p:sp>
      <p:sp>
        <p:nvSpPr>
          <p:cNvPr id="27654" name="Slide Number Placeholder 4">
            <a:extLst>
              <a:ext uri="{FF2B5EF4-FFF2-40B4-BE49-F238E27FC236}">
                <a16:creationId xmlns:a16="http://schemas.microsoft.com/office/drawing/2014/main" xmlns="" id="{ACEDC0B3-A1EB-4B16-BC0F-A93016724E4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9DC6E128-1C11-4A03-8127-CB7A55300799}" type="slidenum">
              <a:rPr lang="en-US" altLang="en-US">
                <a:solidFill>
                  <a:schemeClr val="tx2"/>
                </a:solidFill>
              </a:rPr>
              <a:pPr/>
              <a:t>122</a:t>
            </a:fld>
            <a:endParaRPr lang="en-US" altLang="en-US">
              <a:solidFill>
                <a:schemeClr val="tx2"/>
              </a:solidFill>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Date Placeholder 1">
            <a:extLst>
              <a:ext uri="{FF2B5EF4-FFF2-40B4-BE49-F238E27FC236}">
                <a16:creationId xmlns:a16="http://schemas.microsoft.com/office/drawing/2014/main" xmlns="" id="{DB5BF66E-739B-430E-9DFC-7616909DE268}"/>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6D31A039-A3B8-4A84-A14B-FD3BA7E1CB76}" type="datetime1">
              <a:rPr lang="en-US" altLang="en-US" smtClean="0">
                <a:solidFill>
                  <a:schemeClr val="tx2"/>
                </a:solidFill>
              </a:rPr>
              <a:pPr/>
              <a:t>11/26/2020</a:t>
            </a:fld>
            <a:endParaRPr lang="en-US" altLang="en-US">
              <a:solidFill>
                <a:schemeClr val="tx2"/>
              </a:solidFill>
            </a:endParaRPr>
          </a:p>
        </p:txBody>
      </p:sp>
      <p:sp>
        <p:nvSpPr>
          <p:cNvPr id="28675" name="Footer Placeholder 2">
            <a:extLst>
              <a:ext uri="{FF2B5EF4-FFF2-40B4-BE49-F238E27FC236}">
                <a16:creationId xmlns:a16="http://schemas.microsoft.com/office/drawing/2014/main" xmlns="" id="{51222605-E381-4BB7-B291-8854E9C9C6F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a:solidFill>
                  <a:schemeClr val="tx2"/>
                </a:solidFill>
              </a:rPr>
              <a:t>GI anomalies</a:t>
            </a:r>
          </a:p>
        </p:txBody>
      </p:sp>
      <p:sp>
        <p:nvSpPr>
          <p:cNvPr id="28676" name="Slide Number Placeholder 3">
            <a:extLst>
              <a:ext uri="{FF2B5EF4-FFF2-40B4-BE49-F238E27FC236}">
                <a16:creationId xmlns:a16="http://schemas.microsoft.com/office/drawing/2014/main" xmlns="" id="{ADD2EEDC-EBD1-4E75-BD4F-6210F2C58C6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56908D94-7F42-4751-B259-478FD886A878}" type="slidenum">
              <a:rPr lang="en-US" altLang="en-US">
                <a:solidFill>
                  <a:schemeClr val="tx2"/>
                </a:solidFill>
              </a:rPr>
              <a:pPr/>
              <a:t>123</a:t>
            </a:fld>
            <a:endParaRPr lang="en-US" altLang="en-US">
              <a:solidFill>
                <a:schemeClr val="tx2"/>
              </a:solidFill>
            </a:endParaRPr>
          </a:p>
        </p:txBody>
      </p:sp>
      <p:pic>
        <p:nvPicPr>
          <p:cNvPr id="28677" name="Picture 2">
            <a:extLst>
              <a:ext uri="{FF2B5EF4-FFF2-40B4-BE49-F238E27FC236}">
                <a16:creationId xmlns:a16="http://schemas.microsoft.com/office/drawing/2014/main" xmlns="" id="{128877A7-5B0A-42B4-A698-A8FC499524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5301" t="7500" r="58331" b="31250"/>
          <a:stretch>
            <a:fillRect/>
          </a:stretch>
        </p:blipFill>
        <p:spPr bwMode="auto">
          <a:xfrm>
            <a:off x="2438400" y="304800"/>
            <a:ext cx="3276600"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8" name="Picture 3">
            <a:extLst>
              <a:ext uri="{FF2B5EF4-FFF2-40B4-BE49-F238E27FC236}">
                <a16:creationId xmlns:a16="http://schemas.microsoft.com/office/drawing/2014/main" xmlns="" id="{FC6E2C44-2BD4-4498-8F5A-669613E367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5301" t="11250" r="57628" b="27499"/>
          <a:stretch>
            <a:fillRect/>
          </a:stretch>
        </p:blipFill>
        <p:spPr bwMode="auto">
          <a:xfrm>
            <a:off x="6096000" y="304800"/>
            <a:ext cx="37338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xmlns="" id="{C4AD9E1F-4880-4AA4-838C-59E4CB9E5459}"/>
              </a:ext>
            </a:extLst>
          </p:cNvPr>
          <p:cNvSpPr>
            <a:spLocks noGrp="1" noRot="1" noChangeArrowheads="1"/>
          </p:cNvSpPr>
          <p:nvPr>
            <p:ph type="title"/>
          </p:nvPr>
        </p:nvSpPr>
        <p:spPr/>
        <p:txBody>
          <a:bodyPr/>
          <a:lstStyle/>
          <a:p>
            <a:pPr eaLnBrk="1" hangingPunct="1"/>
            <a:r>
              <a:rPr lang="en-US" altLang="en-US" b="1">
                <a:solidFill>
                  <a:schemeClr val="tx1"/>
                </a:solidFill>
              </a:rPr>
              <a:t>   Trachioesophageal disorder</a:t>
            </a:r>
          </a:p>
        </p:txBody>
      </p:sp>
      <p:sp>
        <p:nvSpPr>
          <p:cNvPr id="8" name="Text Placeholder 7">
            <a:extLst>
              <a:ext uri="{FF2B5EF4-FFF2-40B4-BE49-F238E27FC236}">
                <a16:creationId xmlns:a16="http://schemas.microsoft.com/office/drawing/2014/main" xmlns="" id="{047A4B94-92E1-4A9A-A17B-2FF12B9CA1A8}"/>
              </a:ext>
            </a:extLst>
          </p:cNvPr>
          <p:cNvSpPr>
            <a:spLocks noGrp="1"/>
          </p:cNvSpPr>
          <p:nvPr>
            <p:ph type="body" idx="1"/>
          </p:nvPr>
        </p:nvSpPr>
        <p:spPr/>
        <p:txBody>
          <a:bodyPr/>
          <a:lstStyle/>
          <a:p>
            <a:endParaRPr lang="en-US"/>
          </a:p>
        </p:txBody>
      </p:sp>
      <p:sp>
        <p:nvSpPr>
          <p:cNvPr id="29699" name="Rectangle 3">
            <a:extLst>
              <a:ext uri="{FF2B5EF4-FFF2-40B4-BE49-F238E27FC236}">
                <a16:creationId xmlns:a16="http://schemas.microsoft.com/office/drawing/2014/main" xmlns="" id="{CC3982E5-7401-4253-9139-A819E253B507}"/>
              </a:ext>
            </a:extLst>
          </p:cNvPr>
          <p:cNvSpPr>
            <a:spLocks noGrp="1" noChangeArrowheads="1"/>
          </p:cNvSpPr>
          <p:nvPr>
            <p:ph sz="half" idx="2"/>
          </p:nvPr>
        </p:nvSpPr>
        <p:spPr/>
        <p:txBody>
          <a:bodyPr>
            <a:normAutofit fontScale="92500" lnSpcReduction="20000"/>
          </a:bodyPr>
          <a:lstStyle/>
          <a:p>
            <a:pPr eaLnBrk="1" hangingPunct="1">
              <a:buFont typeface="Wingdings" panose="05000000000000000000" pitchFamily="2" charset="2"/>
              <a:buChar char="Ø"/>
            </a:pPr>
            <a:r>
              <a:rPr lang="en-US" altLang="en-US"/>
              <a:t>Management</a:t>
            </a:r>
          </a:p>
          <a:p>
            <a:pPr lvl="1" eaLnBrk="1" hangingPunct="1">
              <a:buClr>
                <a:schemeClr val="tx1"/>
              </a:buClr>
              <a:buFont typeface="Wingdings" panose="05000000000000000000" pitchFamily="2" charset="2"/>
              <a:buChar char="§"/>
            </a:pPr>
            <a:r>
              <a:rPr lang="en-US" altLang="en-US"/>
              <a:t>Preoperatively</a:t>
            </a:r>
          </a:p>
          <a:p>
            <a:pPr lvl="2" eaLnBrk="1" hangingPunct="1">
              <a:buClr>
                <a:schemeClr val="tx1"/>
              </a:buClr>
              <a:buFont typeface="Times" panose="02020603050405020304" pitchFamily="18" charset="0"/>
              <a:buChar char="•"/>
            </a:pPr>
            <a:r>
              <a:rPr lang="en-US" altLang="en-US"/>
              <a:t>Minimize complications from aspiration</a:t>
            </a:r>
          </a:p>
          <a:p>
            <a:pPr lvl="2" eaLnBrk="1" hangingPunct="1">
              <a:buClr>
                <a:schemeClr val="tx1"/>
              </a:buClr>
              <a:buFont typeface="Times" panose="02020603050405020304" pitchFamily="18" charset="0"/>
              <a:buChar char="•"/>
            </a:pPr>
            <a:r>
              <a:rPr lang="en-US" altLang="en-US"/>
              <a:t>Suction blind pouch continuously</a:t>
            </a:r>
          </a:p>
          <a:p>
            <a:pPr lvl="2" eaLnBrk="1" hangingPunct="1">
              <a:buClr>
                <a:schemeClr val="tx1"/>
              </a:buClr>
              <a:buFont typeface="Times" panose="02020603050405020304" pitchFamily="18" charset="0"/>
              <a:buChar char="•"/>
            </a:pPr>
            <a:r>
              <a:rPr lang="en-US" altLang="en-US"/>
              <a:t>NPO/total parentral nutrition/</a:t>
            </a:r>
          </a:p>
          <a:p>
            <a:pPr lvl="2" eaLnBrk="1" hangingPunct="1">
              <a:buClr>
                <a:schemeClr val="tx1"/>
              </a:buClr>
              <a:buFont typeface="Times" panose="02020603050405020304" pitchFamily="18" charset="0"/>
              <a:buChar char="•"/>
            </a:pPr>
            <a:r>
              <a:rPr lang="en-US" altLang="en-US"/>
              <a:t>Upright position of child</a:t>
            </a:r>
          </a:p>
          <a:p>
            <a:pPr lvl="2" eaLnBrk="1" hangingPunct="1">
              <a:buClr>
                <a:schemeClr val="tx1"/>
              </a:buClr>
              <a:buFont typeface="Times" panose="02020603050405020304" pitchFamily="18" charset="0"/>
              <a:buChar char="•"/>
            </a:pPr>
            <a:r>
              <a:rPr lang="en-US" altLang="en-US"/>
              <a:t>Early surgery for short gap atresia</a:t>
            </a:r>
          </a:p>
          <a:p>
            <a:pPr lvl="2" eaLnBrk="1" hangingPunct="1">
              <a:buClr>
                <a:schemeClr val="tx1"/>
              </a:buClr>
              <a:buFont typeface="Times" panose="02020603050405020304" pitchFamily="18" charset="0"/>
              <a:buChar char="•"/>
            </a:pPr>
            <a:r>
              <a:rPr lang="en-US" altLang="en-US"/>
              <a:t>Long gap atresia may be delayed up to 6-12 weeks</a:t>
            </a:r>
          </a:p>
          <a:p>
            <a:pPr lvl="2" eaLnBrk="1" hangingPunct="1">
              <a:buClr>
                <a:schemeClr val="tx1"/>
              </a:buClr>
              <a:buFont typeface="Times" panose="02020603050405020304" pitchFamily="18" charset="0"/>
              <a:buChar char="•"/>
            </a:pPr>
            <a:r>
              <a:rPr lang="en-US" altLang="en-US"/>
              <a:t>Long gap atresia should have gastrostomy tube placed for enteral nutrition</a:t>
            </a:r>
          </a:p>
          <a:p>
            <a:pPr eaLnBrk="1" hangingPunct="1">
              <a:buFont typeface="Wingdings" panose="05000000000000000000" pitchFamily="2" charset="2"/>
              <a:buNone/>
            </a:pPr>
            <a:endParaRPr lang="en-US" altLang="en-US"/>
          </a:p>
          <a:p>
            <a:pPr eaLnBrk="1" hangingPunct="1">
              <a:buFont typeface="Wingdings" panose="05000000000000000000" pitchFamily="2" charset="2"/>
              <a:buNone/>
            </a:pPr>
            <a:endParaRPr lang="en-US" altLang="en-US"/>
          </a:p>
        </p:txBody>
      </p:sp>
      <p:sp>
        <p:nvSpPr>
          <p:cNvPr id="9" name="Text Placeholder 8">
            <a:extLst>
              <a:ext uri="{FF2B5EF4-FFF2-40B4-BE49-F238E27FC236}">
                <a16:creationId xmlns:a16="http://schemas.microsoft.com/office/drawing/2014/main" xmlns="" id="{08D5443C-200F-45EA-BA57-4DC4F3939BBB}"/>
              </a:ext>
            </a:extLst>
          </p:cNvPr>
          <p:cNvSpPr>
            <a:spLocks noGrp="1"/>
          </p:cNvSpPr>
          <p:nvPr>
            <p:ph type="body" sz="quarter" idx="3"/>
          </p:nvPr>
        </p:nvSpPr>
        <p:spPr/>
        <p:txBody>
          <a:bodyPr/>
          <a:lstStyle/>
          <a:p>
            <a:endParaRPr lang="en-US"/>
          </a:p>
        </p:txBody>
      </p:sp>
      <p:sp>
        <p:nvSpPr>
          <p:cNvPr id="10" name="Content Placeholder 9">
            <a:extLst>
              <a:ext uri="{FF2B5EF4-FFF2-40B4-BE49-F238E27FC236}">
                <a16:creationId xmlns:a16="http://schemas.microsoft.com/office/drawing/2014/main" xmlns="" id="{F36A74E3-D765-42D0-A420-3F63B46A7438}"/>
              </a:ext>
            </a:extLst>
          </p:cNvPr>
          <p:cNvSpPr>
            <a:spLocks noGrp="1"/>
          </p:cNvSpPr>
          <p:nvPr>
            <p:ph sz="quarter" idx="4"/>
          </p:nvPr>
        </p:nvSpPr>
        <p:spPr/>
        <p:txBody>
          <a:bodyPr>
            <a:normAutofit fontScale="92500" lnSpcReduction="20000"/>
          </a:bodyPr>
          <a:lstStyle/>
          <a:p>
            <a:pPr lvl="1" eaLnBrk="1" hangingPunct="1">
              <a:buClr>
                <a:schemeClr val="tx1"/>
              </a:buClr>
              <a:buFont typeface="Wingdings" panose="05000000000000000000" pitchFamily="2" charset="2"/>
              <a:buChar char="§"/>
            </a:pPr>
            <a:r>
              <a:rPr lang="en-US" altLang="en-US" dirty="0"/>
              <a:t>Surgery</a:t>
            </a:r>
          </a:p>
          <a:p>
            <a:pPr lvl="2" eaLnBrk="1" hangingPunct="1">
              <a:buClr>
                <a:schemeClr val="tx1"/>
              </a:buClr>
              <a:buFont typeface="Times" panose="02020603050405020304" pitchFamily="18" charset="0"/>
              <a:buChar char="•"/>
            </a:pPr>
            <a:r>
              <a:rPr lang="en-US" altLang="en-US" dirty="0"/>
              <a:t>Surgical ligation of the fistula</a:t>
            </a:r>
          </a:p>
          <a:p>
            <a:pPr lvl="2" eaLnBrk="1" hangingPunct="1">
              <a:buClr>
                <a:schemeClr val="tx1"/>
              </a:buClr>
              <a:buFont typeface="Times" panose="02020603050405020304" pitchFamily="18" charset="0"/>
              <a:buChar char="•"/>
            </a:pPr>
            <a:r>
              <a:rPr lang="en-US" altLang="en-US" dirty="0"/>
              <a:t>Primary anastomosis of the esophageal segments</a:t>
            </a:r>
          </a:p>
          <a:p>
            <a:pPr lvl="2" eaLnBrk="1" hangingPunct="1">
              <a:buClr>
                <a:schemeClr val="tx1"/>
              </a:buClr>
              <a:buFont typeface="Times" panose="02020603050405020304" pitchFamily="18" charset="0"/>
              <a:buChar char="•"/>
            </a:pPr>
            <a:r>
              <a:rPr lang="en-US" altLang="en-US" dirty="0"/>
              <a:t>Primary repair may not be possible if the distance between esophageal segments is long.  </a:t>
            </a:r>
          </a:p>
          <a:p>
            <a:pPr lvl="2" eaLnBrk="1" hangingPunct="1">
              <a:buClr>
                <a:schemeClr val="tx1"/>
              </a:buClr>
              <a:buFont typeface="Times" panose="02020603050405020304" pitchFamily="18" charset="0"/>
              <a:buChar char="•"/>
            </a:pPr>
            <a:r>
              <a:rPr lang="en-US" altLang="en-US" dirty="0"/>
              <a:t>Staged procedures have been performed that include elongation of the esophagus with circular myotomy, interposition of the colon, and gastric transposition</a:t>
            </a:r>
          </a:p>
          <a:p>
            <a:endParaRPr lang="en-US" dirty="0"/>
          </a:p>
        </p:txBody>
      </p:sp>
      <p:sp>
        <p:nvSpPr>
          <p:cNvPr id="29700" name="Date Placeholder 3">
            <a:extLst>
              <a:ext uri="{FF2B5EF4-FFF2-40B4-BE49-F238E27FC236}">
                <a16:creationId xmlns:a16="http://schemas.microsoft.com/office/drawing/2014/main" xmlns="" id="{4750BA7C-6AA0-480E-A0B1-2B84420D9BF1}"/>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4C5AAEBC-F3D1-4A4B-8848-95546D3F81A7}" type="datetime1">
              <a:rPr lang="en-US" altLang="en-US" smtClean="0">
                <a:solidFill>
                  <a:schemeClr val="tx2"/>
                </a:solidFill>
              </a:rPr>
              <a:pPr/>
              <a:t>11/26/2020</a:t>
            </a:fld>
            <a:endParaRPr lang="en-US" altLang="en-US">
              <a:solidFill>
                <a:schemeClr val="tx2"/>
              </a:solidFill>
            </a:endParaRPr>
          </a:p>
        </p:txBody>
      </p:sp>
      <p:sp>
        <p:nvSpPr>
          <p:cNvPr id="29701" name="Footer Placeholder 5">
            <a:extLst>
              <a:ext uri="{FF2B5EF4-FFF2-40B4-BE49-F238E27FC236}">
                <a16:creationId xmlns:a16="http://schemas.microsoft.com/office/drawing/2014/main" xmlns="" id="{6747B2E2-E229-4309-B97D-1CE72E8A014A}"/>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a:solidFill>
                  <a:schemeClr val="tx2"/>
                </a:solidFill>
              </a:rPr>
              <a:t>GI anomalies</a:t>
            </a:r>
          </a:p>
        </p:txBody>
      </p:sp>
      <p:sp>
        <p:nvSpPr>
          <p:cNvPr id="5" name="Slide Number Placeholder 4">
            <a:extLst>
              <a:ext uri="{FF2B5EF4-FFF2-40B4-BE49-F238E27FC236}">
                <a16:creationId xmlns:a16="http://schemas.microsoft.com/office/drawing/2014/main" xmlns="" id="{DD9767DB-205A-43B0-8AF7-59FBBDDBB560}"/>
              </a:ext>
            </a:extLst>
          </p:cNvPr>
          <p:cNvSpPr>
            <a:spLocks noGrp="1"/>
          </p:cNvSpPr>
          <p:nvPr>
            <p:ph type="sldNum" sz="quarter" idx="12"/>
          </p:nvPr>
        </p:nvSpPr>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nSpc>
                <a:spcPct val="80000"/>
              </a:lnSpc>
            </a:pPr>
            <a:fld id="{C3F7C3B5-5D07-412D-ACCB-95A5772D2795}" type="slidenum">
              <a:rPr lang="en-US" altLang="en-US">
                <a:solidFill>
                  <a:srgbClr val="FFFFFF"/>
                </a:solidFill>
              </a:rPr>
              <a:pPr>
                <a:lnSpc>
                  <a:spcPct val="80000"/>
                </a:lnSpc>
              </a:pPr>
              <a:t>124</a:t>
            </a:fld>
            <a:endParaRPr lang="en-US" altLang="en-US">
              <a:solidFill>
                <a:srgbClr val="FFFFFF"/>
              </a:solidFill>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xmlns="" id="{99EF8281-6BB8-4D35-88F3-F9FB7A99F92C}"/>
              </a:ext>
            </a:extLst>
          </p:cNvPr>
          <p:cNvSpPr>
            <a:spLocks noGrp="1" noRot="1" noChangeArrowheads="1"/>
          </p:cNvSpPr>
          <p:nvPr>
            <p:ph type="title"/>
          </p:nvPr>
        </p:nvSpPr>
        <p:spPr/>
        <p:txBody>
          <a:bodyPr>
            <a:normAutofit fontScale="90000"/>
          </a:bodyPr>
          <a:lstStyle/>
          <a:p>
            <a:pPr marL="342900" indent="-342900"/>
            <a:r>
              <a:rPr lang="en-US" altLang="en-US" dirty="0"/>
              <a:t/>
            </a:r>
            <a:br>
              <a:rPr lang="en-US" altLang="en-US" dirty="0"/>
            </a:br>
            <a:r>
              <a:rPr lang="en-US" altLang="en-US" dirty="0"/>
              <a:t> </a:t>
            </a:r>
            <a:br>
              <a:rPr lang="en-US" altLang="en-US" dirty="0"/>
            </a:br>
            <a:endParaRPr lang="en-US" altLang="en-US" dirty="0"/>
          </a:p>
        </p:txBody>
      </p:sp>
      <p:sp>
        <p:nvSpPr>
          <p:cNvPr id="3" name="Text Placeholder 2">
            <a:extLst>
              <a:ext uri="{FF2B5EF4-FFF2-40B4-BE49-F238E27FC236}">
                <a16:creationId xmlns:a16="http://schemas.microsoft.com/office/drawing/2014/main" xmlns="" id="{DFC32203-9879-494C-B6F3-1D8885CAF440}"/>
              </a:ext>
            </a:extLst>
          </p:cNvPr>
          <p:cNvSpPr>
            <a:spLocks noGrp="1"/>
          </p:cNvSpPr>
          <p:nvPr>
            <p:ph type="body" idx="1"/>
          </p:nvPr>
        </p:nvSpPr>
        <p:spPr/>
        <p:txBody>
          <a:bodyPr/>
          <a:lstStyle/>
          <a:p>
            <a:r>
              <a:rPr lang="en-US" dirty="0"/>
              <a:t>Post op</a:t>
            </a:r>
          </a:p>
        </p:txBody>
      </p:sp>
      <p:sp>
        <p:nvSpPr>
          <p:cNvPr id="4" name="Text Placeholder 3">
            <a:extLst>
              <a:ext uri="{FF2B5EF4-FFF2-40B4-BE49-F238E27FC236}">
                <a16:creationId xmlns:a16="http://schemas.microsoft.com/office/drawing/2014/main" xmlns="" id="{7CB93BBB-E4D9-4529-8C09-A727A4869643}"/>
              </a:ext>
            </a:extLst>
          </p:cNvPr>
          <p:cNvSpPr>
            <a:spLocks noGrp="1"/>
          </p:cNvSpPr>
          <p:nvPr>
            <p:ph type="body" sz="quarter" idx="3"/>
          </p:nvPr>
        </p:nvSpPr>
        <p:spPr/>
        <p:txBody>
          <a:bodyPr/>
          <a:lstStyle/>
          <a:p>
            <a:r>
              <a:rPr lang="en-US" dirty="0"/>
              <a:t>Prognosis</a:t>
            </a:r>
          </a:p>
        </p:txBody>
      </p:sp>
      <p:sp>
        <p:nvSpPr>
          <p:cNvPr id="2" name="Content Placeholder 1">
            <a:extLst>
              <a:ext uri="{FF2B5EF4-FFF2-40B4-BE49-F238E27FC236}">
                <a16:creationId xmlns:a16="http://schemas.microsoft.com/office/drawing/2014/main" xmlns="" id="{0A0D27C2-F0EA-4ACF-9B20-820C433DB34B}"/>
              </a:ext>
            </a:extLst>
          </p:cNvPr>
          <p:cNvSpPr>
            <a:spLocks noGrp="1"/>
          </p:cNvSpPr>
          <p:nvPr>
            <p:ph sz="quarter" idx="4"/>
          </p:nvPr>
        </p:nvSpPr>
        <p:spPr/>
        <p:txBody>
          <a:bodyPr>
            <a:normAutofit fontScale="85000" lnSpcReduction="10000"/>
          </a:bodyPr>
          <a:lstStyle/>
          <a:p>
            <a:pPr eaLnBrk="1" hangingPunct="1">
              <a:spcBef>
                <a:spcPct val="50000"/>
              </a:spcBef>
              <a:buFont typeface="Wingdings" panose="05000000000000000000" pitchFamily="2" charset="2"/>
              <a:buChar char="§"/>
            </a:pPr>
            <a:r>
              <a:rPr lang="en-US" altLang="en-US" sz="2400" dirty="0">
                <a:latin typeface="Arial" panose="020B0604020202020204" pitchFamily="34" charset="0"/>
              </a:rPr>
              <a:t>85% to 95% survival </a:t>
            </a:r>
          </a:p>
          <a:p>
            <a:pPr eaLnBrk="1" hangingPunct="1">
              <a:spcBef>
                <a:spcPct val="50000"/>
              </a:spcBef>
              <a:buFont typeface="Wingdings" panose="05000000000000000000" pitchFamily="2" charset="2"/>
              <a:buChar char="§"/>
            </a:pPr>
            <a:r>
              <a:rPr lang="en-US" altLang="en-US" sz="2400" dirty="0">
                <a:latin typeface="Arial" panose="020B0604020202020204" pitchFamily="34" charset="0"/>
              </a:rPr>
              <a:t>Infants with increased risk of morbidity and mortality</a:t>
            </a:r>
          </a:p>
          <a:p>
            <a:pPr lvl="1" eaLnBrk="1" hangingPunct="1">
              <a:spcBef>
                <a:spcPct val="50000"/>
              </a:spcBef>
              <a:buFontTx/>
              <a:buChar char="•"/>
            </a:pPr>
            <a:r>
              <a:rPr lang="en-US" altLang="en-US" sz="2000" dirty="0">
                <a:latin typeface="Arial" panose="020B0604020202020204" pitchFamily="34" charset="0"/>
              </a:rPr>
              <a:t>Low birth weight (&gt;1500)</a:t>
            </a:r>
          </a:p>
          <a:p>
            <a:pPr lvl="1" eaLnBrk="1" hangingPunct="1">
              <a:spcBef>
                <a:spcPct val="50000"/>
              </a:spcBef>
              <a:buFontTx/>
              <a:buChar char="•"/>
            </a:pPr>
            <a:r>
              <a:rPr lang="en-US" altLang="en-US" sz="2000" dirty="0">
                <a:latin typeface="Arial" panose="020B0604020202020204" pitchFamily="34" charset="0"/>
              </a:rPr>
              <a:t>Major CHD</a:t>
            </a:r>
          </a:p>
          <a:p>
            <a:pPr lvl="1" eaLnBrk="1" hangingPunct="1">
              <a:spcBef>
                <a:spcPct val="50000"/>
              </a:spcBef>
              <a:buFontTx/>
              <a:buChar char="•"/>
            </a:pPr>
            <a:r>
              <a:rPr lang="en-US" altLang="en-US" sz="2000" dirty="0">
                <a:latin typeface="Arial" panose="020B0604020202020204" pitchFamily="34" charset="0"/>
              </a:rPr>
              <a:t>Severe associated anomalies </a:t>
            </a:r>
          </a:p>
          <a:p>
            <a:pPr lvl="1" eaLnBrk="1" hangingPunct="1">
              <a:spcBef>
                <a:spcPct val="50000"/>
              </a:spcBef>
              <a:buFontTx/>
              <a:buChar char="•"/>
            </a:pPr>
            <a:r>
              <a:rPr lang="en-US" altLang="en-US" sz="2000" dirty="0">
                <a:latin typeface="Arial" panose="020B0604020202020204" pitchFamily="34" charset="0"/>
              </a:rPr>
              <a:t>Ventilator dependency</a:t>
            </a:r>
          </a:p>
          <a:p>
            <a:pPr lvl="1" eaLnBrk="1" hangingPunct="1">
              <a:spcBef>
                <a:spcPct val="50000"/>
              </a:spcBef>
              <a:buFontTx/>
              <a:buChar char="•"/>
            </a:pPr>
            <a:r>
              <a:rPr lang="en-US" altLang="en-US" sz="2000" dirty="0">
                <a:latin typeface="Arial" panose="020B0604020202020204" pitchFamily="34" charset="0"/>
              </a:rPr>
              <a:t>Long gap atresia</a:t>
            </a:r>
            <a:r>
              <a:rPr lang="en-US" altLang="en-US" sz="2400" dirty="0">
                <a:latin typeface="Arial" panose="020B0604020202020204" pitchFamily="34" charset="0"/>
              </a:rPr>
              <a:t> :</a:t>
            </a:r>
            <a:r>
              <a:rPr lang="en-US" altLang="en-US" dirty="0"/>
              <a:t> &gt;3-4 cm, primary repair cannot be done; options include using gastric, jejunal, or colonic segments interposed as a neo -esophagus</a:t>
            </a:r>
            <a:r>
              <a:rPr lang="en-US" altLang="en-US" dirty="0">
                <a:latin typeface="Arial" panose="020B0604020202020204" pitchFamily="34" charset="0"/>
              </a:rPr>
              <a:t>	</a:t>
            </a:r>
            <a:endParaRPr lang="en-US" altLang="en-US" sz="2400" dirty="0">
              <a:latin typeface="Arial" panose="020B0604020202020204" pitchFamily="34" charset="0"/>
            </a:endParaRPr>
          </a:p>
          <a:p>
            <a:endParaRPr lang="en-US" dirty="0"/>
          </a:p>
        </p:txBody>
      </p:sp>
      <p:sp>
        <p:nvSpPr>
          <p:cNvPr id="32772" name="Date Placeholder 3">
            <a:extLst>
              <a:ext uri="{FF2B5EF4-FFF2-40B4-BE49-F238E27FC236}">
                <a16:creationId xmlns:a16="http://schemas.microsoft.com/office/drawing/2014/main" xmlns="" id="{207971D0-2EA9-4068-9DCB-685C6A977FB5}"/>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AA4AF483-7020-4E67-950E-F89C8AC22B74}" type="datetime1">
              <a:rPr lang="en-US" altLang="en-US" smtClean="0">
                <a:solidFill>
                  <a:schemeClr val="tx2"/>
                </a:solidFill>
              </a:rPr>
              <a:pPr/>
              <a:t>11/26/2020</a:t>
            </a:fld>
            <a:endParaRPr lang="en-US" altLang="en-US">
              <a:solidFill>
                <a:schemeClr val="tx2"/>
              </a:solidFill>
            </a:endParaRPr>
          </a:p>
        </p:txBody>
      </p:sp>
      <p:sp>
        <p:nvSpPr>
          <p:cNvPr id="32773" name="Footer Placeholder 5">
            <a:extLst>
              <a:ext uri="{FF2B5EF4-FFF2-40B4-BE49-F238E27FC236}">
                <a16:creationId xmlns:a16="http://schemas.microsoft.com/office/drawing/2014/main" xmlns="" id="{11F2B2D0-2BDE-455D-B165-004F73E56288}"/>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a:solidFill>
                  <a:schemeClr val="tx2"/>
                </a:solidFill>
              </a:rPr>
              <a:t>GI anomalies</a:t>
            </a:r>
          </a:p>
        </p:txBody>
      </p:sp>
      <p:sp>
        <p:nvSpPr>
          <p:cNvPr id="5" name="Slide Number Placeholder 4">
            <a:extLst>
              <a:ext uri="{FF2B5EF4-FFF2-40B4-BE49-F238E27FC236}">
                <a16:creationId xmlns:a16="http://schemas.microsoft.com/office/drawing/2014/main" xmlns="" id="{EC9FC9F6-7C35-474F-9DAD-4F652333952F}"/>
              </a:ext>
            </a:extLst>
          </p:cNvPr>
          <p:cNvSpPr>
            <a:spLocks noGrp="1"/>
          </p:cNvSpPr>
          <p:nvPr>
            <p:ph type="sldNum" sz="quarter" idx="12"/>
          </p:nvPr>
        </p:nvSpPr>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nSpc>
                <a:spcPct val="80000"/>
              </a:lnSpc>
            </a:pPr>
            <a:fld id="{68AA6B0D-BE20-432F-9674-511006AB8EBD}" type="slidenum">
              <a:rPr lang="en-US" altLang="en-US">
                <a:solidFill>
                  <a:srgbClr val="FFFFFF"/>
                </a:solidFill>
              </a:rPr>
              <a:pPr>
                <a:lnSpc>
                  <a:spcPct val="80000"/>
                </a:lnSpc>
              </a:pPr>
              <a:t>125</a:t>
            </a:fld>
            <a:endParaRPr lang="en-US" altLang="en-US">
              <a:solidFill>
                <a:srgbClr val="FFFFFF"/>
              </a:solidFill>
            </a:endParaRPr>
          </a:p>
        </p:txBody>
      </p:sp>
      <p:sp>
        <p:nvSpPr>
          <p:cNvPr id="32771" name="Rectangle 3">
            <a:extLst>
              <a:ext uri="{FF2B5EF4-FFF2-40B4-BE49-F238E27FC236}">
                <a16:creationId xmlns:a16="http://schemas.microsoft.com/office/drawing/2014/main" xmlns="" id="{CCA8280C-EB80-4170-8762-2D30E1C3BED2}"/>
              </a:ext>
            </a:extLst>
          </p:cNvPr>
          <p:cNvSpPr>
            <a:spLocks noGrp="1" noChangeArrowheads="1"/>
          </p:cNvSpPr>
          <p:nvPr>
            <p:ph sz="half" idx="2"/>
          </p:nvPr>
        </p:nvSpPr>
        <p:spPr/>
        <p:txBody>
          <a:bodyPr>
            <a:normAutofit fontScale="85000" lnSpcReduction="10000"/>
          </a:bodyPr>
          <a:lstStyle/>
          <a:p>
            <a:pPr lvl="2" eaLnBrk="1" hangingPunct="1">
              <a:lnSpc>
                <a:spcPct val="90000"/>
              </a:lnSpc>
              <a:buClr>
                <a:schemeClr val="tx1"/>
              </a:buClr>
              <a:buFont typeface="Times" panose="02020603050405020304" pitchFamily="18" charset="0"/>
              <a:buChar char="•"/>
            </a:pPr>
            <a:r>
              <a:rPr lang="en-US" altLang="en-US" dirty="0"/>
              <a:t>Adequate fluid resuscitation</a:t>
            </a:r>
          </a:p>
          <a:p>
            <a:pPr lvl="2" eaLnBrk="1" hangingPunct="1">
              <a:lnSpc>
                <a:spcPct val="90000"/>
              </a:lnSpc>
              <a:buClr>
                <a:schemeClr val="tx1"/>
              </a:buClr>
              <a:buFont typeface="Times" panose="02020603050405020304" pitchFamily="18" charset="0"/>
              <a:buChar char="•"/>
            </a:pPr>
            <a:r>
              <a:rPr lang="en-US" altLang="en-US" dirty="0"/>
              <a:t>Wean ventilator</a:t>
            </a:r>
          </a:p>
          <a:p>
            <a:pPr lvl="2" eaLnBrk="1" hangingPunct="1">
              <a:lnSpc>
                <a:spcPct val="90000"/>
              </a:lnSpc>
              <a:buClr>
                <a:schemeClr val="tx1"/>
              </a:buClr>
              <a:buFont typeface="Times" panose="02020603050405020304" pitchFamily="18" charset="0"/>
              <a:buChar char="•"/>
            </a:pPr>
            <a:r>
              <a:rPr lang="en-US" altLang="en-US" dirty="0"/>
              <a:t>No deep tracheal suctioning</a:t>
            </a:r>
          </a:p>
          <a:p>
            <a:pPr lvl="2" eaLnBrk="1" hangingPunct="1">
              <a:lnSpc>
                <a:spcPct val="90000"/>
              </a:lnSpc>
              <a:buClr>
                <a:schemeClr val="tx1"/>
              </a:buClr>
              <a:buFont typeface="Times" panose="02020603050405020304" pitchFamily="18" charset="0"/>
              <a:buChar char="•"/>
            </a:pPr>
            <a:r>
              <a:rPr lang="en-US" altLang="en-US" dirty="0"/>
              <a:t>Avoid bag/mask ventilation</a:t>
            </a:r>
          </a:p>
          <a:p>
            <a:pPr lvl="2" eaLnBrk="1" hangingPunct="1">
              <a:lnSpc>
                <a:spcPct val="90000"/>
              </a:lnSpc>
              <a:buClr>
                <a:schemeClr val="tx1"/>
              </a:buClr>
              <a:buFont typeface="Times" panose="02020603050405020304" pitchFamily="18" charset="0"/>
              <a:buChar char="•"/>
            </a:pPr>
            <a:r>
              <a:rPr lang="en-US" altLang="en-US" dirty="0"/>
              <a:t>No pacifiers/sucking</a:t>
            </a:r>
          </a:p>
          <a:p>
            <a:pPr lvl="2" eaLnBrk="1" hangingPunct="1">
              <a:lnSpc>
                <a:spcPct val="90000"/>
              </a:lnSpc>
              <a:buClr>
                <a:schemeClr val="tx1"/>
              </a:buClr>
              <a:buFont typeface="Times" panose="02020603050405020304" pitchFamily="18" charset="0"/>
              <a:buChar char="•"/>
            </a:pPr>
            <a:r>
              <a:rPr lang="en-US" altLang="en-US" dirty="0"/>
              <a:t>Chest tube remains in place for approximately one week</a:t>
            </a:r>
          </a:p>
          <a:p>
            <a:pPr lvl="2" eaLnBrk="1" hangingPunct="1">
              <a:lnSpc>
                <a:spcPct val="90000"/>
              </a:lnSpc>
              <a:buClr>
                <a:schemeClr val="tx1"/>
              </a:buClr>
              <a:buFont typeface="Times" panose="02020603050405020304" pitchFamily="18" charset="0"/>
              <a:buChar char="•"/>
            </a:pPr>
            <a:r>
              <a:rPr lang="en-US" altLang="en-US" dirty="0" err="1"/>
              <a:t>Esophagram</a:t>
            </a:r>
            <a:r>
              <a:rPr lang="en-US" altLang="en-US" dirty="0"/>
              <a:t> 1 week post op</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xmlns="" id="{DB0C8DE5-BB79-47D4-BF78-4889E826E5DA}"/>
              </a:ext>
            </a:extLst>
          </p:cNvPr>
          <p:cNvSpPr>
            <a:spLocks noGrp="1" noRot="1" noChangeArrowheads="1"/>
          </p:cNvSpPr>
          <p:nvPr>
            <p:ph type="title"/>
          </p:nvPr>
        </p:nvSpPr>
        <p:spPr>
          <a:xfrm>
            <a:off x="1981200" y="0"/>
            <a:ext cx="8229600" cy="76200"/>
          </a:xfrm>
        </p:spPr>
        <p:txBody>
          <a:bodyPr>
            <a:normAutofit fontScale="90000"/>
          </a:bodyPr>
          <a:lstStyle/>
          <a:p>
            <a:pPr>
              <a:defRPr/>
            </a:pPr>
            <a:r>
              <a:rPr lang="en-US"/>
              <a:t>  </a:t>
            </a:r>
          </a:p>
        </p:txBody>
      </p:sp>
      <p:sp>
        <p:nvSpPr>
          <p:cNvPr id="133123" name="Rectangle 3">
            <a:extLst>
              <a:ext uri="{FF2B5EF4-FFF2-40B4-BE49-F238E27FC236}">
                <a16:creationId xmlns:a16="http://schemas.microsoft.com/office/drawing/2014/main" xmlns="" id="{EDBBF0CE-9209-4F75-8355-D60EAA80D232}"/>
              </a:ext>
            </a:extLst>
          </p:cNvPr>
          <p:cNvSpPr>
            <a:spLocks noGrp="1" noChangeArrowheads="1"/>
          </p:cNvSpPr>
          <p:nvPr>
            <p:ph sz="quarter" idx="1"/>
          </p:nvPr>
        </p:nvSpPr>
        <p:spPr>
          <a:xfrm>
            <a:off x="2136775" y="1600200"/>
            <a:ext cx="8153400" cy="4495800"/>
          </a:xfrm>
        </p:spPr>
        <p:txBody>
          <a:bodyPr>
            <a:normAutofit/>
          </a:bodyPr>
          <a:lstStyle/>
          <a:p>
            <a:pPr marL="320040" indent="-320040">
              <a:buFont typeface="Wingdings" pitchFamily="124" charset="2"/>
              <a:buChar char="Ø"/>
              <a:defRPr/>
            </a:pPr>
            <a:r>
              <a:rPr lang="en-US" sz="4000" b="1" dirty="0"/>
              <a:t>Outcome</a:t>
            </a:r>
          </a:p>
          <a:p>
            <a:pPr marL="640080" lvl="1" indent="-274320">
              <a:buClr>
                <a:schemeClr val="tx1"/>
              </a:buClr>
              <a:buFont typeface="Wingdings" pitchFamily="124" charset="2"/>
              <a:buChar char="§"/>
              <a:defRPr/>
            </a:pPr>
            <a:r>
              <a:rPr lang="en-US" b="1" dirty="0"/>
              <a:t>Complications</a:t>
            </a:r>
            <a:endParaRPr lang="en-US" dirty="0"/>
          </a:p>
          <a:p>
            <a:pPr lvl="2">
              <a:buClr>
                <a:schemeClr val="tx1"/>
              </a:buClr>
              <a:buFont typeface="Times" pitchFamily="124" charset="0"/>
              <a:buChar char="•"/>
              <a:defRPr/>
            </a:pPr>
            <a:r>
              <a:rPr lang="en-US" dirty="0"/>
              <a:t>GER 40-70%</a:t>
            </a:r>
          </a:p>
          <a:p>
            <a:pPr lvl="2">
              <a:buClr>
                <a:schemeClr val="tx1"/>
              </a:buClr>
              <a:buFont typeface="Times" pitchFamily="124" charset="0"/>
              <a:buChar char="•"/>
              <a:defRPr/>
            </a:pPr>
            <a:r>
              <a:rPr lang="en-US" dirty="0"/>
              <a:t>Esophageal stricture 40%</a:t>
            </a:r>
          </a:p>
          <a:p>
            <a:pPr lvl="2">
              <a:buClr>
                <a:schemeClr val="tx1"/>
              </a:buClr>
              <a:buFont typeface="Times" pitchFamily="124" charset="0"/>
              <a:buChar char="•"/>
              <a:defRPr/>
            </a:pPr>
            <a:r>
              <a:rPr lang="en-US" dirty="0"/>
              <a:t>Anastomotic leak 14-21%</a:t>
            </a:r>
          </a:p>
          <a:p>
            <a:pPr lvl="2">
              <a:buClr>
                <a:schemeClr val="tx1"/>
              </a:buClr>
              <a:buFont typeface="Times" pitchFamily="124" charset="0"/>
              <a:buChar char="•"/>
              <a:defRPr/>
            </a:pPr>
            <a:r>
              <a:rPr lang="en-US" dirty="0" err="1"/>
              <a:t>tracheomalacia</a:t>
            </a:r>
            <a:r>
              <a:rPr lang="en-US" dirty="0"/>
              <a:t> </a:t>
            </a:r>
          </a:p>
          <a:p>
            <a:pPr lvl="2">
              <a:buClr>
                <a:schemeClr val="tx1"/>
              </a:buClr>
              <a:buFont typeface="Times" pitchFamily="124" charset="0"/>
              <a:buChar char="•"/>
              <a:defRPr/>
            </a:pPr>
            <a:r>
              <a:rPr lang="en-US" dirty="0"/>
              <a:t>fistula recurrence</a:t>
            </a:r>
          </a:p>
          <a:p>
            <a:pPr lvl="2">
              <a:buClr>
                <a:schemeClr val="tx1"/>
              </a:buClr>
              <a:buFont typeface="Times" pitchFamily="124" charset="0"/>
              <a:buChar char="•"/>
              <a:defRPr/>
            </a:pPr>
            <a:r>
              <a:rPr lang="en-US" dirty="0"/>
              <a:t>esophageal </a:t>
            </a:r>
            <a:r>
              <a:rPr lang="en-US" dirty="0" err="1"/>
              <a:t>dysmotility</a:t>
            </a:r>
            <a:r>
              <a:rPr lang="en-US" dirty="0"/>
              <a:t> Disturbed peristalsis and delayed gastric emptying are common </a:t>
            </a:r>
          </a:p>
          <a:p>
            <a:pPr lvl="2" indent="0">
              <a:buClr>
                <a:schemeClr val="tx1"/>
              </a:buClr>
              <a:buNone/>
              <a:defRPr/>
            </a:pPr>
            <a:endParaRPr lang="en-US" sz="1600" dirty="0"/>
          </a:p>
        </p:txBody>
      </p:sp>
      <p:sp>
        <p:nvSpPr>
          <p:cNvPr id="34820" name="Date Placeholder 3">
            <a:extLst>
              <a:ext uri="{FF2B5EF4-FFF2-40B4-BE49-F238E27FC236}">
                <a16:creationId xmlns:a16="http://schemas.microsoft.com/office/drawing/2014/main" xmlns="" id="{1F19D254-97B8-4191-A560-D9339D4CCD9D}"/>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2BB1602D-7E8F-48E8-9D22-046DC9387D1F}" type="datetime1">
              <a:rPr lang="en-US" altLang="en-US" smtClean="0">
                <a:solidFill>
                  <a:schemeClr val="tx2"/>
                </a:solidFill>
              </a:rPr>
              <a:pPr/>
              <a:t>11/26/2020</a:t>
            </a:fld>
            <a:endParaRPr lang="en-US" altLang="en-US">
              <a:solidFill>
                <a:schemeClr val="tx2"/>
              </a:solidFill>
            </a:endParaRPr>
          </a:p>
        </p:txBody>
      </p:sp>
      <p:sp>
        <p:nvSpPr>
          <p:cNvPr id="34821" name="Footer Placeholder 5">
            <a:extLst>
              <a:ext uri="{FF2B5EF4-FFF2-40B4-BE49-F238E27FC236}">
                <a16:creationId xmlns:a16="http://schemas.microsoft.com/office/drawing/2014/main" xmlns="" id="{359FC1F9-F239-4C37-91F3-CC27DFB53578}"/>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a:solidFill>
                  <a:schemeClr val="tx2"/>
                </a:solidFill>
              </a:rPr>
              <a:t>GI anomalies</a:t>
            </a:r>
          </a:p>
        </p:txBody>
      </p:sp>
      <p:sp>
        <p:nvSpPr>
          <p:cNvPr id="5" name="Slide Number Placeholder 4">
            <a:extLst>
              <a:ext uri="{FF2B5EF4-FFF2-40B4-BE49-F238E27FC236}">
                <a16:creationId xmlns:a16="http://schemas.microsoft.com/office/drawing/2014/main" xmlns="" id="{AAAF2453-F5B5-4B25-BC10-2941153ADD96}"/>
              </a:ext>
            </a:extLst>
          </p:cNvPr>
          <p:cNvSpPr>
            <a:spLocks noGrp="1"/>
          </p:cNvSpPr>
          <p:nvPr>
            <p:ph type="sldNum" sz="quarter" idx="12"/>
          </p:nvPr>
        </p:nvSpPr>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nSpc>
                <a:spcPct val="80000"/>
              </a:lnSpc>
            </a:pPr>
            <a:fld id="{7BFCF834-61B3-423F-A825-FA708785D130}" type="slidenum">
              <a:rPr lang="en-US" altLang="en-US">
                <a:solidFill>
                  <a:srgbClr val="FFFFFF"/>
                </a:solidFill>
              </a:rPr>
              <a:pPr>
                <a:lnSpc>
                  <a:spcPct val="80000"/>
                </a:lnSpc>
              </a:pPr>
              <a:t>126</a:t>
            </a:fld>
            <a:endParaRPr lang="en-US" altLang="en-US">
              <a:solidFill>
                <a:srgbClr val="FFFFFF"/>
              </a:solidFill>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281D2B-1BA8-4DD2-A394-68AAD27D5ED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1C4B60B3-D66F-4669-BE28-C4BF63615374}"/>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xmlns="" id="{89FFF088-FD40-4AC3-8C25-FFB7E8486502}"/>
              </a:ext>
            </a:extLst>
          </p:cNvPr>
          <p:cNvSpPr>
            <a:spLocks noGrp="1"/>
          </p:cNvSpPr>
          <p:nvPr>
            <p:ph type="sldNum" sz="quarter" idx="12"/>
          </p:nvPr>
        </p:nvSpPr>
        <p:spPr/>
        <p:txBody>
          <a:bodyPr/>
          <a:lstStyle/>
          <a:p>
            <a:fld id="{F010F31A-5B1D-4478-A180-CDC3128319F7}" type="slidenum">
              <a:rPr lang="en-US" smtClean="0"/>
              <a:t>127</a:t>
            </a:fld>
            <a:endParaRPr lang="en-US"/>
          </a:p>
        </p:txBody>
      </p:sp>
    </p:spTree>
    <p:extLst>
      <p:ext uri="{BB962C8B-B14F-4D97-AF65-F5344CB8AC3E}">
        <p14:creationId xmlns:p14="http://schemas.microsoft.com/office/powerpoint/2010/main" val="1342725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572</TotalTime>
  <Words>5388</Words>
  <Application>Microsoft Office PowerPoint</Application>
  <PresentationFormat>Custom</PresentationFormat>
  <Paragraphs>1130</Paragraphs>
  <Slides>127</Slides>
  <Notes>9</Notes>
  <HiddenSlides>0</HiddenSlides>
  <MMClips>0</MMClips>
  <ScaleCrop>false</ScaleCrop>
  <HeadingPairs>
    <vt:vector size="4" baseType="variant">
      <vt:variant>
        <vt:lpstr>Theme</vt:lpstr>
      </vt:variant>
      <vt:variant>
        <vt:i4>1</vt:i4>
      </vt:variant>
      <vt:variant>
        <vt:lpstr>Slide Titles</vt:lpstr>
      </vt:variant>
      <vt:variant>
        <vt:i4>127</vt:i4>
      </vt:variant>
    </vt:vector>
  </HeadingPairs>
  <TitlesOfParts>
    <vt:vector size="128" baseType="lpstr">
      <vt:lpstr>Office Theme</vt:lpstr>
      <vt:lpstr>Pediatrics and child health OSCE file</vt:lpstr>
      <vt:lpstr>Neonatology</vt:lpstr>
      <vt:lpstr>Classification of Newborns </vt:lpstr>
      <vt:lpstr>PowerPoint Presentation</vt:lpstr>
      <vt:lpstr>APGAR Score</vt:lpstr>
      <vt:lpstr>PowerPoint Presentation</vt:lpstr>
      <vt:lpstr>Essential new born care</vt:lpstr>
      <vt:lpstr>Essential newborn Care</vt:lpstr>
      <vt:lpstr>PowerPoint Presentation</vt:lpstr>
      <vt:lpstr>PowerPoint Presentation</vt:lpstr>
      <vt:lpstr>PowerPoint Presentation</vt:lpstr>
      <vt:lpstr>PowerPoint Presentation</vt:lpstr>
      <vt:lpstr>PowerPoint Presentation</vt:lpstr>
      <vt:lpstr>Neonatal resuscitation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Necrotizing enterocolitis</vt:lpstr>
      <vt:lpstr>PowerPoint Presentation</vt:lpstr>
      <vt:lpstr>PowerPoint Presentation</vt:lpstr>
      <vt:lpstr>PowerPoint Presentation</vt:lpstr>
      <vt:lpstr>PowerPoint Presentation</vt:lpstr>
      <vt:lpstr>PowerPoint Presentation</vt:lpstr>
      <vt:lpstr>PowerPoint Presentation</vt:lpstr>
      <vt:lpstr>Treatment</vt:lpstr>
      <vt:lpstr>PowerPoint Presentation</vt:lpstr>
      <vt:lpstr>TORCH</vt:lpstr>
      <vt:lpstr>TORCH INFECTIONS</vt:lpstr>
      <vt:lpstr>PowerPoint Presentation</vt:lpstr>
      <vt:lpstr>TOXOPLASMOSIS</vt:lpstr>
      <vt:lpstr>PowerPoint Presentation</vt:lpstr>
      <vt:lpstr>PowerPoint Presentation</vt:lpstr>
      <vt:lpstr>Diagnosis</vt:lpstr>
      <vt:lpstr>PowerPoint Presentation</vt:lpstr>
      <vt:lpstr>RUBELLA</vt:lpstr>
      <vt:lpstr>PowerPoint Presentation</vt:lpstr>
      <vt:lpstr>CYTOMEGALOVIRUS</vt:lpstr>
      <vt:lpstr>Clinical presentation</vt:lpstr>
      <vt:lpstr>Clinical presentation</vt:lpstr>
      <vt:lpstr>PowerPoint Presentation</vt:lpstr>
      <vt:lpstr>SYPHILIS</vt:lpstr>
      <vt:lpstr>Clinical manifestation</vt:lpstr>
      <vt:lpstr>PowerPoint Presentation</vt:lpstr>
      <vt:lpstr>PowerPoint Presentation</vt:lpstr>
      <vt:lpstr>Hutchinson teeth</vt:lpstr>
      <vt:lpstr>Mulberry molars</vt:lpstr>
      <vt:lpstr>Saddle nose</vt:lpstr>
      <vt:lpstr>PowerPoint Presentation</vt:lpstr>
      <vt:lpstr>Management</vt:lpstr>
      <vt:lpstr>Isolation Procedures</vt:lpstr>
      <vt:lpstr>HSV</vt:lpstr>
      <vt:lpstr>Diagnosis</vt:lpstr>
      <vt:lpstr>Hepatitis B</vt:lpstr>
      <vt:lpstr>Clinical presentation</vt:lpstr>
      <vt:lpstr>Diagnosis</vt:lpstr>
      <vt:lpstr>Management</vt:lpstr>
      <vt:lpstr>PowerPoint Presentation</vt:lpstr>
      <vt:lpstr>Respiratory Distress in the Newborn </vt:lpstr>
      <vt:lpstr>PowerPoint Presentation</vt:lpstr>
      <vt:lpstr>Respiratory Distress syndrome ( Hyaline Membrane disease)</vt:lpstr>
      <vt:lpstr>PowerPoint Presentation</vt:lpstr>
      <vt:lpstr>Cont…</vt:lpstr>
      <vt:lpstr>PowerPoint Presentation</vt:lpstr>
      <vt:lpstr>Diagnosis</vt:lpstr>
      <vt:lpstr>PowerPoint Presentation</vt:lpstr>
      <vt:lpstr>PowerPoint Presentation</vt:lpstr>
      <vt:lpstr>Complications </vt:lpstr>
      <vt:lpstr>PowerPoint Presentation</vt:lpstr>
      <vt:lpstr>Complications of prematurity</vt:lpstr>
      <vt:lpstr>PowerPoint Presentation</vt:lpstr>
      <vt:lpstr>Complications of post term</vt:lpstr>
      <vt:lpstr>Fetal macrosomia</vt:lpstr>
      <vt:lpstr>Feeding practices </vt:lpstr>
      <vt:lpstr>Feeding…</vt:lpstr>
      <vt:lpstr>Feeding…</vt:lpstr>
      <vt:lpstr>PowerPoint Presentation</vt:lpstr>
      <vt:lpstr>Feeding…</vt:lpstr>
      <vt:lpstr>Feeding…</vt:lpstr>
      <vt:lpstr>Feeding…</vt:lpstr>
      <vt:lpstr>Neonatal hyperbilirubinemia</vt:lpstr>
      <vt:lpstr>PowerPoint Presentation</vt:lpstr>
      <vt:lpstr>Classification of jaundice</vt:lpstr>
      <vt:lpstr>Differential diagnosis</vt:lpstr>
      <vt:lpstr>Differential diagnosis...</vt:lpstr>
      <vt:lpstr>Differential diagnosis…</vt:lpstr>
      <vt:lpstr>Bilirubin associated with breast feeding</vt:lpstr>
      <vt:lpstr>Hemolytic disease of the newborn (erythroblastosis fetalis)</vt:lpstr>
      <vt:lpstr>Rh incompatibility…</vt:lpstr>
      <vt:lpstr>Rh incompatibility…</vt:lpstr>
      <vt:lpstr>Rh incompatibility…</vt:lpstr>
      <vt:lpstr>ABO incompatibility</vt:lpstr>
      <vt:lpstr>PowerPoint Presentation</vt:lpstr>
      <vt:lpstr>Hemorrhagic disease of the new born</vt:lpstr>
      <vt:lpstr>PowerPoint Presentation</vt:lpstr>
      <vt:lpstr>PowerPoint Presentation</vt:lpstr>
      <vt:lpstr>Neonatal Seizures </vt:lpstr>
      <vt:lpstr>TYPES OF NEONATAL SEIZURES </vt:lpstr>
      <vt:lpstr>PowerPoint Presentation</vt:lpstr>
      <vt:lpstr>PowerPoint Presentation</vt:lpstr>
      <vt:lpstr>  Treatment  </vt:lpstr>
      <vt:lpstr>Duration of Therapy</vt:lpstr>
      <vt:lpstr>Management </vt:lpstr>
      <vt:lpstr>PowerPoint Presentation</vt:lpstr>
      <vt:lpstr>PowerPoint Presentation</vt:lpstr>
      <vt:lpstr>Cleft lip and palate</vt:lpstr>
      <vt:lpstr>Cleft Lip and Palate</vt:lpstr>
      <vt:lpstr>Cleft Lip and Palate…</vt:lpstr>
      <vt:lpstr>Cleft Lip and Palate:</vt:lpstr>
      <vt:lpstr>  </vt:lpstr>
      <vt:lpstr>Tracheoesophageal Fistula</vt:lpstr>
      <vt:lpstr>  Types of tracheoesophageal abn.</vt:lpstr>
      <vt:lpstr>Types of tracheoesophageal abn.</vt:lpstr>
      <vt:lpstr>PowerPoint Presentation</vt:lpstr>
      <vt:lpstr>   </vt:lpstr>
      <vt:lpstr>  Diagnosis of TEF </vt:lpstr>
      <vt:lpstr>PowerPoint Presentation</vt:lpstr>
      <vt:lpstr>PowerPoint Presentation</vt:lpstr>
      <vt:lpstr>PowerPoint Presentation</vt:lpstr>
      <vt:lpstr>PowerPoint Presentation</vt:lpstr>
      <vt:lpstr>   Trachioesophageal disorder</vt:lpstr>
      <vt:lpstr>   </vt:lpstr>
      <vt:lpstr>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Pediatrics and child health OSCE file</dc:title>
  <dc:creator>BezaYohannes</dc:creator>
  <cp:lastModifiedBy>user</cp:lastModifiedBy>
  <cp:revision>64</cp:revision>
  <dcterms:created xsi:type="dcterms:W3CDTF">2020-11-24T07:59:41Z</dcterms:created>
  <dcterms:modified xsi:type="dcterms:W3CDTF">2020-11-26T03:19:31Z</dcterms:modified>
</cp:coreProperties>
</file>