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5" r:id="rId3"/>
    <p:sldMasterId id="2147483697" r:id="rId4"/>
  </p:sldMasterIdLst>
  <p:notesMasterIdLst>
    <p:notesMasterId r:id="rId46"/>
  </p:notesMasterIdLst>
  <p:sldIdLst>
    <p:sldId id="256" r:id="rId5"/>
    <p:sldId id="274" r:id="rId6"/>
    <p:sldId id="257" r:id="rId7"/>
    <p:sldId id="297" r:id="rId8"/>
    <p:sldId id="260" r:id="rId9"/>
    <p:sldId id="261" r:id="rId10"/>
    <p:sldId id="286" r:id="rId11"/>
    <p:sldId id="287" r:id="rId12"/>
    <p:sldId id="262" r:id="rId13"/>
    <p:sldId id="302" r:id="rId14"/>
    <p:sldId id="303" r:id="rId15"/>
    <p:sldId id="281" r:id="rId16"/>
    <p:sldId id="285" r:id="rId17"/>
    <p:sldId id="282" r:id="rId18"/>
    <p:sldId id="277" r:id="rId19"/>
    <p:sldId id="278" r:id="rId20"/>
    <p:sldId id="279" r:id="rId21"/>
    <p:sldId id="263" r:id="rId22"/>
    <p:sldId id="305" r:id="rId23"/>
    <p:sldId id="264" r:id="rId24"/>
    <p:sldId id="276" r:id="rId25"/>
    <p:sldId id="288" r:id="rId26"/>
    <p:sldId id="289" r:id="rId27"/>
    <p:sldId id="293" r:id="rId28"/>
    <p:sldId id="266" r:id="rId29"/>
    <p:sldId id="283" r:id="rId30"/>
    <p:sldId id="267" r:id="rId31"/>
    <p:sldId id="268" r:id="rId32"/>
    <p:sldId id="292" r:id="rId33"/>
    <p:sldId id="284" r:id="rId34"/>
    <p:sldId id="269" r:id="rId35"/>
    <p:sldId id="295" r:id="rId36"/>
    <p:sldId id="271" r:id="rId37"/>
    <p:sldId id="306" r:id="rId38"/>
    <p:sldId id="272" r:id="rId39"/>
    <p:sldId id="294" r:id="rId40"/>
    <p:sldId id="259" r:id="rId41"/>
    <p:sldId id="258" r:id="rId42"/>
    <p:sldId id="273" r:id="rId43"/>
    <p:sldId id="290" r:id="rId44"/>
    <p:sldId id="291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44" autoAdjust="0"/>
    <p:restoredTop sz="86420" autoAdjust="0"/>
  </p:normalViewPr>
  <p:slideViewPr>
    <p:cSldViewPr>
      <p:cViewPr varScale="1">
        <p:scale>
          <a:sx n="37" d="100"/>
          <a:sy n="37" d="100"/>
        </p:scale>
        <p:origin x="-10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7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869E6-D70B-4240-BBA6-6B355ACC95C4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C858C-E4C6-4322-8586-C6FE35F5BC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1C858C-E4C6-4322-8586-C6FE35F5BCA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3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7D28A23-5867-4526-BFD8-77ECD40D2B9E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81D7A-8C66-489C-A330-AD6A8FC6CA48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1DD439-5BB9-4959-ACAB-5068D1B3E8EE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6B0DF1-22E7-4D9D-885D-90106F25DF9C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2BC26C-4C1A-4EA2-9910-2F2F208CE004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E4EA0-D4B6-4E06-AE27-0C632A925553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FD701E-09B6-414F-B2FF-0A52571DABE6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6A8B41-2C61-4C08-A7B0-C8B0441CE5E2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14323-F3F1-4A09-ABB3-4C4708207798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C14935-469D-4EB2-8495-3D4CC9C66A57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01A2F-6A30-4F34-8D86-F0C70B91540C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E314CE-C4DB-49E5-9ACE-DAA7906627CF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9E161-BD24-42B1-9F76-D59937C34FA5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3DE1C-20A9-4F9C-82BF-6310B9A01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693BA-1973-4D43-8878-64F27079886A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EF42C-19CB-4192-8E73-B40DC0E31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46EC4-5E0C-48A4-AE39-9DAD3B93A149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0A773-02E4-49AF-99A0-E583DE84A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1309F-836C-491F-8161-6F812FABB8BE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F984-D4BE-46CF-A67C-44BC4FF3E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A1E5A-B79A-4095-957B-59D3B679C5BA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91784-85DF-4965-BF82-6CDBD82E7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BAB17-1499-4723-9176-562BB27D0CE8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11D24-BC6F-4074-AE2D-7AC06012ED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C69C0-B599-44C2-A4C3-C5C5E7E4ADB7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C123C-8E26-4657-A0B2-232F01DD5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D8B97-1FC9-403B-B9F4-8A5FD9B36DB5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C268E-927A-448D-B31E-171A6BC4C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16E60-0B2C-4468-BCC2-AC5AC811E07D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3744E-951D-4262-8EC8-990704A25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E27F9-AAA9-4D1A-9B47-2F777BC1182F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62407-97AF-4313-8D5F-5694C9598B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98731-C68D-4877-B106-D7C82E88839D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6349E-73C5-4BBD-9EAF-3A8694894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B1E59-D1A7-4DB0-B1F0-33448A604391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3DE1C-20A9-4F9C-82BF-6310B9A01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BAF20-9935-4160-B701-71BDF5BF2696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EF42C-19CB-4192-8E73-B40DC0E31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DF496-DE2C-4635-9ADF-30575DB64E85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0A773-02E4-49AF-99A0-E583DE84A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CAE79-2594-46CB-AE14-88B302838A11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F984-D4BE-46CF-A67C-44BC4FF3E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CFB9B-41DB-4309-933A-EFF0F095B448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91784-85DF-4965-BF82-6CDBD82E7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10A394-F423-4F92-9E5C-C5DF5FE7BDA7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11D24-BC6F-4074-AE2D-7AC06012ED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083EB-324E-45DB-9E8C-CF30A330F529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C123C-8E26-4657-A0B2-232F01DD5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B6C9A-8B75-4EED-AA2B-4F129A53B0EE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C268E-927A-448D-B31E-171A6BC4C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9CFAC-5F11-48E8-AB89-063346E26000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3744E-951D-4262-8EC8-990704A25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77273-44A5-4E58-BA8B-C18E20422203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62407-97AF-4313-8D5F-5694C9598B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FEC62-44F2-4876-A2A4-1BE18FE90B08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6349E-73C5-4BBD-9EAF-3A8694894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45B4B-9BB7-4DA8-8E2B-6D2D4D757442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3DE1C-20A9-4F9C-82BF-6310B9A01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19128-1E43-4F67-B308-2E06809D1364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EF42C-19CB-4192-8E73-B40DC0E31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E68EB-2377-4FDF-B353-A597C0BD8914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0A773-02E4-49AF-99A0-E583DE84A2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C1DC1-8886-4AE5-B4E2-22CEFF41B79D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F984-D4BE-46CF-A67C-44BC4FF3E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DCED2-2A41-4A03-921E-F8F9091C7E31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91784-85DF-4965-BF82-6CDBD82E7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29A7A-7EDC-4BC8-87F2-C5923443EA77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11D24-BC6F-4074-AE2D-7AC06012ED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98DC8-8547-4CBC-95B7-50C15DB91717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3C123C-8E26-4657-A0B2-232F01DD57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737BC-E369-481D-BD3F-A49AE29D4479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FC268E-927A-448D-B31E-171A6BC4CA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C1C33-822E-4905-AB79-B85CA7425C39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3744E-951D-4262-8EC8-990704A25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64105-1D37-4570-AB7B-6B028F674D6D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62407-97AF-4313-8D5F-5694C9598B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2663-F652-4899-AA75-BF9F6E8CBF45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6349E-73C5-4BBD-9EAF-3A8694894A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4" charset="0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Tahoma" pitchFamily="34" charset="0"/>
              </a:defRPr>
            </a:lvl1pPr>
          </a:lstStyle>
          <a:p>
            <a:fld id="{3648659E-EB18-4C9B-B14B-C601E6E93EA1}" type="datetime1">
              <a:rPr lang="en-US" smtClean="0"/>
              <a:pPr/>
              <a:t>8/20/2024</a:t>
            </a:fld>
            <a:endParaRPr lang="en-US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fld id="{0E22D061-FC73-499F-AD6B-2051762612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o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Ø"/>
        <a:defRPr sz="20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600B51B6-AB5C-4DA0-BB6D-3A5DC4D3E11C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ED8C47D-C355-4627-8958-B1CB9ABD4E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CF9C1EC-4216-4392-B412-0BF2F5FA01BA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ED8C47D-C355-4627-8958-B1CB9ABD4E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E2D6ADA-2EEF-41CB-9B90-86E2DD97FEB5}" type="datetime1">
              <a:rPr lang="en-US" smtClean="0"/>
              <a:pPr>
                <a:defRPr/>
              </a:pPr>
              <a:t>8/20/2024</a:t>
            </a:fld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ED8C47D-C355-4627-8958-B1CB9ABD4E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ptodate.com/contents/pneumococcal-polysaccharide-vaccine-23-valent-ppsv23-pediatric-drug-information?search=complication%20of%20nephrotic%20syndrome%20children&amp;topicRef=6130&amp;source=see_link" TargetMode="Externa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ptodate.com/contents/prednisone-pediatric-drug-information?search=complication%20of%20nephrotic%20syndrome%20children&amp;topicRef=6130&amp;source=see_link" TargetMode="Externa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NEPHROTIC</a:t>
            </a:r>
            <a:r>
              <a:rPr lang="en-US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SYNDROME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algn="l" eaLnBrk="1" hangingPunct="1"/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Gemechu Edae ( MD, Assistant professor of pediatrics</a:t>
            </a:r>
          </a:p>
          <a:p>
            <a:pPr marR="0" algn="l" eaLnBrk="1" hangingPunct="1"/>
            <a:r>
              <a:rPr lang="en-US" alt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Peds, CHS,  AU </a:t>
            </a:r>
            <a:r>
              <a:rPr lang="en-US" alt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R="0" algn="l" eaLnBrk="1" hangingPunct="1"/>
            <a:endParaRPr lang="en-US" altLang="en-US" sz="2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l" eaLnBrk="1" hangingPunct="1"/>
            <a:r>
              <a:rPr lang="en-US" altLang="en-US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 20, 2024</a:t>
            </a:r>
            <a:endParaRPr lang="en-US" altLang="en-US" sz="2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Nephrotic</a:t>
            </a:r>
            <a:r>
              <a:rPr lang="en-US" b="1" baseline="0" dirty="0">
                <a:latin typeface="Times New Roman" pitchFamily="18" charset="0"/>
                <a:cs typeface="Times New Roman" pitchFamily="18" charset="0"/>
              </a:rPr>
              <a:t> Syndrome (NS) 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syndrome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by: </a:t>
            </a:r>
          </a:p>
          <a:p>
            <a:pPr lvl="2">
              <a:lnSpc>
                <a:spcPct val="150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Proteinuria</a:t>
            </a:r>
            <a:r>
              <a:rPr lang="en-US" b="1" i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Hypoalbuminemia (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g/dl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Edema and </a:t>
            </a: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anose="02020603050405020304" pitchFamily="18" charset="0"/>
              </a:rPr>
              <a:t>Hyperlipidemia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(cholesterol &gt; 200 mg/dL).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Nephrotic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 proteinuria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urinary excretion &gt;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g/m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/day (40 mg/m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/hr) or a first morning protein : creatinine ratio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&gt;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2:1</a:t>
            </a:r>
            <a:endParaRPr lang="en-US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7FD742CF-73A7-4E84-BDD9-7A41E4FC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Nephrotic syndrome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D5130714-F6E5-47AC-9C9D-5B63A8C66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a pediatric disorder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times more common in children than adults.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AEA0F3D-8926-412B-B116-9A074AF7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5" descr="‬">
            <a:extLst>
              <a:ext uri="{FF2B5EF4-FFF2-40B4-BE49-F238E27FC236}">
                <a16:creationId xmlns="" xmlns:a16="http://schemas.microsoft.com/office/drawing/2014/main" id="{1813B180-7F21-4B52-98D8-3BE51B7B6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24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49613"/>
            <a:ext cx="3543300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‬">
            <a:extLst>
              <a:ext uri="{FF2B5EF4-FFF2-40B4-BE49-F238E27FC236}">
                <a16:creationId xmlns="" xmlns:a16="http://schemas.microsoft.com/office/drawing/2014/main" id="{6B01D4F3-08AA-4D44-89E8-65033E17F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05200"/>
            <a:ext cx="4038600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3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Etiologic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primary glomerular disease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as part of recognized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systemic disease or results from some evident cause; possible causes are as follows: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infectious (G-A </a:t>
            </a:r>
            <a:r>
              <a:rPr lang="el-GR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-hemolytic strep., Syphilis, malaria, TB and viruses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Collagen vascular disease (SLE, RA, polyarteritis nodosa)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Drugs (mercury, gold, porbencid, captopril…)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HSP, sickle cell disease, DM, malignancy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(leukemia, lymphoma, wilm’s tumor)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Histologi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lesion NS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mesangial hypercellularity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glomerulosclerosis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Membranous glomerulonephritis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Membranoproliferative glomerulonephritis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6106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3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531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Incidence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1-3 per 100,000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children/year 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16 yr of age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 accounts for approximately 90% of all cases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of onset and sex incidence</a:t>
            </a:r>
            <a:r>
              <a:rPr lang="en-US" sz="2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with the type of NS </a:t>
            </a:r>
          </a:p>
          <a:p>
            <a:pPr lvl="0">
              <a:lnSpc>
                <a:spcPct val="150000"/>
              </a:lnSpc>
            </a:pPr>
            <a:r>
              <a:rPr lang="en-US" sz="24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type of NS in children is </a:t>
            </a:r>
            <a:r>
              <a:rPr lang="en-US" sz="24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lesion 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750174AB-1C9C-4502-9CE4-007A9054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Glomerular handling of proteins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12F47036-1258-4966-9F3D-3FDE9EC6C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Glomerular capillary wall has three components: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fenestrated endothelial cell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glomerular basement membrane (GBM)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he-I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epithelial cell foot processes - the pores between the epithelial foot processes are closed by a thin membrane called the slit diaphragm 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55D0085-902A-4884-83E5-B0A5CDC7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87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12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755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4CF0868-781C-45EC-BAB2-E0F89EFF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Glomerular capillary wall</a:t>
            </a:r>
            <a:endParaRPr lang="en-US" dirty="0"/>
          </a:p>
        </p:txBody>
      </p:sp>
      <p:pic>
        <p:nvPicPr>
          <p:cNvPr id="5" name="Content Placeholder 4" descr="‬">
            <a:extLst>
              <a:ext uri="{FF2B5EF4-FFF2-40B4-BE49-F238E27FC236}">
                <a16:creationId xmlns="" xmlns:a16="http://schemas.microsoft.com/office/drawing/2014/main" id="{08A4C90B-A7B5-498F-9DFB-EDFD77CD9D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417638"/>
            <a:ext cx="8647271" cy="4990306"/>
          </a:xfrm>
          <a:noFill/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B1C5FA5-1CF5-4020-B206-22DDC255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8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534400" cy="5591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023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421AE57A-3EF1-47DD-B58B-B0713CDB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Glomerular handling…/2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34EB7938-58D7-482F-A071-7B758EADB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en-US" altLang="he-I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 barrier by: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en-US" altLang="he-IL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he-IL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(albumin “not allowed”) : the endothelial cell is not part of the size barrier 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en-US" altLang="he-IL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</a:t>
            </a:r>
            <a:r>
              <a:rPr lang="en-US" altLang="he-IL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he-IL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heparan sulphate glycosaminoglycan</a:t>
            </a:r>
            <a:r>
              <a:rPr lang="en-US" altLang="he-IL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the endothelial cell and GBM are negatively charged </a:t>
            </a:r>
          </a:p>
          <a:p>
            <a:pPr marL="658368" lvl="1" indent="-246888" eaLnBrk="1" fontAlgn="auto" hangingPunct="1">
              <a:lnSpc>
                <a:spcPct val="15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en-US" altLang="he-IL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Slit diaphragm proteins (nephrin, podocin, etc.)  Essential for prevention of protein filtration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C2230F8-087A-4B34-A2E3-A324BC10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54FDCBE3-04D6-49FF-A9AB-897892BA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 algn="l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2800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Mechanisms of </a:t>
            </a:r>
            <a:r>
              <a:rPr lang="en-US" sz="2800" b="1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increased</a:t>
            </a:r>
            <a:r>
              <a:rPr lang="en-US" sz="2800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protein</a:t>
            </a:r>
            <a:r>
              <a:rPr lang="en-US" sz="2800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excretion:</a:t>
            </a:r>
            <a:br>
              <a:rPr lang="en-US" sz="2800" dirty="0">
                <a:solidFill>
                  <a:srgbClr val="000000">
                    <a:lumMod val="50000"/>
                  </a:srgb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DB29187-8818-4565-B3ED-EAA258E9B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 eaLnBrk="1" hangingPunct="1">
              <a:lnSpc>
                <a:spcPct val="150000"/>
              </a:lnSpc>
              <a:buFont typeface="Georgia" panose="02040502050405020303" pitchFamily="18" charset="0"/>
              <a:buNone/>
              <a:defRPr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Glomerular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proteinuria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Commonest cause in children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increased filtration of macromolecules like albumin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due to anatomic or functional lesions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cause might be fever, exercise, or orthostatic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DE832AB-87F2-4D56-B4D0-30EF05A4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0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A30543ED-4300-48C1-B4F0-DC67A42F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excretion: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8EEFC9D-3A14-4E86-8855-10CF94298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 eaLnBrk="1" hangingPunct="1">
              <a:buFont typeface="Georgia" panose="02040502050405020303" pitchFamily="18" charset="0"/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proteinuria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reduced reabsorption of low molecular weight proteins in the proximal tubule</a:t>
            </a:r>
          </a:p>
          <a:p>
            <a:pPr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Beta-2 and alpha-1 microglobulins and retinol binding protein are excreted</a:t>
            </a:r>
          </a:p>
          <a:p>
            <a:pPr eaLnBrk="1" hangingPunct="1"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associated with the Fanconi syndrome, glycosuria, phosphaturia, PRTA, cystinuria…or tubulointerstial nephritis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428F3DA-A395-42DC-A5E1-ED7AF29E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9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A89534F9-578E-413E-8D26-F49BCBB5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Mechanisms of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excretion: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15FBF08-E536-4B62-AF3D-B36F273A7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proteinuria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increased production of a particular LMWP to a level beyond the absorptive capacity of the proximal tubule.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production of Ig light chains in multiple myeloma, usually in adults is an example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B6029A3-8FAA-4578-84D6-46B04FF4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</a:t>
            </a:r>
            <a:r>
              <a:rPr lang="en-US" sz="36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for approximately 90%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cases in b/n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1-10 years &amp; 50% after 10 years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occurs in three morphologic patterns: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change disease (85%)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segmental glomerulosclerosis (10%)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Mesangial proliferative (5%)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between 2-6 yrs commonly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is reported as early as 6 months and throughout adulthood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to female ratio is ~ 2:1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4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247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Pathphysiology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alteration in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permeability selective characteristics of the GBM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loss is generally &gt; 2g/24 hr (normal &lt;150 mg/24 hr)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lost is primarily albumin resulting in hypoalbuminemia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Edema appears when serum albumin falls below 2.5 g/dl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 protein excretion in children &lt; 100 mg/m2/day or &lt;4 mg/m2/hr. or a total of 150 mg/d, in the neonates up to 300 mg/d </a:t>
            </a:r>
          </a:p>
          <a:p>
            <a:pPr lvl="1"/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08C80E8C-6D4B-4275-BAC3-DC3B65E6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7D88375E-7915-448E-A31C-D82C594BF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Pathophysiology......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C1362C4-3A72-4847-8426-5CC1CEC2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FEBB0729-3D67-442E-9E92-85FCFB6F1E4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49488"/>
            <a:ext cx="8229600" cy="43243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protein excretion is due to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Restriction of filtration of proteins across the GBM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Reabsorption of the filtered proteins by the proximal tubule</a:t>
            </a:r>
          </a:p>
        </p:txBody>
      </p:sp>
    </p:spTree>
    <p:extLst>
      <p:ext uri="{BB962C8B-B14F-4D97-AF65-F5344CB8AC3E}">
        <p14:creationId xmlns:p14="http://schemas.microsoft.com/office/powerpoint/2010/main" val="208082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" y="381000"/>
            <a:ext cx="83820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14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2964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129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229600" cy="762000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Approach to the infant or child with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nephrotic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syndrome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852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Serum level of almost all lipids is increased as a result of increases in lipoprotein synthesis and low levels of lipoprotein lipase </a:t>
            </a:r>
          </a:p>
          <a:p>
            <a:pPr lvl="0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Manifestations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may follow URTI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presents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edema, initially noted in periorbital area and lower extremities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Edema becomes generalized with time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may present with hypotension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510B3E3-DB63-4F82-8959-C9DDE56F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Atypical features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99F21E4-B8AC-4B6C-B62E-23B755CD8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Infants and children &gt;10yrs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family history of NS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extra renal symptoms like rash, arthritis, anemia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insufficiency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hematuria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D78F1D8-9795-4B6D-8562-D3CDBBA1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4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may develop renal failure as a result of the hypotension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massive pleural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effusion and ascites, patients may develop dyspnea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nephritic syndrome, gross hematuria and hypertension are uncommon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en-US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Urinalysis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reveals proteinuria of +3 or +4 on dipstick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Serum albumin - 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g/dl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serum cholesterol and triglyceride level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Idiopathic…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C3 level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electrolytes, RFT, CBC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Renal biopsy - is indicated in children with:</a:t>
            </a:r>
          </a:p>
          <a:p>
            <a:pPr lvl="2">
              <a:lnSpc>
                <a:spcPct val="150000"/>
              </a:lnSpc>
            </a:pP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Macroscopic hematuria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hypertension,  renal insufficiency, </a:t>
            </a:r>
            <a:r>
              <a:rPr lang="en-US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hypocomplementemia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whose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is </a:t>
            </a:r>
            <a:r>
              <a:rPr lang="en-US" b="1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 yr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b="1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yr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extra-renal symptoms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malar rash,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purpura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adenopathy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), steroid resistant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0" lvl="2" indent="-228600" algn="l">
              <a:spcBef>
                <a:spcPct val="2000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Infection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major complication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Commonest infection is spontaneous peritonitis 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Commonest cause – strep.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Pneumoniae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infections include </a:t>
            </a:r>
          </a:p>
          <a:p>
            <a:pPr lvl="2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Pneumonia, cellulitis, sepsis and UTI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Thromboembolism</a:t>
            </a:r>
            <a:endParaRPr lang="en-US" sz="2400" dirty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Renal </a:t>
            </a:r>
            <a:r>
              <a:rPr lang="en-US" sz="2400" dirty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insufficiency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err="1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Anasarca</a:t>
            </a:r>
            <a:endParaRPr lang="en-US" sz="2400" dirty="0">
              <a:solidFill>
                <a:srgbClr val="232323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err="1" smtClean="0">
                <a:solidFill>
                  <a:srgbClr val="232323"/>
                </a:solidFill>
                <a:latin typeface="Times New Roman" pitchFamily="18" charset="0"/>
                <a:cs typeface="Times New Roman" pitchFamily="18" charset="0"/>
              </a:rPr>
              <a:t>Hypovolemia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….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01EC650-32F1-49F0-8896-9BE52CBC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DDx for edematous child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0A586482-998E-4E58-A52A-C09E2B619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losing enteropathy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Hepatic failure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failure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or chronic GN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D585CDE-900E-4BDC-979A-C2FD3C95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</a:t>
            </a:r>
          </a:p>
          <a:p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goal of therapy should be a gradual reduction of edema with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judicious use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of diuretics, sodium restriction, and cautious use of intravenous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albumin infusions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, if indicated.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en-US" sz="20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focused on preventing or minimizing complications</a:t>
            </a:r>
            <a:endPara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with mild to moderate edema can be managed as outpatient</a:t>
            </a:r>
            <a:r>
              <a:rPr 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Salt restriction </a:t>
            </a:r>
          </a:p>
          <a:p>
            <a:pPr lvl="1"/>
            <a:r>
              <a:rPr 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Diuretics can be used cautiously to reduce severe form of edema: 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Frusemide</a:t>
            </a:r>
            <a:r>
              <a:rPr 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respiratory distress due to massive pleural effusion and ascites or severe scrotal edema </a:t>
            </a:r>
          </a:p>
          <a:p>
            <a:pPr lvl="2"/>
            <a:r>
              <a:rPr lang="en-US" sz="2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 monitoring of RF and electrolytes</a:t>
            </a:r>
          </a:p>
          <a:p>
            <a:pPr marL="914400" lvl="2" indent="0">
              <a:buNone/>
            </a:pPr>
            <a:endParaRPr lang="en-US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Treatment…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Infection control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Prevention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infection with vaccination with 23-valent polysaccharide (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2"/>
              </a:rPr>
              <a:t>PPSV23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pneumococcal and varicella vaccines if not previously immunized,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live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vaccinations should be avoided during relapse and while on daily immunosuppressive medications.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Identification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treatment of suspected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infections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5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Treatment…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Steroids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Consideration:..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Prednisolone – given in a dose of 60 mg/m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/24 </a:t>
            </a:r>
            <a:r>
              <a:rPr lang="en-US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2 mg/kg/24 </a:t>
            </a:r>
            <a:r>
              <a:rPr lang="en-US" baseline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Max. 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mg/24 hr)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dose for at least 4 wks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80-90% of patients respond in a median time of 10 days to remission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initial 4-6 wk course, Prednisolone should be tapered to 40 mg/m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/24 hr every other day every morning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61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Treatment…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alternate day dose is slowly tapered over the next 2-3 months </a:t>
            </a:r>
          </a:p>
          <a:p>
            <a:pPr lvl="0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to steroids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&gt;95% with minimal change NS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~50% with mesangial proliferation NS </a:t>
            </a:r>
          </a:p>
          <a:p>
            <a:pPr lvl="2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~20% with focal glomerulosclerosis NS </a:t>
            </a:r>
          </a:p>
          <a:p>
            <a:pPr lvl="0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Cytotoxic drugs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Cyclophosphamide – used in frequently relapsing NS or in severe steroid toxicity or in steroid resistant 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Treatment response 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SRNS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resistant to steroid therapy, defined by the absence of complete remission after an initial course of daily 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prednisone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therapy at a dose of 60 mg/m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2 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Complete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remission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resolution of proteinuria defined as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UPCR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based on a first morning void or 24-hour collection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≤0.2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/mg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urine dipstick readings of negative or trace protein on three consecutive days.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Partial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remission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a decrease in proteinuria with a UPCR based on first morning void or 24-hour urine sample of &gt;20 but &lt;200 mg/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mmol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and, if available, serum albumin ≥30 g/L.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Relapse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the recurrence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nephrotic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-range proteinuria following either complete or partial remission.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1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Steroid responsive NS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Disappearance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proteinuria within 8 wks of starting treatment with a corticosteroid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Steroid resistance 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there is no remission after 8 wks of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treatment with steroid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Steroid dependent NS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relapsing during taper or within two weeks of discontinuation of steroid therapy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5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Remission of 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urine is negative or trace for protein for a period of at least 3 days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Relapse of NS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occurrence of proteinuria measuring 2+ or more on 3 consecutive days in a patient who is in remission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relapsing course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 2 relapse of NS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 6 months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2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Idiopathic…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 </a:t>
            </a:r>
          </a:p>
          <a:p>
            <a:pPr lvl="1"/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children with steroid responsive NS have repeated relapses till the end of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decade </a:t>
            </a:r>
            <a:endPara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baseline="0" dirty="0"/>
          </a:p>
          <a:p>
            <a:pPr lvl="1"/>
            <a:endParaRPr lang="en-US" baseline="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2D061-FC73-499F-AD6B-20517626125F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eferences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Nelsons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22 edition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Up To Date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1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5EF42C-19CB-4192-8E73-B40DC0E319E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3608</TotalTime>
  <Words>1268</Words>
  <Application>Microsoft Office PowerPoint</Application>
  <PresentationFormat>On-screen Show (4:3)</PresentationFormat>
  <Paragraphs>245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Theme1</vt:lpstr>
      <vt:lpstr>Custom Design</vt:lpstr>
      <vt:lpstr>1_Custom Design</vt:lpstr>
      <vt:lpstr>2_Custom Design</vt:lpstr>
      <vt:lpstr>NEPHROTIC SYNDROME</vt:lpstr>
      <vt:lpstr>Outline</vt:lpstr>
      <vt:lpstr>Nephrotic Syndrome (NS)  </vt:lpstr>
      <vt:lpstr>Nephrotic syndrome</vt:lpstr>
      <vt:lpstr>Classification </vt:lpstr>
      <vt:lpstr>Classification…</vt:lpstr>
      <vt:lpstr>PowerPoint Presentation</vt:lpstr>
      <vt:lpstr>PowerPoint Presentation</vt:lpstr>
      <vt:lpstr>Epidemiology </vt:lpstr>
      <vt:lpstr>Glomerular handling of proteins</vt:lpstr>
      <vt:lpstr>PowerPoint Presentation</vt:lpstr>
      <vt:lpstr>Glomerular capillary wall</vt:lpstr>
      <vt:lpstr>PowerPoint Presentation</vt:lpstr>
      <vt:lpstr>Glomerular handling…/2</vt:lpstr>
      <vt:lpstr>Mechanisms of increased protein excretion: </vt:lpstr>
      <vt:lpstr>Mechanisms of increased protein excretion: </vt:lpstr>
      <vt:lpstr>Mechanisms of increased protein excretion: </vt:lpstr>
      <vt:lpstr>Idiopathic NS </vt:lpstr>
      <vt:lpstr>PowerPoint Presentation</vt:lpstr>
      <vt:lpstr>Idiopathic… </vt:lpstr>
      <vt:lpstr>PowerPoint Presentation</vt:lpstr>
      <vt:lpstr>PowerPoint Presentation</vt:lpstr>
      <vt:lpstr>PowerPoint Presentation</vt:lpstr>
      <vt:lpstr>Approach to the infant or child with nephrotic syndrome</vt:lpstr>
      <vt:lpstr>Idiopathic…</vt:lpstr>
      <vt:lpstr>Atypical features</vt:lpstr>
      <vt:lpstr>Idiopathic…</vt:lpstr>
      <vt:lpstr>Idiopathic… </vt:lpstr>
      <vt:lpstr>Complications  </vt:lpstr>
      <vt:lpstr>DDx for edematous child </vt:lpstr>
      <vt:lpstr>Idiopathic… </vt:lpstr>
      <vt:lpstr>Treatment…</vt:lpstr>
      <vt:lpstr>Treatment… </vt:lpstr>
      <vt:lpstr>PowerPoint Presentation</vt:lpstr>
      <vt:lpstr>Treatment…</vt:lpstr>
      <vt:lpstr>Treatment response </vt:lpstr>
      <vt:lpstr>Definitions… </vt:lpstr>
      <vt:lpstr>Definitions… </vt:lpstr>
      <vt:lpstr>Idiopathic… </vt:lpstr>
      <vt:lpstr>References</vt:lpstr>
      <vt:lpstr>PowerPoint Presentation</vt:lpstr>
    </vt:vector>
  </TitlesOfParts>
  <Company>aau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NEPHROTIC SYNDROME</dc:title>
  <dc:creator>goitom</dc:creator>
  <cp:lastModifiedBy>Toshiba-User</cp:lastModifiedBy>
  <cp:revision>140</cp:revision>
  <dcterms:created xsi:type="dcterms:W3CDTF">2008-10-29T16:17:58Z</dcterms:created>
  <dcterms:modified xsi:type="dcterms:W3CDTF">2024-08-21T04:00:15Z</dcterms:modified>
</cp:coreProperties>
</file>