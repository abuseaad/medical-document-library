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1" r:id="rId14"/>
    <p:sldId id="270" r:id="rId15"/>
    <p:sldId id="272" r:id="rId16"/>
    <p:sldId id="273" r:id="rId17"/>
    <p:sldId id="274" r:id="rId18"/>
    <p:sldId id="277" r:id="rId19"/>
    <p:sldId id="278" r:id="rId20"/>
    <p:sldId id="279" r:id="rId21"/>
    <p:sldId id="275" r:id="rId22"/>
    <p:sldId id="276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72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0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6096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Tinea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Captis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8991600" cy="2291126"/>
          </a:xfrm>
        </p:spPr>
        <p:txBody>
          <a:bodyPr>
            <a:normAutofit/>
          </a:bodyPr>
          <a:lstStyle/>
          <a:p>
            <a:pPr marL="236538" indent="-236538"/>
            <a:r>
              <a:rPr lang="en-US" sz="1800" dirty="0"/>
              <a:t> </a:t>
            </a:r>
            <a:r>
              <a:rPr lang="en-US" sz="1800" dirty="0" smtClean="0"/>
              <a:t>Is </a:t>
            </a:r>
            <a:r>
              <a:rPr lang="en-US" sz="1800" dirty="0"/>
              <a:t>a </a:t>
            </a:r>
            <a:r>
              <a:rPr lang="en-US" sz="1800" dirty="0" err="1"/>
              <a:t>dermatophytosis</a:t>
            </a:r>
            <a:r>
              <a:rPr lang="en-US" sz="1800" dirty="0"/>
              <a:t> of the scalp and associated hair.</a:t>
            </a:r>
          </a:p>
          <a:p>
            <a:pPr marL="236538" indent="-236538"/>
            <a:r>
              <a:rPr lang="en-US" sz="1800" dirty="0"/>
              <a:t> It may be caused by any pathogenic </a:t>
            </a:r>
            <a:r>
              <a:rPr lang="en-US" sz="1800" dirty="0" err="1"/>
              <a:t>dermatophyte</a:t>
            </a:r>
            <a:r>
              <a:rPr lang="en-US" sz="1800" dirty="0"/>
              <a:t> from the genera </a:t>
            </a:r>
            <a:r>
              <a:rPr lang="en-US" sz="1800" dirty="0" err="1"/>
              <a:t>Trichophyton</a:t>
            </a:r>
            <a:r>
              <a:rPr lang="en-US" sz="1800" dirty="0"/>
              <a:t> and </a:t>
            </a:r>
            <a:r>
              <a:rPr lang="en-US" sz="1800" dirty="0" err="1"/>
              <a:t>Microsporum</a:t>
            </a:r>
            <a:r>
              <a:rPr lang="en-US" sz="1800" dirty="0"/>
              <a:t> </a:t>
            </a:r>
            <a:r>
              <a:rPr lang="en-US" sz="1800" dirty="0" smtClean="0"/>
              <a:t>except T. </a:t>
            </a:r>
            <a:r>
              <a:rPr lang="en-US" sz="1800" dirty="0" err="1"/>
              <a:t>concentircum</a:t>
            </a:r>
            <a:endParaRPr lang="en-US" sz="1800" dirty="0"/>
          </a:p>
          <a:p>
            <a:pPr marL="236538" indent="-236538"/>
            <a:r>
              <a:rPr lang="en-US" sz="1800" dirty="0" smtClean="0"/>
              <a:t>The </a:t>
            </a:r>
            <a:r>
              <a:rPr lang="en-US" sz="1800" dirty="0"/>
              <a:t>most common cause worldwide is </a:t>
            </a:r>
            <a:r>
              <a:rPr lang="en-US" sz="1800" dirty="0" err="1" smtClean="0"/>
              <a:t>M.canis</a:t>
            </a:r>
            <a:endParaRPr lang="en-US" sz="1800" dirty="0" smtClean="0"/>
          </a:p>
          <a:p>
            <a:pPr marL="236538" indent="-236538"/>
            <a:r>
              <a:rPr lang="en-US" sz="1800" b="1" dirty="0" err="1" smtClean="0"/>
              <a:t>Ectothrix</a:t>
            </a:r>
            <a:r>
              <a:rPr lang="en-US" sz="1800" b="1" dirty="0" smtClean="0"/>
              <a:t> </a:t>
            </a:r>
            <a:r>
              <a:rPr lang="en-US" sz="1800" b="1" dirty="0" err="1"/>
              <a:t>dermatophytes</a:t>
            </a:r>
            <a:r>
              <a:rPr lang="en-US" sz="1800" b="1" dirty="0"/>
              <a:t> </a:t>
            </a:r>
            <a:r>
              <a:rPr lang="en-US" sz="1800" dirty="0"/>
              <a:t>typically establish infection in the </a:t>
            </a:r>
            <a:r>
              <a:rPr lang="en-US" sz="1800" dirty="0" err="1"/>
              <a:t>perifoilicular</a:t>
            </a:r>
            <a:r>
              <a:rPr lang="en-US" sz="1800" dirty="0"/>
              <a:t> stratum </a:t>
            </a:r>
            <a:r>
              <a:rPr lang="en-US" sz="1800" dirty="0" err="1" smtClean="0"/>
              <a:t>corneum</a:t>
            </a:r>
            <a:endParaRPr lang="en-US" sz="1800" dirty="0" smtClean="0"/>
          </a:p>
          <a:p>
            <a:pPr marL="236538" indent="-236538"/>
            <a:r>
              <a:rPr lang="en-US" altLang="en-US" sz="1800" b="1" dirty="0" err="1" smtClean="0"/>
              <a:t>Endothrixi</a:t>
            </a:r>
            <a:r>
              <a:rPr lang="en-US" altLang="en-US" sz="1800" b="1" dirty="0" smtClean="0"/>
              <a:t> infections </a:t>
            </a:r>
            <a:r>
              <a:rPr lang="en-US" altLang="en-US" sz="1800" dirty="0" smtClean="0"/>
              <a:t>is the same except that the pathogen remain within the hair shaft, replacing </a:t>
            </a:r>
            <a:r>
              <a:rPr lang="en-US" altLang="en-US" sz="1800" dirty="0"/>
              <a:t>the </a:t>
            </a:r>
            <a:r>
              <a:rPr lang="en-US" altLang="en-US" sz="1800" dirty="0" err="1"/>
              <a:t>intrapilary</a:t>
            </a:r>
            <a:r>
              <a:rPr lang="en-US" altLang="en-US" sz="1800" dirty="0"/>
              <a:t> keratin and leaving the cortex intact.</a:t>
            </a:r>
          </a:p>
          <a:p>
            <a:pPr marL="0" indent="0"/>
            <a:endParaRPr lang="en-US" sz="1800" dirty="0" smtClean="0"/>
          </a:p>
          <a:p>
            <a:pPr marL="0" indent="0"/>
            <a:endParaRPr lang="en-US" sz="1800" i="1" dirty="0" smtClean="0">
              <a:solidFill>
                <a:srgbClr val="C00000"/>
              </a:solidFill>
            </a:endParaRPr>
          </a:p>
          <a:p>
            <a:pPr marL="0" indent="0"/>
            <a:endParaRPr lang="en-US" sz="1800" i="1" dirty="0">
              <a:solidFill>
                <a:srgbClr val="C00000"/>
              </a:solidFill>
            </a:endParaRPr>
          </a:p>
          <a:p>
            <a:endParaRPr lang="en-US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3800" y="2900726"/>
            <a:ext cx="5447070" cy="3957273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3053336"/>
            <a:ext cx="3581400" cy="3423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ea typeface="新細明體" pitchFamily="18" charset="-120"/>
              </a:rPr>
              <a:t>Affects toddlers and school age children, sometimes as epidemics. Rare after 16 years. </a:t>
            </a:r>
          </a:p>
          <a:p>
            <a:pPr marL="0" indent="0">
              <a:buNone/>
            </a:pPr>
            <a:endParaRPr lang="en-US" altLang="zh-TW" sz="1800" dirty="0" smtClean="0">
              <a:ea typeface="新細明體" pitchFamily="18" charset="-120"/>
            </a:endParaRPr>
          </a:p>
          <a:p>
            <a:r>
              <a:rPr lang="en-US" altLang="zh-TW" sz="1800" dirty="0" smtClean="0">
                <a:ea typeface="新細明體" pitchFamily="18" charset="-120"/>
              </a:rPr>
              <a:t>Transmission </a:t>
            </a:r>
            <a:r>
              <a:rPr lang="en-US" altLang="zh-TW" sz="1800" dirty="0">
                <a:ea typeface="新細明體" pitchFamily="18" charset="-120"/>
              </a:rPr>
              <a:t>occurs from person to person, animal to person, or via fomites </a:t>
            </a:r>
            <a:endParaRPr lang="en-US" altLang="zh-TW" sz="1800" dirty="0" smtClean="0">
              <a:ea typeface="新細明體" pitchFamily="18" charset="-120"/>
            </a:endParaRPr>
          </a:p>
          <a:p>
            <a:endParaRPr lang="en-US" altLang="zh-TW" sz="1800" dirty="0">
              <a:ea typeface="新細明體" pitchFamily="18" charset="-120"/>
            </a:endParaRPr>
          </a:p>
          <a:p>
            <a:r>
              <a:rPr lang="en-US" altLang="zh-TW" sz="1800" dirty="0">
                <a:ea typeface="新細明體" pitchFamily="18" charset="-120"/>
              </a:rPr>
              <a:t>Poverty, debilitating chronic illness and malnutrition are risk factors  </a:t>
            </a:r>
            <a:endParaRPr lang="en-US" alt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5691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1600" cy="6705600"/>
          </a:xfrm>
        </p:spPr>
        <p:txBody>
          <a:bodyPr>
            <a:normAutofit/>
          </a:bodyPr>
          <a:lstStyle/>
          <a:p>
            <a:r>
              <a:rPr lang="en-US" altLang="zh-TW" sz="1800" dirty="0">
                <a:ea typeface="新細明體" pitchFamily="18" charset="-120"/>
              </a:rPr>
              <a:t>It could be inflammatory or non inflammatory based on species involved.</a:t>
            </a:r>
          </a:p>
          <a:p>
            <a:r>
              <a:rPr lang="en-US" sz="1800" b="1" dirty="0" smtClean="0"/>
              <a:t>C/F- </a:t>
            </a:r>
          </a:p>
          <a:p>
            <a:pPr marL="0" indent="0">
              <a:buNone/>
            </a:pPr>
            <a:r>
              <a:rPr lang="en-US" altLang="zh-TW" sz="1800" b="1" dirty="0" smtClean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1. Grey </a:t>
            </a:r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Patch: </a:t>
            </a:r>
          </a:p>
          <a:p>
            <a:pPr lvl="1"/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patches of scalp alopecia with scale. Small patches coalesce, forming larger patches. Inflammatory response minimal but massive scaling. </a:t>
            </a:r>
            <a:endParaRPr lang="en-US" altLang="en-US" sz="1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800" b="1" dirty="0"/>
          </a:p>
        </p:txBody>
      </p:sp>
      <p:pic>
        <p:nvPicPr>
          <p:cNvPr id="4" name="Picture 2" descr="TCap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3276600" cy="48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TCap01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45"/>
          <a:stretch>
            <a:fillRect/>
          </a:stretch>
        </p:blipFill>
        <p:spPr bwMode="auto">
          <a:xfrm>
            <a:off x="5638800" y="1828800"/>
            <a:ext cx="3124200" cy="4847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194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8839200" cy="6629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2. </a:t>
            </a:r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Black Dot: </a:t>
            </a:r>
          </a:p>
          <a:p>
            <a:pPr lvl="1"/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Broken-off hairs near surface give appearance of “dots”. Tends to be diffuse and poorly circumscribed. Resembles </a:t>
            </a:r>
            <a:r>
              <a:rPr lang="en-US" altLang="zh-TW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seborrheic</a:t>
            </a:r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 </a:t>
            </a:r>
            <a:r>
              <a:rPr lang="en-US" altLang="zh-TW" sz="1800" b="1" dirty="0" smtClean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dermatitis</a:t>
            </a:r>
          </a:p>
          <a:p>
            <a:pPr marL="457200" lvl="1" indent="0">
              <a:buNone/>
            </a:pPr>
            <a:endParaRPr lang="en-US" alt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2" descr="TCap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9"/>
          <a:stretch>
            <a:fillRect/>
          </a:stretch>
        </p:blipFill>
        <p:spPr bwMode="auto">
          <a:xfrm>
            <a:off x="0" y="1371600"/>
            <a:ext cx="45720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P10100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50226"/>
            <a:ext cx="4277032" cy="320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772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91600" cy="65532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b="1" dirty="0" smtClean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3. </a:t>
            </a:r>
            <a:r>
              <a:rPr lang="en-US" altLang="zh-TW" sz="18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Kerion</a:t>
            </a:r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: </a:t>
            </a:r>
          </a:p>
          <a:p>
            <a:pPr lvl="1"/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Characterized by boggy, purulent, inflamed nodules and plaques extremely painful; drains pus from multiple openings, like honeycomb </a:t>
            </a:r>
            <a:endParaRPr lang="en-US" altLang="en-US" sz="1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Ker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75017"/>
            <a:ext cx="4572000" cy="505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P101013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667000"/>
            <a:ext cx="38862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58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1"/>
            <a:ext cx="8991600" cy="6705600"/>
          </a:xfrm>
        </p:spPr>
        <p:txBody>
          <a:bodyPr/>
          <a:lstStyle/>
          <a:p>
            <a:r>
              <a:rPr lang="en-US" altLang="zh-TW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Favus</a:t>
            </a:r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: </a:t>
            </a:r>
          </a:p>
          <a:p>
            <a:pPr lvl="1"/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Thick yellow adherent crusts (</a:t>
            </a:r>
            <a:r>
              <a:rPr lang="en-US" altLang="zh-TW" sz="18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scutula</a:t>
            </a:r>
            <a:r>
              <a:rPr lang="en-US" altLang="zh-TW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新細明體" pitchFamily="18" charset="-120"/>
              </a:rPr>
              <a:t>) composed of skin debris and hyphae that are pierced by remaining hair shafts. Fetid odor.</a:t>
            </a:r>
            <a:endParaRPr lang="en-US" altLang="en-US" sz="1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2" descr="TCap03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1" y="1447800"/>
            <a:ext cx="4572001" cy="366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P101009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44" y="3280567"/>
            <a:ext cx="4287308" cy="3215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106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8839200" cy="6781800"/>
          </a:xfrm>
        </p:spPr>
        <p:txBody>
          <a:bodyPr/>
          <a:lstStyle/>
          <a:p>
            <a:pPr>
              <a:buNone/>
            </a:pPr>
            <a:r>
              <a:rPr lang="en-US" altLang="en-US" sz="1800" b="1" dirty="0" err="1" smtClean="0"/>
              <a:t>Ixn</a:t>
            </a:r>
            <a:r>
              <a:rPr lang="en-US" altLang="en-US" sz="1800" b="1" dirty="0" smtClean="0"/>
              <a:t>- </a:t>
            </a:r>
            <a:endParaRPr lang="en-US" altLang="en-US" sz="1800" b="1" dirty="0"/>
          </a:p>
          <a:p>
            <a:pPr>
              <a:buFont typeface="Wingdings" pitchFamily="2" charset="2"/>
              <a:buChar char="ü"/>
            </a:pPr>
            <a:r>
              <a:rPr lang="en-US" altLang="en-US" sz="1800" i="1" dirty="0"/>
              <a:t>Woods Lamp examination</a:t>
            </a:r>
            <a:r>
              <a:rPr lang="en-US" altLang="en-US" sz="1800" i="1" dirty="0" smtClean="0"/>
              <a:t>:</a:t>
            </a:r>
          </a:p>
          <a:p>
            <a:pPr marL="0" indent="0">
              <a:buNone/>
            </a:pPr>
            <a:r>
              <a:rPr lang="en-US" altLang="en-US" sz="1800" i="1" dirty="0" smtClean="0"/>
              <a:t>  </a:t>
            </a:r>
            <a:r>
              <a:rPr lang="en-US" altLang="en-US" sz="1800" i="1" dirty="0"/>
              <a:t>- green yellow fluorescence for lesions caused by </a:t>
            </a:r>
            <a:r>
              <a:rPr lang="en-US" altLang="en-US" sz="1800" i="1" dirty="0" err="1"/>
              <a:t>Microsporum</a:t>
            </a:r>
            <a:r>
              <a:rPr lang="en-US" altLang="en-US" sz="1800" i="1" dirty="0"/>
              <a:t> </a:t>
            </a:r>
            <a:r>
              <a:rPr lang="en-US" altLang="en-US" sz="1800" i="1" dirty="0" err="1"/>
              <a:t>spp</a:t>
            </a:r>
            <a:r>
              <a:rPr lang="en-US" altLang="en-US" sz="1800" i="1" dirty="0"/>
              <a:t>,</a:t>
            </a:r>
          </a:p>
          <a:p>
            <a:pPr marL="0" indent="0">
              <a:buNone/>
            </a:pPr>
            <a:r>
              <a:rPr lang="en-US" altLang="en-US" sz="1800" i="1" dirty="0" smtClean="0"/>
              <a:t>  </a:t>
            </a:r>
            <a:r>
              <a:rPr lang="en-US" altLang="en-US" sz="1800" i="1" dirty="0"/>
              <a:t>- T. </a:t>
            </a:r>
            <a:r>
              <a:rPr lang="en-US" altLang="en-US" sz="1800" i="1" dirty="0" err="1"/>
              <a:t>Schoenleini</a:t>
            </a:r>
            <a:r>
              <a:rPr lang="en-US" altLang="en-US" sz="1800" i="1" dirty="0"/>
              <a:t> give dull green fluorescence 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1800" i="1" dirty="0"/>
              <a:t>KOH microscopy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1800" i="1" dirty="0" err="1" smtClean="0"/>
              <a:t>Sabaroud’s</a:t>
            </a:r>
            <a:r>
              <a:rPr lang="en-US" altLang="en-US" sz="1800" i="1" dirty="0" smtClean="0"/>
              <a:t> </a:t>
            </a:r>
            <a:r>
              <a:rPr lang="en-US" altLang="en-US" sz="1800" i="1" dirty="0"/>
              <a:t>Agar Culture: up to 4 weeks at 26</a:t>
            </a:r>
            <a:r>
              <a:rPr lang="en-US" altLang="en-US" sz="1800" i="1" baseline="30000" dirty="0"/>
              <a:t>o </a:t>
            </a:r>
            <a:r>
              <a:rPr lang="en-US" altLang="en-US" sz="1800" i="1" dirty="0"/>
              <a:t>C</a:t>
            </a:r>
            <a:r>
              <a:rPr lang="en-US" altLang="en-US" sz="1800" i="1" dirty="0" smtClean="0"/>
              <a:t>.</a:t>
            </a:r>
          </a:p>
          <a:p>
            <a:pPr>
              <a:buFont typeface="Wingdings" pitchFamily="2" charset="2"/>
              <a:buChar char="ü"/>
            </a:pPr>
            <a:endParaRPr lang="en-US" altLang="en-US" sz="1800" i="1" dirty="0"/>
          </a:p>
          <a:p>
            <a:pPr>
              <a:buFont typeface="Wingdings" pitchFamily="2" charset="2"/>
              <a:buChar char="ü"/>
            </a:pPr>
            <a:endParaRPr lang="en-US" altLang="en-US" sz="1800" i="1" dirty="0" smtClean="0"/>
          </a:p>
          <a:p>
            <a:pPr>
              <a:buFont typeface="Wingdings" pitchFamily="2" charset="2"/>
              <a:buChar char="ü"/>
            </a:pPr>
            <a:endParaRPr lang="en-US" altLang="en-US" sz="1800" i="1" dirty="0"/>
          </a:p>
          <a:p>
            <a:pPr marL="0" indent="0">
              <a:buNone/>
            </a:pPr>
            <a:endParaRPr lang="en-US" altLang="zh-TW" sz="1800" b="1" dirty="0" smtClean="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1800" b="1" dirty="0" err="1" smtClean="0">
                <a:ea typeface="新細明體" pitchFamily="18" charset="-120"/>
              </a:rPr>
              <a:t>Mgt</a:t>
            </a:r>
            <a:endParaRPr lang="en-US" altLang="zh-TW" sz="1800" b="1" dirty="0" smtClean="0">
              <a:ea typeface="新細明體" pitchFamily="18" charset="-12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TW" sz="1800" dirty="0" err="1" smtClean="0">
                <a:ea typeface="新細明體" pitchFamily="18" charset="-120"/>
              </a:rPr>
              <a:t>griseofulvin</a:t>
            </a:r>
            <a:r>
              <a:rPr lang="en-US" altLang="zh-TW" sz="1800" dirty="0" smtClean="0">
                <a:ea typeface="新細明體" pitchFamily="18" charset="-120"/>
              </a:rPr>
              <a:t> </a:t>
            </a:r>
            <a:r>
              <a:rPr lang="en-US" sz="1800" i="1" dirty="0"/>
              <a:t> - Pediatric Dose: 10-15(20-25) mg </a:t>
            </a:r>
            <a:r>
              <a:rPr lang="en-US" sz="1800" i="1" dirty="0" err="1" smtClean="0"/>
              <a:t>microsize</a:t>
            </a:r>
            <a:r>
              <a:rPr lang="en-US" sz="1800" i="1" dirty="0" smtClean="0"/>
              <a:t>/kg/d </a:t>
            </a:r>
            <a:r>
              <a:rPr lang="en-US" sz="1800" i="1" dirty="0"/>
              <a:t>PO or 7.3 mg </a:t>
            </a:r>
            <a:r>
              <a:rPr lang="en-US" sz="1800" i="1" dirty="0" err="1"/>
              <a:t>ultramicrosize</a:t>
            </a:r>
            <a:r>
              <a:rPr lang="en-US" sz="1800" i="1" dirty="0"/>
              <a:t>/kg/d for 6-8 </a:t>
            </a:r>
            <a:r>
              <a:rPr lang="en-US" sz="1800" i="1" dirty="0" err="1"/>
              <a:t>wk.</a:t>
            </a:r>
            <a:r>
              <a:rPr lang="en-US" altLang="zh-TW" sz="1800" dirty="0" err="1" smtClean="0">
                <a:ea typeface="新細明體" pitchFamily="18" charset="-120"/>
              </a:rPr>
              <a:t>Better</a:t>
            </a:r>
            <a:r>
              <a:rPr lang="en-US" altLang="zh-TW" sz="1800" dirty="0" smtClean="0">
                <a:ea typeface="新細明體" pitchFamily="18" charset="-120"/>
              </a:rPr>
              <a:t> </a:t>
            </a:r>
            <a:r>
              <a:rPr lang="en-US" altLang="zh-TW" sz="1800" dirty="0">
                <a:ea typeface="新細明體" pitchFamily="18" charset="-120"/>
              </a:rPr>
              <a:t>absorption with fatty food. </a:t>
            </a:r>
          </a:p>
          <a:p>
            <a:pPr>
              <a:buFont typeface="Wingdings" pitchFamily="2" charset="2"/>
              <a:buChar char="ü"/>
            </a:pPr>
            <a:r>
              <a:rPr lang="en-US" altLang="zh-TW" sz="1800" dirty="0">
                <a:ea typeface="新細明體" pitchFamily="18" charset="-120"/>
              </a:rPr>
              <a:t>Topical agents are ineffective. </a:t>
            </a:r>
          </a:p>
          <a:p>
            <a:pPr>
              <a:buFont typeface="Wingdings" pitchFamily="2" charset="2"/>
              <a:buChar char="ü"/>
            </a:pPr>
            <a:r>
              <a:rPr lang="en-US" altLang="zh-TW" sz="1800" dirty="0">
                <a:ea typeface="新細明體" pitchFamily="18" charset="-120"/>
              </a:rPr>
              <a:t>All contacts and family members should be examined and treated. </a:t>
            </a:r>
          </a:p>
          <a:p>
            <a:pPr>
              <a:buFont typeface="Wingdings" pitchFamily="2" charset="2"/>
              <a:buChar char="ü"/>
            </a:pPr>
            <a:r>
              <a:rPr lang="en-US" altLang="zh-TW" sz="1800" dirty="0">
                <a:ea typeface="新細明體" pitchFamily="18" charset="-120"/>
              </a:rPr>
              <a:t>Chronic untreated </a:t>
            </a:r>
            <a:r>
              <a:rPr lang="en-US" altLang="zh-TW" sz="1800" dirty="0" err="1">
                <a:ea typeface="新細明體" pitchFamily="18" charset="-120"/>
              </a:rPr>
              <a:t>kerion</a:t>
            </a:r>
            <a:r>
              <a:rPr lang="en-US" altLang="zh-TW" sz="1800" dirty="0">
                <a:ea typeface="新細明體" pitchFamily="18" charset="-120"/>
              </a:rPr>
              <a:t> and </a:t>
            </a:r>
            <a:r>
              <a:rPr lang="en-US" altLang="zh-TW" sz="1800" dirty="0" err="1">
                <a:ea typeface="新細明體" pitchFamily="18" charset="-120"/>
              </a:rPr>
              <a:t>favus</a:t>
            </a:r>
            <a:r>
              <a:rPr lang="en-US" altLang="zh-TW" sz="1800" dirty="0">
                <a:ea typeface="新細明體" pitchFamily="18" charset="-120"/>
              </a:rPr>
              <a:t>, can result in permanent scarring alopecia </a:t>
            </a:r>
            <a:endParaRPr lang="en-US" altLang="zh-TW" sz="1800" dirty="0" smtClean="0">
              <a:ea typeface="新細明體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1800" dirty="0" smtClean="0"/>
              <a:t>Steroids </a:t>
            </a:r>
            <a:r>
              <a:rPr lang="en-US" sz="1800" dirty="0"/>
              <a:t>may help in inflammatory types (1mg/kg for 10-15 days)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1800" dirty="0"/>
              <a:t>Selenium </a:t>
            </a:r>
            <a:r>
              <a:rPr lang="en-US" sz="1800" dirty="0" err="1"/>
              <a:t>sulphide</a:t>
            </a:r>
            <a:r>
              <a:rPr lang="en-US" sz="1800" dirty="0"/>
              <a:t> shampoo may help in decrease the risk of spreading infection</a:t>
            </a:r>
            <a:r>
              <a:rPr lang="en-US" sz="1800" dirty="0" smtClean="0"/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1800" b="1" dirty="0">
                <a:solidFill>
                  <a:srgbClr val="C00000"/>
                </a:solidFill>
              </a:rPr>
              <a:t>Regrowth of hair is the rule if treated with systemic antifungal agents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endParaRPr lang="en-US" sz="1800" dirty="0"/>
          </a:p>
          <a:p>
            <a:pPr>
              <a:buFont typeface="Wingdings" pitchFamily="2" charset="2"/>
              <a:buChar char="ü"/>
            </a:pPr>
            <a:endParaRPr lang="en-US" altLang="en-US" sz="1800" dirty="0"/>
          </a:p>
          <a:p>
            <a:endParaRPr lang="en-US" dirty="0"/>
          </a:p>
        </p:txBody>
      </p:sp>
      <p:pic>
        <p:nvPicPr>
          <p:cNvPr id="4" name="Picture 4" descr="tinea capit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29400" y="0"/>
            <a:ext cx="2517058" cy="3718560"/>
          </a:xfrm>
          <a:prstGeom prst="rect">
            <a:avLst/>
          </a:prstGeom>
          <a:noFill/>
        </p:spPr>
      </p:pic>
      <p:sp>
        <p:nvSpPr>
          <p:cNvPr id="5" name="Freeform 4"/>
          <p:cNvSpPr/>
          <p:nvPr/>
        </p:nvSpPr>
        <p:spPr>
          <a:xfrm>
            <a:off x="2728452" y="235513"/>
            <a:ext cx="4294016" cy="310177"/>
          </a:xfrm>
          <a:custGeom>
            <a:avLst/>
            <a:gdLst>
              <a:gd name="connsiteX0" fmla="*/ 0 w 4294016"/>
              <a:gd name="connsiteY0" fmla="*/ 251184 h 310177"/>
              <a:gd name="connsiteX1" fmla="*/ 1725561 w 4294016"/>
              <a:gd name="connsiteY1" fmla="*/ 461 h 310177"/>
              <a:gd name="connsiteX2" fmla="*/ 3937819 w 4294016"/>
              <a:gd name="connsiteY2" fmla="*/ 192190 h 310177"/>
              <a:gd name="connsiteX3" fmla="*/ 4262283 w 4294016"/>
              <a:gd name="connsiteY3" fmla="*/ 310177 h 310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4016" h="310177">
                <a:moveTo>
                  <a:pt x="0" y="251184"/>
                </a:moveTo>
                <a:cubicBezTo>
                  <a:pt x="575187" y="167610"/>
                  <a:pt x="1069258" y="10293"/>
                  <a:pt x="1725561" y="461"/>
                </a:cubicBezTo>
                <a:cubicBezTo>
                  <a:pt x="2381864" y="-9371"/>
                  <a:pt x="3515032" y="140571"/>
                  <a:pt x="3937819" y="192190"/>
                </a:cubicBezTo>
                <a:cubicBezTo>
                  <a:pt x="4360606" y="243809"/>
                  <a:pt x="4311444" y="276993"/>
                  <a:pt x="4262283" y="310177"/>
                </a:cubicBezTo>
              </a:path>
            </a:pathLst>
          </a:cu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5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81800" cy="6096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Tinea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Corporis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8991600" cy="6096000"/>
          </a:xfrm>
        </p:spPr>
        <p:txBody>
          <a:bodyPr/>
          <a:lstStyle/>
          <a:p>
            <a:r>
              <a:rPr lang="en-US" altLang="zh-TW" sz="1800" dirty="0" err="1">
                <a:ea typeface="新細明體" pitchFamily="18" charset="-120"/>
              </a:rPr>
              <a:t>Dermatophyte</a:t>
            </a:r>
            <a:r>
              <a:rPr lang="en-US" altLang="zh-TW" sz="1800" dirty="0">
                <a:ea typeface="新細明體" pitchFamily="18" charset="-120"/>
              </a:rPr>
              <a:t> infections of the trunk, legs, and arms, ex-</a:t>
            </a:r>
            <a:r>
              <a:rPr lang="en-US" altLang="zh-TW" sz="1800" dirty="0" err="1">
                <a:ea typeface="新細明體" pitchFamily="18" charset="-120"/>
              </a:rPr>
              <a:t>cluding</a:t>
            </a:r>
            <a:r>
              <a:rPr lang="en-US" altLang="zh-TW" sz="1800" dirty="0">
                <a:ea typeface="新細明體" pitchFamily="18" charset="-120"/>
              </a:rPr>
              <a:t> the feet, hands, and groin.</a:t>
            </a:r>
          </a:p>
          <a:p>
            <a:r>
              <a:rPr lang="en-US" altLang="zh-TW" sz="1800" dirty="0">
                <a:ea typeface="新細明體" pitchFamily="18" charset="-120"/>
              </a:rPr>
              <a:t>Occurs in all ages as single (occasionally multiple) circular </a:t>
            </a:r>
            <a:r>
              <a:rPr lang="en-US" altLang="zh-TW" sz="1800" dirty="0" err="1">
                <a:ea typeface="新細明體" pitchFamily="18" charset="-120"/>
              </a:rPr>
              <a:t>arcuate</a:t>
            </a:r>
            <a:r>
              <a:rPr lang="en-US" altLang="zh-TW" sz="1800" dirty="0">
                <a:ea typeface="新細明體" pitchFamily="18" charset="-120"/>
              </a:rPr>
              <a:t> lesions with active raised margin and a tendency to clear centrally. </a:t>
            </a:r>
          </a:p>
          <a:p>
            <a:r>
              <a:rPr lang="en-US" altLang="zh-TW" sz="1800" dirty="0">
                <a:ea typeface="新細明體" pitchFamily="18" charset="-120"/>
              </a:rPr>
              <a:t>Mostly asymptomatic </a:t>
            </a:r>
            <a:endParaRPr lang="en-US" altLang="zh-TW" dirty="0" smtClean="0"/>
          </a:p>
          <a:p>
            <a:r>
              <a:rPr lang="en-US" altLang="zh-TW" sz="1800" dirty="0">
                <a:ea typeface="新細明體" pitchFamily="18" charset="-120"/>
              </a:rPr>
              <a:t>Granulomatous reactions (</a:t>
            </a:r>
            <a:r>
              <a:rPr lang="en-US" altLang="zh-TW" sz="1800" b="1" dirty="0" err="1">
                <a:ea typeface="新細明體" pitchFamily="18" charset="-120"/>
              </a:rPr>
              <a:t>Majocchi’s</a:t>
            </a:r>
            <a:r>
              <a:rPr lang="en-US" altLang="zh-TW" sz="1800" b="1" dirty="0">
                <a:ea typeface="新細明體" pitchFamily="18" charset="-120"/>
              </a:rPr>
              <a:t> Granuloma</a:t>
            </a:r>
            <a:r>
              <a:rPr lang="en-US" altLang="zh-TW" sz="1800" dirty="0">
                <a:ea typeface="新細明體" pitchFamily="18" charset="-120"/>
              </a:rPr>
              <a:t>) and bullae formation with </a:t>
            </a:r>
            <a:r>
              <a:rPr lang="en-US" altLang="zh-TW" sz="1800" dirty="0" err="1">
                <a:ea typeface="新細明體" pitchFamily="18" charset="-120"/>
              </a:rPr>
              <a:t>pruritis</a:t>
            </a:r>
            <a:r>
              <a:rPr lang="en-US" altLang="zh-TW" sz="1800" dirty="0">
                <a:ea typeface="新細明體" pitchFamily="18" charset="-120"/>
              </a:rPr>
              <a:t> may occur.</a:t>
            </a:r>
          </a:p>
          <a:p>
            <a:endParaRPr lang="en-US" altLang="en-US" sz="1800" dirty="0"/>
          </a:p>
        </p:txBody>
      </p:sp>
      <p:pic>
        <p:nvPicPr>
          <p:cNvPr id="4" name="Picture 3" descr="DSC043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3200"/>
            <a:ext cx="449006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DSC043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465" y="2743200"/>
            <a:ext cx="452120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183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b="1" dirty="0" err="1" smtClean="0">
                <a:ea typeface="新細明體" pitchFamily="18" charset="-120"/>
              </a:rPr>
              <a:t>Mgt</a:t>
            </a:r>
            <a:endParaRPr lang="en-US" altLang="zh-TW" sz="1800" b="1" dirty="0" smtClean="0">
              <a:ea typeface="新細明體" pitchFamily="18" charset="-120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TW" sz="1800" dirty="0" smtClean="0">
                <a:ea typeface="新細明體" pitchFamily="18" charset="-120"/>
              </a:rPr>
              <a:t>White </a:t>
            </a:r>
            <a:r>
              <a:rPr lang="en-US" altLang="zh-TW" sz="1800" dirty="0">
                <a:ea typeface="新細明體" pitchFamily="18" charset="-120"/>
              </a:rPr>
              <a:t>field’s ointment, topical azoles(1% </a:t>
            </a:r>
            <a:r>
              <a:rPr lang="en-US" altLang="zh-TW" sz="1800" dirty="0" err="1">
                <a:ea typeface="新細明體" pitchFamily="18" charset="-120"/>
              </a:rPr>
              <a:t>Clotrimazole</a:t>
            </a:r>
            <a:r>
              <a:rPr lang="en-US" altLang="zh-TW" sz="1800" dirty="0">
                <a:ea typeface="新細明體" pitchFamily="18" charset="-120"/>
              </a:rPr>
              <a:t>, 2%Ketoconazole) treats localized cases effectively. </a:t>
            </a:r>
          </a:p>
          <a:p>
            <a:pPr>
              <a:buFont typeface="Wingdings" pitchFamily="2" charset="2"/>
              <a:buChar char="ü"/>
            </a:pPr>
            <a:r>
              <a:rPr lang="en-US" altLang="zh-TW" sz="1800" dirty="0">
                <a:ea typeface="新細明體" pitchFamily="18" charset="-120"/>
              </a:rPr>
              <a:t>Should be given continuously till the lesion clears completely, at least three weeks. </a:t>
            </a:r>
          </a:p>
          <a:p>
            <a:pPr>
              <a:buFont typeface="Wingdings" pitchFamily="2" charset="2"/>
              <a:buChar char="ü"/>
            </a:pPr>
            <a:r>
              <a:rPr lang="en-US" altLang="zh-TW" sz="1800" dirty="0">
                <a:ea typeface="新細明體" pitchFamily="18" charset="-120"/>
              </a:rPr>
              <a:t>Systemic antifungals for extensive cases.</a:t>
            </a:r>
            <a:endParaRPr lang="en-US" alt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5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 err="1">
                <a:solidFill>
                  <a:srgbClr val="FF0000"/>
                </a:solidFill>
              </a:rPr>
              <a:t>Tinea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 smtClean="0">
                <a:solidFill>
                  <a:srgbClr val="FF0000"/>
                </a:solidFill>
              </a:rPr>
              <a:t>Facials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7630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1800" dirty="0" smtClean="0"/>
              <a:t>seen on the </a:t>
            </a:r>
            <a:r>
              <a:rPr lang="en-US" altLang="en-US" sz="1800" dirty="0" err="1" smtClean="0">
                <a:solidFill>
                  <a:srgbClr val="FF0000"/>
                </a:solidFill>
              </a:rPr>
              <a:t>nonbearded</a:t>
            </a:r>
            <a:r>
              <a:rPr lang="en-US" altLang="en-US" sz="1800" dirty="0" smtClean="0">
                <a:solidFill>
                  <a:srgbClr val="FF0000"/>
                </a:solidFill>
              </a:rPr>
              <a:t> parts of the face</a:t>
            </a:r>
            <a:endParaRPr lang="en-US" altLang="en-US" sz="1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1800" dirty="0" smtClean="0"/>
              <a:t>The lesions are usually </a:t>
            </a:r>
            <a:r>
              <a:rPr lang="en-US" altLang="en-US" sz="1800" dirty="0" smtClean="0">
                <a:solidFill>
                  <a:srgbClr val="FF0000"/>
                </a:solidFill>
              </a:rPr>
              <a:t>pruritic</a:t>
            </a:r>
            <a:r>
              <a:rPr lang="en-US" altLang="en-US" sz="1800" dirty="0" smtClean="0"/>
              <a:t>, itching and burning may become worse after exposure to sunlight.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1800" dirty="0" smtClean="0"/>
              <a:t>Some lesions may resemble those of </a:t>
            </a:r>
            <a:r>
              <a:rPr lang="en-US" altLang="en-US" sz="1800" dirty="0" err="1" smtClean="0"/>
              <a:t>tinea</a:t>
            </a:r>
            <a:r>
              <a:rPr lang="en-US" altLang="en-US" sz="1800" dirty="0" smtClean="0"/>
              <a:t> </a:t>
            </a:r>
            <a:r>
              <a:rPr lang="en-US" altLang="en-US" sz="1800" dirty="0" err="1" smtClean="0"/>
              <a:t>corporis</a:t>
            </a:r>
            <a:r>
              <a:rPr lang="en-US" altLang="en-US" sz="1800" dirty="0" smtClean="0"/>
              <a:t>; others may have little or no scaling or raised edges.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altLang="en-US" sz="1800" dirty="0"/>
              <a:t>W</a:t>
            </a:r>
            <a:r>
              <a:rPr lang="en-US" altLang="en-US" sz="1800" dirty="0" smtClean="0"/>
              <a:t>ell-circumscribed erythematous patch</a:t>
            </a:r>
            <a:endParaRPr lang="en-US" sz="1800" dirty="0"/>
          </a:p>
          <a:p>
            <a:pPr>
              <a:buFont typeface="Wingdings" pitchFamily="2" charset="2"/>
              <a:buChar char="ü"/>
            </a:pPr>
            <a:r>
              <a:rPr lang="en-US" sz="1800" dirty="0"/>
              <a:t>Direct infection or secondary spread from preexisting infection site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/>
              <a:t>Commonly seen in </a:t>
            </a:r>
            <a:r>
              <a:rPr lang="en-US" sz="1800" dirty="0" smtClean="0"/>
              <a:t>children</a:t>
            </a:r>
          </a:p>
          <a:p>
            <a:pPr marL="0" indent="0">
              <a:buNone/>
            </a:pPr>
            <a:r>
              <a:rPr lang="en-US" sz="1800" b="1" dirty="0" smtClean="0"/>
              <a:t>Etiologies</a:t>
            </a:r>
            <a:endParaRPr lang="en-US" sz="1800" b="1" dirty="0"/>
          </a:p>
          <a:p>
            <a:pPr>
              <a:buFont typeface="Wingdings" pitchFamily="2" charset="2"/>
              <a:buChar char="ü"/>
            </a:pPr>
            <a:r>
              <a:rPr lang="en-US" sz="1800" dirty="0"/>
              <a:t>T</a:t>
            </a:r>
            <a:r>
              <a:rPr lang="en-US" sz="1800" dirty="0" smtClean="0"/>
              <a:t>. </a:t>
            </a:r>
            <a:r>
              <a:rPr lang="en-US" sz="1800" dirty="0" err="1" smtClean="0"/>
              <a:t>mentagrophytes</a:t>
            </a:r>
            <a:r>
              <a:rPr lang="en-US" sz="1800" dirty="0" smtClean="0"/>
              <a:t> </a:t>
            </a:r>
            <a:r>
              <a:rPr lang="en-US" sz="1800" dirty="0"/>
              <a:t>var. </a:t>
            </a:r>
            <a:r>
              <a:rPr lang="en-US" sz="1800" dirty="0" err="1"/>
              <a:t>mentagrophyte</a:t>
            </a:r>
            <a:r>
              <a:rPr lang="en-US" sz="1800" dirty="0"/>
              <a:t> and T. </a:t>
            </a:r>
            <a:r>
              <a:rPr lang="en-US" sz="1800" dirty="0" err="1"/>
              <a:t>rubrum</a:t>
            </a:r>
            <a:endParaRPr lang="en-US" sz="1800" dirty="0"/>
          </a:p>
          <a:p>
            <a:pPr>
              <a:buFont typeface="Wingdings" pitchFamily="2" charset="2"/>
              <a:buChar char="ü"/>
            </a:pPr>
            <a:r>
              <a:rPr lang="en-US" sz="1800" dirty="0" err="1"/>
              <a:t>M.cannis</a:t>
            </a:r>
            <a:r>
              <a:rPr lang="en-US" sz="1800" dirty="0"/>
              <a:t> and </a:t>
            </a:r>
            <a:r>
              <a:rPr lang="en-US" sz="1800" dirty="0" err="1" smtClean="0"/>
              <a:t>M.audouinii</a:t>
            </a:r>
            <a:endParaRPr lang="en-US" sz="1800" dirty="0" smtClean="0"/>
          </a:p>
          <a:p>
            <a:pPr marL="0" indent="0">
              <a:buFontTx/>
              <a:buNone/>
            </a:pPr>
            <a:r>
              <a:rPr lang="en-US" sz="1800" b="1" dirty="0"/>
              <a:t>Diagnosis &amp; Treatment</a:t>
            </a:r>
          </a:p>
          <a:p>
            <a:pPr>
              <a:buFont typeface="Wingdings" pitchFamily="2" charset="2"/>
              <a:buChar char="ü"/>
            </a:pPr>
            <a:r>
              <a:rPr lang="en-US" sz="1600" i="1" dirty="0" smtClean="0"/>
              <a:t>As </a:t>
            </a:r>
            <a:r>
              <a:rPr lang="en-US" sz="1600" i="1" dirty="0" err="1"/>
              <a:t>tinea</a:t>
            </a:r>
            <a:r>
              <a:rPr lang="en-US" sz="1600" i="1" dirty="0"/>
              <a:t> </a:t>
            </a:r>
            <a:r>
              <a:rPr lang="en-US" sz="1600" i="1" dirty="0" err="1"/>
              <a:t>corporis</a:t>
            </a:r>
            <a:endParaRPr lang="en-US" sz="1600" i="1" dirty="0"/>
          </a:p>
          <a:p>
            <a:pPr marL="0" indent="0">
              <a:buNone/>
            </a:pPr>
            <a:endParaRPr 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800" dirty="0" smtClean="0"/>
          </a:p>
        </p:txBody>
      </p:sp>
      <p:sp>
        <p:nvSpPr>
          <p:cNvPr id="5120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55FE327-9707-4383-AF72-C07FE1EB700F}" type="slidenum">
              <a:rPr lang="en-US" altLang="en-US"/>
              <a:pPr/>
              <a:t>10</a:t>
            </a:fld>
            <a:endParaRPr lang="en-US" altLang="en-US"/>
          </a:p>
        </p:txBody>
      </p:sp>
      <p:pic>
        <p:nvPicPr>
          <p:cNvPr id="5" name="Picture 4" descr="Tinea0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895600"/>
            <a:ext cx="2971800" cy="384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663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04800"/>
            <a:ext cx="3962400" cy="3190875"/>
          </a:xfrm>
        </p:spPr>
      </p:pic>
      <p:pic>
        <p:nvPicPr>
          <p:cNvPr id="532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643313"/>
            <a:ext cx="4038600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76400"/>
            <a:ext cx="40386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5FD547D-404A-4A57-A320-61917046195C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72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4" descr="Tinea faciei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90600"/>
            <a:ext cx="4038600" cy="4953000"/>
          </a:xfrm>
          <a:noFill/>
        </p:spPr>
      </p:pic>
      <p:pic>
        <p:nvPicPr>
          <p:cNvPr id="54275" name="Picture 4" descr="P101018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143000"/>
            <a:ext cx="4038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53D072D-5640-4DE1-ACFC-9B82E9E55935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8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Oral </a:t>
            </a:r>
            <a:r>
              <a:rPr lang="en-US" b="1" dirty="0" err="1" smtClean="0">
                <a:solidFill>
                  <a:srgbClr val="FF0000"/>
                </a:solidFill>
              </a:rPr>
              <a:t>Trush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60400" indent="-660400">
              <a:lnSpc>
                <a:spcPct val="90000"/>
              </a:lnSpc>
              <a:buNone/>
            </a:pPr>
            <a:r>
              <a:rPr lang="en-US" altLang="zh-TW" sz="1800" b="1" i="1" dirty="0" smtClean="0">
                <a:ea typeface="新細明體" pitchFamily="18" charset="-120"/>
              </a:rPr>
              <a:t>Classification of Candidiasis</a:t>
            </a:r>
            <a:endParaRPr lang="en-US" altLang="zh-TW" sz="1800" i="1" dirty="0">
              <a:ea typeface="新細明體" pitchFamily="18" charset="-120"/>
            </a:endParaRPr>
          </a:p>
          <a:p>
            <a:pPr marL="660400" indent="-660400">
              <a:lnSpc>
                <a:spcPct val="90000"/>
              </a:lnSpc>
            </a:pPr>
            <a:r>
              <a:rPr lang="en-US" altLang="zh-TW" sz="1800" b="1" dirty="0">
                <a:ea typeface="新細明體" pitchFamily="18" charset="-120"/>
              </a:rPr>
              <a:t>SUPERFICIAL MUCOSAL CANDIDIASIS </a:t>
            </a:r>
            <a:endParaRPr lang="en-US" altLang="zh-TW" sz="1800" dirty="0">
              <a:ea typeface="新細明體" pitchFamily="18" charset="-120"/>
            </a:endParaRPr>
          </a:p>
          <a:p>
            <a:pPr marL="942975" lvl="1" indent="-485775">
              <a:lnSpc>
                <a:spcPct val="90000"/>
              </a:lnSpc>
            </a:pPr>
            <a:r>
              <a:rPr lang="en-US" altLang="zh-TW" sz="1800" dirty="0">
                <a:ea typeface="新細明體" pitchFamily="18" charset="-120"/>
              </a:rPr>
              <a:t>Vaginal and </a:t>
            </a:r>
            <a:r>
              <a:rPr lang="en-US" altLang="zh-TW" sz="1800" dirty="0" err="1">
                <a:ea typeface="新細明體" pitchFamily="18" charset="-120"/>
              </a:rPr>
              <a:t>Vulvovaginal</a:t>
            </a:r>
            <a:r>
              <a:rPr lang="en-US" altLang="zh-TW" sz="1800" dirty="0">
                <a:ea typeface="新細明體" pitchFamily="18" charset="-120"/>
              </a:rPr>
              <a:t> Candidiasis </a:t>
            </a:r>
          </a:p>
          <a:p>
            <a:pPr marL="942975" lvl="1" indent="-485775">
              <a:lnSpc>
                <a:spcPct val="90000"/>
              </a:lnSpc>
            </a:pPr>
            <a:r>
              <a:rPr lang="en-US" altLang="zh-TW" sz="1800" dirty="0" err="1">
                <a:ea typeface="新細明體" pitchFamily="18" charset="-120"/>
              </a:rPr>
              <a:t>Oropharyngeal</a:t>
            </a:r>
            <a:r>
              <a:rPr lang="en-US" altLang="zh-TW" sz="1800" dirty="0">
                <a:ea typeface="新細明體" pitchFamily="18" charset="-120"/>
              </a:rPr>
              <a:t> Candidiasis</a:t>
            </a:r>
          </a:p>
          <a:p>
            <a:pPr marL="1250950" lvl="2" indent="-306388">
              <a:lnSpc>
                <a:spcPct val="90000"/>
              </a:lnSpc>
            </a:pPr>
            <a:r>
              <a:rPr lang="en-US" altLang="zh-TW" sz="1800" dirty="0">
                <a:ea typeface="新細明體" pitchFamily="18" charset="-120"/>
              </a:rPr>
              <a:t>Erythematous (atrophic) candidiasis </a:t>
            </a:r>
          </a:p>
          <a:p>
            <a:pPr marL="1250950" lvl="2" indent="-306388">
              <a:lnSpc>
                <a:spcPct val="90000"/>
              </a:lnSpc>
            </a:pPr>
            <a:r>
              <a:rPr lang="en-US" altLang="zh-TW" sz="1800" dirty="0">
                <a:ea typeface="新細明體" pitchFamily="18" charset="-120"/>
              </a:rPr>
              <a:t>Pseudomembranous candidiasis (thrush)</a:t>
            </a:r>
          </a:p>
          <a:p>
            <a:pPr marL="1250950" lvl="2" indent="-306388">
              <a:lnSpc>
                <a:spcPct val="90000"/>
              </a:lnSpc>
            </a:pPr>
            <a:r>
              <a:rPr lang="en-US" altLang="zh-TW" sz="1800" dirty="0" err="1">
                <a:ea typeface="新細明體" pitchFamily="18" charset="-120"/>
              </a:rPr>
              <a:t>Candidal</a:t>
            </a:r>
            <a:r>
              <a:rPr lang="en-US" altLang="zh-TW" sz="1800" dirty="0">
                <a:ea typeface="新細明體" pitchFamily="18" charset="-120"/>
              </a:rPr>
              <a:t> leukoplakia (hyperplastic candidiasis)</a:t>
            </a:r>
          </a:p>
          <a:p>
            <a:pPr marL="1250950" lvl="2" indent="-306388">
              <a:lnSpc>
                <a:spcPct val="90000"/>
              </a:lnSpc>
            </a:pPr>
            <a:r>
              <a:rPr lang="en-US" altLang="zh-TW" sz="1800" dirty="0">
                <a:ea typeface="新細明體" pitchFamily="18" charset="-120"/>
              </a:rPr>
              <a:t>Angular </a:t>
            </a:r>
            <a:r>
              <a:rPr lang="en-US" altLang="zh-TW" sz="1800" dirty="0" err="1">
                <a:ea typeface="新細明體" pitchFamily="18" charset="-120"/>
              </a:rPr>
              <a:t>cheilosis</a:t>
            </a:r>
            <a:endParaRPr lang="en-US" altLang="zh-TW" sz="1800" b="1" dirty="0">
              <a:ea typeface="新細明體" pitchFamily="18" charset="-120"/>
            </a:endParaRPr>
          </a:p>
          <a:p>
            <a:pPr marL="660400" indent="-660400">
              <a:lnSpc>
                <a:spcPct val="90000"/>
              </a:lnSpc>
            </a:pPr>
            <a:r>
              <a:rPr lang="en-US" altLang="zh-TW" sz="1800" b="1" dirty="0">
                <a:ea typeface="新細明體" pitchFamily="18" charset="-120"/>
              </a:rPr>
              <a:t>DEEP MUCOSAL CANDIDIASIS</a:t>
            </a:r>
            <a:r>
              <a:rPr lang="en-US" altLang="zh-TW" sz="1800" dirty="0">
                <a:ea typeface="新細明體" pitchFamily="18" charset="-120"/>
              </a:rPr>
              <a:t> </a:t>
            </a:r>
            <a:endParaRPr lang="en-US" altLang="en-US" sz="1800" dirty="0"/>
          </a:p>
          <a:p>
            <a:endParaRPr lang="en-US" dirty="0"/>
          </a:p>
        </p:txBody>
      </p:sp>
      <p:pic>
        <p:nvPicPr>
          <p:cNvPr id="4" name="Picture 2" descr="Untitled-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1" r="2795"/>
          <a:stretch>
            <a:fillRect/>
          </a:stretch>
        </p:blipFill>
        <p:spPr bwMode="auto">
          <a:xfrm>
            <a:off x="5105400" y="3815027"/>
            <a:ext cx="4038600" cy="3042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619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679CA7B-2B41-4D18-9662-DE59AF029D52}" type="slidenum">
              <a:rPr lang="en-US" altLang="en-US"/>
              <a:pPr/>
              <a:t>14</a:t>
            </a:fld>
            <a:endParaRPr lang="en-US" altLang="en-US"/>
          </a:p>
        </p:txBody>
      </p:sp>
      <p:pic>
        <p:nvPicPr>
          <p:cNvPr id="4" name="Picture 5" descr="AIDS_oral_candidiasis_Ojo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793" y="685800"/>
            <a:ext cx="5182414" cy="544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598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 err="1" smtClean="0"/>
              <a:t>Mgt</a:t>
            </a:r>
            <a:endParaRPr lang="en-US" altLang="en-US" sz="2000" b="1" dirty="0" smtClean="0"/>
          </a:p>
          <a:p>
            <a:pPr>
              <a:buFont typeface="Wingdings" pitchFamily="2" charset="2"/>
              <a:buChar char="ü"/>
            </a:pPr>
            <a:r>
              <a:rPr lang="en-US" altLang="en-US" sz="2000" dirty="0" smtClean="0"/>
              <a:t>Systemic </a:t>
            </a:r>
            <a:r>
              <a:rPr lang="en-US" altLang="en-US" sz="2000" dirty="0"/>
              <a:t>or topical azoles.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2000" dirty="0" err="1"/>
              <a:t>Nystatin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BID is </a:t>
            </a:r>
            <a:r>
              <a:rPr lang="en-US" altLang="en-US" sz="2000" dirty="0"/>
              <a:t>very effective for </a:t>
            </a:r>
            <a:r>
              <a:rPr lang="en-US" altLang="en-US" sz="2000" dirty="0" err="1"/>
              <a:t>orophryngeal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candidiasis</a:t>
            </a:r>
            <a:endParaRPr lang="en-US" altLang="en-US" sz="2000" dirty="0"/>
          </a:p>
          <a:p>
            <a:pPr>
              <a:buFont typeface="Wingdings" pitchFamily="2" charset="2"/>
              <a:buChar char="ü"/>
            </a:pPr>
            <a:r>
              <a:rPr lang="en-US" altLang="en-US" sz="2000" dirty="0"/>
              <a:t>Chronic </a:t>
            </a:r>
            <a:r>
              <a:rPr lang="en-US" altLang="en-US" sz="2000" dirty="0" err="1"/>
              <a:t>supressive</a:t>
            </a:r>
            <a:r>
              <a:rPr lang="en-US" altLang="en-US" sz="2000" dirty="0"/>
              <a:t> doses are needed for recurrent </a:t>
            </a:r>
            <a:r>
              <a:rPr lang="en-US" altLang="en-US" sz="2000" dirty="0" smtClean="0"/>
              <a:t>cases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0003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Atopic Dermatitis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SzPct val="130000"/>
              <a:buFont typeface="Wingdings" pitchFamily="2" charset="2"/>
              <a:buChar char="ü"/>
            </a:pPr>
            <a:r>
              <a:rPr lang="en-GB" altLang="en-US" sz="1800" b="1" dirty="0"/>
              <a:t>Primary  Defect  </a:t>
            </a:r>
            <a:r>
              <a:rPr lang="en-GB" altLang="en-US" sz="1800" b="1" dirty="0" smtClean="0"/>
              <a:t>is synthesis </a:t>
            </a:r>
            <a:r>
              <a:rPr lang="en-GB" altLang="en-US" sz="1800" b="1" dirty="0"/>
              <a:t>of </a:t>
            </a:r>
            <a:r>
              <a:rPr lang="en-GB" altLang="en-US" sz="1800" b="1" dirty="0" err="1"/>
              <a:t>IgE</a:t>
            </a:r>
            <a:r>
              <a:rPr lang="en-GB" altLang="en-US" sz="1800" b="1" dirty="0"/>
              <a:t> rather than </a:t>
            </a:r>
            <a:r>
              <a:rPr lang="en-GB" altLang="en-US" sz="1800" b="1" dirty="0" err="1" smtClean="0"/>
              <a:t>IgG</a:t>
            </a:r>
            <a:r>
              <a:rPr lang="en-GB" altLang="en-US" sz="1800" b="1" dirty="0" smtClean="0"/>
              <a:t>, it is a T </a:t>
            </a:r>
            <a:r>
              <a:rPr lang="en-GB" altLang="en-US" sz="1800" b="1" dirty="0"/>
              <a:t>cell - mediated </a:t>
            </a:r>
            <a:r>
              <a:rPr lang="en-GB" altLang="en-US" sz="1800" b="1" dirty="0" smtClean="0"/>
              <a:t>hypersensitivity</a:t>
            </a:r>
          </a:p>
          <a:p>
            <a:pPr>
              <a:buClr>
                <a:schemeClr val="tx1"/>
              </a:buClr>
              <a:buSzPct val="130000"/>
              <a:buFont typeface="Wingdings" pitchFamily="2" charset="2"/>
              <a:buChar char="ü"/>
            </a:pPr>
            <a:r>
              <a:rPr lang="en-GB" altLang="en-US" sz="1800" dirty="0" smtClean="0"/>
              <a:t>The most common chronic relapsing</a:t>
            </a:r>
          </a:p>
          <a:p>
            <a:pPr marL="0" indent="0">
              <a:buClr>
                <a:schemeClr val="tx1"/>
              </a:buClr>
              <a:buSzPct val="130000"/>
              <a:buNone/>
            </a:pPr>
            <a:r>
              <a:rPr lang="en-GB" altLang="en-US" sz="1800" dirty="0"/>
              <a:t> </a:t>
            </a:r>
            <a:r>
              <a:rPr lang="en-GB" altLang="en-US" sz="1800" dirty="0" smtClean="0"/>
              <a:t>       skin disease in infancy and childhood</a:t>
            </a:r>
          </a:p>
          <a:p>
            <a:pPr>
              <a:buClr>
                <a:schemeClr val="tx1"/>
              </a:buClr>
              <a:buSzPct val="130000"/>
              <a:buFont typeface="Wingdings" pitchFamily="2" charset="2"/>
              <a:buChar char="ü"/>
            </a:pPr>
            <a:r>
              <a:rPr lang="en-GB" altLang="en-US" sz="1800" dirty="0" smtClean="0"/>
              <a:t>Affects 10-30% of children</a:t>
            </a:r>
          </a:p>
          <a:p>
            <a:pPr>
              <a:buClr>
                <a:schemeClr val="tx1"/>
              </a:buClr>
              <a:buSzPct val="130000"/>
              <a:buFont typeface="Wingdings" pitchFamily="2" charset="2"/>
              <a:buChar char="ü"/>
            </a:pPr>
            <a:r>
              <a:rPr lang="en-US" sz="1800" b="1" dirty="0"/>
              <a:t>Atopic March</a:t>
            </a:r>
            <a:r>
              <a:rPr lang="en-US" sz="1800" dirty="0"/>
              <a:t>, sometime called </a:t>
            </a:r>
            <a:endParaRPr lang="en-US" sz="1800" dirty="0" smtClean="0"/>
          </a:p>
          <a:p>
            <a:pPr marL="0" indent="0">
              <a:buClr>
                <a:schemeClr val="tx1"/>
              </a:buClr>
              <a:buSzPct val="130000"/>
              <a:buNone/>
            </a:pPr>
            <a:r>
              <a:rPr lang="en-US" sz="1800" b="1" dirty="0" smtClean="0"/>
              <a:t>Allergic </a:t>
            </a:r>
            <a:r>
              <a:rPr lang="en-US" sz="1800" b="1" dirty="0"/>
              <a:t>March</a:t>
            </a:r>
            <a:r>
              <a:rPr lang="en-US" sz="1800" dirty="0"/>
              <a:t>, refers to the natural history or typical progression of </a:t>
            </a:r>
            <a:r>
              <a:rPr lang="en-US" sz="1800" b="1" dirty="0"/>
              <a:t>allergic</a:t>
            </a:r>
            <a:r>
              <a:rPr lang="en-US" sz="1800" dirty="0"/>
              <a:t> diseases that often begin early in life. These include </a:t>
            </a:r>
            <a:r>
              <a:rPr lang="en-US" sz="1800" b="1" dirty="0"/>
              <a:t>atopic</a:t>
            </a:r>
            <a:r>
              <a:rPr lang="en-US" sz="1800" dirty="0"/>
              <a:t> dermatitis (eczema), food allergy, </a:t>
            </a:r>
            <a:r>
              <a:rPr lang="en-US" sz="1800" b="1" dirty="0"/>
              <a:t>allergic</a:t>
            </a:r>
            <a:r>
              <a:rPr lang="en-US" sz="1800" dirty="0"/>
              <a:t> rhinitis (hay fever) and asthma.</a:t>
            </a:r>
            <a:endParaRPr lang="en-GB" altLang="en-US" sz="1800" dirty="0" smtClean="0"/>
          </a:p>
          <a:p>
            <a:pPr>
              <a:buClr>
                <a:schemeClr val="tx1"/>
              </a:buClr>
              <a:buSzPct val="130000"/>
              <a:buFont typeface="Wingdings" pitchFamily="2" charset="2"/>
              <a:buChar char="ü"/>
            </a:pPr>
            <a:endParaRPr lang="en-GB" altLang="en-US" sz="1800" dirty="0" smtClean="0"/>
          </a:p>
          <a:p>
            <a:pPr marL="0" indent="0">
              <a:buClr>
                <a:schemeClr val="tx1"/>
              </a:buClr>
              <a:buSzPct val="130000"/>
              <a:buNone/>
            </a:pPr>
            <a:endParaRPr lang="en-US" altLang="en-US" sz="1800" dirty="0"/>
          </a:p>
          <a:p>
            <a:pPr>
              <a:buClr>
                <a:schemeClr val="tx1"/>
              </a:buClr>
              <a:buSzPct val="130000"/>
              <a:buFont typeface="Wingdings" pitchFamily="2" charset="2"/>
              <a:buChar char="ü"/>
            </a:pPr>
            <a:endParaRPr lang="en-GB" altLang="en-US" sz="1800" b="1" dirty="0"/>
          </a:p>
        </p:txBody>
      </p:sp>
      <p:pic>
        <p:nvPicPr>
          <p:cNvPr id="4" name="Picture 4" descr="Atopic Eczema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981200"/>
            <a:ext cx="335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355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topic Eczema 2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7" y="19665"/>
            <a:ext cx="39862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topic Eczema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19665"/>
            <a:ext cx="4240213" cy="6877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550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ocuments\Scholastic Files\3. Pediatrics\Pediatrics Sexy Notes\Respiratory System\Childhood Asthma &amp; Atopic Dermatitis\A.D\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68005" y="917211"/>
            <a:ext cx="6728091" cy="504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12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" t="37930" r="5118" b="32759"/>
          <a:stretch>
            <a:fillRect/>
          </a:stretch>
        </p:blipFill>
        <p:spPr>
          <a:xfrm>
            <a:off x="457200" y="457200"/>
            <a:ext cx="8229600" cy="525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516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"/>
            <a:ext cx="8183538" cy="663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863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1600" cy="6629400"/>
          </a:xfrm>
        </p:spPr>
        <p:txBody>
          <a:bodyPr/>
          <a:lstStyle/>
          <a:p>
            <a:pPr marL="0" indent="0">
              <a:buNone/>
            </a:pPr>
            <a:endParaRPr lang="en-GB" altLang="en-US" sz="1800" dirty="0" smtClean="0"/>
          </a:p>
          <a:p>
            <a:pPr marL="0" indent="0">
              <a:buNone/>
            </a:pPr>
            <a:r>
              <a:rPr lang="en-GB" altLang="en-US" sz="1800" dirty="0" err="1" smtClean="0"/>
              <a:t>Ddx</a:t>
            </a:r>
            <a:r>
              <a:rPr lang="en-GB" altLang="en-US" sz="1800" dirty="0" smtClean="0"/>
              <a:t>: </a:t>
            </a:r>
            <a:r>
              <a:rPr lang="en-GB" altLang="en-US" sz="1800" dirty="0" err="1" smtClean="0"/>
              <a:t>Seborrhoeic</a:t>
            </a:r>
            <a:r>
              <a:rPr lang="en-GB" altLang="en-US" sz="1800" dirty="0" smtClean="0"/>
              <a:t> </a:t>
            </a:r>
            <a:r>
              <a:rPr lang="en-GB" altLang="en-US" sz="1800" dirty="0"/>
              <a:t>eczema</a:t>
            </a:r>
          </a:p>
          <a:p>
            <a:pPr lvl="1"/>
            <a:r>
              <a:rPr lang="en-GB" altLang="en-US" sz="1800" dirty="0"/>
              <a:t>Infantile</a:t>
            </a:r>
          </a:p>
          <a:p>
            <a:pPr lvl="1"/>
            <a:r>
              <a:rPr lang="en-GB" altLang="en-US" sz="1800" dirty="0"/>
              <a:t>Adult</a:t>
            </a:r>
          </a:p>
          <a:p>
            <a:pPr marL="0" indent="0">
              <a:buNone/>
            </a:pPr>
            <a:r>
              <a:rPr lang="en-GB" altLang="en-US" sz="1800" dirty="0" smtClean="0"/>
              <a:t>Complications</a:t>
            </a:r>
          </a:p>
          <a:p>
            <a:pPr marL="0" indent="0">
              <a:buNone/>
            </a:pPr>
            <a:r>
              <a:rPr lang="en-GB" altLang="en-US" sz="1800" dirty="0" smtClean="0"/>
              <a:t>Infection</a:t>
            </a:r>
            <a:r>
              <a:rPr lang="en-GB" altLang="en-US" sz="1800" dirty="0"/>
              <a:t>:</a:t>
            </a:r>
          </a:p>
          <a:p>
            <a:pPr lvl="1"/>
            <a:r>
              <a:rPr lang="en-GB" altLang="en-US" sz="1800" dirty="0"/>
              <a:t>Bacterial:</a:t>
            </a:r>
          </a:p>
          <a:p>
            <a:pPr lvl="2"/>
            <a:r>
              <a:rPr lang="en-GB" altLang="en-US" sz="1800" dirty="0" smtClean="0"/>
              <a:t>Staphylococci</a:t>
            </a:r>
            <a:endParaRPr lang="en-GB" altLang="en-US" sz="1800" dirty="0"/>
          </a:p>
          <a:p>
            <a:pPr lvl="1"/>
            <a:r>
              <a:rPr lang="en-GB" altLang="en-US" sz="1800" dirty="0"/>
              <a:t>Viral:</a:t>
            </a:r>
          </a:p>
          <a:p>
            <a:pPr lvl="2"/>
            <a:r>
              <a:rPr lang="en-GB" altLang="en-US" sz="1800" dirty="0"/>
              <a:t>Herpes viruses</a:t>
            </a:r>
          </a:p>
          <a:p>
            <a:pPr lvl="2"/>
            <a:r>
              <a:rPr lang="en-GB" altLang="en-US" sz="1800" dirty="0" err="1"/>
              <a:t>molluscum</a:t>
            </a:r>
            <a:r>
              <a:rPr lang="en-GB" altLang="en-US" sz="1800" dirty="0"/>
              <a:t> </a:t>
            </a:r>
            <a:r>
              <a:rPr lang="en-GB" altLang="en-US" sz="1800" dirty="0" err="1"/>
              <a:t>contagiosum</a:t>
            </a:r>
            <a:endParaRPr lang="en-GB" altLang="en-US" sz="1800" dirty="0"/>
          </a:p>
          <a:p>
            <a:pPr lvl="2"/>
            <a:r>
              <a:rPr lang="en-GB" altLang="en-US" sz="1800" dirty="0"/>
              <a:t>Fungi – </a:t>
            </a:r>
            <a:r>
              <a:rPr lang="en-GB" altLang="en-US" sz="1800" dirty="0" err="1"/>
              <a:t>pityrosporum</a:t>
            </a:r>
            <a:r>
              <a:rPr lang="en-GB" altLang="en-US" sz="1800" dirty="0"/>
              <a:t> </a:t>
            </a:r>
            <a:r>
              <a:rPr lang="en-GB" altLang="en-US" sz="1800" dirty="0" err="1"/>
              <a:t>orbiculare</a:t>
            </a:r>
            <a:endParaRPr lang="en-US" alt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0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8991600" cy="6172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1800" dirty="0"/>
              <a:t>A very common chronic, relapsing, and usually mild form of dermatitis that occurs in infants and in adults.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/>
              <a:t>The severity may vary from minimal, asymptomatic </a:t>
            </a:r>
            <a:r>
              <a:rPr lang="en-US" sz="1800" dirty="0" err="1"/>
              <a:t>scaliness</a:t>
            </a:r>
            <a:r>
              <a:rPr lang="en-US" sz="1800" dirty="0"/>
              <a:t> of the scalp (dandruff) to more widespread </a:t>
            </a:r>
            <a:r>
              <a:rPr lang="en-US" sz="1800" dirty="0" smtClean="0"/>
              <a:t>involvement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/>
              <a:t>SD has a biphasic incidence, occurring in infants between the ages of 2 weeks and 12 months, and later, during adolescence and adulthood.</a:t>
            </a:r>
          </a:p>
          <a:p>
            <a:pPr marL="0" indent="0">
              <a:buNone/>
            </a:pPr>
            <a:r>
              <a:rPr lang="en-US" sz="1800" b="1" dirty="0"/>
              <a:t>Predisposing and Exacerbating Factors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Genetic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err="1" smtClean="0"/>
              <a:t>Immunosupression</a:t>
            </a:r>
            <a:r>
              <a:rPr lang="en-US" sz="1800" dirty="0" smtClean="0"/>
              <a:t> - </a:t>
            </a:r>
            <a:r>
              <a:rPr lang="en-US" sz="1800" dirty="0"/>
              <a:t>HIV infection 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Parkinson disease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Emotional </a:t>
            </a:r>
            <a:r>
              <a:rPr lang="en-US" sz="1800" dirty="0" smtClean="0"/>
              <a:t>stress</a:t>
            </a:r>
          </a:p>
          <a:p>
            <a:pPr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 smtClean="0"/>
              <a:t>Etiology : </a:t>
            </a:r>
            <a:r>
              <a:rPr lang="en-US" sz="1800" dirty="0" smtClean="0"/>
              <a:t>Fungus of </a:t>
            </a:r>
            <a:r>
              <a:rPr lang="en-US" sz="1800" dirty="0"/>
              <a:t>genus </a:t>
            </a:r>
            <a:r>
              <a:rPr lang="en-US" sz="1800" dirty="0" err="1" smtClean="0"/>
              <a:t>Malassezia</a:t>
            </a:r>
            <a:endParaRPr lang="en-US" sz="1800" dirty="0"/>
          </a:p>
          <a:p>
            <a:pPr>
              <a:buFont typeface="Wingdings" pitchFamily="2" charset="2"/>
              <a:buChar char="ü"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 smtClean="0">
                <a:solidFill>
                  <a:srgbClr val="FF0000"/>
                </a:solidFill>
              </a:rPr>
              <a:t>Seborrheic</a:t>
            </a:r>
            <a:r>
              <a:rPr lang="en-US" b="1" dirty="0" smtClean="0">
                <a:solidFill>
                  <a:srgbClr val="FF0000"/>
                </a:solidFill>
              </a:rPr>
              <a:t> Dermatitis(SD)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0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1600" cy="8382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C/F- </a:t>
            </a:r>
            <a:r>
              <a:rPr lang="en-US" sz="1800" dirty="0" smtClean="0"/>
              <a:t>usually </a:t>
            </a:r>
            <a:r>
              <a:rPr lang="en-US" sz="1800" dirty="0"/>
              <a:t>characterized by well demarcated erythematous plaques with greasy-looking, yellowish scales distributed on areas rich in sebaceous glands.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4410075" cy="571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791075" y="990600"/>
            <a:ext cx="437259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800" dirty="0" smtClean="0"/>
              <a:t>The </a:t>
            </a:r>
            <a:r>
              <a:rPr lang="en-US" sz="1800" dirty="0"/>
              <a:t>mildest and most common form of </a:t>
            </a:r>
            <a:r>
              <a:rPr lang="en-US" sz="1800" dirty="0" smtClean="0"/>
              <a:t>scalp </a:t>
            </a:r>
            <a:r>
              <a:rPr lang="en-US" sz="1800" dirty="0" err="1"/>
              <a:t>seborrheic</a:t>
            </a:r>
            <a:r>
              <a:rPr lang="en-US" sz="1800" dirty="0"/>
              <a:t> dermatitis </a:t>
            </a:r>
            <a:r>
              <a:rPr lang="en-US" sz="1800" dirty="0" smtClean="0"/>
              <a:t>is dandruff</a:t>
            </a:r>
          </a:p>
          <a:p>
            <a:pPr>
              <a:buFontTx/>
              <a:buChar char="-"/>
            </a:pPr>
            <a:r>
              <a:rPr lang="en-US" sz="1800" dirty="0" smtClean="0"/>
              <a:t>Dandruff may be asymptomatic or    accompanied by mild pruritus</a:t>
            </a:r>
          </a:p>
          <a:p>
            <a:endParaRPr lang="en-US" dirty="0"/>
          </a:p>
        </p:txBody>
      </p:sp>
      <p:pic>
        <p:nvPicPr>
          <p:cNvPr id="7" name="Content Placeholder 3" descr="AIDS_seborrheic_dermatitis_Ojo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819400"/>
            <a:ext cx="3752219" cy="321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036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763000" cy="6705600"/>
          </a:xfrm>
        </p:spPr>
        <p:txBody>
          <a:bodyPr>
            <a:normAutofit/>
          </a:bodyPr>
          <a:lstStyle/>
          <a:p>
            <a:r>
              <a:rPr lang="en-US" sz="1800" dirty="0" err="1"/>
              <a:t>Periocular</a:t>
            </a:r>
            <a:r>
              <a:rPr lang="en-US" sz="1800" dirty="0"/>
              <a:t>   — </a:t>
            </a:r>
            <a:r>
              <a:rPr lang="en-US" sz="1800" dirty="0" err="1"/>
              <a:t>Blepharitis</a:t>
            </a:r>
            <a:r>
              <a:rPr lang="en-US" sz="1800" dirty="0"/>
              <a:t> with redness of the free margin of the eyelids and yellow crusting between the eyelashes may be the sole manifestation of </a:t>
            </a:r>
            <a:r>
              <a:rPr lang="en-US" sz="1800" dirty="0" err="1"/>
              <a:t>seborrheic</a:t>
            </a:r>
            <a:r>
              <a:rPr lang="en-US" sz="1800" dirty="0"/>
              <a:t> dermatitis.</a:t>
            </a:r>
          </a:p>
          <a:p>
            <a:r>
              <a:rPr lang="en-US" sz="1800" dirty="0"/>
              <a:t>Face   — Facial lesions favor the forehead below the hairline, the eyebrows and glabella, and the </a:t>
            </a:r>
            <a:r>
              <a:rPr lang="en-US" sz="1800" dirty="0" err="1"/>
              <a:t>nasolabial</a:t>
            </a:r>
            <a:r>
              <a:rPr lang="en-US" sz="1800" dirty="0"/>
              <a:t> folds. They may extend to the cheeks and malar areas in a butterfly distribution.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33" y="1752600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47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 err="1" smtClean="0"/>
              <a:t>Dx</a:t>
            </a:r>
            <a:r>
              <a:rPr lang="en-US" sz="1800" dirty="0" smtClean="0"/>
              <a:t> - usually </a:t>
            </a:r>
            <a:r>
              <a:rPr lang="en-US" sz="1800" dirty="0"/>
              <a:t>made clinically based on the appearance and location of the lesions.</a:t>
            </a:r>
          </a:p>
          <a:p>
            <a:pPr marL="0" indent="0">
              <a:buNone/>
            </a:pPr>
            <a:r>
              <a:rPr lang="en-US" sz="1800" dirty="0" err="1" smtClean="0"/>
              <a:t>Ddx</a:t>
            </a:r>
            <a:r>
              <a:rPr lang="en-US" sz="1800" dirty="0" smtClean="0"/>
              <a:t> - Psoriasis –in adolescents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Atopic dermatitis, SLE Malar rash, Rosacea, </a:t>
            </a:r>
            <a:r>
              <a:rPr lang="en-US" sz="1800" dirty="0" err="1" smtClean="0"/>
              <a:t>Tinea</a:t>
            </a:r>
            <a:r>
              <a:rPr lang="en-US" sz="1800" dirty="0" smtClean="0"/>
              <a:t> </a:t>
            </a:r>
            <a:r>
              <a:rPr lang="en-US" sz="1800" dirty="0" err="1" smtClean="0"/>
              <a:t>corporis</a:t>
            </a:r>
            <a:r>
              <a:rPr lang="en-US" sz="1800" dirty="0" smtClean="0"/>
              <a:t>/</a:t>
            </a:r>
            <a:r>
              <a:rPr lang="en-US" sz="1800" dirty="0" err="1" smtClean="0"/>
              <a:t>fasialis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Rx - </a:t>
            </a:r>
            <a:r>
              <a:rPr lang="en-US" sz="1800" b="1" dirty="0"/>
              <a:t>Initial Topical Therapy</a:t>
            </a:r>
          </a:p>
          <a:p>
            <a:r>
              <a:rPr lang="en-US" sz="1800" b="1" dirty="0"/>
              <a:t>Scalp-</a:t>
            </a:r>
            <a:r>
              <a:rPr lang="en-US" sz="1800" b="1" i="1" dirty="0"/>
              <a:t> </a:t>
            </a:r>
            <a:r>
              <a:rPr lang="en-US" sz="1800" dirty="0"/>
              <a:t>Effective over-the-counter (OTC) </a:t>
            </a:r>
            <a:r>
              <a:rPr lang="en-US" sz="1800" i="1" dirty="0"/>
              <a:t>shampoos </a:t>
            </a:r>
            <a:r>
              <a:rPr lang="en-US" sz="1800" dirty="0"/>
              <a:t>containing selenium sulfide, zinc   </a:t>
            </a:r>
            <a:r>
              <a:rPr lang="en-US" sz="1800" dirty="0" smtClean="0"/>
              <a:t>  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   </a:t>
            </a:r>
            <a:r>
              <a:rPr lang="en-US" sz="1800" dirty="0" err="1" smtClean="0"/>
              <a:t>pyrithione</a:t>
            </a:r>
            <a:r>
              <a:rPr lang="en-US" sz="1800" dirty="0"/>
              <a:t>, are helpful.</a:t>
            </a:r>
          </a:p>
          <a:p>
            <a:pPr marL="973138" indent="0">
              <a:buNone/>
            </a:pPr>
            <a:r>
              <a:rPr lang="en-US" sz="1800" dirty="0" smtClean="0"/>
              <a:t>Tar </a:t>
            </a:r>
            <a:r>
              <a:rPr lang="en-US" sz="1800" dirty="0"/>
              <a:t>shampoos (OTC) are equally effective in many patients. Low-potency </a:t>
            </a:r>
            <a:r>
              <a:rPr lang="en-US" sz="1800" i="1" dirty="0"/>
              <a:t>glucocorticoid </a:t>
            </a:r>
            <a:r>
              <a:rPr lang="en-US" sz="1800" dirty="0"/>
              <a:t>solution, lotion, or gels following a medicated shampoo (ketoconazole or tar) for more severe cases</a:t>
            </a:r>
            <a:r>
              <a:rPr lang="en-US" sz="1800" dirty="0" smtClean="0"/>
              <a:t>.</a:t>
            </a:r>
          </a:p>
          <a:p>
            <a:r>
              <a:rPr lang="en-US" sz="1800" b="1" dirty="0"/>
              <a:t>Face and Trunk- </a:t>
            </a:r>
            <a:endParaRPr lang="en-US" sz="1800" b="1" dirty="0" smtClean="0"/>
          </a:p>
          <a:p>
            <a:pPr marL="398462" indent="0">
              <a:buNone/>
            </a:pPr>
            <a:r>
              <a:rPr lang="en-US" sz="1800" i="1" dirty="0" smtClean="0"/>
              <a:t>Ketoconazole </a:t>
            </a:r>
            <a:r>
              <a:rPr lang="en-US" sz="1800" i="1" dirty="0"/>
              <a:t>shampoo </a:t>
            </a:r>
            <a:r>
              <a:rPr lang="en-US" sz="1800" dirty="0"/>
              <a:t>, </a:t>
            </a:r>
            <a:endParaRPr lang="en-US" sz="1800" dirty="0" smtClean="0"/>
          </a:p>
          <a:p>
            <a:pPr marL="398462" indent="0">
              <a:buNone/>
            </a:pPr>
            <a:r>
              <a:rPr lang="en-US" sz="1800" dirty="0" smtClean="0"/>
              <a:t>2% Glucocorticoid </a:t>
            </a:r>
            <a:r>
              <a:rPr lang="en-US" sz="1800" dirty="0"/>
              <a:t>cream and lotions: </a:t>
            </a:r>
            <a:endParaRPr lang="en-US" sz="1800" dirty="0" smtClean="0"/>
          </a:p>
          <a:p>
            <a:pPr marL="398462" indent="0">
              <a:buNone/>
            </a:pPr>
            <a:r>
              <a:rPr lang="en-US" sz="1800" dirty="0" smtClean="0"/>
              <a:t>Initially </a:t>
            </a:r>
            <a:r>
              <a:rPr lang="en-US" sz="1800" dirty="0"/>
              <a:t>1 </a:t>
            </a:r>
            <a:r>
              <a:rPr lang="en-US" sz="1800" dirty="0" smtClean="0"/>
              <a:t>or 2.5</a:t>
            </a:r>
            <a:r>
              <a:rPr lang="en-US" sz="1800" dirty="0"/>
              <a:t>% hydrocortisone cream, 2% </a:t>
            </a:r>
            <a:r>
              <a:rPr lang="en-US" sz="1800" dirty="0" smtClean="0"/>
              <a:t>ketoconazole cream</a:t>
            </a:r>
            <a:r>
              <a:rPr lang="en-US" sz="1800" dirty="0"/>
              <a:t>, </a:t>
            </a:r>
            <a:endParaRPr lang="en-US" sz="1800" dirty="0" smtClean="0"/>
          </a:p>
          <a:p>
            <a:pPr marL="398462" indent="0">
              <a:buNone/>
            </a:pPr>
            <a:r>
              <a:rPr lang="en-US" sz="1800" dirty="0" smtClean="0"/>
              <a:t>1</a:t>
            </a:r>
            <a:r>
              <a:rPr lang="en-US" sz="1800" dirty="0"/>
              <a:t>% </a:t>
            </a:r>
            <a:r>
              <a:rPr lang="en-US" sz="1800" dirty="0" err="1"/>
              <a:t>pimecrolimus</a:t>
            </a:r>
            <a:r>
              <a:rPr lang="en-US" sz="1800" dirty="0"/>
              <a:t> cream, </a:t>
            </a:r>
            <a:endParaRPr lang="en-US" sz="1800" dirty="0" smtClean="0"/>
          </a:p>
          <a:p>
            <a:pPr marL="398462" indent="0">
              <a:buNone/>
            </a:pPr>
            <a:r>
              <a:rPr lang="en-US" sz="1800" dirty="0" smtClean="0"/>
              <a:t>0.03 </a:t>
            </a:r>
            <a:r>
              <a:rPr lang="en-US" sz="1800" dirty="0"/>
              <a:t>or </a:t>
            </a:r>
            <a:r>
              <a:rPr lang="en-US" sz="1800" dirty="0" smtClean="0"/>
              <a:t>0.1% </a:t>
            </a:r>
            <a:r>
              <a:rPr lang="en-US" sz="1800" dirty="0" err="1" smtClean="0"/>
              <a:t>tacrolimus</a:t>
            </a:r>
            <a:r>
              <a:rPr lang="en-US" sz="1800" dirty="0" smtClean="0"/>
              <a:t> </a:t>
            </a:r>
            <a:r>
              <a:rPr lang="en-US" sz="1800" dirty="0"/>
              <a:t>ointment.</a:t>
            </a:r>
          </a:p>
          <a:p>
            <a:r>
              <a:rPr lang="en-US" sz="1800" b="1" dirty="0"/>
              <a:t>Eyelids </a:t>
            </a:r>
            <a:r>
              <a:rPr lang="en-US" sz="1800" dirty="0"/>
              <a:t>Gentle removal of the crusts in the morning with a cotton ball dipped in diluted baby shampoo. Apply 10% sodium </a:t>
            </a:r>
            <a:r>
              <a:rPr lang="en-US" sz="1800" dirty="0" err="1"/>
              <a:t>sulfacetamide</a:t>
            </a:r>
            <a:r>
              <a:rPr lang="en-US" sz="1800" dirty="0"/>
              <a:t> in a suspension containing 0.2% prednisolone and 0.12% phenylephrine.</a:t>
            </a:r>
          </a:p>
          <a:p>
            <a:r>
              <a:rPr lang="en-US" sz="1800" b="1" dirty="0"/>
              <a:t>Systemic Therapy</a:t>
            </a:r>
          </a:p>
          <a:p>
            <a:pPr marL="398463" indent="0">
              <a:buNone/>
            </a:pPr>
            <a:r>
              <a:rPr lang="en-US" sz="1800" dirty="0"/>
              <a:t>In severe cases, 13- </a:t>
            </a:r>
            <a:r>
              <a:rPr lang="en-US" sz="1800" i="1" dirty="0" err="1"/>
              <a:t>cis</a:t>
            </a:r>
            <a:r>
              <a:rPr lang="en-US" sz="1800" i="1" dirty="0"/>
              <a:t> </a:t>
            </a:r>
            <a:r>
              <a:rPr lang="en-US" sz="1800" dirty="0"/>
              <a:t>retinoic acid orally, 1 mg/kg, is highly effective.</a:t>
            </a:r>
          </a:p>
          <a:p>
            <a:pPr marL="398463" indent="0">
              <a:buNone/>
            </a:pPr>
            <a:r>
              <a:rPr lang="en-US" sz="1800" dirty="0"/>
              <a:t>In milder cases, </a:t>
            </a:r>
            <a:r>
              <a:rPr lang="en-US" sz="1800" dirty="0" err="1"/>
              <a:t>itraconazole</a:t>
            </a:r>
            <a:r>
              <a:rPr lang="en-US" sz="1800" dirty="0"/>
              <a:t> 100 twice daily for 2 weeks is also effective.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0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Diaper Dermatitis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1800" b="1" dirty="0" smtClean="0"/>
              <a:t>Diaper dermatitis</a:t>
            </a:r>
            <a:r>
              <a:rPr lang="en-US" sz="1800" dirty="0" smtClean="0"/>
              <a:t> is a </a:t>
            </a:r>
            <a:r>
              <a:rPr lang="en-US" sz="1800" dirty="0"/>
              <a:t>general term used to describe any inflammatory skin eruption that develops in the diaper-covered </a:t>
            </a:r>
            <a:r>
              <a:rPr lang="en-US" sz="1800" dirty="0" smtClean="0"/>
              <a:t>region.</a:t>
            </a:r>
          </a:p>
          <a:p>
            <a:pPr>
              <a:buFontTx/>
              <a:buChar char="-"/>
            </a:pPr>
            <a:r>
              <a:rPr lang="en-US" sz="1800" dirty="0" smtClean="0"/>
              <a:t>caused </a:t>
            </a:r>
            <a:r>
              <a:rPr lang="en-US" sz="1800" dirty="0"/>
              <a:t>by </a:t>
            </a:r>
            <a:r>
              <a:rPr lang="en-US" sz="1800" dirty="0" err="1"/>
              <a:t>overhydration</a:t>
            </a:r>
            <a:r>
              <a:rPr lang="en-US" sz="1800" dirty="0"/>
              <a:t> of the </a:t>
            </a:r>
            <a:r>
              <a:rPr lang="en-US" sz="1800" b="1" dirty="0"/>
              <a:t>skin</a:t>
            </a:r>
            <a:r>
              <a:rPr lang="en-US" sz="1800" dirty="0"/>
              <a:t>, maceration, prolonged contact with urine and feces, retained diaper soaps, and topical preparations and is a prototypical example of irritant </a:t>
            </a:r>
            <a:r>
              <a:rPr lang="en-US" sz="1800" b="1" dirty="0"/>
              <a:t>contact dermatitis</a:t>
            </a:r>
            <a:r>
              <a:rPr lang="en-US" sz="1800" dirty="0"/>
              <a:t>. Signs and symptoms are restricted </a:t>
            </a:r>
            <a:r>
              <a:rPr lang="en-US" sz="1800" dirty="0" smtClean="0"/>
              <a:t>to </a:t>
            </a:r>
            <a:r>
              <a:rPr lang="en-US" sz="1800" dirty="0"/>
              <a:t>the area covered by </a:t>
            </a:r>
            <a:r>
              <a:rPr lang="en-US" sz="1800" dirty="0" smtClean="0"/>
              <a:t>diapers.</a:t>
            </a:r>
          </a:p>
          <a:p>
            <a:pPr marL="0" indent="0">
              <a:buNone/>
            </a:pPr>
            <a:r>
              <a:rPr lang="en-US" sz="1800" dirty="0" smtClean="0"/>
              <a:t>-     major </a:t>
            </a:r>
            <a:r>
              <a:rPr lang="en-US" sz="1800" dirty="0"/>
              <a:t>categories of diaper </a:t>
            </a:r>
            <a:r>
              <a:rPr lang="en-US" sz="1800" dirty="0" smtClean="0"/>
              <a:t>dermatitis:</a:t>
            </a:r>
            <a:endParaRPr lang="en-US" sz="1800" dirty="0"/>
          </a:p>
          <a:p>
            <a:pPr marL="796925" indent="-280988">
              <a:buFont typeface="Wingdings" pitchFamily="2" charset="2"/>
              <a:buChar char="ü"/>
            </a:pPr>
            <a:r>
              <a:rPr lang="en-US" sz="1800" dirty="0"/>
              <a:t>Rashes associated with or worsened by the diaper</a:t>
            </a:r>
          </a:p>
          <a:p>
            <a:pPr marL="796925" indent="-280988">
              <a:buFont typeface="Wingdings" pitchFamily="2" charset="2"/>
              <a:buChar char="ü"/>
            </a:pPr>
            <a:r>
              <a:rPr lang="en-US" sz="1800" dirty="0"/>
              <a:t>Rashes that occur regardless of diaper use</a:t>
            </a:r>
          </a:p>
          <a:p>
            <a:pPr>
              <a:buFontTx/>
              <a:buChar char="-"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b="1" dirty="0" smtClean="0"/>
              <a:t>C/F - </a:t>
            </a:r>
            <a:r>
              <a:rPr lang="en-US" sz="1800" dirty="0"/>
              <a:t> </a:t>
            </a:r>
            <a:endParaRPr lang="en-US" sz="1800" dirty="0" smtClean="0"/>
          </a:p>
          <a:p>
            <a:pPr>
              <a:buFont typeface="Wingdings" pitchFamily="2" charset="2"/>
              <a:buChar char="ü"/>
            </a:pPr>
            <a:r>
              <a:rPr lang="en-US" sz="1800" dirty="0" smtClean="0"/>
              <a:t>erythema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 smtClean="0"/>
              <a:t>painful </a:t>
            </a:r>
            <a:r>
              <a:rPr lang="en-US" sz="1800" dirty="0"/>
              <a:t>scaling papules and superficial </a:t>
            </a:r>
            <a:r>
              <a:rPr lang="en-US" sz="1800" dirty="0" smtClean="0"/>
              <a:t>erosions </a:t>
            </a:r>
          </a:p>
          <a:p>
            <a:pPr>
              <a:buFont typeface="Wingdings" pitchFamily="2" charset="2"/>
              <a:buChar char="ü"/>
            </a:pPr>
            <a:r>
              <a:rPr lang="en-US" sz="1800" dirty="0" smtClean="0"/>
              <a:t>Irritant </a:t>
            </a:r>
            <a:r>
              <a:rPr lang="en-US" sz="1800" dirty="0"/>
              <a:t>diaper dermatitis typically occurs on convex skin surfaces that are in direct contact with the </a:t>
            </a:r>
            <a:r>
              <a:rPr lang="en-US" sz="1800" dirty="0" smtClean="0"/>
              <a:t>diaper. These </a:t>
            </a:r>
            <a:r>
              <a:rPr lang="en-US" sz="1800" dirty="0"/>
              <a:t>locations include the buttocks, lower abdomen, genitalia, and upper thighs. The skin folds (areas not in direct contact with the diaper) are classically spared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28442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20" y="18563"/>
            <a:ext cx="6500505" cy="2810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06" y="2819400"/>
            <a:ext cx="5376862" cy="384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46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 Review of Diaper Dermatitis: Clinical Features, Diagnosis, and Management  | Consultant36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 descr="C:\Users\user\Downloads\downloa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60338"/>
            <a:ext cx="5065438" cy="3328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user\Downloads\DiaperdermatitisirritP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2832976"/>
            <a:ext cx="5397500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32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629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Aspects of the history that can help identify contributing factors and support or exclude </a:t>
            </a:r>
            <a:r>
              <a:rPr lang="en-US" sz="1800" dirty="0" err="1"/>
              <a:t>nondiaper</a:t>
            </a:r>
            <a:r>
              <a:rPr lang="en-US" sz="1800" dirty="0"/>
              <a:t>-associated dermatitis </a:t>
            </a:r>
            <a:r>
              <a:rPr lang="en-US" sz="1800" dirty="0" smtClean="0"/>
              <a:t>include:</a:t>
            </a:r>
            <a:endParaRPr lang="en-US" sz="1800" dirty="0"/>
          </a:p>
          <a:p>
            <a:r>
              <a:rPr lang="en-US" sz="1800" dirty="0"/>
              <a:t>Associated symptoms (</a:t>
            </a:r>
            <a:r>
              <a:rPr lang="en-US" sz="1800" dirty="0" err="1"/>
              <a:t>eg</a:t>
            </a:r>
            <a:r>
              <a:rPr lang="en-US" sz="1800" dirty="0"/>
              <a:t>, diarrhea).</a:t>
            </a:r>
          </a:p>
          <a:p>
            <a:r>
              <a:rPr lang="en-US" sz="1800" dirty="0"/>
              <a:t>Systemic symptoms (may suggest </a:t>
            </a:r>
            <a:r>
              <a:rPr lang="en-US" sz="1800" dirty="0" err="1"/>
              <a:t>nondiaper</a:t>
            </a:r>
            <a:r>
              <a:rPr lang="en-US" sz="1800" dirty="0"/>
              <a:t>-associated dermatitis, particularly LCH).</a:t>
            </a:r>
          </a:p>
          <a:p>
            <a:r>
              <a:rPr lang="en-US" sz="1800" dirty="0"/>
              <a:t>Information about diapers and diapering: type of diaper, how often diapers are changed, method of laundering cloth diapers (if cloth diapers are used).</a:t>
            </a:r>
          </a:p>
          <a:p>
            <a:r>
              <a:rPr lang="en-US" sz="1800" dirty="0"/>
              <a:t>Information about how the diaper area is cleansed (</a:t>
            </a:r>
            <a:r>
              <a:rPr lang="en-US" sz="1800" dirty="0" err="1"/>
              <a:t>eg</a:t>
            </a:r>
            <a:r>
              <a:rPr lang="en-US" sz="1800" dirty="0"/>
              <a:t>, soaps, cleansers, washcloths, wipes, </a:t>
            </a:r>
            <a:r>
              <a:rPr lang="en-US" sz="1800" dirty="0" err="1"/>
              <a:t>etc</a:t>
            </a:r>
            <a:r>
              <a:rPr lang="en-US" sz="1800" dirty="0"/>
              <a:t>).</a:t>
            </a:r>
          </a:p>
          <a:p>
            <a:r>
              <a:rPr lang="en-US" sz="1800" dirty="0"/>
              <a:t>Exposure to contagious disease (</a:t>
            </a:r>
            <a:r>
              <a:rPr lang="en-US" sz="1800" dirty="0" err="1"/>
              <a:t>eg</a:t>
            </a:r>
            <a:r>
              <a:rPr lang="en-US" sz="1800" dirty="0"/>
              <a:t>, scabies, herpes simplex virus, Staphylococcus </a:t>
            </a:r>
            <a:r>
              <a:rPr lang="en-US" sz="1800" dirty="0" err="1"/>
              <a:t>aureus</a:t>
            </a:r>
            <a:r>
              <a:rPr lang="en-US" sz="1800" dirty="0"/>
              <a:t>, group A Streptococcus).</a:t>
            </a:r>
          </a:p>
          <a:p>
            <a:r>
              <a:rPr lang="en-US" sz="1800" dirty="0"/>
              <a:t>Past history of dermatologic, allergic, or infectious illnesses.</a:t>
            </a:r>
          </a:p>
          <a:p>
            <a:r>
              <a:rPr lang="en-US" sz="1800" dirty="0"/>
              <a:t>Family history (</a:t>
            </a:r>
            <a:r>
              <a:rPr lang="en-US" sz="1800" dirty="0" err="1"/>
              <a:t>eg</a:t>
            </a:r>
            <a:r>
              <a:rPr lang="en-US" sz="1800" dirty="0"/>
              <a:t>, psoriasis, </a:t>
            </a:r>
            <a:r>
              <a:rPr lang="en-US" sz="1800" dirty="0" err="1"/>
              <a:t>atopy</a:t>
            </a:r>
            <a:r>
              <a:rPr lang="en-US" sz="1800" dirty="0"/>
              <a:t>).</a:t>
            </a:r>
          </a:p>
          <a:p>
            <a:r>
              <a:rPr lang="en-US" sz="1800" dirty="0"/>
              <a:t>Antibiotic use (predisposes to </a:t>
            </a:r>
            <a:r>
              <a:rPr lang="en-US" sz="1800" dirty="0" err="1"/>
              <a:t>candidal</a:t>
            </a:r>
            <a:r>
              <a:rPr lang="en-US" sz="1800" dirty="0"/>
              <a:t> dermatitis and diarrhea).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2923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8839200" cy="6705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 err="1" smtClean="0"/>
              <a:t>Ixn</a:t>
            </a:r>
            <a:r>
              <a:rPr lang="en-US" sz="1900" dirty="0" smtClean="0"/>
              <a:t>- usually </a:t>
            </a:r>
            <a:r>
              <a:rPr lang="en-US" sz="1900" dirty="0"/>
              <a:t>are not </a:t>
            </a:r>
            <a:r>
              <a:rPr lang="en-US" sz="1900" dirty="0" smtClean="0"/>
              <a:t>necessary. help </a:t>
            </a:r>
            <a:r>
              <a:rPr lang="en-US" sz="1900" dirty="0"/>
              <a:t>confirm the etiology in atypical or recalcitrant </a:t>
            </a:r>
            <a:r>
              <a:rPr lang="en-US" sz="1900" dirty="0" smtClean="0"/>
              <a:t>cases:</a:t>
            </a:r>
            <a:endParaRPr lang="en-US" sz="1900" dirty="0"/>
          </a:p>
          <a:p>
            <a:r>
              <a:rPr lang="en-US" sz="1900" dirty="0"/>
              <a:t>Potassium hydroxide preparation and/or fungal culture of skin scrapings for Candida </a:t>
            </a:r>
            <a:endParaRPr lang="en-US" sz="1900" dirty="0" smtClean="0"/>
          </a:p>
          <a:p>
            <a:r>
              <a:rPr lang="en-US" sz="1900" dirty="0" smtClean="0"/>
              <a:t>Mineral Oil slide preparation for scabies </a:t>
            </a:r>
          </a:p>
          <a:p>
            <a:r>
              <a:rPr lang="en-US" sz="1900" dirty="0" err="1" smtClean="0"/>
              <a:t>Tzanck</a:t>
            </a:r>
            <a:r>
              <a:rPr lang="en-US" sz="1900" dirty="0" smtClean="0"/>
              <a:t> </a:t>
            </a:r>
            <a:r>
              <a:rPr lang="en-US" sz="1900" dirty="0"/>
              <a:t>smear of blisters or pustules; multinucleated giant cells indicate a viral infection such as herpes simplex</a:t>
            </a:r>
          </a:p>
          <a:p>
            <a:r>
              <a:rPr lang="en-US" sz="1900" dirty="0"/>
              <a:t>Serum zinc level for </a:t>
            </a:r>
            <a:r>
              <a:rPr lang="en-US" sz="1900" dirty="0" err="1"/>
              <a:t>acrodermatitis</a:t>
            </a:r>
            <a:r>
              <a:rPr lang="en-US" sz="1900" dirty="0"/>
              <a:t> </a:t>
            </a:r>
            <a:r>
              <a:rPr lang="en-US" sz="1900" dirty="0" err="1"/>
              <a:t>enteropathica</a:t>
            </a:r>
            <a:endParaRPr lang="en-US" sz="1900" dirty="0"/>
          </a:p>
          <a:p>
            <a:r>
              <a:rPr lang="en-US" sz="1900" dirty="0"/>
              <a:t>Culture of skin lesions for S. </a:t>
            </a:r>
            <a:r>
              <a:rPr lang="en-US" sz="1900" dirty="0" err="1"/>
              <a:t>aureus</a:t>
            </a:r>
            <a:r>
              <a:rPr lang="en-US" sz="1900" dirty="0"/>
              <a:t> or group A streptococcus</a:t>
            </a:r>
          </a:p>
          <a:p>
            <a:r>
              <a:rPr lang="en-US" sz="1900" dirty="0"/>
              <a:t>Skin biopsy in cases in which the rash is atypical or unresponsive to therapy (for LCH, granuloma </a:t>
            </a:r>
            <a:r>
              <a:rPr lang="en-US" sz="1900" dirty="0" err="1"/>
              <a:t>gluteale</a:t>
            </a:r>
            <a:r>
              <a:rPr lang="en-US" sz="1900" dirty="0"/>
              <a:t> </a:t>
            </a:r>
            <a:r>
              <a:rPr lang="en-US" sz="1900" dirty="0" err="1"/>
              <a:t>infantum</a:t>
            </a:r>
            <a:r>
              <a:rPr lang="en-US" sz="19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9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Management </a:t>
            </a:r>
            <a:r>
              <a:rPr lang="en-US" sz="1800" dirty="0"/>
              <a:t> — </a:t>
            </a:r>
            <a:r>
              <a:rPr lang="en-US" sz="1800" dirty="0" smtClean="0"/>
              <a:t>     </a:t>
            </a:r>
            <a:r>
              <a:rPr lang="en-US" sz="1800" b="1" dirty="0" smtClean="0"/>
              <a:t>eliminate </a:t>
            </a:r>
            <a:r>
              <a:rPr lang="en-US" sz="1800" b="1" dirty="0"/>
              <a:t>direct skin contact </a:t>
            </a:r>
            <a:r>
              <a:rPr lang="en-US" sz="1800" dirty="0"/>
              <a:t>with urine and feces (</a:t>
            </a:r>
            <a:r>
              <a:rPr lang="en-US" sz="1800" dirty="0" err="1"/>
              <a:t>ie</a:t>
            </a:r>
            <a:r>
              <a:rPr lang="en-US" sz="1800" dirty="0"/>
              <a:t>, by discontinuing </a:t>
            </a:r>
            <a:r>
              <a:rPr lang="en-US" sz="1800" dirty="0" smtClean="0"/>
              <a:t> </a:t>
            </a:r>
          </a:p>
          <a:p>
            <a:pPr marL="0" indent="0">
              <a:buNone/>
            </a:pPr>
            <a:r>
              <a:rPr lang="en-US" sz="1800" dirty="0" smtClean="0"/>
              <a:t>                                     or </a:t>
            </a:r>
            <a:r>
              <a:rPr lang="en-US" sz="1800" dirty="0"/>
              <a:t>limiting the use of diapers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                  - </a:t>
            </a:r>
            <a:r>
              <a:rPr lang="en-US" sz="1800" b="1" dirty="0" smtClean="0"/>
              <a:t>Topical Barrier </a:t>
            </a:r>
            <a:r>
              <a:rPr lang="en-US" sz="1800" dirty="0" smtClean="0"/>
              <a:t>(Petroleum Jelly, Zn oxide cream, Paraffin)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                  - </a:t>
            </a:r>
            <a:r>
              <a:rPr lang="en-US" sz="1800" b="1" dirty="0" smtClean="0"/>
              <a:t>Powders</a:t>
            </a:r>
          </a:p>
          <a:p>
            <a:pPr marL="0" indent="0">
              <a:buNone/>
            </a:pPr>
            <a:r>
              <a:rPr lang="en-US" sz="1800" dirty="0" smtClean="0"/>
              <a:t>                                   - </a:t>
            </a:r>
            <a:r>
              <a:rPr lang="en-US" sz="1800" b="1" dirty="0"/>
              <a:t>Antifungal agents </a:t>
            </a:r>
            <a:r>
              <a:rPr lang="en-US" sz="1800" dirty="0"/>
              <a:t> —  </a:t>
            </a:r>
            <a:r>
              <a:rPr lang="en-US" sz="1800" dirty="0" err="1" smtClean="0"/>
              <a:t>nystatin</a:t>
            </a:r>
            <a:r>
              <a:rPr lang="en-US" sz="1800" dirty="0" smtClean="0"/>
              <a:t>, </a:t>
            </a:r>
            <a:r>
              <a:rPr lang="en-US" sz="1800" dirty="0" err="1" smtClean="0"/>
              <a:t>cotrimazole</a:t>
            </a:r>
            <a:r>
              <a:rPr lang="en-US" sz="1800" dirty="0" smtClean="0"/>
              <a:t>, </a:t>
            </a:r>
            <a:r>
              <a:rPr lang="en-US" sz="1800" dirty="0" err="1" smtClean="0"/>
              <a:t>miconazole</a:t>
            </a:r>
            <a:r>
              <a:rPr lang="en-US" sz="1800" dirty="0"/>
              <a:t>,  </a:t>
            </a:r>
            <a:r>
              <a:rPr lang="en-US" sz="1800" dirty="0" smtClean="0"/>
              <a:t>ketoconazole are </a:t>
            </a:r>
            <a:r>
              <a:rPr lang="en-US" sz="1800" dirty="0"/>
              <a:t>effective topical therapies for </a:t>
            </a:r>
            <a:r>
              <a:rPr lang="en-US" sz="1800" dirty="0" err="1"/>
              <a:t>candidal</a:t>
            </a:r>
            <a:r>
              <a:rPr lang="en-US" sz="1800" dirty="0"/>
              <a:t> diaper </a:t>
            </a:r>
            <a:r>
              <a:rPr lang="en-US" sz="1800" dirty="0" smtClean="0"/>
              <a:t>dermatitis. Antifungal </a:t>
            </a:r>
            <a:r>
              <a:rPr lang="en-US" sz="1800" dirty="0"/>
              <a:t>agents are indicated </a:t>
            </a:r>
            <a:r>
              <a:rPr lang="en-US" sz="1800" dirty="0" smtClean="0"/>
              <a:t>when:</a:t>
            </a:r>
            <a:endParaRPr lang="en-US" sz="1800" dirty="0"/>
          </a:p>
          <a:p>
            <a:pPr>
              <a:buFont typeface="Wingdings" pitchFamily="2" charset="2"/>
              <a:buChar char="ü"/>
            </a:pPr>
            <a:r>
              <a:rPr lang="en-US" sz="1800" dirty="0"/>
              <a:t>The dermatitis appears to be </a:t>
            </a:r>
            <a:r>
              <a:rPr lang="en-US" sz="1800" dirty="0" err="1"/>
              <a:t>candidal</a:t>
            </a:r>
            <a:r>
              <a:rPr lang="en-US" sz="1800" dirty="0"/>
              <a:t> (</a:t>
            </a:r>
            <a:r>
              <a:rPr lang="en-US" sz="1800" dirty="0" err="1"/>
              <a:t>eg</a:t>
            </a:r>
            <a:r>
              <a:rPr lang="en-US" sz="1800" dirty="0"/>
              <a:t>, beefy red plaques, satellite papules, superficial pustules; involvement of the skin folds) </a:t>
            </a:r>
            <a:endParaRPr lang="en-US" sz="1800" dirty="0"/>
          </a:p>
          <a:p>
            <a:pPr>
              <a:buFont typeface="Wingdings" pitchFamily="2" charset="2"/>
              <a:buChar char="ü"/>
            </a:pPr>
            <a:r>
              <a:rPr lang="en-US" sz="1800" dirty="0" smtClean="0"/>
              <a:t>Is </a:t>
            </a:r>
            <a:r>
              <a:rPr lang="en-US" sz="1800" dirty="0"/>
              <a:t>confirmed to be candida by potassium hydroxide preparation or fungal culture </a:t>
            </a:r>
            <a:endParaRPr lang="en-US" sz="1800" dirty="0"/>
          </a:p>
          <a:p>
            <a:pPr>
              <a:buFont typeface="Wingdings" pitchFamily="2" charset="2"/>
              <a:buChar char="ü"/>
            </a:pPr>
            <a:r>
              <a:rPr lang="en-US" sz="1800" dirty="0" smtClean="0"/>
              <a:t>The </a:t>
            </a:r>
            <a:r>
              <a:rPr lang="en-US" sz="1800" dirty="0"/>
              <a:t>dermatitis has been present for at least three days (which increases the likelihood of secondary </a:t>
            </a:r>
            <a:r>
              <a:rPr lang="en-US" sz="1800" dirty="0" err="1"/>
              <a:t>superinfection</a:t>
            </a:r>
            <a:r>
              <a:rPr lang="en-US" sz="1800" dirty="0"/>
              <a:t> with candida</a:t>
            </a:r>
            <a:r>
              <a:rPr lang="en-US" sz="1800" dirty="0" smtClean="0"/>
              <a:t>).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                    -</a:t>
            </a:r>
            <a:r>
              <a:rPr lang="en-US" sz="1800" b="1" dirty="0"/>
              <a:t>Antibiotics </a:t>
            </a:r>
            <a:r>
              <a:rPr lang="en-US" sz="1800" dirty="0"/>
              <a:t> — If a secondary bacterial infection is present</a:t>
            </a:r>
          </a:p>
          <a:p>
            <a:pPr marL="0" indent="0">
              <a:buNone/>
            </a:pPr>
            <a:r>
              <a:rPr lang="en-US" sz="1800" dirty="0" smtClean="0"/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839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1217</Words>
  <Application>Microsoft Office PowerPoint</Application>
  <PresentationFormat>On-screen Show (4:3)</PresentationFormat>
  <Paragraphs>171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Tinea Captis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Tinea Corporis</vt:lpstr>
      <vt:lpstr>PowerPoint Presentation</vt:lpstr>
      <vt:lpstr>Tinea Facials</vt:lpstr>
      <vt:lpstr>PowerPoint Presentation</vt:lpstr>
      <vt:lpstr>PowerPoint Presentation</vt:lpstr>
      <vt:lpstr>Oral Trush</vt:lpstr>
      <vt:lpstr>PowerPoint Presentation</vt:lpstr>
      <vt:lpstr>PowerPoint Presentation</vt:lpstr>
      <vt:lpstr>Atopic Dermatitis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Seborrheic Dermatitis(SD)</vt:lpstr>
      <vt:lpstr>PowerPoint Presentation</vt:lpstr>
      <vt:lpstr>PowerPoint Presentation</vt:lpstr>
      <vt:lpstr>PowerPoint Presentation</vt:lpstr>
      <vt:lpstr>Diaper Dermatitis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user</cp:lastModifiedBy>
  <cp:revision>25</cp:revision>
  <dcterms:created xsi:type="dcterms:W3CDTF">2006-08-16T00:00:00Z</dcterms:created>
  <dcterms:modified xsi:type="dcterms:W3CDTF">2020-11-25T03:13:47Z</dcterms:modified>
</cp:coreProperties>
</file>