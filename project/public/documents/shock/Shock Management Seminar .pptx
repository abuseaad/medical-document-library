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345" r:id="rId3"/>
    <p:sldId id="314" r:id="rId4"/>
    <p:sldId id="315" r:id="rId5"/>
    <p:sldId id="258" r:id="rId6"/>
    <p:sldId id="341" r:id="rId7"/>
    <p:sldId id="302" r:id="rId8"/>
    <p:sldId id="349" r:id="rId9"/>
    <p:sldId id="350" r:id="rId10"/>
    <p:sldId id="373" r:id="rId11"/>
    <p:sldId id="348" r:id="rId12"/>
    <p:sldId id="351" r:id="rId13"/>
    <p:sldId id="354" r:id="rId14"/>
    <p:sldId id="353" r:id="rId15"/>
    <p:sldId id="352" r:id="rId16"/>
    <p:sldId id="321" r:id="rId17"/>
    <p:sldId id="269" r:id="rId19"/>
    <p:sldId id="330" r:id="rId20"/>
    <p:sldId id="331" r:id="rId21"/>
    <p:sldId id="344" r:id="rId22"/>
    <p:sldId id="335" r:id="rId23"/>
    <p:sldId id="364" r:id="rId24"/>
    <p:sldId id="365" r:id="rId25"/>
    <p:sldId id="336" r:id="rId26"/>
    <p:sldId id="337" r:id="rId27"/>
    <p:sldId id="338" r:id="rId28"/>
    <p:sldId id="275" r:id="rId29"/>
    <p:sldId id="355" r:id="rId30"/>
    <p:sldId id="356" r:id="rId31"/>
    <p:sldId id="276" r:id="rId32"/>
    <p:sldId id="357" r:id="rId33"/>
    <p:sldId id="358" r:id="rId34"/>
    <p:sldId id="359" r:id="rId35"/>
    <p:sldId id="360" r:id="rId36"/>
    <p:sldId id="361" r:id="rId37"/>
    <p:sldId id="362" r:id="rId38"/>
    <p:sldId id="278" r:id="rId39"/>
    <p:sldId id="279" r:id="rId40"/>
    <p:sldId id="280" r:id="rId41"/>
    <p:sldId id="281" r:id="rId42"/>
    <p:sldId id="284" r:id="rId43"/>
    <p:sldId id="285" r:id="rId44"/>
    <p:sldId id="287" r:id="rId45"/>
    <p:sldId id="304" r:id="rId46"/>
    <p:sldId id="305" r:id="rId47"/>
    <p:sldId id="306" r:id="rId48"/>
    <p:sldId id="288" r:id="rId49"/>
    <p:sldId id="368" r:id="rId50"/>
    <p:sldId id="369" r:id="rId51"/>
    <p:sldId id="324" r:id="rId52"/>
    <p:sldId id="342" r:id="rId53"/>
    <p:sldId id="366" r:id="rId54"/>
    <p:sldId id="343" r:id="rId55"/>
    <p:sldId id="332" r:id="rId56"/>
    <p:sldId id="333" r:id="rId57"/>
    <p:sldId id="322" r:id="rId58"/>
    <p:sldId id="289" r:id="rId59"/>
    <p:sldId id="292" r:id="rId60"/>
    <p:sldId id="367" r:id="rId61"/>
    <p:sldId id="308" r:id="rId62"/>
    <p:sldId id="309" r:id="rId63"/>
    <p:sldId id="310" r:id="rId64"/>
    <p:sldId id="311" r:id="rId65"/>
    <p:sldId id="295" r:id="rId66"/>
    <p:sldId id="300" r:id="rId67"/>
    <p:sldId id="298" r:id="rId68"/>
    <p:sldId id="299" r:id="rId69"/>
    <p:sldId id="370" r:id="rId70"/>
    <p:sldId id="371" r:id="rId71"/>
    <p:sldId id="372" r:id="rId72"/>
    <p:sldId id="316" r:id="rId73"/>
    <p:sldId id="317" r:id="rId74"/>
    <p:sldId id="319" r:id="rId75"/>
    <p:sldId id="318" r:id="rId76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59" autoAdjust="0"/>
  </p:normalViewPr>
  <p:slideViewPr>
    <p:cSldViewPr snapToObjects="1" showGuides="1">
      <p:cViewPr varScale="1">
        <p:scale>
          <a:sx n="61" d="100"/>
          <a:sy n="61" d="100"/>
        </p:scale>
        <p:origin x="1440" y="56"/>
      </p:cViewPr>
      <p:guideLst>
        <p:guide orient="horz" pos="2156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2D0B1-1F86-4D7A-BD59-AB16C7DC0D2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Infants and young children </a:t>
            </a:r>
            <a:r>
              <a:rPr lang="en-US" dirty="0" smtClean="0"/>
              <a:t>most commonly present with </a:t>
            </a:r>
            <a:r>
              <a:rPr lang="en-US" b="1" dirty="0" smtClean="0">
                <a:solidFill>
                  <a:srgbClr val="FF0000"/>
                </a:solidFill>
              </a:rPr>
              <a:t>“cold shock,” </a:t>
            </a:r>
            <a:r>
              <a:rPr lang="en-US" dirty="0" smtClean="0"/>
              <a:t>with features of </a:t>
            </a:r>
            <a:r>
              <a:rPr lang="en-US" dirty="0" err="1" smtClean="0"/>
              <a:t>hypovolemic</a:t>
            </a:r>
            <a:r>
              <a:rPr lang="en-US" dirty="0" smtClean="0"/>
              <a:t> and </a:t>
            </a:r>
            <a:r>
              <a:rPr lang="en-US" dirty="0" err="1" smtClean="0"/>
              <a:t>cardiogenic</a:t>
            </a:r>
            <a:r>
              <a:rPr lang="en-US" dirty="0" smtClean="0"/>
              <a:t> shock predominating, including tachycardia, delayed capillary refill, cool extremities, diminished peripheral pulses, and decreased pulse pressure. </a:t>
            </a:r>
            <a:endParaRPr lang="en-US" dirty="0" smtClean="0"/>
          </a:p>
          <a:p>
            <a:r>
              <a:rPr lang="en-US" b="1" dirty="0" smtClean="0"/>
              <a:t>Older children and adolescents</a:t>
            </a:r>
            <a:r>
              <a:rPr lang="en-US" dirty="0" smtClean="0"/>
              <a:t>, especially those with sepsis from indwelling central venous catheters, more commonly present with </a:t>
            </a:r>
            <a:r>
              <a:rPr lang="en-US" b="1" dirty="0" smtClean="0">
                <a:solidFill>
                  <a:srgbClr val="FF0000"/>
                </a:solidFill>
              </a:rPr>
              <a:t>“warm shock” </a:t>
            </a:r>
            <a:r>
              <a:rPr lang="en-US" dirty="0" smtClean="0"/>
              <a:t>that </a:t>
            </a:r>
            <a:r>
              <a:rPr lang="en-US" b="1" dirty="0" smtClean="0"/>
              <a:t>resembles distributive shock</a:t>
            </a:r>
            <a:r>
              <a:rPr lang="en-US" dirty="0" smtClean="0"/>
              <a:t>, including tachycardia, flash capillary refill, warm extremities, bounding peripheral pulses, and increased pulse pressure. </a:t>
            </a:r>
            <a:endParaRPr lang="en-US" dirty="0" smtClean="0"/>
          </a:p>
          <a:p>
            <a:r>
              <a:rPr lang="en-US" dirty="0" smtClean="0"/>
              <a:t>However, the </a:t>
            </a:r>
            <a:r>
              <a:rPr lang="en-US" dirty="0" err="1" smtClean="0"/>
              <a:t>pathobiology</a:t>
            </a:r>
            <a:r>
              <a:rPr lang="en-US" dirty="0" smtClean="0"/>
              <a:t> of sepsis can evolve over time and with treatment in children, such that </a:t>
            </a:r>
            <a:r>
              <a:rPr lang="en-US" b="1" dirty="0" smtClean="0">
                <a:solidFill>
                  <a:srgbClr val="FF0000"/>
                </a:solidFill>
              </a:rPr>
              <a:t>“warm shock” may shift to “cold shock” or vice </a:t>
            </a:r>
            <a:r>
              <a:rPr lang="en-US" b="1" dirty="0" err="1" smtClean="0">
                <a:solidFill>
                  <a:srgbClr val="FF0000"/>
                </a:solidFill>
              </a:rPr>
              <a:t>vers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In addition to the traditional description of septic shock, </a:t>
            </a:r>
            <a:r>
              <a:rPr lang="en-US" b="1" dirty="0" smtClean="0">
                <a:solidFill>
                  <a:srgbClr val="FF0000"/>
                </a:solidFill>
              </a:rPr>
              <a:t>a subgroup </a:t>
            </a:r>
            <a:r>
              <a:rPr lang="en-US" b="1" dirty="0" err="1" smtClean="0">
                <a:solidFill>
                  <a:srgbClr val="FF0000"/>
                </a:solidFill>
              </a:rPr>
              <a:t>immunophenotype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presents with </a:t>
            </a:r>
            <a:r>
              <a:rPr lang="en-US" b="1" dirty="0" err="1" smtClean="0"/>
              <a:t>hyperferritinemia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b="1" dirty="0" err="1" smtClean="0">
                <a:solidFill>
                  <a:srgbClr val="FF0000"/>
                </a:solidFill>
              </a:rPr>
              <a:t>Ferritin</a:t>
            </a:r>
            <a:r>
              <a:rPr lang="en-US" b="1" dirty="0" smtClean="0">
                <a:solidFill>
                  <a:srgbClr val="FF0000"/>
                </a:solidFill>
              </a:rPr>
              <a:t> levels &gt;3,000 mg/</a:t>
            </a:r>
            <a:r>
              <a:rPr lang="en-US" b="1" dirty="0" err="1" smtClean="0">
                <a:solidFill>
                  <a:srgbClr val="FF0000"/>
                </a:solidFill>
              </a:rPr>
              <a:t>mL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often predict </a:t>
            </a:r>
            <a:r>
              <a:rPr lang="en-US" b="1" dirty="0" smtClean="0">
                <a:solidFill>
                  <a:srgbClr val="FF0000"/>
                </a:solidFill>
              </a:rPr>
              <a:t>a poor prognosis and the need for ICU admission. 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Unlike other types of shock, the unopposed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vagal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activity classically results in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bradycardia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at least absence of the usual </a:t>
            </a:r>
            <a:r>
              <a:rPr lang="en-US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tachycardic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to hypotension.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Shock state can be present </a:t>
            </a:r>
            <a:r>
              <a:rPr lang="en-US" sz="1200" i="1" dirty="0" smtClean="0"/>
              <a:t>before </a:t>
            </a:r>
            <a:r>
              <a:rPr lang="en-US" sz="1200" dirty="0" smtClean="0"/>
              <a:t>the onset of hypotension</a:t>
            </a:r>
            <a:endParaRPr lang="en-US" sz="1200" dirty="0" smtClean="0"/>
          </a:p>
          <a:p>
            <a:r>
              <a:rPr lang="en-US" dirty="0" smtClean="0"/>
              <a:t>Hypotension is often a late finding, especially in infants and young children, and is not a criterion for the diagnosis of shock because of a complex set of compensatory mechanisms that attempt to preserve BP and peripheral perfusion. </a:t>
            </a:r>
            <a:endParaRPr lang="en-US" dirty="0" smtClean="0"/>
          </a:p>
          <a:p>
            <a:r>
              <a:rPr lang="en-US" b="1" dirty="0" smtClean="0"/>
              <a:t>Hypotension reflects an advanced state of uncompensated shock </a:t>
            </a:r>
            <a:r>
              <a:rPr lang="en-US" dirty="0" smtClean="0"/>
              <a:t>and is associated with increased morbidity and mortality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Shock state can be present </a:t>
            </a:r>
            <a:r>
              <a:rPr lang="en-US" sz="1200" i="1" dirty="0" smtClean="0"/>
              <a:t>before </a:t>
            </a:r>
            <a:r>
              <a:rPr lang="en-US" sz="1200" dirty="0" smtClean="0"/>
              <a:t>the onset of hypotension</a:t>
            </a:r>
            <a:endParaRPr lang="en-US" sz="1200" dirty="0" smtClean="0"/>
          </a:p>
          <a:p>
            <a:r>
              <a:rPr lang="en-US" dirty="0" smtClean="0"/>
              <a:t>Hypotension is often a late finding, especially in infants and young children, and is not a criterion for the diagnosis of shock because of a complex set of compensatory mechanisms that attempt to preserve BP and peripheral perfusion. </a:t>
            </a:r>
            <a:endParaRPr lang="en-US" dirty="0" smtClean="0"/>
          </a:p>
          <a:p>
            <a:r>
              <a:rPr lang="en-US" b="1" dirty="0" smtClean="0"/>
              <a:t>Hypotension reflects an advanced state of uncompensated shock </a:t>
            </a:r>
            <a:r>
              <a:rPr lang="en-US" dirty="0" smtClean="0"/>
              <a:t>and is associated with increased morbidity and mortality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Shock state can be present </a:t>
            </a:r>
            <a:r>
              <a:rPr lang="en-US" sz="1200" i="1" dirty="0" smtClean="0"/>
              <a:t>before </a:t>
            </a:r>
            <a:r>
              <a:rPr lang="en-US" sz="1200" dirty="0" smtClean="0"/>
              <a:t>the onset of hypotension</a:t>
            </a:r>
            <a:endParaRPr lang="en-US" sz="1200" dirty="0" smtClean="0"/>
          </a:p>
          <a:p>
            <a:r>
              <a:rPr lang="en-US" dirty="0" smtClean="0"/>
              <a:t>Hypotension is often a late finding, especially in infants and young children, and is not a criterion for the diagnosis of shock because of a complex set of compensatory mechanisms that attempt to preserve BP and peripheral perfusion. </a:t>
            </a:r>
            <a:endParaRPr lang="en-US" dirty="0" smtClean="0"/>
          </a:p>
          <a:p>
            <a:r>
              <a:rPr lang="en-US" b="1" dirty="0" smtClean="0"/>
              <a:t>Hypotension reflects an advanced state of uncompensated shock </a:t>
            </a:r>
            <a:r>
              <a:rPr lang="en-US" dirty="0" smtClean="0"/>
              <a:t>and is associated with increased morbidity and mortality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should be administered via IV push or a rapid infuser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should be administered via IV push or a rapid infuser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should be administered via IV push or a rapid infuser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should be administered via IV push or a rapid infuser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should be administered via IV push or a rapid infuser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should be administered via IV push or a rapid infuser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should be administered via IV push or a rapid infuser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 and </a:t>
            </a:r>
            <a:r>
              <a:rPr lang="en-US" dirty="0" err="1" smtClean="0"/>
              <a:t>Epi</a:t>
            </a:r>
            <a:r>
              <a:rPr lang="en-US" dirty="0" smtClean="0"/>
              <a:t> dose range 0.05-2microgram/kg/min</a:t>
            </a:r>
            <a:endParaRPr 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such as hypoglycemia and </a:t>
            </a:r>
            <a:r>
              <a:rPr lang="en-US" dirty="0" err="1" smtClean="0"/>
              <a:t>hypocalcemia</a:t>
            </a:r>
            <a:r>
              <a:rPr lang="en-US" dirty="0" smtClean="0"/>
              <a:t>, may </a:t>
            </a:r>
            <a:r>
              <a:rPr lang="en-US" b="1" dirty="0" smtClean="0">
                <a:solidFill>
                  <a:srgbClr val="FF0000"/>
                </a:solidFill>
              </a:rPr>
              <a:t>precipitate or worsen shock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5A833-BA06-4003-AACC-2EC91DEED84E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A6458-818F-4795-8AA7-458CFAFF67F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8308-7A36-4949-ACEE-A219020EF4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786F0-4E72-4A88-BB9A-96ABEAD014E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353B-5CEB-4362-8C96-44E76C2DFE7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6B15-4CFD-42C7-8850-DA6240B6EAA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769BF-06E9-47D5-934D-F7C5EBDCA3B3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153C-AC2A-46D6-99E8-5ACCA6C87BF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6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12FD4-DFC7-4E75-A6F7-3E625CD622F8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AF74-9541-4BB2-BABD-AB6833E932A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C1F2-089D-4088-A1D5-87D6B5DE50A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B095-C607-41B5-A197-8BA201AC134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27FE8-DBA5-4517-80AA-D56062F1446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6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99F9-3683-47D2-B0BB-416EF60F0CA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Seminar ON Management Of Shock In Children</a:t>
            </a:r>
            <a:endParaRPr lang="en-US" b="1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05740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Modulator: Dr. </a:t>
            </a:r>
            <a:r>
              <a:rPr lang="en-US" dirty="0" err="1">
                <a:solidFill>
                  <a:schemeClr val="tx1"/>
                </a:solidFill>
              </a:rPr>
              <a:t>Betre</a:t>
            </a:r>
            <a:r>
              <a:rPr lang="en-US" dirty="0">
                <a:solidFill>
                  <a:schemeClr val="tx1"/>
                </a:solidFill>
              </a:rPr>
              <a:t> (MD and assistant professor of Pedi. &amp; Child health)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Presenters:- </a:t>
            </a:r>
            <a:r>
              <a:rPr lang="en-US" dirty="0" err="1">
                <a:solidFill>
                  <a:schemeClr val="tx1"/>
                </a:solidFill>
              </a:rPr>
              <a:t>Galane</a:t>
            </a:r>
            <a:r>
              <a:rPr lang="en-US" dirty="0">
                <a:solidFill>
                  <a:schemeClr val="tx1"/>
                </a:solidFill>
              </a:rPr>
              <a:t> Haile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          </a:t>
            </a:r>
            <a:r>
              <a:rPr lang="en-US" dirty="0" smtClean="0">
                <a:solidFill>
                  <a:schemeClr val="tx1"/>
                </a:solidFill>
              </a:rPr>
              <a:t>           . </a:t>
            </a:r>
            <a:r>
              <a:rPr lang="en-US" dirty="0" err="1" smtClean="0">
                <a:solidFill>
                  <a:schemeClr val="tx1"/>
                </a:solidFill>
              </a:rPr>
              <a:t>Kalkidan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Araya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                 . </a:t>
            </a:r>
            <a:r>
              <a:rPr lang="en-US" dirty="0" err="1" smtClean="0">
                <a:solidFill>
                  <a:schemeClr val="tx1"/>
                </a:solidFill>
              </a:rPr>
              <a:t>Maryama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Idris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                       . </a:t>
            </a:r>
            <a:r>
              <a:rPr lang="en-US" dirty="0" err="1" smtClean="0">
                <a:solidFill>
                  <a:schemeClr val="tx1"/>
                </a:solidFill>
              </a:rPr>
              <a:t>Nasifay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Abebe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8308-7A36-4949-ACEE-A219020EF4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2" y="381000"/>
            <a:ext cx="1743075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altLang="en-GB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Definition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Pathophysiology</a:t>
            </a:r>
            <a:endParaRPr lang="en-GB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of </a:t>
            </a:r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Shock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</a:t>
            </a:r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Shock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</a:t>
            </a:r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Presentations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</a:t>
            </a:r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Management by </a:t>
            </a:r>
            <a:r>
              <a:rPr lang="en-GB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Prognosis &amp; Summary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39177-1517-4C47-9DE7-1CDAC60E51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Management of shock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z="2000" smtClean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sz="2000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</a:t>
            </a:r>
            <a:endParaRPr lang="en-US" alt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80000"/>
              </a:lnSpc>
              <a:buNone/>
              <a:defRPr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the end of this seminar the participants will be able to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GB" sz="2400" dirty="0"/>
              <a:t>Define shock and describe its pathophysiology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Identify the stages and classifications of </a:t>
            </a:r>
            <a:r>
              <a:rPr lang="en-GB" sz="2400" dirty="0" err="1"/>
              <a:t>pediatric</a:t>
            </a:r>
            <a:r>
              <a:rPr lang="en-GB" sz="2400" dirty="0"/>
              <a:t> shock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Recognize clinical presentations and diagnostic indicators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Outline evidence-based management strategies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Describe complications and prognosis of shock</a:t>
            </a:r>
            <a:endParaRPr lang="en-GB" sz="2400" dirty="0"/>
          </a:p>
          <a:p>
            <a:pPr>
              <a:lnSpc>
                <a:spcPct val="150000"/>
              </a:lnSpc>
              <a:buNone/>
              <a:defRPr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D27F9-F7AB-4177-9807-8CC9B3E641F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Management of shock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9"/>
            <a:ext cx="2133600" cy="365760"/>
          </a:xfrm>
        </p:spPr>
        <p:txBody>
          <a:bodyPr/>
          <a:lstStyle/>
          <a:p>
            <a:fld id="{9B618960-8005-486C-9A75-10CB2AAC16F9}" type="slidenum">
              <a:rPr lang="en-US" sz="2000" smtClean="0"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dirty="0">
              <a:solidFill>
                <a:prstClr val="black">
                  <a:tint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Definition &amp; Significance</a:t>
            </a:r>
            <a:br>
              <a:rPr lang="en-US" b="1" dirty="0"/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/>
              <a:t>Definition:</a:t>
            </a:r>
            <a:r>
              <a:rPr lang="en-GB" sz="2400" dirty="0"/>
              <a:t> An acute, life-threatening state of cardiovascular insufficiency characterized by inadequate delivery of oxygen and nutrients to meet the metabolic demands of vital organs, resulting in cellular dysfunction and </a:t>
            </a:r>
            <a:r>
              <a:rPr lang="en-GB" sz="2400" dirty="0" smtClean="0"/>
              <a:t>injury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 results from energy failure due to inadequate oxygen and glucose delivery to meet metabolic demands. It is a leading cause of death and disability in children worldwide.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7B1BC-F67B-4E0A-97EB-08FE593A6C6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509" y="739431"/>
            <a:ext cx="8534311" cy="896523"/>
          </a:xfrm>
        </p:spPr>
        <p:txBody>
          <a:bodyPr vert="horz" wrap="square" lIns="76844" tIns="38422" rIns="76844" bIns="38422" numCol="1" anchor="b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Epidemiology</a:t>
            </a:r>
            <a:b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shade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20" name="Slide Number Placeholder 3"/>
          <p:cNvSpPr txBox="1">
            <a:spLocks noGrp="1"/>
          </p:cNvSpPr>
          <p:nvPr>
            <p:ph type="sldNum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8422" rIns="38422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marL="342900" lvl="0" indent="-342900" algn="ctr" eaLnBrk="1" hangingPunct="1">
              <a:lnSpc>
                <a:spcPct val="80000"/>
              </a:lnSpc>
              <a:buFont typeface="Georgia" panose="02040502050405020303" pitchFamily="18" charset="0"/>
              <a:buAutoNum type="arabicPeriod"/>
            </a:pPr>
            <a:fld id="{9A0DB2DC-4C9A-4742-B13C-FB6460FD3503}" type="slidenum">
              <a:rPr lang="en-US" altLang="en-US" sz="755" dirty="0">
                <a:solidFill>
                  <a:srgbClr val="FFFFFF"/>
                </a:solidFill>
              </a:rPr>
            </a:fld>
            <a:r>
              <a:rPr lang="en-US" altLang="en-US" sz="755" dirty="0">
                <a:solidFill>
                  <a:srgbClr val="FFFFFF"/>
                </a:solidFill>
              </a:rPr>
              <a:t>55555555</a:t>
            </a:r>
            <a:endParaRPr lang="en-US" altLang="en-US" sz="755" dirty="0">
              <a:solidFill>
                <a:srgbClr val="FFFFFF"/>
              </a:solidFill>
            </a:endParaRPr>
          </a:p>
        </p:txBody>
      </p:sp>
      <p:sp>
        <p:nvSpPr>
          <p:cNvPr id="63492" name="Content Placeholder 2"/>
          <p:cNvSpPr>
            <a:spLocks noGrp="1"/>
          </p:cNvSpPr>
          <p:nvPr>
            <p:ph sz="quarter" idx="1"/>
          </p:nvPr>
        </p:nvSpPr>
        <p:spPr>
          <a:xfrm>
            <a:off x="281498" y="1764029"/>
            <a:ext cx="8523638" cy="3908947"/>
          </a:xfrm>
        </p:spPr>
        <p:txBody>
          <a:bodyPr vert="horz" wrap="square" lIns="76844" tIns="38422" rIns="76844" bIns="38422" anchor="t" anchorCtr="0">
            <a:normAutofit fontScale="77500" lnSpcReduction="20000"/>
          </a:bodyPr>
          <a:lstStyle/>
          <a:p>
            <a:pPr>
              <a:lnSpc>
                <a:spcPct val="170000"/>
              </a:lnSpc>
              <a:buClr>
                <a:srgbClr val="000000"/>
              </a:buClr>
              <a:buSzPct val="85000"/>
            </a:pPr>
            <a:r>
              <a:rPr lang="en-GB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Shock occurs in approximately 2% of all hospitalized infants, children, and adults in the USA, and the mortality rate varies according to the clinical circumstances</a:t>
            </a:r>
            <a:r>
              <a:rPr lang="en-GB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Clr>
                <a:srgbClr val="000000"/>
              </a:buClr>
              <a:buSzPct val="85000"/>
            </a:pPr>
            <a:r>
              <a:rPr lang="en-GB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die because of complications and Multiple Organ Dysfunction Syndrome (MODS) </a:t>
            </a:r>
            <a:r>
              <a:rPr lang="en-GB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3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  <a:buClr>
                <a:srgbClr val="000000"/>
              </a:buClr>
              <a:buSzPct val="85000"/>
            </a:pPr>
            <a:r>
              <a:rPr lang="en-GB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</a:t>
            </a:r>
            <a:r>
              <a:rPr lang="en-GB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and treatment significantly improve outcomes.</a:t>
            </a:r>
            <a:endParaRPr lang="en-GB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3" name="Footer Placeholder 3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sz="1010" dirty="0">
                <a:solidFill>
                  <a:srgbClr val="FFFFFF"/>
                </a:solidFill>
              </a:rPr>
              <a:t>AHMC</a:t>
            </a:r>
            <a:endParaRPr sz="10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2"/>
          <p:cNvSpPr/>
          <p:nvPr/>
        </p:nvSpPr>
        <p:spPr>
          <a:xfrm>
            <a:off x="685800" y="2514600"/>
            <a:ext cx="2743200" cy="99060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2590810"/>
            <a:ext cx="251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tissue perfusion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Callout 1 (Border and Accent Bar) 5"/>
          <p:cNvSpPr/>
          <p:nvPr/>
        </p:nvSpPr>
        <p:spPr>
          <a:xfrm>
            <a:off x="4724400" y="457200"/>
            <a:ext cx="3657600" cy="685800"/>
          </a:xfrm>
          <a:prstGeom prst="accentBorderCallout1">
            <a:avLst>
              <a:gd name="adj1" fmla="val 18750"/>
              <a:gd name="adj2" fmla="val -8333"/>
              <a:gd name="adj3" fmla="val 303270"/>
              <a:gd name="adj4" fmla="val -360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105400" y="53341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Tissue hypoxia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6248400" y="1295400"/>
            <a:ext cx="4572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800600" y="2057400"/>
            <a:ext cx="3581400" cy="60960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800600" y="206758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Anaerobic metabolism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6248400" y="2895600"/>
            <a:ext cx="4572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876800" y="365760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 Anaerobic metabolism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876800" y="3657600"/>
            <a:ext cx="3581400" cy="106680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34000" y="3657603"/>
            <a:ext cx="3276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Accumulation of lactic acid &amp; CO</a:t>
            </a:r>
            <a:r>
              <a:rPr lang="en-US" sz="2400" baseline="-25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6248400" y="4953000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953000" y="5638800"/>
            <a:ext cx="3581400" cy="1066800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105400" y="5715010"/>
            <a:ext cx="312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Irreversible cell and organ damage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17F9-1D8D-4B35-8958-E03B2D03DBBC}" type="datetime1">
              <a:rPr lang="en-US" smtClean="0"/>
            </a:fld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02" y="1475966"/>
            <a:ext cx="3086840" cy="853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of Shock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Shock progresses along a continuum of severity :</a:t>
            </a: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b="1" dirty="0"/>
              <a:t>Compensated Shock: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Compensatory mechanisms maintain adequate blood pressure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Tachycardia and increased systemic vascular resistance occur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Blood pressure remains normal despite inadequate tissue perfusion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A child can lose 30-35% of circulating blood volume and still maintain normal blood pressure</a:t>
            </a:r>
            <a:endParaRPr lang="en-GB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16D0-A925-49E7-8649-940C91FC36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of Shock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9600" b="1" dirty="0"/>
              <a:t>Decompensated (Hypotensive) Shock:</a:t>
            </a:r>
            <a:endParaRPr lang="en-US" sz="9600" dirty="0"/>
          </a:p>
          <a:p>
            <a:pPr>
              <a:lnSpc>
                <a:spcPct val="120000"/>
              </a:lnSpc>
            </a:pPr>
            <a:r>
              <a:rPr lang="en-US" sz="9600" dirty="0"/>
              <a:t>Compensatory mechanisms fail</a:t>
            </a:r>
            <a:endParaRPr lang="en-US" sz="9600" dirty="0"/>
          </a:p>
          <a:p>
            <a:pPr>
              <a:lnSpc>
                <a:spcPct val="120000"/>
              </a:lnSpc>
            </a:pPr>
            <a:r>
              <a:rPr lang="en-US" sz="9600" dirty="0"/>
              <a:t>Hypotension develops (blood pressure drops below age-specific thresholds)</a:t>
            </a:r>
            <a:endParaRPr lang="en-US" sz="9600" dirty="0"/>
          </a:p>
          <a:p>
            <a:pPr>
              <a:lnSpc>
                <a:spcPct val="120000"/>
              </a:lnSpc>
            </a:pPr>
            <a:r>
              <a:rPr lang="en-US" sz="9600" dirty="0"/>
              <a:t>End-organ perfusion is severely compromised</a:t>
            </a:r>
            <a:endParaRPr lang="en-US" sz="9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/>
              <a:t>Irreversible Shock:</a:t>
            </a:r>
            <a:endParaRPr lang="en-US" sz="9600" dirty="0"/>
          </a:p>
          <a:p>
            <a:pPr>
              <a:lnSpc>
                <a:spcPct val="120000"/>
              </a:lnSpc>
            </a:pPr>
            <a:r>
              <a:rPr lang="en-US" sz="9600" dirty="0"/>
              <a:t>Progressive end-organ dysfunction and failure occur</a:t>
            </a:r>
            <a:endParaRPr lang="en-US" sz="9600" dirty="0"/>
          </a:p>
          <a:p>
            <a:pPr>
              <a:lnSpc>
                <a:spcPct val="120000"/>
              </a:lnSpc>
            </a:pPr>
            <a:r>
              <a:rPr lang="en-US" sz="9600" dirty="0"/>
              <a:t>Cellular death follows</a:t>
            </a:r>
            <a:endParaRPr lang="en-US" sz="9600" dirty="0"/>
          </a:p>
          <a:p>
            <a:pPr>
              <a:lnSpc>
                <a:spcPct val="120000"/>
              </a:lnSpc>
            </a:pPr>
            <a:r>
              <a:rPr lang="en-US" sz="9600" dirty="0"/>
              <a:t>The patient is unresponsive to resuscitative efforts</a:t>
            </a:r>
            <a:endParaRPr lang="en-US" sz="9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600" b="1" dirty="0"/>
              <a:t>Critical Takeaway:</a:t>
            </a:r>
            <a:r>
              <a:rPr lang="en-US" sz="9600" dirty="0"/>
              <a:t> Hypotension is a late finding in pediatric shock, making early recognition crucial .</a:t>
            </a:r>
            <a:endParaRPr lang="en-US" sz="96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16D0-A925-49E7-8649-940C91FC36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457200" y="1686560"/>
            <a:ext cx="8230869" cy="452755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54000" indent="-254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/>
              <a:t>Hypovolemic shock</a:t>
            </a:r>
            <a:endParaRPr lang="ko-KR" altLang="en-US" sz="2400"/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/>
              <a:t>Cardiogenic shock</a:t>
            </a:r>
            <a:endParaRPr lang="ko-KR" altLang="en-US" sz="2400"/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/>
              <a:t>Distributive shock: septic shock, Anaphylactic shock, Neurogenic shock</a:t>
            </a:r>
            <a:endParaRPr lang="ko-KR" altLang="en-US" sz="2400"/>
          </a:p>
          <a:p>
            <a:pPr marL="342900" indent="-3429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/>
              <a:t>Obstructive shock: Cardiac tamponade, Tension pneumothora</a:t>
            </a:r>
            <a:r>
              <a:rPr lang="en-US" sz="2400"/>
              <a:t>x, </a:t>
            </a:r>
            <a:r>
              <a:rPr lang="en-US" sz="2400"/>
              <a:t>Massive pulmonary embolism.</a:t>
            </a:r>
            <a:endParaRPr lang="ko-KR" altLang="en-US" sz="2400"/>
          </a:p>
        </p:txBody>
      </p:sp>
      <p:sp>
        <p:nvSpPr>
          <p:cNvPr id="4" name="Title 1"/>
          <p:cNvSpPr txBox="1">
            <a:spLocks noGrp="1"/>
          </p:cNvSpPr>
          <p:nvPr/>
        </p:nvSpPr>
        <p:spPr>
          <a:xfrm>
            <a:off x="528955" y="346710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3200" b="1"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5" name="Title 2"/>
          <p:cNvSpPr txBox="1">
            <a:spLocks noGrp="1"/>
          </p:cNvSpPr>
          <p:nvPr/>
        </p:nvSpPr>
        <p:spPr>
          <a:xfrm>
            <a:off x="600710" y="418465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normAutofit/>
          </a:bodyPr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sz="3200" b="1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 Classification of Shock</a:t>
            </a:r>
            <a:endParaRPr lang="ko-KR" altLang="en-US" sz="3200" b="1">
              <a:latin typeface="Times New Roman" panose="02020603050405020304" pitchFamily="18" charset="0"/>
              <a:ea typeface="Calibri" panose="020F050202020403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of Shock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Shock is generally categorized into five major types :</a:t>
            </a:r>
            <a:endParaRPr lang="en-GB" sz="2400" dirty="0"/>
          </a:p>
          <a:p>
            <a:pPr>
              <a:lnSpc>
                <a:spcPct val="170000"/>
              </a:lnSpc>
            </a:pPr>
            <a:r>
              <a:rPr lang="en-GB" sz="2400" b="1" dirty="0"/>
              <a:t>Hypovolemic Shock:</a:t>
            </a:r>
            <a:br>
              <a:rPr lang="en-GB" sz="2400" dirty="0"/>
            </a:br>
            <a:r>
              <a:rPr lang="en-GB" sz="2400" dirty="0"/>
              <a:t>This is the most common cause of shock in children worldwide. It is most frequently caused by acute fluid losses resulting from </a:t>
            </a:r>
            <a:r>
              <a:rPr lang="en-GB" sz="2400" dirty="0" smtClean="0"/>
              <a:t>diarrhoea, </a:t>
            </a:r>
            <a:r>
              <a:rPr lang="en-GB" sz="2400" dirty="0"/>
              <a:t>vomiting, or </a:t>
            </a:r>
            <a:r>
              <a:rPr lang="en-GB" sz="2400" dirty="0" smtClean="0"/>
              <a:t>haemorrhage.</a:t>
            </a:r>
            <a:endParaRPr lang="en-GB" sz="2400" dirty="0"/>
          </a:p>
          <a:p>
            <a:endParaRPr lang="en-US" sz="3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16D0-A925-49E7-8649-940C91FC36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of Shock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 smtClean="0"/>
              <a:t>Distributive </a:t>
            </a:r>
            <a:r>
              <a:rPr lang="en-GB" sz="2400" b="1" dirty="0"/>
              <a:t>Shock:</a:t>
            </a:r>
            <a:br>
              <a:rPr lang="en-GB" sz="2400" dirty="0"/>
            </a:br>
            <a:r>
              <a:rPr lang="en-GB" sz="2400" dirty="0"/>
              <a:t>This type is characterized by inappropriate vasodilation, pooling of blood in the peripheral vasculature, and leakage of blood plasma through a compromised endothelial barrier. Common causes </a:t>
            </a:r>
            <a:r>
              <a:rPr lang="en-GB" sz="2400" dirty="0" smtClean="0"/>
              <a:t>include:</a:t>
            </a:r>
            <a:endParaRPr lang="en-GB" sz="2400" dirty="0" smtClean="0"/>
          </a:p>
          <a:p>
            <a:r>
              <a:rPr lang="en-GB" sz="2400" dirty="0" smtClean="0"/>
              <a:t> sepsis</a:t>
            </a:r>
            <a:endParaRPr lang="en-GB" sz="2400" dirty="0" smtClean="0"/>
          </a:p>
          <a:p>
            <a:r>
              <a:rPr lang="en-GB" sz="2400" dirty="0" smtClean="0"/>
              <a:t> anaphylaxis</a:t>
            </a:r>
            <a:endParaRPr lang="en-GB" sz="2400" dirty="0" smtClean="0"/>
          </a:p>
          <a:p>
            <a:r>
              <a:rPr lang="en-GB" sz="2400" dirty="0" smtClean="0"/>
              <a:t> neurogenic shock </a:t>
            </a:r>
            <a:r>
              <a:rPr lang="en-GB" sz="2400" dirty="0"/>
              <a:t>and drug overdose.</a:t>
            </a:r>
            <a:endParaRPr lang="en-GB" sz="2400" dirty="0"/>
          </a:p>
          <a:p>
            <a:endParaRPr lang="en-US" sz="3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16D0-A925-49E7-8649-940C91FC36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of Shock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Cardiogenic Shock:</a:t>
            </a:r>
            <a:endParaRPr lang="en-GB" sz="2400" b="1" dirty="0"/>
          </a:p>
          <a:p>
            <a:pPr marL="0" indent="0">
              <a:buNone/>
            </a:pPr>
            <a:r>
              <a:rPr lang="en-GB" sz="2400" dirty="0"/>
              <a:t>This results from pump failure and decreased cardiac output. It is seen in patients </a:t>
            </a:r>
            <a:r>
              <a:rPr lang="en-GB" sz="2400" dirty="0" smtClean="0"/>
              <a:t>with:</a:t>
            </a:r>
            <a:endParaRPr lang="en-GB" sz="2400" dirty="0" smtClean="0"/>
          </a:p>
          <a:p>
            <a:r>
              <a:rPr lang="en-GB" sz="2400" dirty="0" smtClean="0"/>
              <a:t> </a:t>
            </a:r>
            <a:r>
              <a:rPr lang="en-GB" sz="2400" dirty="0"/>
              <a:t>congenital heart </a:t>
            </a:r>
            <a:r>
              <a:rPr lang="en-GB" sz="2400" dirty="0" smtClean="0"/>
              <a:t>disease</a:t>
            </a:r>
            <a:endParaRPr lang="en-GB" sz="2400" dirty="0" smtClean="0"/>
          </a:p>
          <a:p>
            <a:r>
              <a:rPr lang="en-GB" sz="2400" dirty="0" smtClean="0"/>
              <a:t>congenital </a:t>
            </a:r>
            <a:r>
              <a:rPr lang="en-GB" sz="2400" dirty="0"/>
              <a:t>or acquired </a:t>
            </a:r>
            <a:r>
              <a:rPr lang="en-GB" sz="2400" dirty="0" smtClean="0"/>
              <a:t>cardiomyopathies</a:t>
            </a:r>
            <a:endParaRPr lang="en-GB" sz="2400" dirty="0" smtClean="0"/>
          </a:p>
          <a:p>
            <a:r>
              <a:rPr lang="en-GB" sz="2400" dirty="0" smtClean="0"/>
              <a:t>acute </a:t>
            </a:r>
            <a:r>
              <a:rPr lang="en-GB" sz="2400" dirty="0"/>
              <a:t>myocarditis, and multisystem inflammatory syndrome in children (MIS-C</a:t>
            </a:r>
            <a:r>
              <a:rPr lang="en-GB" sz="2400" dirty="0" smtClean="0"/>
              <a:t>).</a:t>
            </a:r>
            <a:endParaRPr lang="en-GB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16D0-A925-49E7-8649-940C91FC36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of Shock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 smtClean="0"/>
              <a:t>Obstructive </a:t>
            </a:r>
            <a:r>
              <a:rPr lang="en-GB" sz="2400" b="1" dirty="0"/>
              <a:t>Shock:</a:t>
            </a:r>
            <a:endParaRPr lang="en-GB" sz="2400" b="1" dirty="0"/>
          </a:p>
          <a:p>
            <a:pPr marL="0" indent="0">
              <a:buNone/>
            </a:pPr>
            <a:r>
              <a:rPr lang="en-GB" sz="2400" dirty="0"/>
              <a:t>This occurs when a lesion creates a mechanical impediment to ventricular blood outflow. Causes </a:t>
            </a:r>
            <a:r>
              <a:rPr lang="en-GB" sz="2400" dirty="0" smtClean="0"/>
              <a:t>include:</a:t>
            </a:r>
            <a:endParaRPr lang="en-GB" sz="2400" dirty="0" smtClean="0"/>
          </a:p>
          <a:p>
            <a:r>
              <a:rPr lang="en-GB" sz="2400" dirty="0" smtClean="0"/>
              <a:t>pericardial tamponade</a:t>
            </a:r>
            <a:endParaRPr lang="en-GB" sz="2400" dirty="0" smtClean="0"/>
          </a:p>
          <a:p>
            <a:r>
              <a:rPr lang="en-GB" sz="2400" dirty="0" smtClean="0"/>
              <a:t> </a:t>
            </a:r>
            <a:r>
              <a:rPr lang="en-GB" sz="2400" dirty="0"/>
              <a:t>tension </a:t>
            </a:r>
            <a:r>
              <a:rPr lang="en-GB" sz="2400" dirty="0" smtClean="0"/>
              <a:t>pneumothorax,</a:t>
            </a:r>
            <a:br>
              <a:rPr lang="en-GB" sz="2400" dirty="0" smtClean="0"/>
            </a:br>
            <a:r>
              <a:rPr lang="en-GB" sz="2400" dirty="0" smtClean="0"/>
              <a:t>pulmonary embolism </a:t>
            </a:r>
            <a:r>
              <a:rPr lang="en-GB" sz="2400" dirty="0"/>
              <a:t>and ductal-dependent left-sided heart lesions.</a:t>
            </a:r>
            <a:endParaRPr lang="en-GB" sz="2400" dirty="0"/>
          </a:p>
          <a:p>
            <a:endParaRPr lang="en-GB" sz="3100" dirty="0"/>
          </a:p>
          <a:p>
            <a:endParaRPr lang="en-US" sz="3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16D0-A925-49E7-8649-940C91FC36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 of Shock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Dissociative Shock:</a:t>
            </a:r>
            <a:br>
              <a:rPr lang="en-GB" sz="2400" dirty="0"/>
            </a:br>
            <a:r>
              <a:rPr lang="en-GB" sz="2400" dirty="0"/>
              <a:t>This is a special category in which cellular oxygen delivery or utilization is severely impaired despite sustained or </a:t>
            </a:r>
            <a:r>
              <a:rPr lang="en-GB" sz="2400" dirty="0" smtClean="0"/>
              <a:t>supernormal </a:t>
            </a:r>
            <a:r>
              <a:rPr lang="en-GB" sz="2400" dirty="0"/>
              <a:t>tissue perfusion. Causes include severe </a:t>
            </a:r>
            <a:r>
              <a:rPr lang="en-GB" sz="2400" dirty="0" smtClean="0"/>
              <a:t>anaemia, </a:t>
            </a:r>
            <a:r>
              <a:rPr lang="en-GB" sz="2400" dirty="0" err="1" smtClean="0"/>
              <a:t>methemoglobinemia</a:t>
            </a:r>
            <a:r>
              <a:rPr lang="en-GB" sz="2400" dirty="0"/>
              <a:t>, carbon monoxide poisoning, and thiamine deficiency</a:t>
            </a:r>
            <a:r>
              <a:rPr lang="en-GB" sz="2400" dirty="0" smtClean="0"/>
              <a:t>.</a:t>
            </a:r>
            <a:endParaRPr lang="en-GB" sz="2400" dirty="0" smtClean="0"/>
          </a:p>
          <a:p>
            <a:endParaRPr lang="en-GB" sz="2400" dirty="0"/>
          </a:p>
          <a:p>
            <a:r>
              <a:rPr lang="en-GB" sz="2400" b="1" dirty="0"/>
              <a:t>Note:</a:t>
            </a:r>
            <a:r>
              <a:rPr lang="en-GB" sz="2400" dirty="0"/>
              <a:t> Septic shock is often discussed in conjunction with distributive shock but involves a more complex interaction of distributive, hypovolemic, and cardiogenic components</a:t>
            </a:r>
            <a:endParaRPr lang="en-GB" sz="2400" dirty="0"/>
          </a:p>
          <a:p>
            <a:endParaRPr lang="en-US" sz="31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16D0-A925-49E7-8649-940C91FC365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Septic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shock 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fever (or hypothermia) along with evidence for either a systemic or localized infection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Infants and young children most commonly present with “cold shock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Older children and adolescents more commonly present with “warm shock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0F88C-F846-4066-8257-111ABB85841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Neurogenic shock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 type of distributive shock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caused by a sudden disruption of sympathetic nerve stimulation to the vascular smooth muscle leading to a profound decrease in vasomotor tone,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results in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bradycardia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or at least absence of the usual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tachycardic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to hypotension.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F66C6-E2DA-46DD-A106-E96EB3FEEDAA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8308-7A36-4949-ACEE-A219020EF4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0" y="304800"/>
            <a:ext cx="91440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8308-7A36-4949-ACEE-A219020EF4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152400" y="228600"/>
            <a:ext cx="89916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8308-7A36-4949-ACEE-A219020EF4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Based on Treatment Response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1" dirty="0" smtClean="0"/>
              <a:t>Fluid-Responsive </a:t>
            </a:r>
            <a:r>
              <a:rPr lang="en-GB" sz="2400" b="1" dirty="0"/>
              <a:t>Shock:</a:t>
            </a:r>
            <a:endParaRPr lang="en-GB" sz="2400" dirty="0"/>
          </a:p>
          <a:p>
            <a:r>
              <a:rPr lang="en-GB" sz="2400" dirty="0"/>
              <a:t>The patient shows hemodynamic improvement after initial fluid bolus (10-20 mL/kg)</a:t>
            </a:r>
            <a:endParaRPr lang="en-GB" sz="2400" dirty="0"/>
          </a:p>
          <a:p>
            <a:r>
              <a:rPr lang="en-GB" sz="2400" dirty="0"/>
              <a:t>Heart rate decreases, perfusion improves</a:t>
            </a:r>
            <a:endParaRPr lang="en-GB" sz="2400" dirty="0"/>
          </a:p>
          <a:p>
            <a:r>
              <a:rPr lang="en-GB" sz="2400" dirty="0"/>
              <a:t>No further escalation of therapy </a:t>
            </a:r>
            <a:r>
              <a:rPr lang="en-GB" sz="2400" dirty="0" smtClean="0"/>
              <a:t>required</a:t>
            </a:r>
            <a:endParaRPr lang="en-GB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en-GB" sz="2400" b="1" dirty="0"/>
              <a:t>Fluid-Refractory Shock</a:t>
            </a:r>
            <a:r>
              <a:rPr lang="en-GB" sz="2400" b="1" dirty="0" smtClean="0"/>
              <a:t>: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 smtClean="0"/>
              <a:t>Shock </a:t>
            </a:r>
            <a:r>
              <a:rPr lang="en-GB" sz="2400" dirty="0"/>
              <a:t>persists despite adequate fluid </a:t>
            </a:r>
            <a:r>
              <a:rPr lang="en-GB" sz="2400" dirty="0" smtClean="0"/>
              <a:t>resuscitation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 smtClean="0"/>
              <a:t>Defined </a:t>
            </a:r>
            <a:r>
              <a:rPr lang="en-GB" sz="2400" dirty="0"/>
              <a:t>as requiring ≥40-60 mL/kg of fluid without clinical </a:t>
            </a:r>
            <a:r>
              <a:rPr lang="en-GB" sz="2400" dirty="0" smtClean="0"/>
              <a:t>improvement</a:t>
            </a:r>
            <a:endParaRPr lang="en-GB" sz="2400" dirty="0" smtClean="0"/>
          </a:p>
          <a:p>
            <a:pPr>
              <a:lnSpc>
                <a:spcPct val="120000"/>
              </a:lnSpc>
            </a:pPr>
            <a:r>
              <a:rPr lang="en-GB" sz="2400" dirty="0" smtClean="0"/>
              <a:t>Requires </a:t>
            </a:r>
            <a:r>
              <a:rPr lang="en-GB" sz="2400" dirty="0"/>
              <a:t>initiation of vasoactive medications</a:t>
            </a:r>
            <a:endParaRPr lang="en-GB" sz="2400" dirty="0"/>
          </a:p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  <a:p>
            <a:pPr marL="571500" indent="-571500">
              <a:buFont typeface="+mj-lt"/>
              <a:buAutoNum type="romanUcPeriod"/>
            </a:pP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98D7D-D9A0-4EAE-9705-A9566FC7382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/>
              <a:t>20</a:t>
            </a:r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Based on Treatment Response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 dirty="0"/>
              <a:t>Catecholamine-Resistant Shock:</a:t>
            </a:r>
            <a:endParaRPr lang="en-GB" sz="2400" b="1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Shock persists despite adequate doses of vasoactive </a:t>
            </a:r>
            <a:r>
              <a:rPr lang="en-GB" sz="2400" dirty="0" smtClean="0"/>
              <a:t>agents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Requires evaluation for atypical </a:t>
            </a:r>
            <a:r>
              <a:rPr lang="en-GB" sz="2400" dirty="0" err="1" smtClean="0"/>
              <a:t>etiologies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May need stress-dose corticosteroids or ECMO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98D7D-D9A0-4EAE-9705-A9566FC7382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/>
              <a:t>20</a:t>
            </a:r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Presentations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Signs and symptoms reflect impaired circulation and end-organ perfusion</a:t>
            </a:r>
            <a:r>
              <a:rPr lang="en-GB" sz="2400" dirty="0" smtClean="0"/>
              <a:t>:</a:t>
            </a: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b="1" dirty="0"/>
              <a:t>Vital Signs</a:t>
            </a:r>
            <a:r>
              <a:rPr lang="en-GB" sz="2400" b="1" dirty="0" smtClean="0"/>
              <a:t>:</a:t>
            </a:r>
            <a:endParaRPr lang="en-GB" sz="2400" b="1" dirty="0"/>
          </a:p>
          <a:p>
            <a:pPr>
              <a:lnSpc>
                <a:spcPct val="150000"/>
              </a:lnSpc>
            </a:pPr>
            <a:r>
              <a:rPr lang="en-GB" sz="2400" dirty="0"/>
              <a:t>Tachycardia is </a:t>
            </a:r>
            <a:r>
              <a:rPr lang="en-GB" sz="2400" dirty="0">
                <a:highlight>
                  <a:srgbClr val="00FF00"/>
                </a:highlight>
              </a:rPr>
              <a:t>the most common early </a:t>
            </a:r>
            <a:r>
              <a:rPr lang="en-GB" sz="2400" dirty="0" smtClean="0">
                <a:highlight>
                  <a:srgbClr val="00FF00"/>
                </a:highlight>
              </a:rPr>
              <a:t>sign</a:t>
            </a:r>
            <a:endParaRPr lang="en-GB" sz="2400" dirty="0">
              <a:highlight>
                <a:srgbClr val="00FF00"/>
              </a:highlight>
            </a:endParaRPr>
          </a:p>
          <a:p>
            <a:pPr>
              <a:lnSpc>
                <a:spcPct val="150000"/>
              </a:lnSpc>
            </a:pPr>
            <a:r>
              <a:rPr lang="en-GB" sz="2400" dirty="0" err="1"/>
              <a:t>Tachypn</a:t>
            </a:r>
            <a:r>
              <a:rPr lang="en-GB" sz="2400" dirty="0" err="1">
                <a:highlight>
                  <a:srgbClr val="00FFFF"/>
                </a:highlight>
              </a:rPr>
              <a:t>ea</a:t>
            </a:r>
            <a:r>
              <a:rPr lang="en-GB" sz="2400" dirty="0">
                <a:highlight>
                  <a:srgbClr val="00FFFF"/>
                </a:highlight>
              </a:rPr>
              <a:t> often occurs secondary to </a:t>
            </a:r>
            <a:r>
              <a:rPr lang="en-GB" sz="2400" dirty="0" err="1">
                <a:highlight>
                  <a:srgbClr val="00FFFF"/>
                </a:highlight>
              </a:rPr>
              <a:t>acidemia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 smtClean="0"/>
              <a:t>Bradycardia</a:t>
            </a:r>
            <a:r>
              <a:rPr lang="en-GB" sz="2400" dirty="0" smtClean="0">
                <a:highlight>
                  <a:srgbClr val="00FFFF"/>
                </a:highlight>
              </a:rPr>
              <a:t> </a:t>
            </a:r>
            <a:r>
              <a:rPr lang="en-GB" sz="2400" dirty="0">
                <a:highlight>
                  <a:srgbClr val="00FFFF"/>
                </a:highlight>
              </a:rPr>
              <a:t>is a late and ominous </a:t>
            </a:r>
            <a:r>
              <a:rPr lang="en-GB" sz="2400" dirty="0" smtClean="0">
                <a:highlight>
                  <a:srgbClr val="00FFFF"/>
                </a:highlight>
              </a:rPr>
              <a:t>sign</a:t>
            </a:r>
            <a:endParaRPr lang="en-GB" sz="2400" dirty="0" smtClean="0">
              <a:highlight>
                <a:srgbClr val="00FFFF"/>
              </a:highligh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98D7D-D9A0-4EAE-9705-A9566FC7382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/>
              <a:t>20</a:t>
            </a:r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Perfusion</a:t>
            </a: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Prolonged capillary refill time (&gt;2 seconds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Diminished peripheral and/or central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pulses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 extremities and mottled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capillary refill and bounding pulses in distributive shock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04BC2-EE01-478D-B9AE-E695CFF18B3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2000" dirty="0"/>
              <a:t>21</a:t>
            </a:r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Status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Irritability, confusion, lethargy, 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restlessness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Altered consciousness is an early sign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children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Signs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Oliguria (urine output &lt;0.5-1 mL/kg/hour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Dry mucous membranes and poor skin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turgor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Ileus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cyanosis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distress and diminished breath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sounds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Jugular vein distention and muffled heart sounds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EED9F-9480-4CC2-B067-08C30372493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sz="2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Indicators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Metabolic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acidosis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Hyperlactatemia (lactate &gt;2-4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 is concerning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central venous oxygen saturation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1D7CA-AAB3-490F-A933-C190062C73C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100" smtClean="0"/>
            </a:fld>
            <a:endParaRPr lang="en-US" sz="21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Principles of Management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Early Recognition:</a:t>
            </a:r>
            <a:br>
              <a:rPr lang="en-GB" sz="2400" dirty="0"/>
            </a:br>
            <a:r>
              <a:rPr lang="en-GB" sz="2400" dirty="0"/>
              <a:t>This is the key to survival. The initial signs of shock may be subtle in children as their compensatory mechanisms are very effective.</a:t>
            </a:r>
            <a:endParaRPr lang="en-GB" sz="2400" dirty="0"/>
          </a:p>
          <a:p>
            <a:r>
              <a:rPr lang="en-GB" sz="2400" b="1" dirty="0"/>
              <a:t>ABCDE Approach:</a:t>
            </a:r>
            <a:endParaRPr lang="en-GB" sz="2400" dirty="0"/>
          </a:p>
          <a:p>
            <a:r>
              <a:rPr lang="en-GB" sz="2400" b="1" dirty="0"/>
              <a:t>A (Airway):</a:t>
            </a:r>
            <a:r>
              <a:rPr lang="en-GB" sz="2400" dirty="0"/>
              <a:t> Ensure airway patency and adequacy of breathing. Consider intubation if the patient cannot protect their airway or if respiratory failure is present.</a:t>
            </a:r>
            <a:endParaRPr lang="en-GB" sz="2400" dirty="0"/>
          </a:p>
          <a:p>
            <a:r>
              <a:rPr lang="en-GB" sz="2400" b="1" dirty="0"/>
              <a:t>B (Breathing):</a:t>
            </a:r>
            <a:r>
              <a:rPr lang="en-GB" sz="2400" dirty="0"/>
              <a:t> Provide supplemental oxygen if hypoxemia (</a:t>
            </a:r>
            <a:r>
              <a:rPr lang="en-GB" sz="2400" dirty="0" err="1"/>
              <a:t>SpO</a:t>
            </a:r>
            <a:r>
              <a:rPr lang="en-GB" sz="2400" dirty="0"/>
              <a:t>₂ &lt;92-94%) is present. High-flow oxygen should be given to maintain </a:t>
            </a:r>
            <a:r>
              <a:rPr lang="en-GB" sz="2400" dirty="0" err="1"/>
              <a:t>SpO</a:t>
            </a:r>
            <a:r>
              <a:rPr lang="en-GB" sz="2400" dirty="0"/>
              <a:t>₂ above 95%.</a:t>
            </a:r>
            <a:endParaRPr lang="en-GB" sz="24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47E7-1638-447A-B24D-29913D1F120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Principles of Management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/>
              <a:t>C (Circulation):</a:t>
            </a:r>
            <a:r>
              <a:rPr lang="en-GB" sz="2400" dirty="0"/>
              <a:t> Establish vascular access immediately (two large-bore IVs or intraosseous access if IV access is not achieved within 2 attempts).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b="1" dirty="0"/>
              <a:t>D (Disability):</a:t>
            </a:r>
            <a:r>
              <a:rPr lang="en-GB" sz="2400" dirty="0"/>
              <a:t> Assess neurological status and level of consciousness.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b="1" dirty="0"/>
              <a:t>E (Exposure):</a:t>
            </a:r>
            <a:r>
              <a:rPr lang="en-GB" sz="2400" dirty="0"/>
              <a:t> Check for other injuries, rashes, or sources of infection, and maintain </a:t>
            </a:r>
            <a:r>
              <a:rPr lang="en-GB" sz="2400" dirty="0" err="1"/>
              <a:t>normothermia</a:t>
            </a:r>
            <a:r>
              <a:rPr lang="en-GB" sz="2400" dirty="0"/>
              <a:t>.</a:t>
            </a:r>
            <a:endParaRPr lang="en-GB" sz="2400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47E7-1638-447A-B24D-29913D1F120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Principles of Management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Laboratory Evaluation:</a:t>
            </a:r>
            <a:endParaRPr lang="en-GB" dirty="0"/>
          </a:p>
          <a:p>
            <a:r>
              <a:rPr lang="en-GB" dirty="0"/>
              <a:t>Blood culture (before antibiotics if possible)</a:t>
            </a:r>
            <a:endParaRPr lang="en-GB" dirty="0"/>
          </a:p>
          <a:p>
            <a:r>
              <a:rPr lang="en-GB" dirty="0"/>
              <a:t>Blood gas analysis (including lactate)</a:t>
            </a:r>
            <a:endParaRPr lang="en-GB" dirty="0"/>
          </a:p>
          <a:p>
            <a:r>
              <a:rPr lang="en-GB" dirty="0"/>
              <a:t>Blood glucose, electrolytes, calcium, magnesium</a:t>
            </a:r>
            <a:endParaRPr lang="en-GB" dirty="0"/>
          </a:p>
          <a:p>
            <a:r>
              <a:rPr lang="en-GB" dirty="0"/>
              <a:t>Full blood count, coagulation studies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Antibiotics:</a:t>
            </a:r>
            <a:endParaRPr lang="en-GB" dirty="0"/>
          </a:p>
          <a:p>
            <a:r>
              <a:rPr lang="en-GB" dirty="0"/>
              <a:t>In septic shock, broad-spectrum antibiotics should be given </a:t>
            </a:r>
            <a:r>
              <a:rPr lang="en-GB" b="1" dirty="0"/>
              <a:t>within 1 hour</a:t>
            </a:r>
            <a:r>
              <a:rPr lang="en-GB" dirty="0"/>
              <a:t> of recognition, ideally after blood cultures are obtained</a:t>
            </a:r>
            <a:endParaRPr lang="en-GB" dirty="0"/>
          </a:p>
          <a:p>
            <a:pPr marL="0" indent="0">
              <a:buNone/>
            </a:pPr>
            <a:r>
              <a:rPr lang="en-GB" b="1" dirty="0"/>
              <a:t>Key Principle:</a:t>
            </a:r>
            <a:r>
              <a:rPr lang="en-GB" dirty="0"/>
              <a:t> Reassess the patient after every intervention to determine the response to </a:t>
            </a:r>
            <a:r>
              <a:rPr lang="en-GB" dirty="0" smtClean="0"/>
              <a:t>therapy.</a:t>
            </a:r>
            <a:endParaRPr lang="en-GB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247E7-1638-447A-B24D-29913D1F120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 Resuscitation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b="1" dirty="0"/>
              <a:t>Initial Bolus:</a:t>
            </a:r>
            <a:endParaRPr lang="en-GB" sz="2600" dirty="0"/>
          </a:p>
          <a:p>
            <a:r>
              <a:rPr lang="en-GB" sz="2600" dirty="0"/>
              <a:t>10-20 mL/kg isotonic crystalloid (Normal Saline or Ringer's Lactate) over 15-20 minutes</a:t>
            </a:r>
            <a:endParaRPr lang="en-GB" sz="2600" dirty="0"/>
          </a:p>
          <a:p>
            <a:r>
              <a:rPr lang="en-GB" sz="2600" dirty="0"/>
              <a:t>Balanced salt solution is preferred over Normal Saline as bolus fluid therapy</a:t>
            </a:r>
            <a:endParaRPr lang="en-GB" sz="2600" dirty="0"/>
          </a:p>
          <a:p>
            <a:r>
              <a:rPr lang="en-GB" sz="2600" dirty="0"/>
              <a:t>For cardiogenic shock: use 5-10 mL/kg boluses with careful monitoring</a:t>
            </a:r>
            <a:endParaRPr lang="en-GB" sz="2600" dirty="0"/>
          </a:p>
          <a:p>
            <a:pPr marL="0" indent="0">
              <a:buNone/>
            </a:pPr>
            <a:r>
              <a:rPr lang="en-GB" sz="2600" b="1" dirty="0"/>
              <a:t>Subsequent Boluses:</a:t>
            </a:r>
            <a:endParaRPr lang="en-GB" sz="2600" dirty="0"/>
          </a:p>
          <a:p>
            <a:r>
              <a:rPr lang="en-GB" sz="2600" dirty="0"/>
              <a:t>Repeat 10-20 mL/kg, reassessing after each</a:t>
            </a:r>
            <a:endParaRPr lang="en-GB" sz="2600" dirty="0"/>
          </a:p>
          <a:p>
            <a:r>
              <a:rPr lang="en-GB" sz="2600" dirty="0"/>
              <a:t>Up to 40-60 mL/kg may be needed in the first hour</a:t>
            </a:r>
            <a:endParaRPr lang="en-GB" sz="2600" dirty="0"/>
          </a:p>
          <a:p>
            <a:r>
              <a:rPr lang="en-GB" sz="2600" dirty="0"/>
              <a:t>May exceed 200 mL/kg over several hours in severe </a:t>
            </a:r>
            <a:r>
              <a:rPr lang="en-GB" sz="2600" dirty="0" smtClean="0"/>
              <a:t>cases.</a:t>
            </a:r>
            <a:endParaRPr lang="en-GB" sz="26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8C9A-7D71-4166-90E7-EE825B717B6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 Resuscitation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GB" sz="4400" b="1" dirty="0" smtClean="0"/>
              <a:t>Precautions</a:t>
            </a:r>
            <a:r>
              <a:rPr lang="en-GB" sz="4400" b="1" dirty="0"/>
              <a:t>:</a:t>
            </a:r>
            <a:endParaRPr lang="en-GB" sz="4400" dirty="0"/>
          </a:p>
          <a:p>
            <a:pPr>
              <a:lnSpc>
                <a:spcPct val="120000"/>
              </a:lnSpc>
            </a:pPr>
            <a:r>
              <a:rPr lang="en-GB" sz="4400" dirty="0"/>
              <a:t>Assess the response of prior bolus therapy before repeating</a:t>
            </a:r>
            <a:endParaRPr lang="en-GB" sz="4400" dirty="0"/>
          </a:p>
          <a:p>
            <a:pPr>
              <a:lnSpc>
                <a:spcPct val="120000"/>
              </a:lnSpc>
            </a:pPr>
            <a:r>
              <a:rPr lang="en-GB" sz="4400" dirty="0"/>
              <a:t>Ensure signs of fluid overload have not developed (hepatomegaly, crackles)</a:t>
            </a:r>
            <a:endParaRPr lang="en-GB" sz="4400" dirty="0"/>
          </a:p>
          <a:p>
            <a:pPr>
              <a:lnSpc>
                <a:spcPct val="120000"/>
              </a:lnSpc>
            </a:pPr>
            <a:r>
              <a:rPr lang="en-GB" sz="4400" dirty="0"/>
              <a:t>Cumulative fluid overload &gt;10% is associated with increased mortality</a:t>
            </a:r>
            <a:endParaRPr lang="en-GB" sz="4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4400" b="1" dirty="0"/>
              <a:t>Escalation</a:t>
            </a:r>
            <a:r>
              <a:rPr lang="en-GB" sz="4400" b="1" dirty="0" smtClean="0"/>
              <a:t>:</a:t>
            </a:r>
            <a:endParaRPr lang="en-GB" sz="4400" b="1" dirty="0" smtClean="0"/>
          </a:p>
          <a:p>
            <a:pPr>
              <a:lnSpc>
                <a:spcPct val="120000"/>
              </a:lnSpc>
            </a:pPr>
            <a:r>
              <a:rPr lang="en-GB" sz="4400" dirty="0" smtClean="0"/>
              <a:t>For </a:t>
            </a:r>
            <a:r>
              <a:rPr lang="en-GB" sz="4400" dirty="0"/>
              <a:t>children with evidence of fluid overload, adequate intravascular volume, or lack of hemodynamic improvement with prior fluid boluses, resuscitation should shift from volume resuscitation to vasoactive medications.</a:t>
            </a:r>
            <a:endParaRPr lang="en-GB" sz="4400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8C9A-7D71-4166-90E7-EE825B717B6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Principles of Management - Vasoactive Medications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2800" b="1" dirty="0" smtClean="0"/>
              <a:t>Indications</a:t>
            </a:r>
            <a:r>
              <a:rPr lang="en-GB" sz="2800" b="1" dirty="0"/>
              <a:t>:</a:t>
            </a:r>
            <a:br>
              <a:rPr lang="en-GB" sz="2800" dirty="0"/>
            </a:br>
            <a:r>
              <a:rPr lang="en-GB" sz="2800" dirty="0"/>
              <a:t>Vasoactive medications should be initiated for children with fluid-refractory shock.</a:t>
            </a:r>
            <a:endParaRPr lang="en-GB" sz="2800" dirty="0"/>
          </a:p>
          <a:p>
            <a:pPr marL="0" indent="0">
              <a:buNone/>
            </a:pPr>
            <a:r>
              <a:rPr lang="en-GB" sz="2800" b="1" dirty="0"/>
              <a:t>Choice of Agent Based on Shock Type:</a:t>
            </a:r>
            <a:endParaRPr lang="en-GB" sz="2800" dirty="0"/>
          </a:p>
          <a:p>
            <a:r>
              <a:rPr lang="en-GB" sz="2800" b="1" dirty="0"/>
              <a:t>Epinephrine:</a:t>
            </a:r>
            <a:br>
              <a:rPr lang="en-GB" sz="2800" dirty="0"/>
            </a:br>
            <a:r>
              <a:rPr lang="en-GB" sz="2800" dirty="0"/>
              <a:t>This is the preferred first-line vasoactive therapy for fluid-refractory septic shock and cardiogenic shock. Epinephrine is preferred over dopamine as a first-line vasoactive in </a:t>
            </a:r>
            <a:r>
              <a:rPr lang="en-GB" sz="2800" dirty="0" smtClean="0"/>
              <a:t>paediatric </a:t>
            </a:r>
            <a:r>
              <a:rPr lang="en-GB" sz="2800" dirty="0"/>
              <a:t>septic shock.</a:t>
            </a:r>
            <a:endParaRPr lang="en-GB" sz="2800" dirty="0"/>
          </a:p>
          <a:p>
            <a:r>
              <a:rPr lang="en-GB" sz="2800" b="1" dirty="0"/>
              <a:t>Norepinephrine:</a:t>
            </a:r>
            <a:br>
              <a:rPr lang="en-GB" sz="2800" dirty="0"/>
            </a:br>
            <a:r>
              <a:rPr lang="en-GB" sz="2800" dirty="0"/>
              <a:t>This is recommended as first-line vasoactive therapy for children with distributive shock or neurogenic shock (warm shock with low SVR).</a:t>
            </a:r>
            <a:endParaRPr lang="en-GB" sz="2800" dirty="0"/>
          </a:p>
          <a:p>
            <a:endParaRPr lang="en-GB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8C9A-7D71-4166-90E7-EE825B717B6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Principles of Management - Airway and Breathing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Oxygen Therapy:</a:t>
            </a:r>
            <a:endParaRPr lang="en-GB" sz="2400" dirty="0"/>
          </a:p>
          <a:p>
            <a:r>
              <a:rPr lang="en-GB" sz="2400" dirty="0"/>
              <a:t>Supplemental oxygen if </a:t>
            </a:r>
            <a:r>
              <a:rPr lang="en-GB" sz="2400" dirty="0" err="1"/>
              <a:t>SpO</a:t>
            </a:r>
            <a:r>
              <a:rPr lang="en-GB" sz="2400" dirty="0"/>
              <a:t>₂ is 92-94%</a:t>
            </a:r>
            <a:endParaRPr lang="en-GB" sz="2400" dirty="0"/>
          </a:p>
          <a:p>
            <a:r>
              <a:rPr lang="en-GB" sz="2400" dirty="0"/>
              <a:t>Universal administration of high </a:t>
            </a:r>
            <a:r>
              <a:rPr lang="en-GB" sz="2400" dirty="0" err="1"/>
              <a:t>FiO</a:t>
            </a:r>
            <a:r>
              <a:rPr lang="en-GB" sz="2400" dirty="0"/>
              <a:t>₂ in severe </a:t>
            </a:r>
            <a:r>
              <a:rPr lang="en-GB" sz="2400" dirty="0" err="1"/>
              <a:t>anemia</a:t>
            </a:r>
            <a:r>
              <a:rPr lang="en-GB" sz="2400" dirty="0"/>
              <a:t> or dissociative shock</a:t>
            </a:r>
            <a:endParaRPr lang="en-GB" sz="2400" dirty="0"/>
          </a:p>
          <a:p>
            <a:r>
              <a:rPr lang="en-GB" sz="2400" dirty="0"/>
              <a:t>All children with shock should receive high-flow oxygen to maintain </a:t>
            </a:r>
            <a:r>
              <a:rPr lang="en-GB" sz="2400" dirty="0" err="1"/>
              <a:t>SpO</a:t>
            </a:r>
            <a:r>
              <a:rPr lang="en-GB" sz="2400" dirty="0"/>
              <a:t>₂ above 95%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Indications for Intubation and Mechanical Ventilation:</a:t>
            </a:r>
            <a:endParaRPr lang="en-GB" sz="2400" dirty="0"/>
          </a:p>
          <a:p>
            <a:r>
              <a:rPr lang="en-GB" sz="2400" dirty="0"/>
              <a:t>Type 1 respiratory failure (hypoxemic)</a:t>
            </a:r>
            <a:endParaRPr lang="en-GB" sz="2400" dirty="0"/>
          </a:p>
          <a:p>
            <a:r>
              <a:rPr lang="en-GB" sz="2400" dirty="0"/>
              <a:t>Persistence of circulatory failure despite resuscitation</a:t>
            </a:r>
            <a:endParaRPr lang="en-GB" sz="2400" dirty="0"/>
          </a:p>
          <a:p>
            <a:r>
              <a:rPr lang="en-GB" sz="2400" dirty="0"/>
              <a:t>Inability to protect the </a:t>
            </a:r>
            <a:r>
              <a:rPr lang="en-GB" sz="2400" dirty="0" smtClean="0"/>
              <a:t>airway</a:t>
            </a:r>
            <a:endParaRPr lang="en-GB" sz="2400" dirty="0"/>
          </a:p>
          <a:p>
            <a:endParaRPr lang="en-GB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8C9A-7D71-4166-90E7-EE825B717B6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Principles of Management - Airway and Breathing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400" dirty="0"/>
          </a:p>
          <a:p>
            <a:r>
              <a:rPr lang="en-GB" sz="2400" dirty="0"/>
              <a:t>Depressed level of consciousness</a:t>
            </a:r>
            <a:endParaRPr lang="en-GB" sz="2400" dirty="0"/>
          </a:p>
          <a:p>
            <a:r>
              <a:rPr lang="en-GB" sz="2400" dirty="0"/>
              <a:t>Impending respiratory failure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Important Consideration</a:t>
            </a:r>
            <a:r>
              <a:rPr lang="en-GB" sz="2400" b="1" dirty="0" smtClean="0"/>
              <a:t>:</a:t>
            </a:r>
            <a:endParaRPr lang="en-GB" sz="2400" b="1" dirty="0" smtClean="0"/>
          </a:p>
          <a:p>
            <a:r>
              <a:rPr lang="en-GB" sz="2400" dirty="0" smtClean="0"/>
              <a:t>Ensure </a:t>
            </a:r>
            <a:r>
              <a:rPr lang="en-GB" sz="2400" dirty="0"/>
              <a:t>fluid resuscitation is commenced prior to intubation, as anaesthetic agents and mechanical ventilation may cause hypotension in a shocked patient.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Sedation</a:t>
            </a:r>
            <a:r>
              <a:rPr lang="en-GB" sz="2400" b="1" dirty="0" smtClean="0"/>
              <a:t>:</a:t>
            </a:r>
            <a:endParaRPr lang="en-GB" sz="2400" b="1" dirty="0" smtClean="0"/>
          </a:p>
          <a:p>
            <a:r>
              <a:rPr lang="en-GB" sz="2400" dirty="0" smtClean="0"/>
              <a:t>Avoid </a:t>
            </a:r>
            <a:r>
              <a:rPr lang="en-GB" sz="2400" dirty="0" err="1"/>
              <a:t>etomidate</a:t>
            </a:r>
            <a:r>
              <a:rPr lang="en-GB" sz="2400" dirty="0"/>
              <a:t> for sedation during intubation in septic shock patients.</a:t>
            </a:r>
            <a:endParaRPr lang="en-GB" sz="2400" dirty="0"/>
          </a:p>
          <a:p>
            <a:endParaRPr lang="en-GB" dirty="0"/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8C9A-7D71-4166-90E7-EE825B717B6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Principles of Management - Correcting Metabolic Abnormalities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Hypoglycemia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Always check blood glucose in any child with shock</a:t>
            </a:r>
            <a:endParaRPr lang="en-US" sz="2400" dirty="0"/>
          </a:p>
          <a:p>
            <a:r>
              <a:rPr lang="en-US" sz="2400" dirty="0"/>
              <a:t>Hypoglycemia is common in shock patients</a:t>
            </a:r>
            <a:endParaRPr lang="en-US" sz="2400" dirty="0"/>
          </a:p>
          <a:p>
            <a:r>
              <a:rPr lang="en-US" sz="2400" dirty="0"/>
              <a:t>If hypoglycemia is present (BGL &lt;3.0 </a:t>
            </a:r>
            <a:r>
              <a:rPr lang="en-US" sz="2400" dirty="0" err="1"/>
              <a:t>mmol</a:t>
            </a:r>
            <a:r>
              <a:rPr lang="en-US" sz="2400" dirty="0"/>
              <a:t>/L or symptomatic), administer 2 mL/kg of 10% Glucose as a bolus</a:t>
            </a:r>
            <a:endParaRPr lang="en-US" sz="2400" dirty="0"/>
          </a:p>
          <a:p>
            <a:r>
              <a:rPr lang="en-US" sz="2400" dirty="0"/>
              <a:t>Ensure maintenance fluids contain 5-10% Glucose</a:t>
            </a:r>
            <a:endParaRPr lang="en-US" sz="2400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8C9A-7D71-4166-90E7-EE825B717B6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Principles of Management - Correcting Metabolic Abnormalities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Hypocalcemia:</a:t>
            </a:r>
            <a:endParaRPr lang="en-US" sz="2400" dirty="0"/>
          </a:p>
          <a:p>
            <a:r>
              <a:rPr lang="en-US" sz="2400" dirty="0"/>
              <a:t>Calcium should be corrected during initial resuscitation</a:t>
            </a:r>
            <a:endParaRPr lang="en-US" sz="2400" dirty="0"/>
          </a:p>
          <a:p>
            <a:r>
              <a:rPr lang="en-US" sz="2400" dirty="0"/>
              <a:t>Optimize serum calcium levels to support cardiac function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Electrolyte Abnormalities:</a:t>
            </a:r>
            <a:endParaRPr lang="en-US" sz="2400" dirty="0"/>
          </a:p>
          <a:p>
            <a:r>
              <a:rPr lang="en-US" sz="2400" dirty="0"/>
              <a:t>Correct potassium and magnesium deficiencies</a:t>
            </a:r>
            <a:endParaRPr lang="en-US" sz="2400" dirty="0"/>
          </a:p>
          <a:p>
            <a:r>
              <a:rPr lang="en-US" sz="2400" dirty="0"/>
              <a:t>These may optimize cardiac function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Acid-Base Disturbances:</a:t>
            </a:r>
            <a:endParaRPr lang="en-US" sz="2400" dirty="0"/>
          </a:p>
          <a:p>
            <a:r>
              <a:rPr lang="en-US" sz="2400" dirty="0"/>
              <a:t>Metabolic acidosis is common and should be monitored</a:t>
            </a:r>
            <a:endParaRPr lang="en-US" sz="2400" dirty="0"/>
          </a:p>
          <a:p>
            <a:r>
              <a:rPr lang="en-US" sz="2400" dirty="0"/>
              <a:t>Improving perfusion is the primary treatment for acidosis</a:t>
            </a:r>
            <a:endParaRPr lang="en-US" sz="2400" dirty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58C9A-7D71-4166-90E7-EE825B717B6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Hemodynamic targets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Includes;-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Decrease in HR;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BP;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 of capillary refill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4.Peripheral pulse strength, and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53221-F2CF-4C1D-B9D0-75DC9207A3D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lnSpc>
                <a:spcPct val="16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5.Extremity  temperature;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6.Improved  urine output and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7.Fall  in blood lactate by ≥10–20%.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Before repeating a fluid bolus, assess the response of prior bolus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theraphy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 ensure that signs of fluid overload have not developed.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EEF9-36AD-4EC1-9791-B37641548DE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6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children with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arenR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of fluid overload,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arenR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adequate intravascular volume,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arenR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lack of hemodynamic improvement with prior fluid boluses, resuscitation should shift from volume resuscitation to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vasoactive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medications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18CB4-CE40-4E45-AC2D-B1FFF674CB7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optimal fluid type for initial shock resuscitation could be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1.Crystalloids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0.9% normal saline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RL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+mj-lt"/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Hartmann solution, and Plasma-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Lyte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2.Colloids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992B9-1CCA-45EA-B873-C40C001F13E0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treatments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Resuscitation with blood products should be prioritized for children with hemorrhagic shock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Vasoactive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medications should  be initiated for children with fluid refractory shock</a:t>
            </a:r>
            <a:r>
              <a:rPr lang="en-US" sz="2400" dirty="0" smtClean="0"/>
              <a:t>, </a:t>
            </a:r>
            <a:endParaRPr lang="en-US" sz="2400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epinephrine is the preferred first-line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vasoactive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therapy for fluid-refractory septic shock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738E-8360-4253-97F3-ACD08D2DDA2B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Epineprine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also the recommended initial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vasoactive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agent in children with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cardiogenic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shock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in children with a low-SVR state, distributive, septic, or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neurogenic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shock,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norepinephrine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as the first-line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vasoactive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therapy.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hypoglycemia and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hypocalcemia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corrected during the initial resuscitation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3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FB08C-45B4-4E66-B07C-3B8AD59411F6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Management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Cardiogenic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shock </a:t>
            </a:r>
            <a:endParaRPr lang="en-US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/>
              <a:t>Early treatment with inotropes such as epinephrine, dopamine, </a:t>
            </a:r>
            <a:r>
              <a:rPr lang="en-US" sz="2600" dirty="0" err="1"/>
              <a:t>dobutamine</a:t>
            </a:r>
            <a:r>
              <a:rPr lang="en-US" sz="2600" dirty="0"/>
              <a:t>, or </a:t>
            </a:r>
            <a:r>
              <a:rPr lang="en-US" sz="2600" dirty="0" err="1"/>
              <a:t>milrinone</a:t>
            </a:r>
            <a:endParaRPr lang="en-US" sz="2600" dirty="0"/>
          </a:p>
          <a:p>
            <a:r>
              <a:rPr lang="en-US" sz="2600" dirty="0"/>
              <a:t>Cautious fluid administration (5-10 mL/kg over 20-30 minutes if needed)</a:t>
            </a:r>
            <a:endParaRPr lang="en-US" sz="2600" dirty="0"/>
          </a:p>
          <a:p>
            <a:r>
              <a:rPr lang="en-US" sz="2600" dirty="0"/>
              <a:t>Avoid crystalloid infusion if pulmonary congestion is present</a:t>
            </a:r>
            <a:endParaRPr lang="en-US" sz="2600" dirty="0"/>
          </a:p>
          <a:p>
            <a:r>
              <a:rPr lang="en-US" sz="2600" dirty="0"/>
              <a:t>Optimize serum calcium and potassium levels</a:t>
            </a:r>
            <a:endParaRPr lang="en-US" sz="2600" dirty="0"/>
          </a:p>
          <a:p>
            <a:r>
              <a:rPr lang="en-US" sz="2600" dirty="0"/>
              <a:t>Correct hypoxia, rhythm disturbances, electrolyte abnormalities, and acid-base disturbances</a:t>
            </a:r>
            <a:endParaRPr lang="en-US" sz="2600" dirty="0"/>
          </a:p>
          <a:p>
            <a:r>
              <a:rPr lang="en-US" sz="2600" dirty="0"/>
              <a:t>Consider cardiology consultation and echocardiography</a:t>
            </a:r>
            <a:endParaRPr lang="en-US" sz="2600" dirty="0"/>
          </a:p>
          <a:p>
            <a:pPr marL="0" indent="0">
              <a:lnSpc>
                <a:spcPct val="150000"/>
              </a:lnSpc>
              <a:buNone/>
            </a:pP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4E71-5561-4591-B7D2-CF87E500A16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administration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27247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Cautious fluid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Hypotension without pulmonary congestion … a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small fluid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pulmonary congestion, crystalloid infusion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should not be given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60"/>
            <a:ext cx="2895600" cy="365125"/>
          </a:xfrm>
        </p:spPr>
        <p:txBody>
          <a:bodyPr/>
          <a:lstStyle/>
          <a:p>
            <a:r>
              <a:rPr lang="en-US" sz="1400" smtClean="0">
                <a:solidFill>
                  <a:schemeClr val="tx1"/>
                </a:solidFill>
              </a:rPr>
              <a:t>Management of shock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DB48-395E-4FE7-B3A3-3F235E3FB344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Vasodilators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Vasodilators have been used to elevate cardiac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output and to reduce left ventricular filling pressure.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Risk: by lowering the already markedly reduced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coronary perfusion pressure, myocardial perfusion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can be compromised further.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Milrinone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inotrope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/vasodilator which can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augment contractility but can also decrease BP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buNone/>
            </a:pPr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B8C4-ACB7-4254-988C-6090F473825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Other management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800" dirty="0" smtClean="0"/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 hypoxia,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hypovolemia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rhythm disturbances,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electrolyte abnormalities and acid-base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disturbances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Supplementary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oxygen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Antipyretics, analgesics, sedatives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8BCD6-DB39-49F9-861F-137EDB599EB3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Obstructive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shock</a:t>
            </a:r>
            <a:b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Action to relieve mechanical obstruction:</a:t>
            </a:r>
            <a:endParaRPr lang="en-US" sz="2400" dirty="0"/>
          </a:p>
          <a:p>
            <a:pPr lvl="1"/>
            <a:r>
              <a:rPr lang="en-US" sz="2400" dirty="0"/>
              <a:t>Thoracentesis for tension pneumothorax</a:t>
            </a:r>
            <a:endParaRPr lang="en-US" sz="2400" dirty="0"/>
          </a:p>
          <a:p>
            <a:pPr lvl="1"/>
            <a:r>
              <a:rPr lang="en-US" sz="2400" dirty="0" err="1"/>
              <a:t>Pericardiocentesis</a:t>
            </a:r>
            <a:r>
              <a:rPr lang="en-US" sz="2400" dirty="0"/>
              <a:t> for cardiac tamponade</a:t>
            </a:r>
            <a:endParaRPr lang="en-US" sz="2400" dirty="0"/>
          </a:p>
          <a:p>
            <a:pPr lvl="1"/>
            <a:r>
              <a:rPr lang="en-US" sz="2400" dirty="0"/>
              <a:t>Systemic fibrinolytic medications for pulmonary embolism</a:t>
            </a:r>
            <a:endParaRPr lang="en-US" sz="2400" dirty="0"/>
          </a:p>
          <a:p>
            <a:pPr lvl="1"/>
            <a:r>
              <a:rPr lang="en-US" sz="2400" dirty="0"/>
              <a:t>Prostaglandin E1 infusion for neonates with ductal-dependent lesions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DEEA-B58E-4F69-916C-171659EF65AD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4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smtClean="0"/>
              <a:t>Anaphylactic </a:t>
            </a:r>
            <a:r>
              <a:rPr lang="en-US" sz="4000" b="1" dirty="0"/>
              <a:t>Shock (Distributive):</a:t>
            </a:r>
            <a:b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Airway and breathing management</a:t>
            </a:r>
            <a:endParaRPr lang="en-US" sz="2400" dirty="0"/>
          </a:p>
          <a:p>
            <a:r>
              <a:rPr lang="en-US" sz="2400" dirty="0"/>
              <a:t>Fluid resuscitation</a:t>
            </a:r>
            <a:endParaRPr lang="en-US" sz="2400" dirty="0"/>
          </a:p>
          <a:p>
            <a:r>
              <a:rPr lang="en-US" sz="2400" dirty="0"/>
              <a:t>Immediate administration of IM or IV epinephrine</a:t>
            </a:r>
            <a:endParaRPr lang="en-US" sz="2400" dirty="0"/>
          </a:p>
          <a:p>
            <a:r>
              <a:rPr lang="en-US" sz="2400" dirty="0"/>
              <a:t>Epinephrine dose: 0.1 mL/kg of 1:10,000 solution every 3-5 minutes (maximum dose: 1 mg)</a:t>
            </a:r>
            <a:endParaRPr lang="en-US" sz="2400" dirty="0"/>
          </a:p>
          <a:p>
            <a:r>
              <a:rPr lang="en-US" sz="2400" dirty="0"/>
              <a:t>If hypotension is refractory, start epinephrine infusion</a:t>
            </a: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DEEA-B58E-4F69-916C-171659EF65AD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4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/>
              <a:t>Hypovolemic Shock:</a:t>
            </a:r>
            <a:b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Aggressive fluid resuscitation</a:t>
            </a:r>
            <a:endParaRPr lang="en-GB" sz="2400" dirty="0"/>
          </a:p>
          <a:p>
            <a:r>
              <a:rPr lang="en-GB" sz="2400" dirty="0"/>
              <a:t>Blood products for </a:t>
            </a:r>
            <a:r>
              <a:rPr lang="en-GB" sz="2400" dirty="0" err="1"/>
              <a:t>hemorrhagic</a:t>
            </a:r>
            <a:r>
              <a:rPr lang="en-GB" sz="2400" dirty="0"/>
              <a:t> shock</a:t>
            </a:r>
            <a:endParaRPr lang="en-GB" sz="2400" dirty="0"/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0DEEA-B58E-4F69-916C-171659EF65AD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4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Septic shock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ED457-3350-4C84-A866-BE6338644A72}" type="datetime1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509" y="739431"/>
            <a:ext cx="8534311" cy="960560"/>
          </a:xfrm>
        </p:spPr>
        <p:txBody>
          <a:bodyPr vert="horz" wrap="square" lIns="76844" tIns="38422" rIns="76844" bIns="38422" numCol="1" anchor="b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Septic shock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br>
              <a:rPr kumimoji="0" lang="en-US" sz="277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en-US" sz="277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7587" name="Content Placeholder 2"/>
          <p:cNvSpPr>
            <a:spLocks noGrp="1"/>
          </p:cNvSpPr>
          <p:nvPr>
            <p:ph sz="quarter" idx="1"/>
          </p:nvPr>
        </p:nvSpPr>
        <p:spPr>
          <a:xfrm>
            <a:off x="301509" y="1699992"/>
            <a:ext cx="8503626" cy="4167408"/>
          </a:xfrm>
        </p:spPr>
        <p:txBody>
          <a:bodyPr vert="horz" wrap="square" lIns="76844" tIns="38422" rIns="76844" bIns="38422" anchor="t" anchorCtr="0">
            <a:normAutofit fontScale="92500" lnSpcReduction="10000"/>
          </a:bodyPr>
          <a:lstStyle/>
          <a:p>
            <a:pPr marL="0" indent="0">
              <a:buClr>
                <a:srgbClr val="000000"/>
              </a:buClr>
              <a:buSzPct val="85000"/>
              <a:buNone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International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Pediatric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Sepsis Consensus Conference and Nelson Textbook of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Pediatrics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septic shock is defined as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Septic shock = Severe Sepsis + Cardiovascular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Dysfunction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Specifically, septic shock is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Sepsis (SIRS in the presence of suspected or proven infection)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PLUS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organ dysfunction characterized by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Hypotension (blood pressure &lt;5th percentile for age) despite administration of isotonic intravenous fluid bolus ≥40 mL/kg in 1 hour,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</a:pPr>
            <a:endParaRPr dirty="0"/>
          </a:p>
          <a:p>
            <a:pPr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</a:pPr>
            <a:endParaRPr dirty="0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lIns="38422" rIns="38422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en-US" sz="1345" dirty="0">
                <a:solidFill>
                  <a:srgbClr val="7B9899"/>
                </a:solidFill>
              </a:rPr>
            </a:fld>
            <a:endParaRPr lang="en-US" altLang="en-US" sz="1345" dirty="0">
              <a:solidFill>
                <a:srgbClr val="7B9899"/>
              </a:solidFill>
            </a:endParaRPr>
          </a:p>
        </p:txBody>
      </p:sp>
      <p:sp>
        <p:nvSpPr>
          <p:cNvPr id="67589" name="Footer Placeholder 5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sz="1010" dirty="0">
                <a:solidFill>
                  <a:srgbClr val="FFFFFF"/>
                </a:solidFill>
              </a:rPr>
              <a:t>AHMC</a:t>
            </a:r>
            <a:endParaRPr sz="10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509" y="739431"/>
            <a:ext cx="8534311" cy="960560"/>
          </a:xfrm>
        </p:spPr>
        <p:txBody>
          <a:bodyPr vert="horz" wrap="square" lIns="76844" tIns="38422" rIns="76844" bIns="38422" numCol="1" anchor="b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Septic shock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br>
              <a:rPr kumimoji="0" lang="en-US" sz="277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en-US" sz="277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7587" name="Content Placeholder 2"/>
          <p:cNvSpPr>
            <a:spLocks noGrp="1"/>
          </p:cNvSpPr>
          <p:nvPr>
            <p:ph sz="quarter" idx="1"/>
          </p:nvPr>
        </p:nvSpPr>
        <p:spPr>
          <a:xfrm>
            <a:off x="301509" y="1699992"/>
            <a:ext cx="8503626" cy="4167408"/>
          </a:xfrm>
        </p:spPr>
        <p:txBody>
          <a:bodyPr vert="horz" wrap="square" lIns="76844" tIns="38422" rIns="76844" bIns="38422" anchor="t" anchorCtr="0">
            <a:normAutofit fontScale="92500"/>
          </a:bodyPr>
          <a:lstStyle/>
          <a:p>
            <a:pPr>
              <a:buClr>
                <a:srgbClr val="000000"/>
              </a:buClr>
              <a:buSzPct val="850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vasoactive medication to maintain blood pressure, OR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of the following: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Unexplained metabolic acidosis (base deficit &gt;5.0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mEq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Arterial lactate &gt;2 times normal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Urine output &lt;0.5 mL/kg/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Capillary refill &gt;5 seconds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Core-to-peripheral temperature gap &gt;3°C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Septic shock involves a complex interaction of distributive, hypovolemic, and cardiogenic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Pct val="85000"/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</a:pPr>
            <a:endParaRPr dirty="0"/>
          </a:p>
          <a:p>
            <a:pPr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</a:pPr>
            <a:endParaRPr dirty="0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4294967295"/>
          </p:nvPr>
        </p:nvSpPr>
        <p:spPr>
          <a:noFill/>
        </p:spPr>
        <p:txBody>
          <a:bodyPr lIns="38422" rIns="38422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en-US" sz="1345" dirty="0">
                <a:solidFill>
                  <a:srgbClr val="7B9899"/>
                </a:solidFill>
              </a:rPr>
            </a:fld>
            <a:endParaRPr lang="en-US" altLang="en-US" sz="1345" dirty="0">
              <a:solidFill>
                <a:srgbClr val="7B9899"/>
              </a:solidFill>
            </a:endParaRPr>
          </a:p>
        </p:txBody>
      </p:sp>
      <p:sp>
        <p:nvSpPr>
          <p:cNvPr id="67589" name="Footer Placeholder 5"/>
          <p:cNvSpPr txBox="1">
            <a:spLocks noGrp="1"/>
          </p:cNvSpPr>
          <p:nvPr>
            <p:ph type="ftr" sz="quarter" idx="4294967295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sz="1010" dirty="0">
                <a:solidFill>
                  <a:srgbClr val="FFFFFF"/>
                </a:solidFill>
              </a:rPr>
              <a:t>AHMC</a:t>
            </a:r>
            <a:endParaRPr sz="10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76844" tIns="38422" rIns="76844" bIns="38422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775" b="0" i="0" u="none" strike="noStrike" kern="1200" cap="none" spc="0" normalizeH="0" baseline="0" noProof="0">
              <a:ln>
                <a:noFill/>
              </a:ln>
              <a:solidFill>
                <a:schemeClr val="accent3">
                  <a:shade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8611" name="Content Placeholder 2"/>
          <p:cNvSpPr>
            <a:spLocks noGrp="1"/>
          </p:cNvSpPr>
          <p:nvPr>
            <p:ph sz="quarter" idx="1"/>
          </p:nvPr>
        </p:nvSpPr>
        <p:spPr>
          <a:xfrm>
            <a:off x="301509" y="1830734"/>
            <a:ext cx="8503626" cy="3842241"/>
          </a:xfrm>
        </p:spPr>
        <p:txBody>
          <a:bodyPr vert="horz" wrap="square" lIns="76844" tIns="38422" rIns="76844" bIns="38422" anchor="t" anchorCtr="0"/>
          <a:lstStyle/>
          <a:p>
            <a:pPr marL="0" indent="0"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</a:pPr>
            <a:endParaRPr dirty="0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4"/>
          </p:nvPr>
        </p:nvSpPr>
        <p:spPr>
          <a:noFill/>
        </p:spPr>
        <p:txBody>
          <a:bodyPr lIns="38422" rIns="38422"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fld id="{9A0DB2DC-4C9A-4742-B13C-FB6460FD3503}" type="slidenum">
              <a:rPr lang="en-US" altLang="en-US" sz="1345" dirty="0">
                <a:solidFill>
                  <a:srgbClr val="7B9899"/>
                </a:solidFill>
              </a:rPr>
            </a:fld>
            <a:endParaRPr lang="en-US" altLang="en-US" sz="1345" dirty="0">
              <a:solidFill>
                <a:srgbClr val="7B9899"/>
              </a:solidFill>
            </a:endParaRPr>
          </a:p>
        </p:txBody>
      </p:sp>
      <p:pic>
        <p:nvPicPr>
          <p:cNvPr id="6861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61" y="547319"/>
            <a:ext cx="8837154" cy="55712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4" name="Footer Placeholder 5"/>
          <p:cNvSpPr txBox="1">
            <a:spLocks noGrp="1"/>
          </p:cNvSpPr>
          <p:nvPr>
            <p:ph type="ftr" sz="quarter" idx="3"/>
          </p:nvPr>
        </p:nvSpPr>
        <p:spPr>
          <a:noFill/>
          <a:ln>
            <a:noFill/>
          </a:ln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sz="1010" dirty="0">
                <a:solidFill>
                  <a:srgbClr val="FFFFFF"/>
                </a:solidFill>
              </a:rPr>
              <a:t>AHMC</a:t>
            </a:r>
            <a:endParaRPr sz="10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8308-7A36-4949-ACEE-A219020EF4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228600" y="304800"/>
            <a:ext cx="89154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8308-7A36-4949-ACEE-A219020EF4B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mtClean="0"/>
            </a:fld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304800" y="381000"/>
            <a:ext cx="8839200" cy="6095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sz="4000" dirty="0" smtClean="0"/>
            </a:b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features 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(Based on source of infection</a:t>
            </a:r>
            <a:r>
              <a:rPr lang="en-US" sz="2700" dirty="0" smtClean="0"/>
              <a:t>)</a:t>
            </a:r>
            <a:br>
              <a:rPr lang="en-US" sz="4000" dirty="0" smtClean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828800"/>
            <a:ext cx="4038600" cy="4876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Poor feeding +/- fever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toxic or ill appearance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Tachycardia,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tachypnea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 capillary refill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bulging or sunken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fontanelle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Edema 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Mottled extremities, </a:t>
            </a:r>
            <a:endParaRPr lang="en-U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98637"/>
            <a:ext cx="40386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dirty="0" smtClean="0"/>
              <a:t>		  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LATE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400" dirty="0" smtClean="0"/>
          </a:p>
          <a:p>
            <a:pPr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Respiratory failure,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Cyanosis,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pulses,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Delayed capillary refill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Cool extremities,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Lethargy, and coma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AAEA-408C-4066-8B5E-93E74DFECB31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/>
              <a:t>Septic Shock Management</a:t>
            </a:r>
            <a:b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1255"/>
            <a:ext cx="8229600" cy="4975225"/>
          </a:xfrm>
        </p:spPr>
        <p:txBody>
          <a:bodyPr>
            <a:noAutofit/>
          </a:bodyPr>
          <a:lstStyle/>
          <a:p>
            <a:r>
              <a:rPr lang="en-GB" sz="2400" b="1" dirty="0"/>
              <a:t>First-Hour Bundle (2026 Surviving Sepsis Campaign):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1. Obtain IV/IO Access</a:t>
            </a:r>
            <a:endParaRPr lang="en-GB" sz="2400" dirty="0"/>
          </a:p>
          <a:p>
            <a:r>
              <a:rPr lang="en-GB" sz="2400" dirty="0"/>
              <a:t>Two large-bore IVs or IO if access is not achieved within 2 attempts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2. Collect Blood Culture</a:t>
            </a:r>
            <a:endParaRPr lang="en-GB" sz="2400" dirty="0"/>
          </a:p>
          <a:p>
            <a:r>
              <a:rPr lang="en-GB" sz="2400" dirty="0"/>
              <a:t>Obtain before antibiotics if possible, but do not delay antibiotics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3. Administer Empiric Broad-Spectrum Antibiotics</a:t>
            </a:r>
            <a:endParaRPr lang="en-GB" sz="2400" dirty="0"/>
          </a:p>
          <a:p>
            <a:r>
              <a:rPr lang="en-GB" sz="2400" b="1" dirty="0"/>
              <a:t>Within 1 hour</a:t>
            </a:r>
            <a:r>
              <a:rPr lang="en-GB" sz="2400" dirty="0"/>
              <a:t> of shock recognition</a:t>
            </a:r>
            <a:endParaRPr lang="en-GB" sz="2400" dirty="0"/>
          </a:p>
          <a:p>
            <a:r>
              <a:rPr lang="en-GB" sz="2400" dirty="0"/>
              <a:t>Choice based on age, immune status, local susceptibility patterns, and source of infection</a:t>
            </a:r>
            <a:endParaRPr lang="en-GB" sz="2400" dirty="0"/>
          </a:p>
          <a:p>
            <a:pPr marL="0" indent="0">
              <a:buNone/>
            </a:pPr>
            <a:br>
              <a:rPr lang="en-GB" sz="2400" dirty="0"/>
            </a:b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9B3A-4EC0-4D07-97C8-D1C0E3A8742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Management of shock</a:t>
            </a:r>
            <a:endParaRPr 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b="1" dirty="0"/>
              <a:t>Neonates (&lt;28 days):</a:t>
            </a:r>
            <a:r>
              <a:rPr lang="en-US" sz="3100" dirty="0"/>
              <a:t> Ampicillin + </a:t>
            </a:r>
            <a:r>
              <a:rPr lang="en-US" sz="3100" dirty="0" err="1"/>
              <a:t>Ceftazidime</a:t>
            </a:r>
            <a:r>
              <a:rPr lang="en-US" sz="3100" dirty="0"/>
              <a:t> (or </a:t>
            </a:r>
            <a:r>
              <a:rPr lang="en-US" sz="3100" dirty="0" err="1"/>
              <a:t>Cefotaxime</a:t>
            </a:r>
            <a:r>
              <a:rPr lang="en-US" sz="3100" dirty="0"/>
              <a:t>) + consider Acyclovir</a:t>
            </a:r>
            <a:endParaRPr lang="en-US" sz="3100" dirty="0"/>
          </a:p>
          <a:p>
            <a:r>
              <a:rPr lang="en-US" sz="3100" b="1" dirty="0"/>
              <a:t>Children &gt;30 days:</a:t>
            </a:r>
            <a:r>
              <a:rPr lang="en-US" sz="3100" dirty="0"/>
              <a:t> Ceftriaxone + Vancomycin</a:t>
            </a:r>
            <a:endParaRPr lang="en-US" sz="3100" dirty="0"/>
          </a:p>
          <a:p>
            <a:r>
              <a:rPr lang="en-US" sz="3100" b="1" dirty="0"/>
              <a:t>Immunocompromised:</a:t>
            </a:r>
            <a:r>
              <a:rPr lang="en-US" sz="3100" dirty="0"/>
              <a:t> </a:t>
            </a:r>
            <a:r>
              <a:rPr lang="en-US" sz="3100" dirty="0" err="1"/>
              <a:t>Cefepime</a:t>
            </a:r>
            <a:r>
              <a:rPr lang="en-US" sz="3100" dirty="0"/>
              <a:t> + Vancomycin</a:t>
            </a:r>
            <a:endParaRPr lang="en-US" sz="3100" dirty="0"/>
          </a:p>
          <a:p>
            <a:r>
              <a:rPr lang="en-US" sz="3100" b="1" dirty="0"/>
              <a:t>Toxic shock:</a:t>
            </a:r>
            <a:r>
              <a:rPr lang="en-US" sz="3100" dirty="0"/>
              <a:t> Add Clindamycin</a:t>
            </a:r>
            <a:endParaRPr lang="en-US" sz="3100" dirty="0"/>
          </a:p>
          <a:p>
            <a:r>
              <a:rPr lang="en-US" sz="3100" b="1" dirty="0"/>
              <a:t>Intra-abdominal source:</a:t>
            </a:r>
            <a:r>
              <a:rPr lang="en-US" sz="3100" dirty="0"/>
              <a:t> Add Metronidazole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/>
              <a:t>4. Measure Lactate</a:t>
            </a:r>
            <a:endParaRPr lang="en-US" sz="3100" dirty="0"/>
          </a:p>
          <a:p>
            <a:r>
              <a:rPr lang="en-US" sz="3100" dirty="0"/>
              <a:t>Baseline lactate helps guide therapy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/>
              <a:t>5. Provide Volume Resuscitation</a:t>
            </a:r>
            <a:endParaRPr lang="en-US" sz="3100" dirty="0"/>
          </a:p>
          <a:p>
            <a:r>
              <a:rPr lang="en-US" sz="3100" dirty="0"/>
              <a:t>10-20 mL/kg boluses, reassess after each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/>
              <a:t>6. Initiate Vasoactive Medication</a:t>
            </a:r>
            <a:endParaRPr lang="en-US" sz="3100" dirty="0"/>
          </a:p>
          <a:p>
            <a:r>
              <a:rPr lang="en-US" sz="3100" dirty="0"/>
              <a:t>If shock persists despite fluid therapy</a:t>
            </a:r>
            <a:endParaRPr lang="en-US" sz="31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19A5-0FCA-467E-A3E7-8A9F4246312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Clinical Presentations:</a:t>
            </a:r>
            <a:endParaRPr lang="en-US" sz="2400" dirty="0"/>
          </a:p>
          <a:p>
            <a:r>
              <a:rPr lang="en-US" sz="2400" b="1" dirty="0"/>
              <a:t>Cold Shock:</a:t>
            </a:r>
            <a:r>
              <a:rPr lang="en-US" sz="2400" dirty="0"/>
              <a:t> </a:t>
            </a:r>
            <a:r>
              <a:rPr lang="en-US" sz="2400" dirty="0" err="1"/>
              <a:t>Vasoconstricted</a:t>
            </a:r>
            <a:r>
              <a:rPr lang="en-US" sz="2400" dirty="0"/>
              <a:t>, prolonged CRT, weak pulses → </a:t>
            </a:r>
            <a:r>
              <a:rPr lang="en-US" sz="2400" b="1" dirty="0"/>
              <a:t>Epinephrine</a:t>
            </a:r>
            <a:endParaRPr lang="en-US" sz="2400" dirty="0"/>
          </a:p>
          <a:p>
            <a:r>
              <a:rPr lang="en-US" sz="2400" b="1" dirty="0"/>
              <a:t>Warm Shock:</a:t>
            </a:r>
            <a:r>
              <a:rPr lang="en-US" sz="2400" dirty="0"/>
              <a:t> </a:t>
            </a:r>
            <a:r>
              <a:rPr lang="en-US" sz="2400" dirty="0" err="1"/>
              <a:t>Vasodilated</a:t>
            </a:r>
            <a:r>
              <a:rPr lang="en-US" sz="2400" dirty="0"/>
              <a:t>, bounding pulses, flash CRT → </a:t>
            </a:r>
            <a:r>
              <a:rPr lang="en-US" sz="2400" b="1" dirty="0"/>
              <a:t>Norepinephrine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19A5-0FCA-467E-A3E7-8A9F42463127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Shock in Malnutrition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 include:-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Hypovolemic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Septic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Cardiogenic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8C9EB-EE4C-4602-B63D-2717F4122D64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Cont’…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Shock when the child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 lethargic or unconscious and has cold hands plus </a:t>
            </a: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either of the following:-</a:t>
            </a:r>
            <a:endParaRPr lang="en-US" sz="24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Slow capillary refill (longer than 3 seconds), or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Weak, fast or absent radial or femoral </a:t>
            </a: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pulses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1147-82CE-4D85-A3E0-4B1D1FF32160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50"/>
            <a:ext cx="8229600" cy="1047725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Cont’…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469" y="1373509"/>
            <a:ext cx="8527733" cy="449389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key steps to manage shock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oxygen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 glucose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Prevent hypothermia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Iv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 and follow 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BA84F-5A7C-4A1F-9DD2-AC55AC86D19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Management of shock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Septic shock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3893"/>
            <a:ext cx="8382000" cy="495339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Diagnosis has been made by;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sign of hypovolemic shock and 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Failure to improve after the first hour of IV fluids for management of shock in dehydration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0CF4C-4898-4FA4-93FF-6512B3F748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2000" smtClean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Management of shock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Poor Prognostic Features</a:t>
            </a:r>
            <a:br>
              <a:rPr lang="en-US" b="1" dirty="0"/>
            </a:b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400" b="1" dirty="0"/>
              <a:t>Etiology:</a:t>
            </a:r>
            <a:endParaRPr lang="en-US" sz="4400" dirty="0"/>
          </a:p>
          <a:p>
            <a:r>
              <a:rPr lang="en-US" sz="4400" dirty="0"/>
              <a:t>Septic shock carries the highest morbidity and mortality</a:t>
            </a:r>
            <a:endParaRPr lang="en-US" sz="4400" dirty="0"/>
          </a:p>
          <a:p>
            <a:r>
              <a:rPr lang="en-US" sz="4400" dirty="0"/>
              <a:t>Underlying chronic illness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/>
              <a:t>Patient Factors:</a:t>
            </a:r>
            <a:endParaRPr lang="en-US" sz="4400" dirty="0"/>
          </a:p>
          <a:p>
            <a:r>
              <a:rPr lang="en-US" sz="4400" dirty="0"/>
              <a:t>Infant age (highest risk group)</a:t>
            </a:r>
            <a:endParaRPr lang="en-US" sz="4400" dirty="0"/>
          </a:p>
          <a:p>
            <a:r>
              <a:rPr lang="en-US" sz="4400" dirty="0"/>
              <a:t>Pre-existing chronic illness (mortality 6-9% vs. 3% in healthy children)</a:t>
            </a:r>
            <a:endParaRPr lang="en-US" sz="4400" dirty="0"/>
          </a:p>
          <a:p>
            <a:r>
              <a:rPr lang="en-US" sz="4400" dirty="0"/>
              <a:t>Immunocompromised state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/>
              <a:t>Severity:</a:t>
            </a:r>
            <a:endParaRPr lang="en-US" sz="4400" dirty="0"/>
          </a:p>
          <a:p>
            <a:r>
              <a:rPr lang="en-US" sz="4400" dirty="0"/>
              <a:t>Need for mechanical ventilation</a:t>
            </a:r>
            <a:endParaRPr lang="en-US" sz="4400" dirty="0"/>
          </a:p>
          <a:p>
            <a:r>
              <a:rPr lang="en-US" sz="4400" dirty="0"/>
              <a:t>Fluid-refractory shock</a:t>
            </a:r>
            <a:endParaRPr lang="en-US" sz="4400" dirty="0"/>
          </a:p>
          <a:p>
            <a:r>
              <a:rPr lang="en-US" sz="4400" dirty="0"/>
              <a:t>Catecholamine-resistant shock</a:t>
            </a:r>
            <a:endParaRPr lang="en-US" sz="4400" dirty="0"/>
          </a:p>
          <a:p>
            <a:r>
              <a:rPr lang="en-US" sz="4400" dirty="0"/>
              <a:t>Multiple organ dysfunction syndrome (MODS)</a:t>
            </a:r>
            <a:endParaRPr lang="en-US" sz="4400" dirty="0"/>
          </a:p>
          <a:p>
            <a:r>
              <a:rPr lang="en-US" sz="4400" dirty="0"/>
              <a:t>Need for ECMO</a:t>
            </a:r>
            <a:endParaRPr lang="en-US" sz="4400" dirty="0"/>
          </a:p>
          <a:p>
            <a:pPr marL="0" indent="0">
              <a:lnSpc>
                <a:spcPct val="150000"/>
              </a:lnSpc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EA94-A6C8-4EE0-A38C-F1EC7A63888B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b="1" dirty="0"/>
              <a:t>Laboratory Markers:</a:t>
            </a:r>
            <a:endParaRPr lang="en-GB" sz="2600" dirty="0"/>
          </a:p>
          <a:p>
            <a:r>
              <a:rPr lang="en-GB" sz="2600" dirty="0"/>
              <a:t>Elevated </a:t>
            </a:r>
            <a:r>
              <a:rPr lang="en-GB" sz="2600" dirty="0" err="1"/>
              <a:t>procalcitonin</a:t>
            </a:r>
            <a:r>
              <a:rPr lang="en-GB" sz="2600" dirty="0"/>
              <a:t> levels (</a:t>
            </a:r>
            <a:r>
              <a:rPr lang="en-GB" sz="2600" dirty="0" err="1"/>
              <a:t>nonsurvivors</a:t>
            </a:r>
            <a:r>
              <a:rPr lang="en-GB" sz="2600" dirty="0"/>
              <a:t> have significantly higher levels)</a:t>
            </a:r>
            <a:endParaRPr lang="en-GB" sz="2600" dirty="0"/>
          </a:p>
          <a:p>
            <a:r>
              <a:rPr lang="en-GB" sz="2600" dirty="0"/>
              <a:t>Elevated lactate (persistent hyperlactatemia)</a:t>
            </a:r>
            <a:endParaRPr lang="en-GB" sz="2600" dirty="0"/>
          </a:p>
          <a:p>
            <a:r>
              <a:rPr lang="en-GB" sz="2600" dirty="0"/>
              <a:t>Progressive metabolic acidosis</a:t>
            </a:r>
            <a:endParaRPr lang="en-GB" sz="2600" dirty="0"/>
          </a:p>
          <a:p>
            <a:pPr marL="0" indent="0">
              <a:buNone/>
            </a:pPr>
            <a:r>
              <a:rPr lang="en-GB" sz="2600" b="1" dirty="0"/>
              <a:t>Treatment Factors:</a:t>
            </a:r>
            <a:endParaRPr lang="en-GB" sz="2600" dirty="0"/>
          </a:p>
          <a:p>
            <a:r>
              <a:rPr lang="en-GB" sz="2600" dirty="0"/>
              <a:t>Delayed recognition and therapy</a:t>
            </a:r>
            <a:endParaRPr lang="en-GB" sz="2600" dirty="0"/>
          </a:p>
          <a:p>
            <a:r>
              <a:rPr lang="en-GB" sz="2600" dirty="0"/>
              <a:t>Delay in antibiotic administration &gt;1 hour</a:t>
            </a:r>
            <a:endParaRPr lang="en-GB" sz="2600" dirty="0"/>
          </a:p>
          <a:p>
            <a:r>
              <a:rPr lang="en-GB" sz="2600" dirty="0"/>
              <a:t>Fluid overload &gt;10%</a:t>
            </a:r>
            <a:endParaRPr lang="en-GB" sz="2600" dirty="0"/>
          </a:p>
          <a:p>
            <a:pPr marL="0" indent="0">
              <a:buNone/>
            </a:pPr>
            <a:r>
              <a:rPr lang="en-GB" sz="2600" b="1" dirty="0"/>
              <a:t>Key Message:</a:t>
            </a:r>
            <a:r>
              <a:rPr lang="en-GB" sz="2600" dirty="0"/>
              <a:t> Shock and MODS remain one of the leading causes of </a:t>
            </a:r>
            <a:r>
              <a:rPr lang="en-GB" sz="2600" dirty="0" err="1"/>
              <a:t>nonaccidental</a:t>
            </a:r>
            <a:r>
              <a:rPr lang="en-GB" sz="2600" dirty="0"/>
              <a:t> death in infants and children.</a:t>
            </a:r>
            <a:endParaRPr lang="en-GB" sz="26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2833B-B56E-4694-BA9D-EB355C7CB841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Prognosis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septic shock, mortality rates are as low as 3% in previously healthy children and 6–9% in children with chronic illness (compared with 25–30% in adults).</a:t>
            </a:r>
            <a:r>
              <a:rPr lang="en-US" sz="2400" dirty="0"/>
              <a:t> 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recognition and therapy, the mortality rate for pediatric shock continues to improve,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96DCA-5056-41FF-B1F0-EDCC36432F0F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 shock and MODS remain one of the leading causes of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nonaccidental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death in infants and children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risk of death involves a complex interaction of factors, including the underlying etiology, presence of chronic illness, host immune response, and timing of recognition and therapy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24A6-D708-4C61-8C4B-D3D30929831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r>
              <a:rPr lang="en-US" sz="4000" b="1" dirty="0"/>
              <a:t>Treatment Goals and Follow-up</a:t>
            </a:r>
            <a:br>
              <a:rPr lang="en-US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 smtClean="0"/>
              <a:t>Clinical </a:t>
            </a:r>
            <a:r>
              <a:rPr lang="en-GB" sz="2400" b="1" dirty="0"/>
              <a:t>Goals for Successful Resuscitation:</a:t>
            </a:r>
            <a:endParaRPr lang="en-GB" sz="2400" dirty="0"/>
          </a:p>
          <a:p>
            <a:r>
              <a:rPr lang="en-GB" sz="2400" b="1" dirty="0"/>
              <a:t>Hemodynamic:</a:t>
            </a:r>
            <a:endParaRPr lang="en-GB" sz="2400" dirty="0"/>
          </a:p>
          <a:p>
            <a:r>
              <a:rPr lang="en-GB" sz="2400" dirty="0"/>
              <a:t>Decreasing heart rate (first sign of reversal)</a:t>
            </a:r>
            <a:endParaRPr lang="en-GB" sz="2400" dirty="0"/>
          </a:p>
          <a:p>
            <a:r>
              <a:rPr lang="en-GB" sz="2400" dirty="0"/>
              <a:t>Blood pressure rising to age-appropriate range</a:t>
            </a:r>
            <a:endParaRPr lang="en-GB" sz="2400" dirty="0"/>
          </a:p>
          <a:p>
            <a:r>
              <a:rPr lang="en-GB" sz="2400" dirty="0"/>
              <a:t>Strong peripheral pulses</a:t>
            </a:r>
            <a:endParaRPr lang="en-GB" sz="2400" dirty="0"/>
          </a:p>
          <a:p>
            <a:r>
              <a:rPr lang="en-GB" sz="2400" dirty="0"/>
              <a:t>Warm extremities</a:t>
            </a:r>
            <a:endParaRPr lang="en-GB" sz="2400" dirty="0"/>
          </a:p>
          <a:p>
            <a:r>
              <a:rPr lang="en-GB" sz="2400" b="1" dirty="0"/>
              <a:t>Perfusion:</a:t>
            </a:r>
            <a:endParaRPr lang="en-GB" sz="2400" dirty="0"/>
          </a:p>
          <a:p>
            <a:r>
              <a:rPr lang="en-GB" sz="2400" dirty="0"/>
              <a:t>Capillary refill time &lt;2 seconds</a:t>
            </a:r>
            <a:endParaRPr lang="en-GB" sz="2400" dirty="0"/>
          </a:p>
          <a:p>
            <a:r>
              <a:rPr lang="en-GB" sz="2400" dirty="0"/>
              <a:t>Improving mental status (less irritable, more alert)</a:t>
            </a:r>
            <a:endParaRPr lang="en-GB" sz="2400" dirty="0"/>
          </a:p>
          <a:p>
            <a:pPr marL="0" indent="0">
              <a:buNone/>
            </a:pPr>
            <a:endParaRPr lang="en-US" sz="4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24A6-D708-4C61-8C4B-D3D30929831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r>
              <a:rPr lang="en-US" sz="4000" b="1" dirty="0"/>
              <a:t>Treatment Goals and Follow-up</a:t>
            </a:r>
            <a:br>
              <a:rPr lang="en-US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/>
              <a:t>Metabolic:</a:t>
            </a:r>
            <a:endParaRPr lang="en-GB" sz="2400" dirty="0"/>
          </a:p>
          <a:p>
            <a:r>
              <a:rPr lang="en-GB" sz="2400" dirty="0"/>
              <a:t>Urine output &gt;1 mL/kg/hour</a:t>
            </a:r>
            <a:endParaRPr lang="en-GB" sz="2400" dirty="0"/>
          </a:p>
          <a:p>
            <a:r>
              <a:rPr lang="en-GB" sz="2400" dirty="0"/>
              <a:t>Falling blood lactate levels (≥10-20% decrease)</a:t>
            </a:r>
            <a:endParaRPr lang="en-GB" sz="2400" dirty="0"/>
          </a:p>
          <a:p>
            <a:r>
              <a:rPr lang="en-GB" sz="2400" dirty="0"/>
              <a:t>Correcting metabolic acidosis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Respiratory:</a:t>
            </a:r>
            <a:endParaRPr lang="en-GB" sz="2400" dirty="0"/>
          </a:p>
          <a:p>
            <a:r>
              <a:rPr lang="en-GB" sz="2400" dirty="0"/>
              <a:t>Decreasing respiratory rate</a:t>
            </a:r>
            <a:endParaRPr lang="en-GB" sz="2400" dirty="0"/>
          </a:p>
          <a:p>
            <a:r>
              <a:rPr lang="en-GB" sz="2400" dirty="0" err="1"/>
              <a:t>SpO</a:t>
            </a:r>
            <a:r>
              <a:rPr lang="en-GB" sz="2400" dirty="0"/>
              <a:t>₂ ≥94%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Follow-up and Escalation:</a:t>
            </a:r>
            <a:endParaRPr lang="en-GB" sz="2400" dirty="0"/>
          </a:p>
          <a:p>
            <a:r>
              <a:rPr lang="en-GB" sz="2400" b="1" dirty="0"/>
              <a:t>All shock patients require careful follow-up and monitoring:</a:t>
            </a:r>
            <a:endParaRPr lang="en-GB" sz="2400" dirty="0"/>
          </a:p>
          <a:p>
            <a:r>
              <a:rPr lang="en-GB" sz="2400" b="1" dirty="0"/>
              <a:t>Reassessment:</a:t>
            </a:r>
            <a:r>
              <a:rPr lang="en-GB" sz="2400" dirty="0"/>
              <a:t> Patients should be reassessed after each </a:t>
            </a:r>
            <a:r>
              <a:rPr lang="en-GB" sz="2400" dirty="0" smtClean="0"/>
              <a:t>intervention</a:t>
            </a:r>
            <a:endParaRPr lang="en-GB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24A6-D708-4C61-8C4B-D3D30929831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r>
              <a:rPr lang="en-US" sz="4000" b="1" dirty="0"/>
              <a:t>Treatment Goals and Follow-up</a:t>
            </a:r>
            <a:br>
              <a:rPr lang="en-US" b="1" dirty="0"/>
            </a:b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b="1" dirty="0"/>
              <a:t>Transfer:</a:t>
            </a:r>
            <a:r>
              <a:rPr lang="en-GB" sz="2400" dirty="0"/>
              <a:t> All patients in shock should be referred to a higher-level facility after emergency care and stabilization</a:t>
            </a:r>
            <a:endParaRPr lang="en-GB" sz="2400" dirty="0"/>
          </a:p>
          <a:p>
            <a:r>
              <a:rPr lang="en-GB" sz="2400" b="1" dirty="0"/>
              <a:t>Monitor:</a:t>
            </a:r>
            <a:r>
              <a:rPr lang="en-GB" sz="2400" dirty="0"/>
              <a:t> Continue to monitor hemodynamic and metabolic parameters</a:t>
            </a:r>
            <a:endParaRPr lang="en-GB" sz="2400" dirty="0"/>
          </a:p>
          <a:p>
            <a:r>
              <a:rPr lang="en-GB" sz="2400" b="1" dirty="0"/>
              <a:t>Escalation:</a:t>
            </a:r>
            <a:r>
              <a:rPr lang="en-GB" sz="2400" dirty="0"/>
              <a:t> If no improvement, consider transfer to PICU or ECMO</a:t>
            </a:r>
            <a:endParaRPr lang="en-GB" sz="2400" dirty="0"/>
          </a:p>
          <a:p>
            <a:pPr marL="0" indent="0">
              <a:buNone/>
            </a:pPr>
            <a:r>
              <a:rPr lang="en-GB" sz="2400" b="1" dirty="0"/>
              <a:t>Documentation:</a:t>
            </a:r>
            <a:endParaRPr lang="en-GB" sz="2400" dirty="0"/>
          </a:p>
          <a:p>
            <a:r>
              <a:rPr lang="en-GB" sz="2400" dirty="0"/>
              <a:t>Document response to treatment before and after each intervention</a:t>
            </a:r>
            <a:endParaRPr lang="en-GB" sz="2400" dirty="0"/>
          </a:p>
          <a:p>
            <a:r>
              <a:rPr lang="en-GB" sz="2400" dirty="0"/>
              <a:t>Monitor trends in vital signs and laboratory values</a:t>
            </a:r>
            <a:endParaRPr lang="en-GB" sz="24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424A6-D708-4C61-8C4B-D3D309298315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Shock is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life threatening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conidtion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if not timely detected and managed.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five general categories of shock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treatement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beginning from ABCD of life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Treating specific types of shock with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ionotropes,antibiotics,blood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transfusion in addition to volume expansion.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1876-4A3B-46D5-8D07-136D2F9E95BE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Con’d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fluid-Refractory and Catecholamine-Resistant Shock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cosideration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other atypical and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revesible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causes is needed and,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Second-line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Vasoactive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Medications, and Stress-dose Corticosteroids can be used for management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7A44E-AC90-41EA-BED6-E38DBC40228C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Kliegman</a:t>
            </a:r>
            <a:r>
              <a:rPr lang="en-US" dirty="0"/>
              <a:t> RM, St </a:t>
            </a:r>
            <a:r>
              <a:rPr lang="en-US" dirty="0" err="1"/>
              <a:t>Geme</a:t>
            </a:r>
            <a:r>
              <a:rPr lang="en-US" dirty="0"/>
              <a:t> JW, Blum NJ, et al. </a:t>
            </a:r>
            <a:r>
              <a:rPr lang="en-US" i="1" dirty="0"/>
              <a:t>Nelson Textbook of Pediatrics</a:t>
            </a:r>
            <a:r>
              <a:rPr lang="en-US" dirty="0"/>
              <a:t>. 22nd ed. Elsevier; 2024. Chapter 88: Shock.</a:t>
            </a:r>
            <a:endParaRPr lang="en-US" dirty="0"/>
          </a:p>
          <a:p>
            <a:r>
              <a:rPr lang="en-US" dirty="0"/>
              <a:t>Weiss SL, </a:t>
            </a:r>
            <a:r>
              <a:rPr lang="en-US" dirty="0" err="1"/>
              <a:t>Tissieres</a:t>
            </a:r>
            <a:r>
              <a:rPr lang="en-US" dirty="0"/>
              <a:t> P, et al. Surviving Sepsis Campaign International Guidelines for the Management of Sepsis and Septic Shock in Children 2026. </a:t>
            </a:r>
            <a:r>
              <a:rPr lang="en-US" i="1" dirty="0" err="1"/>
              <a:t>Pediatr</a:t>
            </a:r>
            <a:r>
              <a:rPr lang="en-US" i="1" dirty="0"/>
              <a:t> </a:t>
            </a:r>
            <a:r>
              <a:rPr lang="en-US" i="1" dirty="0" err="1"/>
              <a:t>Crit</a:t>
            </a:r>
            <a:r>
              <a:rPr lang="en-US" i="1" dirty="0"/>
              <a:t> Care Med</a:t>
            </a:r>
            <a:r>
              <a:rPr lang="en-US" dirty="0"/>
              <a:t>. 2026;27(4):379-434.</a:t>
            </a:r>
            <a:endParaRPr lang="en-US" dirty="0"/>
          </a:p>
          <a:p>
            <a:r>
              <a:rPr lang="en-US" dirty="0" err="1"/>
              <a:t>Bjorklund</a:t>
            </a:r>
            <a:r>
              <a:rPr lang="en-US" dirty="0"/>
              <a:t> A, Resch J, </a:t>
            </a:r>
            <a:r>
              <a:rPr lang="en-US" dirty="0" err="1"/>
              <a:t>Slusher</a:t>
            </a:r>
            <a:r>
              <a:rPr lang="en-US" dirty="0"/>
              <a:t> T. Pediatric Shock Review. </a:t>
            </a:r>
            <a:r>
              <a:rPr lang="en-US" i="1" dirty="0"/>
              <a:t>Pediatrics in Review</a:t>
            </a:r>
            <a:r>
              <a:rPr lang="en-US" dirty="0"/>
              <a:t>. 2023;44(10):551-565.</a:t>
            </a:r>
            <a:endParaRPr lang="en-US" dirty="0"/>
          </a:p>
          <a:p>
            <a:r>
              <a:rPr lang="en-US" dirty="0"/>
              <a:t>Goldstein B, </a:t>
            </a:r>
            <a:r>
              <a:rPr lang="en-US" dirty="0" err="1"/>
              <a:t>Giroir</a:t>
            </a:r>
            <a:r>
              <a:rPr lang="en-US" dirty="0"/>
              <a:t> B, Randolph A. International pediatric sepsis consensus conference: Definitions for sepsis and organ dysfunction in pediatrics. </a:t>
            </a:r>
            <a:r>
              <a:rPr lang="en-US" i="1" dirty="0" err="1"/>
              <a:t>Pediatr</a:t>
            </a:r>
            <a:r>
              <a:rPr lang="en-US" i="1" dirty="0"/>
              <a:t> </a:t>
            </a:r>
            <a:r>
              <a:rPr lang="en-US" i="1" dirty="0" err="1"/>
              <a:t>Crit</a:t>
            </a:r>
            <a:r>
              <a:rPr lang="en-US" i="1" dirty="0"/>
              <a:t> Care Med</a:t>
            </a:r>
            <a:r>
              <a:rPr lang="en-US" dirty="0"/>
              <a:t>. 2005;6(1):2-8.</a:t>
            </a:r>
            <a:endParaRPr lang="en-US" dirty="0"/>
          </a:p>
          <a:p>
            <a:r>
              <a:rPr lang="en-US" dirty="0"/>
              <a:t>WHO. National Standard Treatment Guidelines for the Primary Level. 2013.</a:t>
            </a:r>
            <a:endParaRPr lang="en-US" dirty="0"/>
          </a:p>
          <a:p>
            <a:r>
              <a:rPr lang="en-US" dirty="0"/>
              <a:t>Connecticut Children's Medical Center. Septic Shock Clinical Pathway and Medication Guide. 2025.</a:t>
            </a:r>
            <a:endParaRPr lang="en-US" dirty="0"/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6C1A-F784-4D31-AEED-C335BFCA1BF9}" type="datetime1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760" y="2228850"/>
            <a:ext cx="5081270" cy="2376805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E3129-3940-4F2A-83BD-17F5C24CFEC1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B99F9-3683-47D2-B0BB-416EF60F0CA6}" type="slidenum">
              <a:rPr lang="en-US" sz="2000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Management of shock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21669</Words>
  <Application>WPS Presentation</Application>
  <PresentationFormat/>
  <Paragraphs>1054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4" baseType="lpstr">
      <vt:lpstr>Arial</vt:lpstr>
      <vt:lpstr>SimSun</vt:lpstr>
      <vt:lpstr>Wingdings</vt:lpstr>
      <vt:lpstr>Times New Roman</vt:lpstr>
      <vt:lpstr>Calibri</vt:lpstr>
      <vt:lpstr>Georgia</vt:lpstr>
      <vt:lpstr>Microsoft YaHei</vt:lpstr>
      <vt:lpstr>Arial Unicode MS</vt:lpstr>
      <vt:lpstr>Wingdings 2</vt:lpstr>
      <vt:lpstr>Wingdings</vt:lpstr>
      <vt:lpstr>Office Theme</vt:lpstr>
      <vt:lpstr>Seminar ON Management Of Shock In Children</vt:lpstr>
      <vt:lpstr>Outline</vt:lpstr>
      <vt:lpstr>Objective</vt:lpstr>
      <vt:lpstr>Definition &amp; Significance </vt:lpstr>
      <vt:lpstr>Epidemiology </vt:lpstr>
      <vt:lpstr>PowerPoint 演示文稿</vt:lpstr>
      <vt:lpstr>Stages of Shock</vt:lpstr>
      <vt:lpstr>Stages of Shock</vt:lpstr>
      <vt:lpstr>PowerPoint 演示文稿</vt:lpstr>
      <vt:lpstr> Classification of Shock</vt:lpstr>
      <vt:lpstr> Classification of Shock</vt:lpstr>
      <vt:lpstr> Classification of Shock</vt:lpstr>
      <vt:lpstr> Classification of Shock</vt:lpstr>
      <vt:lpstr> Classification of Shock</vt:lpstr>
      <vt:lpstr> Septic shock  </vt:lpstr>
      <vt:lpstr>Neurogenic shock </vt:lpstr>
      <vt:lpstr>PowerPoint 演示文稿</vt:lpstr>
      <vt:lpstr>PowerPoint 演示文稿</vt:lpstr>
      <vt:lpstr>PowerPoint 演示文稿</vt:lpstr>
      <vt:lpstr>Classification Based on Treatment Response</vt:lpstr>
      <vt:lpstr>Classification Based on Treatment Response</vt:lpstr>
      <vt:lpstr>Clinical Presentations</vt:lpstr>
      <vt:lpstr>Con’d</vt:lpstr>
      <vt:lpstr>Con’d</vt:lpstr>
      <vt:lpstr>Con’d</vt:lpstr>
      <vt:lpstr>General Principles of Management</vt:lpstr>
      <vt:lpstr>General Principles of Management</vt:lpstr>
      <vt:lpstr>General Principles of Management</vt:lpstr>
      <vt:lpstr>Fluid Resuscitation</vt:lpstr>
      <vt:lpstr>Fluid Resuscitation</vt:lpstr>
      <vt:lpstr> Principles of Management - Vasoactive Medications</vt:lpstr>
      <vt:lpstr>  Principles of Management - Airway and Breathing</vt:lpstr>
      <vt:lpstr>  Principles of Management - Airway and Breathing</vt:lpstr>
      <vt:lpstr> Principles of Management - Correcting Metabolic Abnormalities</vt:lpstr>
      <vt:lpstr> Principles of Management - Correcting Metabolic Abnormalities</vt:lpstr>
      <vt:lpstr>Hemodynamic targets </vt:lpstr>
      <vt:lpstr>Con’d</vt:lpstr>
      <vt:lpstr>Con’d</vt:lpstr>
      <vt:lpstr>Con’d</vt:lpstr>
      <vt:lpstr>Other treatments </vt:lpstr>
      <vt:lpstr>Con’d</vt:lpstr>
      <vt:lpstr>Specific Management</vt:lpstr>
      <vt:lpstr>Fluid administration</vt:lpstr>
      <vt:lpstr>Vasodilators</vt:lpstr>
      <vt:lpstr>Other management</vt:lpstr>
      <vt:lpstr> Obstructive shock </vt:lpstr>
      <vt:lpstr> Anaphylactic Shock (Distributive): </vt:lpstr>
      <vt:lpstr> Hypovolemic Shock: </vt:lpstr>
      <vt:lpstr>Septic shock</vt:lpstr>
      <vt:lpstr>Septic shock  </vt:lpstr>
      <vt:lpstr>Septic shock  </vt:lpstr>
      <vt:lpstr>PowerPoint 演示文稿</vt:lpstr>
      <vt:lpstr>PowerPoint 演示文稿</vt:lpstr>
      <vt:lpstr>PowerPoint 演示文稿</vt:lpstr>
      <vt:lpstr> Clinical features  (Based on source of infection) </vt:lpstr>
      <vt:lpstr> Septic Shock Management </vt:lpstr>
      <vt:lpstr>Con’d</vt:lpstr>
      <vt:lpstr>Con’d</vt:lpstr>
      <vt:lpstr> Shock in Malnutrition</vt:lpstr>
      <vt:lpstr>Cont’…</vt:lpstr>
      <vt:lpstr>Cont’…</vt:lpstr>
      <vt:lpstr>Septic shock</vt:lpstr>
      <vt:lpstr>Poor Prognostic Features </vt:lpstr>
      <vt:lpstr>Con’d</vt:lpstr>
      <vt:lpstr>Prognosis</vt:lpstr>
      <vt:lpstr>Con’d</vt:lpstr>
      <vt:lpstr> Treatment Goals and Follow-up </vt:lpstr>
      <vt:lpstr> Treatment Goals and Follow-up </vt:lpstr>
      <vt:lpstr> Treatment Goals and Follow-up </vt:lpstr>
      <vt:lpstr>Summary</vt:lpstr>
      <vt:lpstr>Con’d</vt:lpstr>
      <vt:lpstr>References</vt:lpstr>
      <vt:lpstr>Thank you</vt:lpstr>
    </vt:vector>
  </TitlesOfParts>
  <LinksUpToDate>false</LinksUpToDate>
  <SharedDoc>false</SharedDoc>
  <HyperlinksChanged>false</HyperlinksChanged>
  <AppVersion>14.0000</AppVersion>
  <Pages>73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TOSHIBA</dc:creator>
  <cp:lastModifiedBy>WPS_1713908330</cp:lastModifiedBy>
  <cp:revision>4</cp:revision>
  <dcterms:created xsi:type="dcterms:W3CDTF">2026-07-22T11:21:43Z</dcterms:created>
  <dcterms:modified xsi:type="dcterms:W3CDTF">2026-07-22T14:35:14Z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14CD86DBED604B20BE09B3D10D8BAE4D_12</vt:lpwstr>
  </property>
  <property fmtid="{D5CDD505-2E9C-101B-9397-08002B2CF9AE}" pid="3" name="KSOProductBuildVer">
    <vt:lpwstr>1033-12.1.0.27458</vt:lpwstr>
  </property>
</Properties>
</file>