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397" r:id="rId3"/>
    <p:sldId id="326" r:id="rId4"/>
    <p:sldId id="403" r:id="rId5"/>
    <p:sldId id="404" r:id="rId6"/>
    <p:sldId id="405" r:id="rId7"/>
    <p:sldId id="406" r:id="rId8"/>
    <p:sldId id="402" r:id="rId9"/>
    <p:sldId id="308" r:id="rId10"/>
    <p:sldId id="409" r:id="rId11"/>
    <p:sldId id="408" r:id="rId12"/>
    <p:sldId id="309" r:id="rId13"/>
    <p:sldId id="407" r:id="rId14"/>
    <p:sldId id="410" r:id="rId15"/>
    <p:sldId id="330" r:id="rId16"/>
    <p:sldId id="331" r:id="rId17"/>
    <p:sldId id="411" r:id="rId18"/>
    <p:sldId id="424" r:id="rId19"/>
    <p:sldId id="310" r:id="rId20"/>
    <p:sldId id="413" r:id="rId21"/>
    <p:sldId id="312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5" r:id="rId30"/>
    <p:sldId id="421" r:id="rId31"/>
    <p:sldId id="422" r:id="rId32"/>
    <p:sldId id="423" r:id="rId33"/>
    <p:sldId id="322" r:id="rId34"/>
    <p:sldId id="426" r:id="rId35"/>
    <p:sldId id="400" r:id="rId36"/>
    <p:sldId id="468" r:id="rId37"/>
    <p:sldId id="427" r:id="rId38"/>
    <p:sldId id="428" r:id="rId39"/>
    <p:sldId id="429" r:id="rId40"/>
    <p:sldId id="430" r:id="rId41"/>
    <p:sldId id="431" r:id="rId42"/>
    <p:sldId id="432" r:id="rId44"/>
    <p:sldId id="433" r:id="rId45"/>
    <p:sldId id="434" r:id="rId46"/>
    <p:sldId id="435" r:id="rId47"/>
    <p:sldId id="436" r:id="rId48"/>
    <p:sldId id="437" r:id="rId49"/>
    <p:sldId id="438" r:id="rId50"/>
    <p:sldId id="482" r:id="rId51"/>
    <p:sldId id="483" r:id="rId52"/>
    <p:sldId id="484" r:id="rId53"/>
    <p:sldId id="485" r:id="rId54"/>
    <p:sldId id="439" r:id="rId55"/>
    <p:sldId id="440" r:id="rId56"/>
    <p:sldId id="441" r:id="rId57"/>
    <p:sldId id="442" r:id="rId58"/>
    <p:sldId id="443" r:id="rId59"/>
    <p:sldId id="444" r:id="rId60"/>
    <p:sldId id="469" r:id="rId61"/>
    <p:sldId id="445" r:id="rId62"/>
    <p:sldId id="472" r:id="rId63"/>
    <p:sldId id="486" r:id="rId64"/>
    <p:sldId id="473" r:id="rId65"/>
    <p:sldId id="474" r:id="rId66"/>
    <p:sldId id="475" r:id="rId67"/>
    <p:sldId id="487" r:id="rId68"/>
    <p:sldId id="446" r:id="rId69"/>
    <p:sldId id="447" r:id="rId70"/>
    <p:sldId id="448" r:id="rId71"/>
    <p:sldId id="449" r:id="rId72"/>
    <p:sldId id="471" r:id="rId73"/>
    <p:sldId id="450" r:id="rId74"/>
    <p:sldId id="451" r:id="rId75"/>
    <p:sldId id="452" r:id="rId76"/>
    <p:sldId id="453" r:id="rId77"/>
    <p:sldId id="478" r:id="rId78"/>
    <p:sldId id="479" r:id="rId79"/>
    <p:sldId id="480" r:id="rId80"/>
    <p:sldId id="481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85692" autoAdjust="0"/>
  </p:normalViewPr>
  <p:slideViewPr>
    <p:cSldViewPr snapToGrid="0" showGuides="1">
      <p:cViewPr>
        <p:scale>
          <a:sx n="71" d="100"/>
          <a:sy n="71" d="100"/>
        </p:scale>
        <p:origin x="-660" y="-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3652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12D6C-935C-4D95-84FE-F5F935235C9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70DBD-AA12-4C4C-A59E-324C99D3FFA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Update</a:t>
            </a:r>
            <a:endParaRPr lang="en-US" altLang="en-US"/>
          </a:p>
          <a:p>
            <a:r>
              <a:rPr lang="en-US" altLang="en-US"/>
              <a:t>The PECARN trial showed that different fluid rates and sodium concentrations did not increase the risk of cerebral edema, so standard rehydration over 24–48 hours is appropriate.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"The first treatment given is isotonic fluid."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Deficit Replacement</a:t>
            </a:r>
            <a:endParaRPr lang="en-US" altLang="en-US"/>
          </a:p>
          <a:p>
            <a:r>
              <a:rPr lang="en-US" altLang="en-US"/>
              <a:t>What to say:</a:t>
            </a:r>
            <a:endParaRPr lang="en-US" altLang="en-US"/>
          </a:p>
          <a:p>
            <a:r>
              <a:rPr lang="en-US" altLang="en-US"/>
              <a:t>"After the child becomes hemodynamically stable, the remaining fluid deficit is replaced slowly.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20 mEq/L KPhos</a:t>
            </a:r>
            <a:endParaRPr lang="en-US" altLang="en-US"/>
          </a:p>
          <a:p>
            <a:r>
              <a:rPr lang="en-US" altLang="en-US"/>
              <a:t>20 mEq/L KAc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70DBD-AA12-4C4C-A59E-324C99D3FFA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F1D2-8DA2-43AD-A2BE-913E2F30C3D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41" y="4869951"/>
            <a:ext cx="2205409" cy="19880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6831-D20D-4D70-A85E-E69E3269F55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663B2-9AAD-479D-91D7-0632C43B718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6A05-4FB5-4BDB-AD2E-34FD2DA117F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31F4-781E-4051-BDB4-EA236C8065C9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F324-C046-4CDF-8454-B715BA855C1C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340-CB8E-4B49-9963-1CB6B84BD56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25A90-BCFC-40A0-AE3F-B071807636F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D64D0-8680-41B2-8A3D-7EF35F6366F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24CB-9DCB-4FE5-BB04-3DDF79544D9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7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7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7F42-5FDB-4D2E-B9CA-BA9243007CD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CEB32-A83E-4C31-8EEA-1A198299809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SEMINAR ON DKA MANAGEMENT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b="1" dirty="0" smtClean="0"/>
          </a:p>
          <a:p>
            <a:pPr marL="109855" indent="0">
              <a:buNone/>
            </a:pPr>
            <a:r>
              <a:rPr lang="en-US" b="1" dirty="0" smtClean="0"/>
              <a:t>PREPARED </a:t>
            </a:r>
            <a:r>
              <a:rPr lang="en-US" b="1" dirty="0"/>
              <a:t>BY</a:t>
            </a:r>
            <a:r>
              <a:rPr lang="en-US" b="1" dirty="0" smtClean="0"/>
              <a:t>: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      Name</a:t>
            </a:r>
            <a:endParaRPr lang="en-US" b="1" dirty="0"/>
          </a:p>
          <a:p>
            <a:pPr marL="109855" indent="0">
              <a:buNone/>
            </a:pPr>
            <a:r>
              <a:rPr lang="en-US" b="1" dirty="0" smtClean="0"/>
              <a:t>1.Abenazer Isayas</a:t>
            </a:r>
            <a:endParaRPr lang="en-US" b="1" dirty="0" smtClean="0"/>
          </a:p>
          <a:p>
            <a:pPr marL="109855" indent="0">
              <a:buNone/>
            </a:pPr>
            <a:r>
              <a:rPr lang="en-US" b="1" dirty="0" smtClean="0"/>
              <a:t>2.Abdisa </a:t>
            </a:r>
            <a:r>
              <a:rPr lang="en-US" b="1" dirty="0" err="1" smtClean="0"/>
              <a:t>Gebre</a:t>
            </a:r>
            <a:endParaRPr lang="en-US" b="1" dirty="0" smtClean="0"/>
          </a:p>
          <a:p>
            <a:pPr marL="109855" indent="0">
              <a:buNone/>
            </a:pPr>
            <a:r>
              <a:rPr lang="en-US" b="1" dirty="0" smtClean="0"/>
              <a:t>3.Aschalew </a:t>
            </a:r>
            <a:r>
              <a:rPr lang="en-US" b="1" dirty="0" err="1" smtClean="0"/>
              <a:t>Yenenew</a:t>
            </a:r>
            <a:endParaRPr lang="en-US" b="1" dirty="0" smtClean="0"/>
          </a:p>
          <a:p>
            <a:pPr marL="109855" indent="0">
              <a:buNone/>
            </a:pPr>
            <a:r>
              <a:rPr lang="en-US" b="1" dirty="0" smtClean="0"/>
              <a:t>4.Biniyam Dejene</a:t>
            </a:r>
            <a:endParaRPr lang="en-US" b="1" dirty="0"/>
          </a:p>
          <a:p>
            <a:endParaRPr lang="en-US" b="1" dirty="0"/>
          </a:p>
          <a:p>
            <a:pPr marL="109855" indent="0">
              <a:buNone/>
            </a:pPr>
            <a:r>
              <a:rPr lang="en-US" b="1" dirty="0" smtClean="0"/>
              <a:t>                                                 </a:t>
            </a:r>
            <a:r>
              <a:rPr lang="en-US" b="1" dirty="0"/>
              <a:t>MODERATOR</a:t>
            </a:r>
            <a:r>
              <a:rPr lang="en-US" dirty="0"/>
              <a:t>: </a:t>
            </a:r>
            <a:r>
              <a:rPr lang="en-US" b="1" dirty="0"/>
              <a:t>Dr. </a:t>
            </a:r>
            <a:r>
              <a:rPr lang="en-US" b="1" dirty="0" err="1"/>
              <a:t>Bereket</a:t>
            </a:r>
            <a:endParaRPr lang="en-US" b="1" dirty="0"/>
          </a:p>
          <a:p>
            <a:pPr marL="109855" indent="0">
              <a:buNone/>
            </a:pPr>
            <a:endParaRPr lang="en-US" b="1" dirty="0"/>
          </a:p>
          <a:p>
            <a:pPr marL="109855" indent="0">
              <a:buNone/>
            </a:pPr>
            <a:r>
              <a:rPr lang="en-US" dirty="0"/>
              <a:t>      </a:t>
            </a:r>
            <a:r>
              <a:rPr lang="en-US" dirty="0" smtClean="0"/>
              <a:t>                       (MD</a:t>
            </a:r>
            <a:r>
              <a:rPr lang="en-US" dirty="0"/>
              <a:t>, </a:t>
            </a:r>
            <a:r>
              <a:rPr lang="en-US" dirty="0" err="1"/>
              <a:t>Ass’t</a:t>
            </a:r>
            <a:r>
              <a:rPr lang="en-US" dirty="0"/>
              <a:t> professor of pediatrics and child health</a:t>
            </a:r>
            <a:r>
              <a:rPr lang="en-US" dirty="0" smtClean="0"/>
              <a:t>)</a:t>
            </a:r>
            <a:endParaRPr lang="en-US" dirty="0" smtClean="0"/>
          </a:p>
          <a:p>
            <a:pPr marL="109855" indent="0">
              <a:buNone/>
            </a:pPr>
            <a:r>
              <a:rPr lang="en-US" dirty="0" smtClean="0"/>
              <a:t>                                                           Date: </a:t>
            </a:r>
            <a:endParaRPr lang="en-US" dirty="0" smtClean="0"/>
          </a:p>
          <a:p>
            <a:pPr marL="109855" indent="0">
              <a:buNone/>
            </a:pPr>
            <a:r>
              <a:rPr lang="en-US" b="1" dirty="0" smtClean="0"/>
              <a:t>                                                            </a:t>
            </a:r>
            <a:r>
              <a:rPr lang="en-US" b="1" dirty="0" err="1" smtClean="0"/>
              <a:t>Asella</a:t>
            </a:r>
            <a:r>
              <a:rPr lang="en-US" b="1" dirty="0"/>
              <a:t>, </a:t>
            </a:r>
            <a:r>
              <a:rPr lang="en-US" b="1" dirty="0" err="1"/>
              <a:t>Oromia</a:t>
            </a:r>
            <a:r>
              <a:rPr lang="en-US" b="1" dirty="0"/>
              <a:t>, Ethiopia</a:t>
            </a:r>
            <a:endParaRPr lang="en-US" b="1" dirty="0"/>
          </a:p>
          <a:p>
            <a:pPr marL="109855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  <a:endParaRPr lang="en-US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Pathophysiology Of DKA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feature Of DKA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of DKA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of DKA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Diagnosis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management and approach Of DKA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 and electrolyte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Insulin therapy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 during management and prevention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814574"/>
          </a:xfrm>
        </p:spPr>
        <p:txBody>
          <a:bodyPr/>
          <a:lstStyle/>
          <a:p>
            <a:r>
              <a:rPr lang="en-US" dirty="0"/>
              <a:t>INTRODUCTION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116106"/>
            <a:ext cx="11250706" cy="515022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GB" altLang="en-US" b="1" dirty="0"/>
              <a:t>Diabetes </a:t>
            </a:r>
            <a:r>
              <a:rPr lang="en-GB" altLang="en-US" b="1" dirty="0" smtClean="0"/>
              <a:t>Mellitus</a:t>
            </a:r>
            <a:r>
              <a:rPr lang="en-GB" altLang="en-US" dirty="0"/>
              <a:t> (DM) </a:t>
            </a:r>
            <a:endParaRPr lang="en-GB" altLang="en-US" dirty="0"/>
          </a:p>
          <a:p>
            <a:pPr>
              <a:lnSpc>
                <a:spcPct val="90000"/>
              </a:lnSpc>
            </a:pPr>
            <a:r>
              <a:rPr lang="en-GB" altLang="en-US" dirty="0"/>
              <a:t>Diabetes Mellitus </a:t>
            </a:r>
            <a:r>
              <a:rPr lang="en-GB" altLang="en-US" dirty="0" smtClean="0"/>
              <a:t> </a:t>
            </a:r>
            <a:r>
              <a:rPr lang="en-GB" altLang="en-US" dirty="0"/>
              <a:t>is not a single disease entity.</a:t>
            </a:r>
            <a:endParaRPr lang="en-GB" altLang="en-US" dirty="0"/>
          </a:p>
          <a:p>
            <a:pPr>
              <a:lnSpc>
                <a:spcPct val="90000"/>
              </a:lnSpc>
              <a:buNone/>
            </a:pPr>
            <a:endParaRPr lang="en-GB" altLang="en-US" dirty="0"/>
          </a:p>
          <a:p>
            <a:pPr>
              <a:lnSpc>
                <a:spcPct val="90000"/>
              </a:lnSpc>
            </a:pPr>
            <a:r>
              <a:rPr lang="en-GB" altLang="en-US" sz="2800" dirty="0"/>
              <a:t>It is a group </a:t>
            </a:r>
            <a:r>
              <a:rPr lang="en-GB" altLang="en-US" sz="2800" dirty="0" smtClean="0"/>
              <a:t>of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</a:t>
            </a:r>
            <a:r>
              <a:rPr lang="en-GB" altLang="en-US" sz="2800" dirty="0" smtClean="0"/>
              <a:t> </a:t>
            </a:r>
            <a:r>
              <a:rPr lang="en-GB" altLang="en-US" sz="2800" dirty="0"/>
              <a:t>metabolic disorders sharing a common underlying feature of </a:t>
            </a:r>
            <a:r>
              <a:rPr lang="en-GB" altLang="en-US" sz="2800" dirty="0" err="1"/>
              <a:t>hyperglycemia</a:t>
            </a:r>
            <a:r>
              <a:rPr lang="en-GB" altLang="en-US" dirty="0" smtClean="0"/>
              <a:t>.</a:t>
            </a:r>
            <a:endParaRPr lang="en-GB" altLang="en-US" dirty="0" smtClean="0"/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/>
              <a:t>It </a:t>
            </a:r>
            <a:r>
              <a:rPr lang="en-US" dirty="0" smtClean="0"/>
              <a:t>is </a:t>
            </a:r>
            <a:r>
              <a:rPr lang="en-US" b="1" dirty="0" smtClean="0"/>
              <a:t>progressive </a:t>
            </a:r>
            <a:r>
              <a:rPr lang="en-US" b="1" dirty="0"/>
              <a:t>disease </a:t>
            </a:r>
            <a:r>
              <a:rPr lang="en-US" dirty="0"/>
              <a:t>effecting  numerous aspects of metabolism, beyond those related to glucose homeostasis</a:t>
            </a:r>
            <a:endParaRPr lang="en-GB" altLang="en-US" b="1" dirty="0"/>
          </a:p>
          <a:p>
            <a:pPr>
              <a:lnSpc>
                <a:spcPct val="90000"/>
              </a:lnSpc>
            </a:pPr>
            <a:r>
              <a:rPr lang="en-GB" altLang="en-US" dirty="0" err="1" smtClean="0"/>
              <a:t>Hyperglycemia</a:t>
            </a:r>
            <a:r>
              <a:rPr lang="en-GB" altLang="en-US" dirty="0" smtClean="0"/>
              <a:t> in DM results from defects in insulin secretion, insulin action, or, both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Etiologic Classifications of DM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3753" y="1290919"/>
            <a:ext cx="11138647" cy="4948516"/>
          </a:xfrm>
        </p:spPr>
        <p:txBody>
          <a:bodyPr/>
          <a:lstStyle/>
          <a:p>
            <a:r>
              <a:rPr lang="en-US" sz="2800" dirty="0"/>
              <a:t>Reflects the major </a:t>
            </a:r>
            <a:r>
              <a:rPr lang="en-US" sz="2800" b="1" dirty="0"/>
              <a:t>etiologies</a:t>
            </a:r>
            <a:r>
              <a:rPr lang="en-US" sz="2800" dirty="0"/>
              <a:t> and </a:t>
            </a:r>
            <a:r>
              <a:rPr lang="en-US" sz="2800" b="1" dirty="0"/>
              <a:t>pathogenic</a:t>
            </a:r>
            <a:r>
              <a:rPr lang="en-US" sz="2800" dirty="0"/>
              <a:t> pathways that are thought to lead to diabetes</a:t>
            </a:r>
            <a:endParaRPr lang="en-US" b="1" dirty="0"/>
          </a:p>
          <a:p>
            <a:r>
              <a:rPr lang="en-US" sz="3200" dirty="0" smtClean="0"/>
              <a:t>The </a:t>
            </a:r>
            <a:r>
              <a:rPr lang="en-US" sz="3200" b="1" dirty="0" smtClean="0"/>
              <a:t>ADA</a:t>
            </a:r>
            <a:r>
              <a:rPr lang="en-US" sz="3200" dirty="0" smtClean="0"/>
              <a:t> has proposed a diabetes classification system in 4 categories:</a:t>
            </a:r>
            <a:endParaRPr lang="en-US" sz="3200" dirty="0" smtClean="0"/>
          </a:p>
          <a:p>
            <a:pPr lvl="1"/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en-US" sz="2800" dirty="0" smtClean="0">
                <a:solidFill>
                  <a:schemeClr val="accent1"/>
                </a:solidFill>
              </a:rPr>
              <a:t>type 1 diabetes, </a:t>
            </a:r>
            <a:endParaRPr lang="en-US" sz="2800" dirty="0" smtClean="0">
              <a:solidFill>
                <a:schemeClr val="accent1"/>
              </a:solidFill>
            </a:endParaRPr>
          </a:p>
          <a:p>
            <a:pPr lvl="1"/>
            <a:r>
              <a:rPr lang="en-US" sz="2800" dirty="0" smtClean="0">
                <a:solidFill>
                  <a:schemeClr val="accent1"/>
                </a:solidFill>
              </a:rPr>
              <a:t>type 2 diabetes, </a:t>
            </a:r>
            <a:endParaRPr lang="en-US" sz="2800" dirty="0" smtClean="0">
              <a:solidFill>
                <a:schemeClr val="accent1"/>
              </a:solidFill>
            </a:endParaRPr>
          </a:p>
          <a:p>
            <a:pPr lvl="1"/>
            <a:r>
              <a:rPr lang="en-US" sz="2800" dirty="0" smtClean="0">
                <a:solidFill>
                  <a:schemeClr val="accent1"/>
                </a:solidFill>
              </a:rPr>
              <a:t>other specific types, and </a:t>
            </a:r>
            <a:endParaRPr lang="en-US" sz="2800" dirty="0" smtClean="0">
              <a:solidFill>
                <a:schemeClr val="accent1"/>
              </a:solidFill>
            </a:endParaRPr>
          </a:p>
          <a:p>
            <a:pPr lvl="1"/>
            <a:r>
              <a:rPr lang="en-US" sz="28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Gestational </a:t>
            </a:r>
            <a:r>
              <a:rPr lang="en-US" sz="2800" dirty="0" smtClean="0">
                <a:solidFill>
                  <a:schemeClr val="accent1"/>
                </a:solidFill>
              </a:rPr>
              <a:t>DM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2 Diabetes Mellitus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insulin resistance with relative insulin deficiency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Obesity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history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Sedentary lifestyle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incidence of T2DM among youth is increasing in many countries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Specific Types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205" indent="-514350">
              <a:lnSpc>
                <a:spcPct val="150000"/>
              </a:lnSpc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Defects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-Cell Function and Insulin 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4205" indent="-514350">
              <a:lnSpc>
                <a:spcPct val="150000"/>
              </a:lnSpc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Genetic and Autoimmune Syndromes Associated With Diabetes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4205" indent="-514350">
              <a:lnSpc>
                <a:spcPct val="150000"/>
              </a:lnSpc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Or Chemical Induced and Infections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4205" indent="-514350">
              <a:lnSpc>
                <a:spcPct val="150000"/>
              </a:lnSpc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E.Pancreas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Associated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Endocrinopathies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1 Diabetes Mellitus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form in children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autoimmune destruction of pancreatic 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absolute insulin deficiency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 fontScale="90000"/>
          </a:bodyPr>
          <a:lstStyle/>
          <a:p>
            <a:r>
              <a:rPr lang="en-US" dirty="0"/>
              <a:t>Epidemiology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282" y="1440180"/>
            <a:ext cx="11044518" cy="526542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T1DM is the most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childhood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adolescence.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accounts for approximately 10% of all cases of diabetes in all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855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F=M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855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Peaks of presentation occur in two age- groups: at 5- 7 (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time of increased  </a:t>
            </a:r>
            <a:r>
              <a:rPr lang="en-US" sz="2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 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sure to infectious </a:t>
            </a:r>
            <a:r>
              <a:rPr lang="en-US" sz="26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and, at puberty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due to increasing in gonadal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steroids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secretion (which antagonizes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Insulin),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855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855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68362"/>
          </a:xfrm>
        </p:spPr>
        <p:txBody>
          <a:bodyPr/>
          <a:lstStyle/>
          <a:p>
            <a:r>
              <a:rPr lang="en-US" sz="4400" dirty="0" smtClean="0"/>
              <a:t>Pathogenesis of T1DM</a:t>
            </a:r>
            <a:endParaRPr lang="en-US" dirty="0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953" y="1048871"/>
            <a:ext cx="7812742" cy="497541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prstClr val="black"/>
                </a:solidFill>
              </a:rPr>
              <a:t>Natural History of Type 1 Diabetes Mellitus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2694" y="1196788"/>
            <a:ext cx="10582835" cy="535193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Criteria for the Diagnosis of Diabetes Mellitus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196788"/>
            <a:ext cx="11040035" cy="489473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ble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3412" y="268941"/>
            <a:ext cx="11349317" cy="603773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 of DM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09855" indent="0">
              <a:buNone/>
            </a:pPr>
            <a:r>
              <a:rPr lang="en-US" sz="3200" dirty="0" smtClean="0">
                <a:sym typeface="+mn-ea"/>
              </a:rPr>
              <a:t>Acute complications:</a:t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Content Placeholder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Diabetic Ketoacidosis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Hypoglycemia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HHS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4"/>
          <p:cNvSpPr txBox="1"/>
          <p:nvPr/>
        </p:nvSpPr>
        <p:spPr>
          <a:xfrm>
            <a:off x="6172200" y="914681"/>
            <a:ext cx="5183188" cy="411956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 smtClean="0">
              <a:sym typeface="+mn-ea"/>
            </a:endParaRPr>
          </a:p>
          <a:p>
            <a:pPr marL="109855" indent="0">
              <a:buNone/>
            </a:pPr>
            <a:r>
              <a:rPr lang="en-US" sz="3200" dirty="0" smtClean="0">
                <a:sym typeface="+mn-ea"/>
              </a:rPr>
              <a:t>Chronic complications:</a:t>
            </a:r>
            <a:endParaRPr lang="en-US" sz="3200" dirty="0" smtClean="0">
              <a:sym typeface="+mn-ea"/>
            </a:endParaRPr>
          </a:p>
          <a:p>
            <a:endParaRPr lang="en-US" sz="3200" dirty="0"/>
          </a:p>
        </p:txBody>
      </p:sp>
      <p:sp>
        <p:nvSpPr>
          <p:cNvPr id="9" name="Content Placeholder 5"/>
          <p:cNvSpPr txBox="1"/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Microvascular</a:t>
            </a:r>
            <a:endParaRPr lang="en-US" sz="320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sz="320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Macrovascular</a:t>
            </a:r>
            <a:endParaRPr lang="en-US" sz="320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Diabetic Ketoacidosis (DKA)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071" y="1586753"/>
            <a:ext cx="10990729" cy="459020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Diabetic ketoacidosis (DKA)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acute, life-threatening complication of diabetes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mellitus.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19952" y="2459993"/>
            <a:ext cx="9874623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cs typeface="Times New Roman" panose="02020603050405020304" pitchFamily="18" charset="0"/>
                <a:sym typeface="+mn-ea"/>
              </a:rPr>
              <a:t>Formerly considered a hallmark of type 1 DM. </a:t>
            </a:r>
            <a:endParaRPr lang="en-US" sz="2800" dirty="0"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800" dirty="0">
                <a:cs typeface="Times New Roman" panose="02020603050405020304" pitchFamily="18" charset="0"/>
                <a:sym typeface="+mn-ea"/>
              </a:rPr>
              <a:t>    also occurs in individuals with type 2 DM </a:t>
            </a:r>
            <a:endParaRPr lang="en-US" sz="2800" dirty="0"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  <a:defRPr/>
            </a:pPr>
            <a:r>
              <a:rPr lang="en-US" sz="2800" dirty="0">
                <a:cs typeface="Times New Roman" panose="02020603050405020304" pitchFamily="18" charset="0"/>
                <a:sym typeface="+mn-ea"/>
              </a:rPr>
              <a:t>Ketosis-prone diabetes mellitus</a:t>
            </a:r>
            <a:endParaRPr lang="en-US" sz="2800" dirty="0"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dirty="0"/>
              <a:t>Characterized by:-</a:t>
            </a:r>
            <a:endParaRPr lang="en-US" altLang="en-US" dirty="0"/>
          </a:p>
          <a:p>
            <a:pPr lvl="6">
              <a:buFont typeface="Wingdings" panose="05000000000000000000" charset="0"/>
              <a:buChar char="ü"/>
            </a:pPr>
            <a:r>
              <a:rPr lang="en-US" altLang="en-US" sz="2400" dirty="0">
                <a:cs typeface="Times New Roman" panose="02020603050405020304" pitchFamily="18" charset="0"/>
              </a:rPr>
              <a:t>hyperglycemia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6">
              <a:buFont typeface="Wingdings" panose="05000000000000000000" charset="0"/>
              <a:buChar char="ü"/>
            </a:pPr>
            <a:r>
              <a:rPr lang="en-US" altLang="en-US" sz="2400" dirty="0" err="1" smtClean="0">
                <a:cs typeface="Times New Roman" panose="02020603050405020304" pitchFamily="18" charset="0"/>
              </a:rPr>
              <a:t>ketonemia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6">
              <a:buFont typeface="Wingdings" panose="05000000000000000000" charset="0"/>
              <a:buChar char="ü"/>
            </a:pPr>
            <a:r>
              <a:rPr lang="en-US" altLang="en-US" sz="2400" dirty="0">
                <a:cs typeface="Times New Roman" panose="02020603050405020304" pitchFamily="18" charset="0"/>
              </a:rPr>
              <a:t>metabolic acidosis</a:t>
            </a:r>
            <a:endParaRPr lang="en-US" altLang="en-US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Epidemiology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DKA is the most common acute complication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T1DM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children.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20–30%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newly diagnosed type 1 diabetes cases in children present with DKA.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cause of death: cerebral edema (accounts for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60–90%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pediatric DKA deaths).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mortality in low-resource settings due to delayed diagnosis, limited ICU access, and infections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FACTORS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855" indent="0">
              <a:buNone/>
            </a:pPr>
            <a:r>
              <a:rPr lang="en-US" sz="2800" b="1" u="sng" dirty="0">
                <a:solidFill>
                  <a:srgbClr val="C00000"/>
                </a:solidFill>
              </a:rPr>
              <a:t>Newly diagnosed patients include</a:t>
            </a:r>
            <a:endParaRPr lang="en-US" sz="2800" b="1" u="sng" dirty="0">
              <a:solidFill>
                <a:srgbClr val="C00000"/>
              </a:solidFill>
            </a:endParaRPr>
          </a:p>
          <a:p>
            <a:pPr marL="109855" indent="0">
              <a:buNone/>
            </a:pPr>
            <a:r>
              <a:rPr lang="en-US" sz="2800" dirty="0" smtClean="0"/>
              <a:t>Factors </a:t>
            </a:r>
            <a:r>
              <a:rPr lang="en-US" sz="2800" dirty="0"/>
              <a:t>that increase </a:t>
            </a:r>
            <a:r>
              <a:rPr lang="en-US" sz="2800" dirty="0" smtClean="0"/>
              <a:t> </a:t>
            </a:r>
            <a:r>
              <a:rPr lang="en-US" sz="2800" dirty="0"/>
              <a:t>DKA at the initial presentation of T1DM include :</a:t>
            </a:r>
            <a:endParaRPr lang="en-US" sz="2800" dirty="0"/>
          </a:p>
          <a:p>
            <a:r>
              <a:rPr lang="en-US" sz="2800" dirty="0" smtClean="0"/>
              <a:t>Young </a:t>
            </a:r>
            <a:r>
              <a:rPr lang="en-US" sz="2800" dirty="0"/>
              <a:t>age (&lt;5 years of age and especially &lt;2 years)</a:t>
            </a:r>
            <a:endParaRPr lang="en-US" sz="2800" dirty="0"/>
          </a:p>
          <a:p>
            <a:r>
              <a:rPr lang="en-US" sz="2800" dirty="0" smtClean="0"/>
              <a:t>Delayed </a:t>
            </a:r>
            <a:r>
              <a:rPr lang="en-US" sz="2800" dirty="0"/>
              <a:t>diagnosis of </a:t>
            </a:r>
            <a:r>
              <a:rPr lang="en-US" sz="2800" dirty="0" smtClean="0"/>
              <a:t>diabetes</a:t>
            </a:r>
            <a:endParaRPr lang="en-US" sz="2800" dirty="0"/>
          </a:p>
          <a:p>
            <a:r>
              <a:rPr lang="en-US" sz="2800" dirty="0" smtClean="0"/>
              <a:t>Low </a:t>
            </a:r>
            <a:r>
              <a:rPr lang="en-US" sz="2800" dirty="0"/>
              <a:t>socioeconomic status, lack of health insurance</a:t>
            </a:r>
            <a:endParaRPr lang="en-US" sz="2800" dirty="0"/>
          </a:p>
          <a:p>
            <a:r>
              <a:rPr lang="en-US" sz="2800" dirty="0" smtClean="0"/>
              <a:t>Children </a:t>
            </a:r>
            <a:r>
              <a:rPr lang="en-US" sz="2800" dirty="0"/>
              <a:t>living in countries with low prevalence of T1DM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300" b="1" u="sng" dirty="0">
                <a:solidFill>
                  <a:srgbClr val="C00000"/>
                </a:solidFill>
              </a:rPr>
              <a:t>Known diabetic patient includes</a:t>
            </a:r>
            <a:br>
              <a:rPr lang="en-US" sz="3300" b="1" u="sng" dirty="0">
                <a:solidFill>
                  <a:srgbClr val="C00000"/>
                </a:solidFill>
              </a:rPr>
            </a:br>
            <a:endParaRPr lang="en-US" sz="3300" b="1" u="sng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Omission of insulin </a:t>
            </a:r>
            <a:r>
              <a:rPr lang="en-US" dirty="0"/>
              <a:t>for various reasons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Children with poor metabolic control or previous episodes of DKA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Gastroenteritis</a:t>
            </a:r>
            <a:r>
              <a:rPr lang="en-US" dirty="0"/>
              <a:t> with persistent vomiting and inability to maintain hydration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Children with </a:t>
            </a:r>
            <a:r>
              <a:rPr lang="en-US" b="1" dirty="0"/>
              <a:t>psychiatric disorders</a:t>
            </a:r>
            <a:r>
              <a:rPr lang="en-US" dirty="0"/>
              <a:t>, including those with eating disorders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Difficult or unstable family circumstances (</a:t>
            </a:r>
            <a:r>
              <a:rPr lang="en-US" dirty="0" err="1"/>
              <a:t>eg</a:t>
            </a:r>
            <a:r>
              <a:rPr lang="en-US" dirty="0"/>
              <a:t>, parental abuse)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Children with limited access to medical services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Pathophysiology of DKA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280160"/>
            <a:ext cx="11761470" cy="492633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cs typeface="Times New Roman" panose="02020603050405020304" pitchFamily="18" charset="0"/>
              </a:rPr>
              <a:t>results from relative or absolute insulin deficiency combined with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counterregulatory</a:t>
            </a: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 hormone excess</a:t>
            </a:r>
            <a:r>
              <a:rPr lang="en-US" sz="2800" dirty="0" smtClean="0">
                <a:cs typeface="Times New Roman" panose="02020603050405020304" pitchFamily="18" charset="0"/>
              </a:rPr>
              <a:t>.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marL="109855" indent="0">
              <a:buNone/>
              <a:defRPr/>
            </a:pPr>
            <a:endParaRPr lang="en-US" sz="2800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cs typeface="Times New Roman" panose="02020603050405020304" pitchFamily="18" charset="0"/>
              </a:rPr>
              <a:t>Both insulin deficiency and glucagon excess, in particular, are necessary for DKA to develop. 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500" dirty="0">
                <a:cs typeface="Times New Roman" panose="02020603050405020304" pitchFamily="18" charset="0"/>
                <a:sym typeface="+mn-ea"/>
              </a:rPr>
              <a:t>The decreased ratio of insulin to glucagon promotes;</a:t>
            </a:r>
            <a:endParaRPr lang="en-US" sz="2500" dirty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500" dirty="0">
                <a:cs typeface="Times New Roman" panose="02020603050405020304" pitchFamily="18" charset="0"/>
                <a:sym typeface="+mn-ea"/>
              </a:rPr>
              <a:t>gluconeogenesis, </a:t>
            </a:r>
            <a:endParaRPr lang="en-US" sz="2500" dirty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500" dirty="0" err="1">
                <a:cs typeface="Times New Roman" panose="02020603050405020304" pitchFamily="18" charset="0"/>
                <a:sym typeface="+mn-ea"/>
              </a:rPr>
              <a:t>glycogenolysis</a:t>
            </a:r>
            <a:r>
              <a:rPr lang="en-US" sz="2500" dirty="0">
                <a:cs typeface="Times New Roman" panose="02020603050405020304" pitchFamily="18" charset="0"/>
                <a:sym typeface="+mn-ea"/>
              </a:rPr>
              <a:t>, and </a:t>
            </a:r>
            <a:endParaRPr lang="en-US" sz="2500" dirty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500" dirty="0">
                <a:cs typeface="Times New Roman" panose="02020603050405020304" pitchFamily="18" charset="0"/>
                <a:sym typeface="+mn-ea"/>
              </a:rPr>
              <a:t>ketone body formation in the liver, as well as </a:t>
            </a:r>
            <a:endParaRPr lang="en-US" sz="2500" dirty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500" dirty="0">
                <a:cs typeface="Times New Roman" panose="02020603050405020304" pitchFamily="18" charset="0"/>
                <a:sym typeface="+mn-ea"/>
              </a:rPr>
              <a:t>substrate delivery from fat and muscle (free fatty acids, amino acids) to the liver.</a:t>
            </a:r>
            <a:endParaRPr lang="en-US" sz="2500" dirty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17044" y="40314"/>
            <a:ext cx="8722628" cy="681768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8295" y="295836"/>
            <a:ext cx="10752046" cy="563431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Euglycemic DKA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>
                <a:cs typeface="Times New Roman" panose="02020603050405020304" pitchFamily="18" charset="0"/>
              </a:rPr>
              <a:t>Euglycemic ketoacidosis occurs with glucose level 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cs typeface="Times New Roman" panose="02020603050405020304" pitchFamily="18" charset="0"/>
              </a:rPr>
              <a:t> &lt; </a:t>
            </a:r>
            <a:r>
              <a:rPr lang="en-US" sz="2800" dirty="0" smtClean="0">
                <a:cs typeface="Times New Roman" panose="02020603050405020304" pitchFamily="18" charset="0"/>
              </a:rPr>
              <a:t>200mg/dl</a:t>
            </a:r>
            <a:r>
              <a:rPr lang="en-US" sz="2800" dirty="0">
                <a:cs typeface="Times New Roman" panose="02020603050405020304" pitchFamily="18" charset="0"/>
              </a:rPr>
              <a:t>. Situations in which euDKA occurs include:-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cs typeface="Times New Roman" panose="02020603050405020304" pitchFamily="18" charset="0"/>
              </a:rPr>
              <a:t>Patients presenting shortly after receiving insulin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cs typeface="Times New Roman" panose="02020603050405020304" pitchFamily="18" charset="0"/>
              </a:rPr>
              <a:t>Type1diabetics who are young and vomiting 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cs typeface="Times New Roman" panose="02020603050405020304" pitchFamily="18" charset="0"/>
              </a:rPr>
              <a:t>Patients with impaired gluconeogenesis (alcohol abuse or liver failure) 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cs typeface="Times New Roman" panose="02020603050405020304" pitchFamily="18" charset="0"/>
              </a:rPr>
              <a:t>Low caloric intake/starvation  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cs typeface="Times New Roman" panose="02020603050405020304" pitchFamily="18" charset="0"/>
              </a:rPr>
              <a:t>Pregnancy 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Approch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DKA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dirty="0" err="1"/>
              <a:t>Approch</a:t>
            </a:r>
            <a:r>
              <a:rPr lang="en-US" altLang="en-US" dirty="0"/>
              <a:t>  to the patients starts  by </a:t>
            </a:r>
            <a:endParaRPr lang="en-US" altLang="en-US" dirty="0"/>
          </a:p>
          <a:p>
            <a:pPr>
              <a:buFont typeface="Wingdings" panose="05000000000000000000" charset="0"/>
              <a:buChar char="Ø"/>
            </a:pPr>
            <a:endParaRPr lang="en-US" altLang="en-US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dirty="0"/>
              <a:t> History taking and physical </a:t>
            </a:r>
            <a:r>
              <a:rPr lang="en-US" altLang="en-US" dirty="0" err="1"/>
              <a:t>physical</a:t>
            </a:r>
            <a:r>
              <a:rPr lang="en-US" altLang="en-US" dirty="0"/>
              <a:t> examination guide us to diagnosis DKA and HHS. </a:t>
            </a:r>
            <a:endParaRPr lang="en-US" altLang="en-US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dirty="0"/>
              <a:t>  Confirm it with lab findings.  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87680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Features of DKA</a:t>
            </a:r>
            <a:endParaRPr lang="en-US" dirty="0"/>
          </a:p>
        </p:txBody>
      </p:sp>
      <p:pic>
        <p:nvPicPr>
          <p:cNvPr id="5" name="Content Placeholder 3" descr="1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 bwMode="auto">
          <a:xfrm>
            <a:off x="443754" y="2017058"/>
            <a:ext cx="9897034" cy="434340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84094" y="1169458"/>
            <a:ext cx="95608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 and symptoms of DKA are the result of acidosis, hyperglycemia, volume depletion, and electrolyte losses.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Infants tend to present with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decreased energy and activity,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Vomiting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Irritability or Lethargy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loss, and physical signs of dehydration; a severe Candida diaper rash is common.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biochemical criteria for the diagnosis of DKA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diagnosis of DKA is based on the triad of </a:t>
            </a:r>
            <a:r>
              <a:rPr lang="en-US" b="1" dirty="0"/>
              <a:t>hyperglycemia, ketosis and metabolic acidosis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6482" y="2380128"/>
            <a:ext cx="9372600" cy="430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</a:pPr>
            <a:endParaRPr lang="en-US" sz="2400" dirty="0" smtClean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/>
            </a:endParaRPr>
          </a:p>
          <a:p>
            <a:pPr lvl="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All </a:t>
            </a:r>
            <a:r>
              <a:rPr lang="en-US" sz="2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three biochemical criteria </a:t>
            </a: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are required to diagnose DKA</a:t>
            </a:r>
            <a:endParaRPr lang="en-US" sz="2400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/>
            </a:endParaRPr>
          </a:p>
          <a:p>
            <a:pPr lvl="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</a:pPr>
            <a:endParaRPr lang="en-US" sz="2400" dirty="0" smtClean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/>
            </a:endParaRPr>
          </a:p>
          <a:p>
            <a:pPr marL="514350" lvl="0" indent="-5143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</a:pP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Hyperglycemia (blood glucose &gt;11 </a:t>
            </a:r>
            <a:r>
              <a:rPr lang="en-US" sz="24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mmol</a:t>
            </a: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/L [200 mg/</a:t>
            </a:r>
            <a:r>
              <a:rPr lang="en-US" sz="24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dL</a:t>
            </a: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])</a:t>
            </a:r>
            <a:endParaRPr lang="en-US" sz="2400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/>
            </a:endParaRPr>
          </a:p>
          <a:p>
            <a:pPr marL="514350" lvl="0" indent="-5143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</a:pPr>
            <a:endParaRPr lang="en-US" sz="2400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/>
            </a:endParaRPr>
          </a:p>
          <a:p>
            <a:pPr marL="514350" lvl="0" indent="-5143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</a:pP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Venous pH &lt;7.3 or serum bicarbonate &lt;18 </a:t>
            </a:r>
            <a:r>
              <a:rPr lang="en-US" sz="24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mmol</a:t>
            </a: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/L</a:t>
            </a:r>
            <a:endParaRPr lang="en-US" sz="2400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/>
            </a:endParaRPr>
          </a:p>
          <a:p>
            <a:pPr marL="514350" lvl="0" indent="-5143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</a:pPr>
            <a:endParaRPr lang="en-US" sz="2400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/>
            </a:endParaRPr>
          </a:p>
          <a:p>
            <a:pPr marL="514350" lvl="0" indent="-514350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AutoNum type="arabicPeriod"/>
            </a:pPr>
            <a:r>
              <a:rPr lang="en-US" sz="24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Ketonemia</a:t>
            </a: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 (BOHB ≥3 </a:t>
            </a:r>
            <a:r>
              <a:rPr lang="en-US" sz="24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mmol</a:t>
            </a:r>
            <a:r>
              <a:rPr lang="en-US" sz="2400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/L) or moderate or large </a:t>
            </a:r>
            <a:r>
              <a:rPr lang="en-US" sz="24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ketonuria</a:t>
            </a:r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/>
              </a:rPr>
              <a:t>.</a:t>
            </a:r>
            <a:endParaRPr lang="en-US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 descr="7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 bwMode="auto">
          <a:xfrm>
            <a:off x="403412" y="524435"/>
            <a:ext cx="11178988" cy="574189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Differences in treatment strategy between HHS and DKA include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volume of fluid administered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the timing of administration of insulin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and monitoring of the corrected sodium decline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Severity </a:t>
            </a:r>
            <a:r>
              <a:rPr lang="en-US" b="1" dirty="0"/>
              <a:t>of </a:t>
            </a:r>
            <a:r>
              <a:rPr lang="en-US" b="1" dirty="0" smtClean="0"/>
              <a:t>DKA </a:t>
            </a:r>
            <a:r>
              <a:rPr lang="en-US" sz="2800" b="1" dirty="0" smtClean="0"/>
              <a:t>( ISPAD 2022) </a:t>
            </a:r>
            <a:endParaRPr lang="en-US" sz="2800" b="1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Is </a:t>
            </a:r>
            <a:r>
              <a:rPr lang="en-US" dirty="0"/>
              <a:t>categorized by the degree of acidosis   </a:t>
            </a: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 </a:t>
            </a:r>
            <a:r>
              <a:rPr lang="en-US" b="1" u="sng" dirty="0"/>
              <a:t>Mild: </a:t>
            </a:r>
            <a:endParaRPr lang="en-US" b="1" u="sng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venous </a:t>
            </a:r>
            <a:r>
              <a:rPr lang="en-US" dirty="0"/>
              <a:t>pH &lt;7.3 or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Serum </a:t>
            </a:r>
            <a:r>
              <a:rPr lang="en-US" dirty="0"/>
              <a:t>bicarbonate &lt;18 </a:t>
            </a:r>
            <a:r>
              <a:rPr lang="en-US" dirty="0" err="1"/>
              <a:t>mmol</a:t>
            </a:r>
            <a:r>
              <a:rPr lang="en-US" dirty="0"/>
              <a:t>/L24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Moderate</a:t>
            </a:r>
            <a:r>
              <a:rPr lang="en-US" b="1" u="sng" dirty="0"/>
              <a:t>: </a:t>
            </a:r>
            <a:endParaRPr lang="en-US" b="1" u="sng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 pH </a:t>
            </a:r>
            <a:r>
              <a:rPr lang="en-US" dirty="0"/>
              <a:t>&lt;7.2 or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 Serum </a:t>
            </a:r>
            <a:r>
              <a:rPr lang="en-US" dirty="0"/>
              <a:t>bicarbonate &lt;10 </a:t>
            </a:r>
            <a:r>
              <a:rPr lang="en-US" dirty="0" err="1"/>
              <a:t>mmol</a:t>
            </a:r>
            <a:r>
              <a:rPr lang="en-US" dirty="0"/>
              <a:t>/L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Severe</a:t>
            </a:r>
            <a:r>
              <a:rPr lang="en-US" b="1" u="sng" dirty="0"/>
              <a:t>: </a:t>
            </a:r>
            <a:endParaRPr lang="en-US" b="1" u="sng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pH </a:t>
            </a:r>
            <a:r>
              <a:rPr lang="en-US" dirty="0"/>
              <a:t>&lt;7.1 or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Serum </a:t>
            </a:r>
            <a:r>
              <a:rPr lang="en-US" dirty="0"/>
              <a:t>bicarbonate &lt;5 </a:t>
            </a:r>
            <a:r>
              <a:rPr lang="en-US" dirty="0" err="1"/>
              <a:t>mmol</a:t>
            </a:r>
            <a:r>
              <a:rPr lang="en-US" dirty="0"/>
              <a:t>/L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9624" y="416859"/>
            <a:ext cx="10804151" cy="531158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Investigations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9600" dirty="0">
                <a:latin typeface="Calibri" panose="020F0502020204030204" charset="0"/>
                <a:cs typeface="Calibri" panose="020F0502020204030204" charset="0"/>
              </a:rPr>
              <a:t>✓ Blood glucose </a:t>
            </a:r>
            <a:endParaRPr lang="en-US" sz="96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None/>
            </a:pPr>
            <a:r>
              <a:rPr lang="en-US" sz="9600" dirty="0">
                <a:latin typeface="Calibri" panose="020F0502020204030204" charset="0"/>
                <a:cs typeface="Calibri" panose="020F0502020204030204" charset="0"/>
              </a:rPr>
              <a:t> ✓ Blood  (BOHB) </a:t>
            </a:r>
            <a:endParaRPr lang="en-US" sz="96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None/>
            </a:pPr>
            <a:r>
              <a:rPr lang="en-US" sz="9600" dirty="0">
                <a:latin typeface="Calibri" panose="020F0502020204030204" charset="0"/>
                <a:cs typeface="Calibri" panose="020F0502020204030204" charset="0"/>
              </a:rPr>
              <a:t> ✓ Urine ketone</a:t>
            </a:r>
            <a:endParaRPr lang="en-US" sz="96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9600" dirty="0">
                <a:latin typeface="Calibri" panose="020F0502020204030204" charset="0"/>
                <a:cs typeface="Calibri" panose="020F0502020204030204" charset="0"/>
              </a:rPr>
              <a:t> Electrolytes (including serum bicarbonate)</a:t>
            </a:r>
            <a:endParaRPr lang="en-US" sz="96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9600" dirty="0">
                <a:latin typeface="Calibri" panose="020F0502020204030204" charset="0"/>
                <a:cs typeface="Calibri" panose="020F0502020204030204" charset="0"/>
              </a:rPr>
              <a:t>Blood urea nitrogen, </a:t>
            </a:r>
            <a:r>
              <a:rPr lang="en-US" sz="9600" dirty="0" err="1">
                <a:latin typeface="Calibri" panose="020F0502020204030204" charset="0"/>
                <a:cs typeface="Calibri" panose="020F0502020204030204" charset="0"/>
              </a:rPr>
              <a:t>creatinine</a:t>
            </a:r>
            <a:endParaRPr lang="en-US" sz="96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9600" dirty="0">
                <a:latin typeface="Calibri" panose="020F0502020204030204" charset="0"/>
                <a:cs typeface="Calibri" panose="020F0502020204030204" charset="0"/>
              </a:rPr>
              <a:t>Serum osmolality</a:t>
            </a:r>
            <a:endParaRPr lang="en-US" sz="96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9600" dirty="0">
                <a:latin typeface="Calibri" panose="020F0502020204030204" charset="0"/>
                <a:cs typeface="Calibri" panose="020F0502020204030204" charset="0"/>
              </a:rPr>
              <a:t>Venous pH, pCO2</a:t>
            </a:r>
            <a:endParaRPr lang="en-US" sz="96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9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sz="9600" dirty="0">
                <a:latin typeface="+mn-ea"/>
                <a:cs typeface="+mn-ea"/>
              </a:rPr>
              <a:t>Complete blood count (</a:t>
            </a:r>
            <a:r>
              <a:rPr lang="en-US" sz="9600" dirty="0" err="1">
                <a:latin typeface="+mn-ea"/>
                <a:cs typeface="+mn-ea"/>
              </a:rPr>
              <a:t>Hgb</a:t>
            </a:r>
            <a:r>
              <a:rPr lang="en-US" sz="9600" dirty="0">
                <a:latin typeface="+mn-ea"/>
                <a:cs typeface="+mn-ea"/>
              </a:rPr>
              <a:t>, </a:t>
            </a:r>
            <a:r>
              <a:rPr lang="en-US" sz="9600" dirty="0" err="1">
                <a:latin typeface="+mn-ea"/>
                <a:cs typeface="+mn-ea"/>
              </a:rPr>
              <a:t>Hct</a:t>
            </a:r>
            <a:r>
              <a:rPr lang="en-US" sz="9600" dirty="0">
                <a:latin typeface="+mn-ea"/>
                <a:cs typeface="+mn-ea"/>
              </a:rPr>
              <a:t>)</a:t>
            </a:r>
            <a:endParaRPr lang="en-US" sz="9600" dirty="0">
              <a:latin typeface="+mn-ea"/>
              <a:cs typeface="+mn-ea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9600" dirty="0">
                <a:latin typeface="+mn-ea"/>
                <a:cs typeface="+mn-ea"/>
              </a:rPr>
              <a:t>Culture (blood, urine, throat)</a:t>
            </a:r>
            <a:endParaRPr lang="en-US" sz="9600" dirty="0">
              <a:latin typeface="+mn-ea"/>
              <a:cs typeface="+mn-ea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Differential Diagnosis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Alcoholic </a:t>
            </a:r>
            <a:r>
              <a:rPr lang="en-US" sz="259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ketoacidosis</a:t>
            </a:r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Uremia</a:t>
            </a:r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Lactic acidosis</a:t>
            </a:r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Sepsis</a:t>
            </a:r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Hypoglycemia, </a:t>
            </a:r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9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Hyperosmolar</a:t>
            </a:r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hyperglycemic state</a:t>
            </a:r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Starvation </a:t>
            </a:r>
            <a:r>
              <a:rPr lang="en-US" sz="259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ketoacidosis</a:t>
            </a:r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failure </a:t>
            </a:r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Ingestions such as </a:t>
            </a:r>
            <a:r>
              <a:rPr lang="en-US" sz="259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salicylate</a:t>
            </a:r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methanol, ethylene glycol, iron, or </a:t>
            </a:r>
            <a:r>
              <a:rPr lang="en-US" sz="259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isoniazid</a:t>
            </a:r>
            <a:r>
              <a:rPr lang="en-US" sz="25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sz="4400" dirty="0" smtClean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</a:rPr>
              <a:t>of Diabetes Mellitus</a:t>
            </a:r>
            <a:r>
              <a:rPr lang="en-US" sz="4400" b="0" dirty="0">
                <a:solidFill>
                  <a:schemeClr val="tx1"/>
                </a:solidFill>
              </a:rPr>
              <a:t>: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/>
              <a:t>Can be approached in 3 Phases depending on the initial presentation; all of which have separate goals but in practice they merge in to a continuum.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Phase I :-DKA Management 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Phase II:-Post acidotic or transition period for metabolic control.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Phase III:-The continuation phase with guidance of the  Diabetic child and his or her family.  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48118" y="1828800"/>
            <a:ext cx="9834282" cy="1828799"/>
          </a:xfrm>
        </p:spPr>
        <p:txBody>
          <a:bodyPr>
            <a:normAutofit fontScale="90000"/>
          </a:bodyPr>
          <a:lstStyle/>
          <a:p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DKA Management 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should the child with DKA be managed?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Experienced nursing and medical staff trained in pediatric DKA</a:t>
            </a:r>
            <a:br>
              <a:rPr lang="en-US" dirty="0"/>
            </a:br>
            <a:r>
              <a:rPr lang="en-US" dirty="0"/>
              <a:t>management </a:t>
            </a:r>
            <a:endParaRPr lang="en-US" dirty="0"/>
          </a:p>
          <a:p>
            <a:r>
              <a:rPr lang="en-US" dirty="0"/>
              <a:t>Care policies and procedures based on clinical practice guidelines</a:t>
            </a:r>
            <a:endParaRPr lang="en-US" dirty="0"/>
          </a:p>
          <a:p>
            <a:r>
              <a:rPr lang="en-US" dirty="0"/>
              <a:t>Access to a laboratory appropriate for a standard of care </a:t>
            </a:r>
            <a:endParaRPr lang="en-US" dirty="0"/>
          </a:p>
          <a:p>
            <a:r>
              <a:rPr lang="en-US" dirty="0"/>
              <a:t>Home </a:t>
            </a:r>
            <a:r>
              <a:rPr lang="en-US" dirty="0" err="1"/>
              <a:t>vs</a:t>
            </a:r>
            <a:r>
              <a:rPr lang="en-US" dirty="0"/>
              <a:t> ER </a:t>
            </a:r>
            <a:r>
              <a:rPr lang="en-US" dirty="0" err="1"/>
              <a:t>vs</a:t>
            </a:r>
            <a:r>
              <a:rPr lang="en-US" dirty="0"/>
              <a:t> General ward </a:t>
            </a:r>
            <a:r>
              <a:rPr lang="en-US" dirty="0" err="1"/>
              <a:t>vs</a:t>
            </a:r>
            <a:r>
              <a:rPr lang="en-US" dirty="0"/>
              <a:t> PICU</a:t>
            </a:r>
            <a:endParaRPr lang="en-US" dirty="0"/>
          </a:p>
          <a:p>
            <a:pPr lvl="1"/>
            <a:r>
              <a:rPr lang="en-US" dirty="0"/>
              <a:t>Severity of DKA</a:t>
            </a:r>
            <a:endParaRPr lang="en-US" dirty="0"/>
          </a:p>
          <a:p>
            <a:pPr lvl="1"/>
            <a:r>
              <a:rPr lang="en-US" dirty="0"/>
              <a:t>Established </a:t>
            </a:r>
            <a:r>
              <a:rPr lang="en-US" dirty="0" err="1"/>
              <a:t>vs</a:t>
            </a:r>
            <a:r>
              <a:rPr lang="en-US" dirty="0"/>
              <a:t> new-onset DM</a:t>
            </a:r>
            <a:endParaRPr lang="en-US" dirty="0"/>
          </a:p>
          <a:p>
            <a:pPr lvl="1"/>
            <a:r>
              <a:rPr lang="en-US" dirty="0"/>
              <a:t>Proficiency of caretakers</a:t>
            </a:r>
            <a:endParaRPr lang="en-US" dirty="0"/>
          </a:p>
          <a:p>
            <a:pPr lvl="1"/>
            <a:r>
              <a:rPr lang="en-US" dirty="0"/>
              <a:t>Vomiting and feeding tolerance </a:t>
            </a:r>
            <a:endParaRPr lang="en-US" dirty="0"/>
          </a:p>
          <a:p>
            <a:pPr lvl="1"/>
            <a:r>
              <a:rPr lang="en-US" dirty="0"/>
              <a:t>Institutional guidelines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Treatment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800" dirty="0">
                <a:cs typeface="Times New Roman" panose="02020603050405020304" pitchFamily="18" charset="0"/>
              </a:rPr>
              <a:t>ABC of life</a:t>
            </a:r>
            <a:endParaRPr lang="en-GB" sz="2800" dirty="0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GB" sz="2800" dirty="0">
                <a:cs typeface="Times New Roman" panose="02020603050405020304" pitchFamily="18" charset="0"/>
              </a:rPr>
              <a:t>Careful replacement of fluid deficits.</a:t>
            </a:r>
            <a:endParaRPr lang="en-GB" sz="2800" dirty="0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GB" sz="2800" dirty="0">
                <a:cs typeface="Times New Roman" panose="02020603050405020304" pitchFamily="18" charset="0"/>
              </a:rPr>
              <a:t>Correction of acidosis &amp; </a:t>
            </a:r>
            <a:r>
              <a:rPr lang="en-GB" sz="2800" dirty="0" err="1">
                <a:cs typeface="Times New Roman" panose="02020603050405020304" pitchFamily="18" charset="0"/>
              </a:rPr>
              <a:t>hyperglycemia</a:t>
            </a:r>
            <a:r>
              <a:rPr lang="en-GB" sz="2800" dirty="0">
                <a:cs typeface="Times New Roman" panose="02020603050405020304" pitchFamily="18" charset="0"/>
              </a:rPr>
              <a:t> </a:t>
            </a:r>
            <a:endParaRPr lang="en-GB" sz="2800" dirty="0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GB" sz="2800" dirty="0">
                <a:cs typeface="Times New Roman" panose="02020603050405020304" pitchFamily="18" charset="0"/>
              </a:rPr>
              <a:t>Correction of electrolytes imbalance.</a:t>
            </a:r>
            <a:endParaRPr lang="en-GB" sz="2800" dirty="0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GB" sz="2800" dirty="0">
                <a:cs typeface="Times New Roman" panose="02020603050405020304" pitchFamily="18" charset="0"/>
              </a:rPr>
              <a:t>Treatment of complications</a:t>
            </a:r>
            <a:endParaRPr lang="en-GB" sz="2800" dirty="0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GB" sz="2800" dirty="0">
                <a:cs typeface="Times New Roman" panose="02020603050405020304" pitchFamily="18" charset="0"/>
              </a:rPr>
              <a:t> Treatment of precipitating factor</a:t>
            </a:r>
            <a:endParaRPr lang="en-GB" sz="2800" dirty="0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GB" sz="2800" dirty="0">
                <a:cs typeface="Times New Roman" panose="02020603050405020304" pitchFamily="18" charset="0"/>
              </a:rPr>
              <a:t>Diabetic education </a:t>
            </a:r>
            <a:endParaRPr lang="en-GB" sz="2800" dirty="0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GB" sz="2800" dirty="0">
                <a:cs typeface="Times New Roman" panose="02020603050405020304" pitchFamily="18" charset="0"/>
              </a:rPr>
              <a:t>Monitoring and </a:t>
            </a:r>
            <a:r>
              <a:rPr lang="en-GB" sz="2800" dirty="0" err="1">
                <a:cs typeface="Times New Roman" panose="02020603050405020304" pitchFamily="18" charset="0"/>
              </a:rPr>
              <a:t>followup</a:t>
            </a:r>
            <a:endParaRPr lang="en-GB" sz="28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goals of therapy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Restore perfusion and correct dehydration</a:t>
            </a:r>
            <a:endParaRPr lang="en-US" dirty="0"/>
          </a:p>
          <a:p>
            <a:r>
              <a:rPr lang="en-US" dirty="0"/>
              <a:t>Stop </a:t>
            </a:r>
            <a:r>
              <a:rPr lang="en-US" dirty="0" err="1"/>
              <a:t>Ketogenesis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Restore blood glucose to near normal</a:t>
            </a:r>
            <a:endParaRPr lang="en-US" dirty="0"/>
          </a:p>
          <a:p>
            <a:r>
              <a:rPr lang="en-US" dirty="0"/>
              <a:t>Correct electrolyte losses</a:t>
            </a:r>
            <a:endParaRPr lang="en-US" dirty="0"/>
          </a:p>
          <a:p>
            <a:r>
              <a:rPr lang="en-US" dirty="0"/>
              <a:t>Avoid complications of the Rx</a:t>
            </a:r>
            <a:endParaRPr lang="en-US" dirty="0"/>
          </a:p>
          <a:p>
            <a:r>
              <a:rPr lang="en-US" dirty="0"/>
              <a:t>Identify and treat any precipitating </a:t>
            </a:r>
            <a:r>
              <a:rPr lang="en-US" dirty="0" smtClean="0"/>
              <a:t>event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 and electrolyte replacement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objectives of fluid and electrolyte replacement     therapy are to: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Restore circulating volume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sodium and water deficits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glomerular filtration and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clearance of glucose and ketones from the blood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approach and principles of management are the same for all children with DKA, regardless of the severity.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DKA have a deficit in (ECF) volume that is typically about 7% of body weight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Shock with hemodynamic compromise is rare in pediatric DKA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estimates of the degree of dehydration are inaccurate 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Instead, patients should be rehydrated based upon a presumed fluid deficit and clinical response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based on PECARN FLUID Trial: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Assumed fluid deficits between 5%-10% of body weight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Replacement of deficits over 24 to 48 hours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Provision of maintenance fluids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fluids with a sodium content between 0.45% and 0.9%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Resuscitation fluids: initial fluid resuscitation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volume expansion of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10 to 20 mL/kg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administered as an IV bolus, using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isotonic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saline or Ringer's lactate infused over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20 to 30 minu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 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circulating volume is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compromised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the initial bolus is complete, additional IV bolus infusions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to 20 mL/kg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given.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10-20 ml/kg NS for iv  volume depletion but </a:t>
            </a:r>
            <a:r>
              <a:rPr lang="en-US" sz="20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 shock 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20ml/kg for shock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Deficit replacement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24-48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fluid to D5 containing when the plasma glucose falls to 250-300 mg/dl.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Subsequent fluid administration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child 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hemodynamically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stable, additional IV fluids should be administered, using IV fluids with 0.45 to 0.9%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rate of fluid administration is calculated to replace the remaining fluid deficit over 24 to 48 hours.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8906" y="484094"/>
            <a:ext cx="8915400" cy="550955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Potassium replacement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with DKA have total body potassium deficits on the order of 3 to 6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/kg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loss of potassium is from the intracellular pool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transcellular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shifts caused by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hypertonicity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urinary potassium excretion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vomiting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Potassium replacement is required regardless of the serum potassium concentration , except if renal failure is present.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patient is hypokalemic, start potassium replacement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time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volume expansion and before starting insulin therapy 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separate iv infusion with a potassium concentration of 40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start replacing potassium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volume expansion and concurrent with starting insulin therapy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patient is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hyperkalemic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recommended that Potassium is only added to IV fluids after the patient;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passed urine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a history of having recently passed urine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Potassium has fallen to within the upper limit of the normal range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Potassium assessment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body potassium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depleted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DKA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serum K⁺ result is delayed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baseline ECG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 peaked T waves → hyperkalemia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T waves / U waves 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hypokalemia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Phosphate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Phosphate depletion occurs in DKA due to urinary loss from osmotic diuresis,</a:t>
            </a:r>
            <a:endParaRPr lang="en-US" dirty="0"/>
          </a:p>
          <a:p>
            <a:r>
              <a:rPr lang="en-US" dirty="0"/>
              <a:t> reduced renal tubular reabsorption of phosphate and a shift of intracellular phosphate to the extracellular compartment as a result of metabolic acidosis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treatment,50%–60% of children develop hypophosphatemia.</a:t>
            </a:r>
            <a:endParaRPr lang="en-US" dirty="0"/>
          </a:p>
          <a:p>
            <a:r>
              <a:rPr lang="en-US" dirty="0"/>
              <a:t>Severe hypophosphatemia (&lt;1 mg/dl [0.32 </a:t>
            </a:r>
            <a:r>
              <a:rPr lang="en-US" dirty="0" err="1"/>
              <a:t>mmol</a:t>
            </a:r>
            <a:r>
              <a:rPr lang="en-US" dirty="0"/>
              <a:t>/L]) with or without associated symptoms should be treated promptly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Sodium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Promoting a rise in serum sodium concentrations during DKA treatment is no longer considered necessary </a:t>
            </a:r>
            <a:endParaRPr lang="en-US" dirty="0"/>
          </a:p>
          <a:p>
            <a:r>
              <a:rPr lang="en-US" dirty="0"/>
              <a:t>Corrected Na = measured Na + 1.6([plasma glucose - 5.6]/5.6) </a:t>
            </a:r>
            <a:r>
              <a:rPr lang="en-US" dirty="0" err="1"/>
              <a:t>mmol</a:t>
            </a:r>
            <a:r>
              <a:rPr lang="en-US" dirty="0"/>
              <a:t>/L or measured Na + 1.6([plasma glucose –    100]/100) mg/</a:t>
            </a:r>
            <a:r>
              <a:rPr lang="en-US" dirty="0" err="1"/>
              <a:t>dL</a:t>
            </a:r>
            <a:endParaRPr lang="en-US" dirty="0"/>
          </a:p>
          <a:p>
            <a:r>
              <a:rPr lang="en-US" dirty="0"/>
              <a:t>As the plasma glucose concentration falls, measured and corrected sodium should rise 1.6 </a:t>
            </a:r>
            <a:r>
              <a:rPr lang="en-US" dirty="0" err="1"/>
              <a:t>mmol</a:t>
            </a:r>
            <a:r>
              <a:rPr lang="en-US" dirty="0"/>
              <a:t>/L for each100 mg/</a:t>
            </a:r>
            <a:r>
              <a:rPr lang="en-US" dirty="0" err="1"/>
              <a:t>dL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Bicarbonate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Bicarbonate administration is not recommended except for treatment of life-threatening</a:t>
            </a:r>
            <a:endParaRPr lang="en-US" dirty="0"/>
          </a:p>
          <a:p>
            <a:r>
              <a:rPr lang="en-US" dirty="0"/>
              <a:t>hyperkalemia or for severe acidosis (venous pH &lt;6.9) with evidence of compromised cardiac contractility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Insulin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Start insulin infusion 1 </a:t>
            </a:r>
            <a:r>
              <a:rPr lang="en-US" sz="2800" dirty="0" err="1"/>
              <a:t>hr</a:t>
            </a:r>
            <a:r>
              <a:rPr lang="en-US" sz="2800" dirty="0"/>
              <a:t> after initiation of IV fluid </a:t>
            </a:r>
            <a:r>
              <a:rPr lang="en-US" sz="2800" dirty="0" smtClean="0"/>
              <a:t>treatment</a:t>
            </a:r>
            <a:endParaRPr lang="en-US" sz="2800" dirty="0" smtClean="0"/>
          </a:p>
          <a:p>
            <a:r>
              <a:rPr lang="en-US" sz="2800" dirty="0" smtClean="0"/>
              <a:t>Dose</a:t>
            </a:r>
            <a:r>
              <a:rPr lang="en-US" sz="2800" dirty="0"/>
              <a:t>: 0.05-0.1 U/kg/hour of regular insulin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lower dosage (0.05 U/kg/hour) can be considered for children with pH&gt;7.15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(e.g. dilute 50 units regular [soluble] insulin in 50 mL normal saline, 1 unit = 1 mL)</a:t>
            </a:r>
            <a:endParaRPr lang="en-US" sz="2800" dirty="0"/>
          </a:p>
          <a:p>
            <a:r>
              <a:rPr lang="en-US" sz="2800" dirty="0"/>
              <a:t> Route of administration: Intravenous (IV) </a:t>
            </a:r>
            <a:endParaRPr lang="en-US" sz="2800" dirty="0"/>
          </a:p>
          <a:p>
            <a:r>
              <a:rPr lang="en-US" sz="2800" dirty="0"/>
              <a:t>Infusion tubing should be flushed with 20 ml  insulin solution before administration. 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The dose of insulin should usually remain at 0.05-0.1 unit/kg/hour at least until resolution of DKA </a:t>
            </a:r>
            <a:endParaRPr lang="en-US" sz="3000" dirty="0"/>
          </a:p>
          <a:p>
            <a:pPr lvl="1" indent="-342900">
              <a:buFont typeface="Wingdings" panose="05000000000000000000" pitchFamily="2" charset="2"/>
              <a:buChar char="Ø"/>
            </a:pPr>
            <a:r>
              <a:rPr lang="en-US" sz="3000" dirty="0"/>
              <a:t> pH &gt;7.30, </a:t>
            </a:r>
            <a:endParaRPr lang="en-US" sz="3000" dirty="0"/>
          </a:p>
          <a:p>
            <a:pPr lvl="1" indent="-342900">
              <a:buFont typeface="Wingdings" panose="05000000000000000000" pitchFamily="2" charset="2"/>
              <a:buChar char="Ø"/>
            </a:pPr>
            <a:r>
              <a:rPr lang="en-US" sz="3000" dirty="0"/>
              <a:t>serum bicarbonate &gt;18 </a:t>
            </a:r>
            <a:r>
              <a:rPr lang="en-US" sz="3000" dirty="0" err="1"/>
              <a:t>mmol</a:t>
            </a:r>
            <a:r>
              <a:rPr lang="en-US" sz="3000" dirty="0"/>
              <a:t>/L, </a:t>
            </a:r>
            <a:endParaRPr lang="en-US" sz="3000" dirty="0"/>
          </a:p>
          <a:p>
            <a:pPr lvl="1" indent="-342900">
              <a:buFont typeface="Wingdings" panose="05000000000000000000" pitchFamily="2" charset="2"/>
              <a:buChar char="Ø"/>
            </a:pPr>
            <a:r>
              <a:rPr lang="en-US" sz="3000" dirty="0"/>
              <a:t>BOHB &lt;1 </a:t>
            </a:r>
            <a:r>
              <a:rPr lang="en-US" sz="3000" dirty="0" err="1"/>
              <a:t>mmol</a:t>
            </a:r>
            <a:r>
              <a:rPr lang="en-US" sz="3000" dirty="0"/>
              <a:t>/L, </a:t>
            </a:r>
            <a:endParaRPr lang="en-US" sz="3000" dirty="0"/>
          </a:p>
          <a:p>
            <a:pPr lvl="1" indent="-342900">
              <a:buFont typeface="Wingdings" panose="05000000000000000000" pitchFamily="2" charset="2"/>
              <a:buChar char="Ø"/>
            </a:pPr>
            <a:r>
              <a:rPr lang="en-US" sz="3000" dirty="0"/>
              <a:t>or closure of the anion gap </a:t>
            </a:r>
            <a:endParaRPr lang="en-US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If the insulin effect is adequate, serum BOHB should decrease by approximately 0.5 </a:t>
            </a:r>
            <a:r>
              <a:rPr lang="en-US" sz="3000" dirty="0" err="1"/>
              <a:t>mmol</a:t>
            </a:r>
            <a:r>
              <a:rPr lang="en-US" sz="3000" dirty="0"/>
              <a:t>/L per hour</a:t>
            </a:r>
            <a:endParaRPr lang="en-US" sz="3000" dirty="0"/>
          </a:p>
          <a:p>
            <a:pPr marL="0" indent="0">
              <a:buNone/>
            </a:pPr>
            <a:endParaRPr lang="en-US" sz="2800" dirty="0"/>
          </a:p>
          <a:p>
            <a:endParaRPr lang="en-US" sz="30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iv infusion is not possible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hourly or 2-hourly SC rapid acting insulin analog (insulin </a:t>
            </a:r>
            <a:r>
              <a:rPr lang="en-US" sz="2400" dirty="0" err="1"/>
              <a:t>lispro</a:t>
            </a:r>
            <a:r>
              <a:rPr lang="en-US" sz="2400" dirty="0"/>
              <a:t> or insulin </a:t>
            </a:r>
            <a:r>
              <a:rPr lang="en-US" sz="2400" dirty="0" err="1"/>
              <a:t>aspart</a:t>
            </a:r>
            <a:r>
              <a:rPr lang="en-US" sz="2400" dirty="0"/>
              <a:t>) is used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Dose SC: 0.15 units/kg every 2 hours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dose can be reduced to 0.1 unit/kg every 2 hours if BG continues to decrease by &gt;5 </a:t>
            </a:r>
            <a:r>
              <a:rPr lang="en-US" sz="2400" dirty="0" err="1"/>
              <a:t>mmol</a:t>
            </a:r>
            <a:r>
              <a:rPr lang="en-US" sz="2400" dirty="0"/>
              <a:t>/L (90mg/</a:t>
            </a:r>
            <a:r>
              <a:rPr lang="en-US" sz="2400" dirty="0" err="1"/>
              <a:t>dL</a:t>
            </a:r>
            <a:r>
              <a:rPr lang="en-US" sz="2400" dirty="0"/>
              <a:t>) even after adding dextrose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Monitoring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Hourly monitoring </a:t>
            </a:r>
            <a:endParaRPr lang="en-US" dirty="0"/>
          </a:p>
          <a:p>
            <a:pPr lvl="1"/>
            <a:r>
              <a:rPr lang="en-US" dirty="0"/>
              <a:t>Vital sign </a:t>
            </a:r>
            <a:endParaRPr lang="en-US" dirty="0"/>
          </a:p>
          <a:p>
            <a:pPr lvl="1"/>
            <a:r>
              <a:rPr lang="en-US" dirty="0"/>
              <a:t>Neurologic assessment</a:t>
            </a:r>
            <a:endParaRPr lang="en-US" dirty="0"/>
          </a:p>
          <a:p>
            <a:pPr lvl="1"/>
            <a:r>
              <a:rPr lang="en-US" dirty="0"/>
              <a:t>Insulin administration</a:t>
            </a:r>
            <a:endParaRPr lang="en-US" dirty="0"/>
          </a:p>
          <a:p>
            <a:pPr lvl="1"/>
            <a:r>
              <a:rPr lang="en-US" dirty="0"/>
              <a:t>Fluid balance </a:t>
            </a:r>
            <a:endParaRPr lang="en-US" dirty="0"/>
          </a:p>
          <a:p>
            <a:pPr lvl="1"/>
            <a:r>
              <a:rPr lang="en-US" dirty="0"/>
              <a:t>Capillary blood glucose</a:t>
            </a:r>
            <a:endParaRPr lang="en-US" dirty="0"/>
          </a:p>
          <a:p>
            <a:r>
              <a:rPr lang="en-US" dirty="0"/>
              <a:t>Every 2-4 </a:t>
            </a:r>
            <a:r>
              <a:rPr lang="en-US" dirty="0" err="1"/>
              <a:t>hr</a:t>
            </a:r>
            <a:endParaRPr lang="en-US" dirty="0"/>
          </a:p>
          <a:p>
            <a:pPr lvl="1"/>
            <a:r>
              <a:rPr lang="en-US" dirty="0"/>
              <a:t>Serum electrolytes, calcium, magnesium, BUN, phosphate, and blood gas</a:t>
            </a:r>
            <a:endParaRPr lang="en-US" dirty="0"/>
          </a:p>
          <a:p>
            <a:pPr lvl="1"/>
            <a:r>
              <a:rPr lang="en-US" dirty="0"/>
              <a:t>Blood BOHB concentrations/Urine ketone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599" y="274638"/>
            <a:ext cx="11237259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0000"/>
                </a:solidFill>
                <a:latin typeface="LiberationSerif-Bold"/>
              </a:rPr>
              <a:t>DKA/HHS </a:t>
            </a:r>
            <a:r>
              <a:rPr lang="en-US" b="1" dirty="0">
                <a:solidFill>
                  <a:srgbClr val="000000"/>
                </a:solidFill>
                <a:latin typeface="LiberationSerif-Bold"/>
              </a:rPr>
              <a:t>STATE FLOW SHEET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29" y="1169894"/>
            <a:ext cx="10260105" cy="5225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 of DKA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Serum anion gap reduced to normal (12±2 </a:t>
            </a:r>
            <a:r>
              <a:rPr lang="en-US" sz="2800" dirty="0" err="1"/>
              <a:t>mEq</a:t>
            </a:r>
            <a:r>
              <a:rPr lang="en-US" sz="2800" dirty="0"/>
              <a:t>/L) or serum BOHB ≤1 </a:t>
            </a:r>
            <a:r>
              <a:rPr lang="en-US" sz="2800" dirty="0" err="1"/>
              <a:t>mmol</a:t>
            </a:r>
            <a:r>
              <a:rPr lang="en-US" sz="2800" dirty="0"/>
              <a:t>/L (10.4 mg/</a:t>
            </a:r>
            <a:r>
              <a:rPr lang="en-US" sz="2800" dirty="0" err="1"/>
              <a:t>dL</a:t>
            </a:r>
            <a:r>
              <a:rPr lang="en-US" sz="2800" dirty="0"/>
              <a:t>)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Venous pH &gt;7.3 or serum bicarbonate &gt;15 </a:t>
            </a:r>
            <a:r>
              <a:rPr lang="en-US" sz="2800" dirty="0" err="1"/>
              <a:t>mEq</a:t>
            </a:r>
            <a:r>
              <a:rPr lang="en-US" sz="2800" dirty="0"/>
              <a:t>/L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Blood glucose &lt;200 mg/</a:t>
            </a:r>
            <a:r>
              <a:rPr lang="en-US" sz="2800" dirty="0" err="1"/>
              <a:t>dL</a:t>
            </a:r>
            <a:r>
              <a:rPr lang="en-US" sz="2800" dirty="0"/>
              <a:t> (11.1 </a:t>
            </a:r>
            <a:r>
              <a:rPr lang="en-US" sz="2800" dirty="0" err="1"/>
              <a:t>mmol</a:t>
            </a:r>
            <a:r>
              <a:rPr lang="en-US" sz="2800" dirty="0"/>
              <a:t>/L)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Patient is tolerating oral intake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Oral fluids should be introduced only when substantial clinical              improvement has occurred (mild acidosis/ketosis may still be present)</a:t>
            </a:r>
            <a:endParaRPr lang="en-US" dirty="0"/>
          </a:p>
          <a:p>
            <a:r>
              <a:rPr lang="en-US" dirty="0"/>
              <a:t>When oral fluid is tolerated, IV fluid should be reduced.</a:t>
            </a:r>
            <a:endParaRPr lang="en-US" dirty="0"/>
          </a:p>
          <a:p>
            <a:pPr lvl="0"/>
            <a:r>
              <a:rPr lang="en-US" dirty="0"/>
              <a:t>In patients with insulin infusion to prevent rebound hyperglycemia     the first SC injection should be given 1-2 hours (with Regular insulin)  before stopping the insulin infusion.</a:t>
            </a:r>
            <a:endParaRPr lang="en-US" dirty="0"/>
          </a:p>
          <a:p>
            <a:pPr lvl="0"/>
            <a:r>
              <a:rPr lang="en-US" dirty="0"/>
              <a:t>In our case you can adjust the time for the initiation of standing dose, until that give </a:t>
            </a:r>
            <a:r>
              <a:rPr lang="en-US" dirty="0">
                <a:solidFill>
                  <a:srgbClr val="C00000"/>
                </a:solidFill>
              </a:rPr>
              <a:t>½</a:t>
            </a:r>
            <a:r>
              <a:rPr lang="en-US" dirty="0"/>
              <a:t> of the  six hourly regular insulin dose.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cs typeface="+mn-ea"/>
                <a:sym typeface="+mn-ea"/>
              </a:rPr>
              <a:t>Complications during DKA management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cs typeface="+mn-lt"/>
              </a:rPr>
              <a:t>Hypoglycemia</a:t>
            </a:r>
            <a:endParaRPr lang="en-US" sz="2800" dirty="0"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cs typeface="+mn-lt"/>
              </a:rPr>
              <a:t>Cerebral Edema </a:t>
            </a:r>
            <a:endParaRPr lang="en-US" sz="2800" dirty="0" smtClean="0"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>
                <a:cs typeface="+mn-lt"/>
              </a:rPr>
              <a:t>Hypokalemia</a:t>
            </a:r>
            <a:endParaRPr lang="en-US" sz="2800" dirty="0" smtClean="0"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>
                <a:cs typeface="+mn-lt"/>
              </a:rPr>
              <a:t>Hypophosphatemia</a:t>
            </a:r>
            <a:endParaRPr lang="en-US" sz="2800" dirty="0"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>
                <a:cs typeface="+mn-lt"/>
              </a:rPr>
              <a:t>Acute </a:t>
            </a:r>
            <a:r>
              <a:rPr lang="en-US" sz="2800" dirty="0">
                <a:cs typeface="+mn-lt"/>
              </a:rPr>
              <a:t>Kidney Injury</a:t>
            </a:r>
            <a:endParaRPr lang="en-US" sz="2800" dirty="0"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cs typeface="+mn-lt"/>
              </a:rPr>
              <a:t>Acute Respiratory Distress Syndrome</a:t>
            </a:r>
            <a:endParaRPr lang="en-US" sz="2800" dirty="0"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>
                <a:cs typeface="+mn-lt"/>
              </a:rPr>
              <a:t>Hyperchloremic</a:t>
            </a:r>
            <a:r>
              <a:rPr lang="en-US" sz="2800" dirty="0">
                <a:cs typeface="+mn-lt"/>
              </a:rPr>
              <a:t> Acidosis </a:t>
            </a:r>
            <a:endParaRPr lang="en-US" sz="2800" dirty="0">
              <a:cs typeface="+mn-lt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1.Hypoglycemia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Glucose value &lt;3.9 </a:t>
            </a:r>
            <a:r>
              <a:rPr lang="en-US" sz="2400" dirty="0" err="1"/>
              <a:t>mmol</a:t>
            </a:r>
            <a:r>
              <a:rPr lang="en-US" sz="2400" dirty="0"/>
              <a:t>/L (70 mg/dl) is used as the clinical alert or threshold value for initiating treatment for hypoglycemia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Determine underlying cause.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Monitor blood glucose every 15 minutes until blood glucose is &gt;100mg/dl.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international consensus panel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✓ </a:t>
            </a:r>
            <a:r>
              <a:rPr lang="en-US" b="1" dirty="0">
                <a:solidFill>
                  <a:srgbClr val="C00000"/>
                </a:solidFill>
              </a:rPr>
              <a:t>Clinical hypoglycemia alert </a:t>
            </a:r>
            <a:r>
              <a:rPr lang="en-US" dirty="0"/>
              <a:t>– </a:t>
            </a:r>
            <a:r>
              <a:rPr lang="en-US" b="1" dirty="0"/>
              <a:t>Blood glucose &lt;70 mg/</a:t>
            </a:r>
            <a:r>
              <a:rPr lang="en-US" b="1" dirty="0" err="1"/>
              <a:t>dL</a:t>
            </a:r>
            <a:r>
              <a:rPr lang="en-US" b="1" dirty="0"/>
              <a:t> </a:t>
            </a:r>
            <a:r>
              <a:rPr lang="en-US" dirty="0"/>
              <a:t>( this is commonly used as a threshold for recognizing and initiating treatment for hypoglycemia.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✓ </a:t>
            </a:r>
            <a:r>
              <a:rPr lang="en-US" b="1" dirty="0">
                <a:solidFill>
                  <a:srgbClr val="C00000"/>
                </a:solidFill>
              </a:rPr>
              <a:t>Clinically important or serious hypoglycemia </a:t>
            </a:r>
            <a:r>
              <a:rPr lang="en-US" dirty="0"/>
              <a:t>– </a:t>
            </a:r>
            <a:r>
              <a:rPr lang="en-US" b="1" dirty="0"/>
              <a:t>Blood glucose &lt;54 mg/</a:t>
            </a:r>
            <a:r>
              <a:rPr lang="en-US" b="1" dirty="0" err="1"/>
              <a:t>dL</a:t>
            </a:r>
            <a:r>
              <a:rPr lang="en-US" b="1" dirty="0"/>
              <a:t> </a:t>
            </a:r>
            <a:r>
              <a:rPr lang="en-US" dirty="0"/>
              <a:t>defective glucose </a:t>
            </a:r>
            <a:r>
              <a:rPr lang="en-US" dirty="0" err="1"/>
              <a:t>counterregulation</a:t>
            </a:r>
            <a:r>
              <a:rPr lang="en-US" dirty="0"/>
              <a:t>, impaired hypoglycemia awareness, and, sometimes, cognitive dysfunction.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✓ </a:t>
            </a:r>
            <a:r>
              <a:rPr lang="en-US" b="1" dirty="0">
                <a:solidFill>
                  <a:srgbClr val="C00000"/>
                </a:solidFill>
              </a:rPr>
              <a:t>Severe hypoglycemia </a:t>
            </a:r>
            <a:r>
              <a:rPr lang="en-US" dirty="0"/>
              <a:t>– An event associated with severe cognitive impairment (including coma and seizures), requiring assistance of another person to correct, including administration of carbohydrates or glucagon or intravenous (IV) dextrose.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Clinical classification of severity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Mild</a:t>
            </a:r>
            <a:r>
              <a:rPr lang="en-US" sz="2400" dirty="0"/>
              <a:t> : tremor, palpitations, diaphoresis, headaches, and behavior changes.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older children can treat themselves with oral intake.</a:t>
            </a:r>
            <a:endParaRPr lang="en-US" sz="2400" dirty="0"/>
          </a:p>
          <a:p>
            <a:r>
              <a:rPr lang="en-US" sz="2400" b="1" dirty="0"/>
              <a:t>Moderate</a:t>
            </a:r>
            <a:r>
              <a:rPr lang="en-US" sz="2400" dirty="0"/>
              <a:t> : neurologic symptoms consist of sufficient neurologic impairment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a second person has to administer oral therapy.</a:t>
            </a:r>
            <a:endParaRPr lang="en-US" sz="2400" dirty="0"/>
          </a:p>
          <a:p>
            <a:r>
              <a:rPr lang="en-US" sz="2400" b="1" dirty="0"/>
              <a:t>Severe</a:t>
            </a:r>
            <a:r>
              <a:rPr lang="en-US" sz="2400" dirty="0"/>
              <a:t> : unresponsiveness, seizures, or coma,  requires SC administration of glucagon or IV dextrose</a:t>
            </a:r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Asymptomatic hypoglycemia: 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Treated orally with a concentrated and rapidly absorbed simple carbohydrate food source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	 (10 to 15 g glucose).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Wait 10–15 minutes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If no response, repeat above.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As symptoms improve, the next meal or oral complex carbohydrate should be ingested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Cont….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Symptomatic hypoglycemia: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Dextrose IV, 2–5 mL/kg of 10% glucose (200 to 500mg/kg). In glucose 10% solution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IV fluid with concentration of &gt; 10% glucose (glucose concentration = 12%) can be given if no response.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Monitor blood glucose every 15 minutes until stable, then repeat 1–2 hourly. 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222222"/>
                </a:solidFill>
                <a:latin typeface="Montserrat"/>
              </a:rPr>
              <a:t>Eating meals and snacks on a regular schedule after medications</a:t>
            </a:r>
            <a:endParaRPr lang="en-US" dirty="0">
              <a:solidFill>
                <a:srgbClr val="222222"/>
              </a:solidFill>
              <a:latin typeface="Montserrat"/>
            </a:endParaRPr>
          </a:p>
          <a:p>
            <a:endParaRPr lang="en-US" dirty="0">
              <a:solidFill>
                <a:srgbClr val="222222"/>
              </a:solidFill>
              <a:latin typeface="Montserrat"/>
            </a:endParaRPr>
          </a:p>
          <a:p>
            <a:r>
              <a:rPr lang="en-US" dirty="0">
                <a:solidFill>
                  <a:srgbClr val="222222"/>
                </a:solidFill>
                <a:latin typeface="Montserrat"/>
              </a:rPr>
              <a:t>Checking blood glucose levels as directed during exercise </a:t>
            </a:r>
            <a:endParaRPr lang="en-US" dirty="0">
              <a:solidFill>
                <a:srgbClr val="222222"/>
              </a:solidFill>
              <a:latin typeface="Montserrat"/>
            </a:endParaRPr>
          </a:p>
          <a:p>
            <a:endParaRPr lang="en-US" dirty="0">
              <a:solidFill>
                <a:srgbClr val="222222"/>
              </a:solidFill>
              <a:latin typeface="Montserrat"/>
            </a:endParaRPr>
          </a:p>
          <a:p>
            <a:r>
              <a:rPr lang="en-US" dirty="0">
                <a:solidFill>
                  <a:srgbClr val="222222"/>
                </a:solidFill>
                <a:latin typeface="Montserrat"/>
              </a:rPr>
              <a:t>Sticking to a suggested exercise plan</a:t>
            </a:r>
            <a:endParaRPr lang="en-US" dirty="0">
              <a:solidFill>
                <a:srgbClr val="222222"/>
              </a:solidFill>
              <a:latin typeface="Montserrat"/>
            </a:endParaRPr>
          </a:p>
          <a:p>
            <a:endParaRPr lang="en-US" dirty="0">
              <a:solidFill>
                <a:srgbClr val="222222"/>
              </a:solidFill>
              <a:latin typeface="Montserrat"/>
            </a:endParaRPr>
          </a:p>
          <a:p>
            <a:r>
              <a:rPr lang="en-US" dirty="0">
                <a:solidFill>
                  <a:srgbClr val="222222"/>
                </a:solidFill>
                <a:latin typeface="Montserrat"/>
              </a:rPr>
              <a:t>Carrying juice, candy, or glucose tablets at all times, in the event that one develops symptoms of hypoglycemia</a:t>
            </a:r>
            <a:endParaRPr lang="en-US" dirty="0">
              <a:solidFill>
                <a:srgbClr val="222222"/>
              </a:solidFill>
              <a:latin typeface="Montserra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2.Cerebral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edema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 has a high mortality rate.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who experience cerebral edema with DKA, as many as one-fourth die and another one-fourth have permanent neurologic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sequelae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/>
              <a:t>Poor outcome </a:t>
            </a:r>
            <a:r>
              <a:rPr lang="en-US" sz="2800" dirty="0"/>
              <a:t>has been associated </a:t>
            </a:r>
            <a:r>
              <a:rPr lang="en-US" sz="2800" dirty="0" smtClean="0"/>
              <a:t>with;</a:t>
            </a:r>
            <a:endParaRPr lang="en-US" sz="28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F0"/>
                </a:solidFill>
              </a:rPr>
              <a:t>Greater neurologic depression at the time of diagnosis </a:t>
            </a:r>
            <a:r>
              <a:rPr lang="en-US" dirty="0"/>
              <a:t>of their cerebral edema, 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Elevated </a:t>
            </a:r>
            <a:r>
              <a:rPr lang="en-US" b="1" dirty="0"/>
              <a:t>initial</a:t>
            </a:r>
            <a:r>
              <a:rPr lang="en-US" dirty="0"/>
              <a:t> serum </a:t>
            </a:r>
            <a:r>
              <a:rPr lang="en-US" dirty="0">
                <a:solidFill>
                  <a:srgbClr val="FF0000"/>
                </a:solidFill>
              </a:rPr>
              <a:t>BUN</a:t>
            </a:r>
            <a:r>
              <a:rPr lang="en-US" dirty="0"/>
              <a:t> concentration, and 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Intubation with hyperventilation to a PCO2 less than 22 mm Hg (demanding caution in hyperventilating affected patients).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 of cerebral edema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70647" y="1250576"/>
            <a:ext cx="11403106" cy="4875593"/>
          </a:xfrm>
        </p:spPr>
        <p:txBody>
          <a:bodyPr/>
          <a:lstStyle/>
          <a:p>
            <a:r>
              <a:rPr lang="en-US" sz="2800" dirty="0"/>
              <a:t>The cause of DKA-related cerebral injury is a topic of </a:t>
            </a:r>
            <a:r>
              <a:rPr lang="en-US" sz="2800" dirty="0" smtClean="0"/>
              <a:t>ongoing Investigation.</a:t>
            </a:r>
            <a:endParaRPr lang="en-US" sz="2800" dirty="0" smtClean="0"/>
          </a:p>
          <a:p>
            <a:r>
              <a:rPr lang="en-US" sz="2800" dirty="0" smtClean="0">
                <a:solidFill>
                  <a:prstClr val="black"/>
                </a:solidFill>
              </a:rPr>
              <a:t> </a:t>
            </a:r>
            <a:r>
              <a:rPr lang="en-US" sz="2800" dirty="0"/>
              <a:t>Rapid fluid administration resulting in changes in </a:t>
            </a:r>
            <a:r>
              <a:rPr lang="en-US" sz="2800" dirty="0" smtClean="0"/>
              <a:t>serum osmolality </a:t>
            </a:r>
            <a:r>
              <a:rPr lang="en-US" sz="2800" dirty="0"/>
              <a:t>was initially thought to be the cause, however, more </a:t>
            </a:r>
            <a:r>
              <a:rPr lang="en-US" sz="2800" dirty="0" smtClean="0"/>
              <a:t>recent evidence </a:t>
            </a:r>
            <a:r>
              <a:rPr lang="en-US" sz="2800" dirty="0"/>
              <a:t>suggests that cerebral </a:t>
            </a:r>
            <a:r>
              <a:rPr lang="en-US" sz="2800" dirty="0" err="1"/>
              <a:t>hypoperfusion</a:t>
            </a:r>
            <a:r>
              <a:rPr lang="en-US" sz="2800" dirty="0"/>
              <a:t> and the </a:t>
            </a:r>
            <a:r>
              <a:rPr lang="en-US" sz="2800" dirty="0" err="1" smtClean="0"/>
              <a:t>hyperinflammatory</a:t>
            </a:r>
            <a:r>
              <a:rPr lang="en-US" sz="2800" dirty="0"/>
              <a:t> </a:t>
            </a:r>
            <a:r>
              <a:rPr lang="en-US" sz="2800" dirty="0" smtClean="0"/>
              <a:t>state </a:t>
            </a:r>
            <a:r>
              <a:rPr lang="en-US" sz="2800" dirty="0"/>
              <a:t>caused by DKA play central roles</a:t>
            </a:r>
            <a:endParaRPr lang="en-US" sz="2800" dirty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Risk factor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/>
        </p:nvSpPr>
        <p:spPr>
          <a:xfrm>
            <a:off x="6704806" y="2487705"/>
            <a:ext cx="5183188" cy="336181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Too-rapid fall glucose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Failure of sodium to rise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Too-rapid fall osmolality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Use of bicarbonate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Early insulin treatment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Use of fluids:≥ 50 mL/kg in the first 4 hours</a:t>
            </a:r>
            <a:endParaRPr lang="en-US" altLang="zh-CN" sz="2800" i="1" dirty="0"/>
          </a:p>
          <a:p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/>
        </p:nvSpPr>
        <p:spPr>
          <a:xfrm>
            <a:off x="773906" y="2326316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Younger age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Sick appearance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New-onset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Longer duration of symptoms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More severe evidence of dehydration</a:t>
            </a: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endParaRPr lang="en-US" altLang="zh-CN" sz="2800" i="1" dirty="0"/>
          </a:p>
          <a:p>
            <a:pPr marL="544830" indent="-342900">
              <a:buFont typeface="Wingdings" panose="05000000000000000000" pitchFamily="2" charset="2"/>
              <a:buChar char="ü"/>
            </a:pPr>
            <a:r>
              <a:rPr lang="en-US" altLang="zh-CN" sz="2800" i="1" dirty="0"/>
              <a:t>Greater acidosis (lower pCO2, pH)</a:t>
            </a:r>
            <a:endParaRPr lang="en-US" altLang="zh-CN" sz="2800" i="1" dirty="0"/>
          </a:p>
          <a:p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/>
        </p:nvSpPr>
        <p:spPr>
          <a:xfrm>
            <a:off x="773906" y="1571571"/>
            <a:ext cx="5157787" cy="648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Pre treatment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/>
        </p:nvSpPr>
        <p:spPr>
          <a:xfrm>
            <a:off x="6516547" y="1598729"/>
            <a:ext cx="5183188" cy="7275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while on </a:t>
            </a:r>
            <a:r>
              <a:rPr lang="en-US" sz="24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treatment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 and symptoms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sudden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deterioration in mental status 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severe headache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sudden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in heart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 not attributed to rehydration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hypertension, cranial nerve dysfunction, and incontinence.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Cushing's triad( late sign)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 O2 saturation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Diagnostic criteria</a:t>
            </a:r>
            <a:endParaRPr lang="en-US" dirty="0"/>
          </a:p>
          <a:p>
            <a:pPr lvl="1"/>
            <a:r>
              <a:rPr lang="en-US" dirty="0"/>
              <a:t>Abnormal motor or verbal response to pain</a:t>
            </a:r>
            <a:endParaRPr lang="en-US" dirty="0"/>
          </a:p>
          <a:p>
            <a:pPr lvl="1"/>
            <a:r>
              <a:rPr lang="en-US" dirty="0"/>
              <a:t>Decorticate or </a:t>
            </a:r>
            <a:r>
              <a:rPr lang="en-US" dirty="0" err="1"/>
              <a:t>decerebrate</a:t>
            </a:r>
            <a:r>
              <a:rPr lang="en-US" dirty="0"/>
              <a:t> posture</a:t>
            </a:r>
            <a:endParaRPr lang="en-US" dirty="0"/>
          </a:p>
          <a:p>
            <a:pPr lvl="1"/>
            <a:r>
              <a:rPr lang="en-US" dirty="0"/>
              <a:t>Cranial nerve palsy (especially III, IV, and VI)</a:t>
            </a:r>
            <a:endParaRPr lang="en-US" dirty="0"/>
          </a:p>
          <a:p>
            <a:pPr lvl="1"/>
            <a:r>
              <a:rPr lang="en-US" dirty="0"/>
              <a:t>Abnormal neurogenic respiratory pattern    (e.g., grunting, tachypnea, </a:t>
            </a:r>
            <a:r>
              <a:rPr lang="en-US" dirty="0" err="1"/>
              <a:t>apneusis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Cheyne</a:t>
            </a:r>
            <a:r>
              <a:rPr lang="en-US" dirty="0"/>
              <a:t>-Stokes respiration)</a:t>
            </a:r>
            <a:endParaRPr lang="en-US" dirty="0"/>
          </a:p>
          <a:p>
            <a:r>
              <a:rPr lang="en-US" b="1" dirty="0"/>
              <a:t>Minor criteria</a:t>
            </a:r>
            <a:endParaRPr lang="en-US" dirty="0"/>
          </a:p>
          <a:p>
            <a:pPr lvl="1"/>
            <a:r>
              <a:rPr lang="en-US" dirty="0"/>
              <a:t> Vomiting</a:t>
            </a:r>
            <a:endParaRPr lang="en-US" dirty="0"/>
          </a:p>
          <a:p>
            <a:pPr lvl="1"/>
            <a:r>
              <a:rPr lang="en-US" dirty="0"/>
              <a:t> Headache</a:t>
            </a:r>
            <a:endParaRPr lang="en-US" dirty="0"/>
          </a:p>
          <a:p>
            <a:pPr lvl="1"/>
            <a:r>
              <a:rPr lang="en-US" dirty="0"/>
              <a:t> Lethargy or not easily </a:t>
            </a:r>
            <a:r>
              <a:rPr lang="en-US" dirty="0" err="1"/>
              <a:t>arousable</a:t>
            </a:r>
            <a:endParaRPr lang="en-US" dirty="0"/>
          </a:p>
          <a:p>
            <a:pPr lvl="1"/>
            <a:r>
              <a:rPr lang="en-US" dirty="0"/>
              <a:t> Diastolic blood pressure &gt; 90 mmHg</a:t>
            </a:r>
            <a:endParaRPr lang="en-US" dirty="0"/>
          </a:p>
          <a:p>
            <a:pPr lvl="1"/>
            <a:r>
              <a:rPr lang="en-US" dirty="0"/>
              <a:t> Age &lt;5 years 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Major criteria</a:t>
            </a:r>
            <a:endParaRPr lang="en-US" b="1" dirty="0"/>
          </a:p>
          <a:p>
            <a:pPr lvl="1"/>
            <a:r>
              <a:rPr lang="en-US" dirty="0"/>
              <a:t>Altered mentation, confusion, fluctuating         level of consciousness</a:t>
            </a:r>
            <a:endParaRPr lang="en-US" dirty="0"/>
          </a:p>
          <a:p>
            <a:pPr lvl="1"/>
            <a:r>
              <a:rPr lang="en-US" dirty="0"/>
              <a:t> Sustained heart rate deceleration not               attributable to improved intravascular volume or</a:t>
            </a:r>
            <a:br>
              <a:rPr lang="en-US" dirty="0"/>
            </a:br>
            <a:r>
              <a:rPr lang="en-US" dirty="0"/>
              <a:t>sleep state</a:t>
            </a:r>
            <a:endParaRPr lang="en-US" dirty="0"/>
          </a:p>
          <a:p>
            <a:pPr lvl="1"/>
            <a:r>
              <a:rPr lang="en-US" dirty="0"/>
              <a:t> Age-inappropriate incontinence </a:t>
            </a:r>
            <a:endParaRPr lang="en-US" dirty="0"/>
          </a:p>
          <a:p>
            <a:r>
              <a:rPr lang="en-US" b="1" dirty="0"/>
              <a:t>Treat</a:t>
            </a:r>
            <a:endParaRPr lang="en-US" b="1" dirty="0"/>
          </a:p>
          <a:p>
            <a:pPr lvl="1"/>
            <a:r>
              <a:rPr lang="en-US" dirty="0"/>
              <a:t>One Diagnostic criteria</a:t>
            </a:r>
            <a:endParaRPr lang="en-US" dirty="0"/>
          </a:p>
          <a:p>
            <a:pPr lvl="1"/>
            <a:r>
              <a:rPr lang="en-US" dirty="0"/>
              <a:t>two major criteria, </a:t>
            </a:r>
            <a:endParaRPr lang="en-US" dirty="0"/>
          </a:p>
          <a:p>
            <a:pPr lvl="1"/>
            <a:r>
              <a:rPr lang="en-US" dirty="0"/>
              <a:t>one major and two minor criteria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the rate of fluid administration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Elevation of the head of the bed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of intravenous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mannitol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dosage of 0.25 to 1.0 g/kg over 10-15 minutes, repeated as necessary after 30min.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Hypertonic saline (3%), suggested dose 2.5 to 5 mL/kg over 10 to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minutes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used as an alternative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mannitol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mannitol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there has been no response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mannitol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15 to 30 minutes.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Hypertonic saline (3%) 2.5 mL/kg is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equimolar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mannitol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0.5 g/kg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Effects of </a:t>
            </a:r>
            <a:r>
              <a:rPr lang="en-US" dirty="0" err="1" smtClean="0"/>
              <a:t>manitol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lowering hematocrit and blood viscosity, which improves cerebral blood flow (CBF) and oxygenation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in red cell deformability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vasoconstriction in areas of the brain with intact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autoregulation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improved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autoregulation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effects of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mannitol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CBF and oxygenation; and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osmotic effects with reduction in extracellular free water.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Intubation - for those who have progressed to respiratory compromise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dirty="0" smtClean="0"/>
              <a:t>.Akute Kidney Injury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Can occur </a:t>
            </a:r>
            <a:r>
              <a:rPr lang="en-US" sz="2800" dirty="0" err="1"/>
              <a:t>upto</a:t>
            </a:r>
            <a:r>
              <a:rPr lang="en-US" sz="2800" dirty="0"/>
              <a:t> 43 to 64 percent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Many of these children have stage 2 or 3 AKI, suggesting intrinsic tubular injury beyond </a:t>
            </a:r>
            <a:r>
              <a:rPr lang="en-US" sz="2800" dirty="0" err="1"/>
              <a:t>prerenal</a:t>
            </a:r>
            <a:r>
              <a:rPr lang="en-US" sz="2800" dirty="0"/>
              <a:t> dysfunction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Renal failure can also occur but is rare 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AKI generally resolves after recovery from DKA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r>
              <a:rPr lang="en-US" sz="4400" dirty="0" smtClean="0"/>
              <a:t>.Acute </a:t>
            </a:r>
            <a:r>
              <a:rPr lang="en-US" sz="4400" dirty="0"/>
              <a:t>Respiratory Distress Syndrome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Non-cardiogenic pulmonary edema results from reduced colloidal oncotic pressure in pulmonary capillaries due to crystalloid replacements in DKA.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Presence of hypoxemia with elevated pulmonary alveolar-arterial gradient, warrant suspicion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can be avoided by judicious fluid replacement.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r>
              <a:rPr lang="en-US" sz="4400" dirty="0" smtClean="0"/>
              <a:t>.Hyperchloremic </a:t>
            </a:r>
            <a:r>
              <a:rPr lang="en-US" sz="4400" dirty="0"/>
              <a:t>Acidosis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use of large amounts of chloride-rich fluids may be associated with the rapid development of </a:t>
            </a:r>
            <a:r>
              <a:rPr lang="en-US" sz="2800" dirty="0" err="1"/>
              <a:t>hyperchloremia</a:t>
            </a:r>
            <a:r>
              <a:rPr lang="en-US" sz="2800" dirty="0"/>
              <a:t> 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It is defined as [</a:t>
            </a:r>
            <a:r>
              <a:rPr lang="en-US" sz="2800" dirty="0" err="1"/>
              <a:t>Cl</a:t>
            </a:r>
            <a:r>
              <a:rPr lang="en-US" sz="2800" dirty="0"/>
              <a:t>-:Na+] &gt;0.79 and </a:t>
            </a:r>
            <a:r>
              <a:rPr lang="en-US" sz="2800" dirty="0" err="1"/>
              <a:t>hyperchloremic</a:t>
            </a:r>
            <a:r>
              <a:rPr lang="en-US" sz="2800" dirty="0"/>
              <a:t> metabolic acidosis.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Hyperchloremic</a:t>
            </a:r>
            <a:r>
              <a:rPr lang="en-US" sz="2800" dirty="0"/>
              <a:t> acidosis resolves spontaneously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Phase III :continuing or maintenance phase.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/>
              <a:t>Includes the insulin regimen after the patient has maintained the target RBS for the transition phase in the past 24 hours.</a:t>
            </a:r>
            <a:endParaRPr lang="en-US" sz="2400" dirty="0"/>
          </a:p>
          <a:p>
            <a:r>
              <a:rPr lang="en-US" sz="2400" dirty="0"/>
              <a:t>i)  In </a:t>
            </a:r>
            <a:r>
              <a:rPr lang="en-US" sz="2400" b="1" dirty="0"/>
              <a:t>Newly</a:t>
            </a:r>
            <a:r>
              <a:rPr lang="en-US" sz="2400" dirty="0"/>
              <a:t> diagnosed DM:  2/3 of the calculated total subcutaneous insulin in the past 24 hours will be the representative daily dose in the maintenance phase.</a:t>
            </a:r>
            <a:endParaRPr lang="en-US" sz="2400" dirty="0"/>
          </a:p>
          <a:p>
            <a:r>
              <a:rPr lang="en-US" sz="2400" dirty="0"/>
              <a:t>ii)  For </a:t>
            </a:r>
            <a:r>
              <a:rPr lang="en-US" sz="2400" b="1" dirty="0"/>
              <a:t>known</a:t>
            </a:r>
            <a:r>
              <a:rPr lang="en-US" sz="2400" dirty="0"/>
              <a:t> DM patients : the calculated total subcutaneous insulin in the past 24 hours will be the representative daily dose in the maintenance phase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Out of the total daily insulin requirement, 2/3 will be given in the morning &amp; the remaining 1/3 in the evening.</a:t>
            </a:r>
            <a:endParaRPr lang="en-US" sz="2400" dirty="0"/>
          </a:p>
          <a:p>
            <a:r>
              <a:rPr lang="en-US" sz="2400" dirty="0"/>
              <a:t>And 2/3 will be intermediate acting &amp; 1/3 fast acting insulin.</a:t>
            </a:r>
            <a:endParaRPr lang="en-US" sz="2400" dirty="0"/>
          </a:p>
          <a:p>
            <a:r>
              <a:rPr lang="en-US" sz="2400" dirty="0"/>
              <a:t>The ideal target RBS during this regimen is </a:t>
            </a:r>
            <a:r>
              <a:rPr lang="en-US" sz="2400" b="1" dirty="0"/>
              <a:t>80mg/dl for fasting &amp; 140mg/dl </a:t>
            </a:r>
            <a:r>
              <a:rPr lang="en-US" sz="2400" dirty="0"/>
              <a:t>after meal; but in practice a range of 60 – 220mg/dl is acceptable based on the age of the patient. </a:t>
            </a:r>
            <a:endParaRPr lang="en-US" sz="2400" dirty="0"/>
          </a:p>
          <a:p>
            <a:r>
              <a:rPr lang="en-US" sz="2400" dirty="0"/>
              <a:t>RBS measurements that are constantly out of this range without identifiable cause, are indications for adjusting insulin </a:t>
            </a:r>
            <a:r>
              <a:rPr lang="en-US" sz="2400" dirty="0" err="1"/>
              <a:t>doses;i.e.by</a:t>
            </a:r>
            <a:r>
              <a:rPr lang="en-US" sz="2400" dirty="0"/>
              <a:t> increasing or decreasing </a:t>
            </a:r>
            <a:r>
              <a:rPr lang="en-US" sz="2400" b="1" dirty="0"/>
              <a:t>the next insulin dose by 10 – 15%.  </a:t>
            </a:r>
            <a:endParaRPr lang="en-US" sz="2400" b="1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cs typeface="+mn-lt"/>
                <a:sym typeface="+mn-ea"/>
              </a:rPr>
              <a:t>ISPAD 2022</a:t>
            </a:r>
            <a:endParaRPr lang="en-US" sz="2800" dirty="0">
              <a:cs typeface="+mn-lt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>
                <a:cs typeface="+mn-lt"/>
                <a:sym typeface="+mn-ea"/>
              </a:rPr>
              <a:t>Uptodate</a:t>
            </a:r>
            <a:r>
              <a:rPr lang="en-US" sz="2800">
                <a:cs typeface="+mn-lt"/>
                <a:sym typeface="+mn-ea"/>
              </a:rPr>
              <a:t> </a:t>
            </a:r>
            <a:r>
              <a:rPr lang="en-US" sz="2800" smtClean="0">
                <a:cs typeface="+mn-lt"/>
                <a:sym typeface="+mn-ea"/>
              </a:rPr>
              <a:t>2026</a:t>
            </a:r>
            <a:endParaRPr lang="en-US" sz="2800" dirty="0"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cs typeface="+mn-lt"/>
                <a:sym typeface="+mn-ea"/>
              </a:rPr>
              <a:t>Nelson 21st edition</a:t>
            </a:r>
            <a:endParaRPr lang="en-US" sz="2800" dirty="0">
              <a:cs typeface="+mn-lt"/>
              <a:sym typeface="+mn-ea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20649</Words>
  <Application>WPS Presentation</Application>
  <PresentationFormat>Custom</PresentationFormat>
  <Paragraphs>841</Paragraphs>
  <Slides>78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96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Wingdings 3</vt:lpstr>
      <vt:lpstr>Symbol</vt:lpstr>
      <vt:lpstr>Verdana</vt:lpstr>
      <vt:lpstr>Wingdings 2</vt:lpstr>
      <vt:lpstr>Wingdings</vt:lpstr>
      <vt:lpstr>Times New Roman</vt:lpstr>
      <vt:lpstr>Tahoma</vt:lpstr>
      <vt:lpstr>LiberationSerif-Bold</vt:lpstr>
      <vt:lpstr>Segoe Print</vt:lpstr>
      <vt:lpstr>Montserrat</vt:lpstr>
      <vt:lpstr>Office Theme</vt:lpstr>
      <vt:lpstr>SEMINAR ON DKA MANAGEMENT</vt:lpstr>
      <vt:lpstr>Outline</vt:lpstr>
      <vt:lpstr>INTRODUCTION</vt:lpstr>
      <vt:lpstr>Etiologic Classifications of DM</vt:lpstr>
      <vt:lpstr>Type 2 Diabetes Mellitus </vt:lpstr>
      <vt:lpstr>Other Specific Types</vt:lpstr>
      <vt:lpstr>Type 1 Diabetes Mellitus</vt:lpstr>
      <vt:lpstr>Epidemiology</vt:lpstr>
      <vt:lpstr>Pathogenesis of T1DM</vt:lpstr>
      <vt:lpstr>Natural History of Type 1 Diabetes Mellitus</vt:lpstr>
      <vt:lpstr>Criteria for the Diagnosis of Diabetes Mellitus</vt:lpstr>
      <vt:lpstr>PowerPoint 演示文稿</vt:lpstr>
      <vt:lpstr>Complications of DM</vt:lpstr>
      <vt:lpstr>Diabetic Ketoacidosis (DKA)</vt:lpstr>
      <vt:lpstr>Epidemiology</vt:lpstr>
      <vt:lpstr>RISK FACTORS</vt:lpstr>
      <vt:lpstr>Cont…</vt:lpstr>
      <vt:lpstr>Pathophysiology of DKA</vt:lpstr>
      <vt:lpstr>Cont…</vt:lpstr>
      <vt:lpstr>PowerPoint 演示文稿</vt:lpstr>
      <vt:lpstr>PowerPoint 演示文稿</vt:lpstr>
      <vt:lpstr>Euglycemic DKA</vt:lpstr>
      <vt:lpstr>Approch to DKA </vt:lpstr>
      <vt:lpstr>Clinical Features of DKA</vt:lpstr>
      <vt:lpstr>Cont..</vt:lpstr>
      <vt:lpstr>The biochemical criteria for the diagnosis of DKA </vt:lpstr>
      <vt:lpstr>PowerPoint 演示文稿</vt:lpstr>
      <vt:lpstr>Cont..</vt:lpstr>
      <vt:lpstr>Severity of DKA ( ISPAD 2022) </vt:lpstr>
      <vt:lpstr>PowerPoint 演示文稿</vt:lpstr>
      <vt:lpstr>Investigations</vt:lpstr>
      <vt:lpstr>Differential Diagnosis</vt:lpstr>
      <vt:lpstr>Management of Diabetes Mellitus:</vt:lpstr>
      <vt:lpstr>DKA Management  </vt:lpstr>
      <vt:lpstr>Where should the child with DKA be managed? </vt:lpstr>
      <vt:lpstr>Principles of Treatment</vt:lpstr>
      <vt:lpstr>The goals of therapy </vt:lpstr>
      <vt:lpstr>Fluid and electrolyte replacement</vt:lpstr>
      <vt:lpstr>Cont…</vt:lpstr>
      <vt:lpstr>Cont..</vt:lpstr>
      <vt:lpstr>Cont…</vt:lpstr>
      <vt:lpstr>Cont…</vt:lpstr>
      <vt:lpstr>PowerPoint 演示文稿</vt:lpstr>
      <vt:lpstr>Potassium replacement</vt:lpstr>
      <vt:lpstr>Cont…</vt:lpstr>
      <vt:lpstr>Cont…</vt:lpstr>
      <vt:lpstr>Cont…</vt:lpstr>
      <vt:lpstr>Phosphate </vt:lpstr>
      <vt:lpstr>Cont…</vt:lpstr>
      <vt:lpstr>Sodium</vt:lpstr>
      <vt:lpstr>Bicarbonate</vt:lpstr>
      <vt:lpstr>Insulin</vt:lpstr>
      <vt:lpstr>PowerPoint 演示文稿</vt:lpstr>
      <vt:lpstr>If iv infusion is not possible </vt:lpstr>
      <vt:lpstr>Monitoring</vt:lpstr>
      <vt:lpstr>DKA/HHS STATE FLOW SHEET</vt:lpstr>
      <vt:lpstr>Resolution of DKA</vt:lpstr>
      <vt:lpstr>Transition</vt:lpstr>
      <vt:lpstr>Complications during DKA management</vt:lpstr>
      <vt:lpstr>1.Hypoglycemia </vt:lpstr>
      <vt:lpstr>An international consensus panel  </vt:lpstr>
      <vt:lpstr>Clinical classification of severity</vt:lpstr>
      <vt:lpstr>cont…</vt:lpstr>
      <vt:lpstr>Cont….</vt:lpstr>
      <vt:lpstr>Prevention</vt:lpstr>
      <vt:lpstr>2.Cerebral edema </vt:lpstr>
      <vt:lpstr>Mechanism of cerebral edema</vt:lpstr>
      <vt:lpstr>Risk factor</vt:lpstr>
      <vt:lpstr>Signs and symptoms</vt:lpstr>
      <vt:lpstr>Diagnosis</vt:lpstr>
      <vt:lpstr>Management</vt:lpstr>
      <vt:lpstr>Effects of manitol</vt:lpstr>
      <vt:lpstr>3.Akute Kidney Injury</vt:lpstr>
      <vt:lpstr>4.Acute Respiratory Distress Syndrome</vt:lpstr>
      <vt:lpstr>5.Hyperchloremic Acidosis</vt:lpstr>
      <vt:lpstr>Phase III :continuing or maintenance phase.</vt:lpstr>
      <vt:lpstr>Cont…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WPS_1713908330</cp:lastModifiedBy>
  <cp:revision>98</cp:revision>
  <dcterms:created xsi:type="dcterms:W3CDTF">2025-07-23T00:59:00Z</dcterms:created>
  <dcterms:modified xsi:type="dcterms:W3CDTF">2026-08-07T19:11:20Z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1033-12.1.0.28032</vt:lpwstr>
  </property>
</Properties>
</file>